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62" r:id="rId4"/>
    <p:sldId id="258" r:id="rId5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5" roundtripDataSignature="AMtx7mgJlZl+luecGVzsZpUAlAN4SVcuA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D1B0283-5687-4A5E-923D-03B7FAD6BEE9}">
  <a:tblStyle styleId="{6D1B0283-5687-4A5E-923D-03B7FAD6BEE9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88" d="100"/>
          <a:sy n="188" d="100"/>
        </p:scale>
        <p:origin x="1014" y="3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5" Type="http://customschemas.google.com/relationships/presentationmetadata" Target="metadata"/><Relationship Id="rId2" Type="http://schemas.openxmlformats.org/officeDocument/2006/relationships/slide" Target="slides/slide1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28" Type="http://schemas.openxmlformats.org/officeDocument/2006/relationships/theme" Target="theme/theme1.xml"/><Relationship Id="rId4" Type="http://schemas.openxmlformats.org/officeDocument/2006/relationships/slide" Target="slides/slide3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2d853e9ab94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0" name="Google Shape;60;g2d853e9ab94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>
          <a:extLst>
            <a:ext uri="{FF2B5EF4-FFF2-40B4-BE49-F238E27FC236}">
              <a16:creationId xmlns:a16="http://schemas.microsoft.com/office/drawing/2014/main" id="{7D3F533E-DE3E-5A88-3DC4-FE59EE9602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2d853e9ab94_0_26:notes">
            <a:extLst>
              <a:ext uri="{FF2B5EF4-FFF2-40B4-BE49-F238E27FC236}">
                <a16:creationId xmlns:a16="http://schemas.microsoft.com/office/drawing/2014/main" id="{FBA38415-A761-FCED-30F9-1A4DA8316E8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0" name="Google Shape;60;g2d853e9ab94_0_26:notes">
            <a:extLst>
              <a:ext uri="{FF2B5EF4-FFF2-40B4-BE49-F238E27FC236}">
                <a16:creationId xmlns:a16="http://schemas.microsoft.com/office/drawing/2014/main" id="{06252A98-70C6-552F-01EC-7B835931676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387737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2d853e9ab94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7" name="Google Shape;67;g2d853e9ab94_0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1" name="Google Shape;11;p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2" name="Google Shape;12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9" name="Google Shape;19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6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8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8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9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10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10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10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1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2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2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"/>
          <p:cNvPicPr preferRelativeResize="0"/>
          <p:nvPr/>
        </p:nvPicPr>
        <p:blipFill rotWithShape="1">
          <a:blip r:embed="rId3">
            <a:alphaModFix amt="62000"/>
          </a:blip>
          <a:srcRect/>
          <a:stretch/>
        </p:blipFill>
        <p:spPr>
          <a:xfrm>
            <a:off x="8451" y="0"/>
            <a:ext cx="9127099" cy="514350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55" name="Google Shape;55;p1"/>
          <p:cNvGraphicFramePr/>
          <p:nvPr>
            <p:extLst>
              <p:ext uri="{D42A27DB-BD31-4B8C-83A1-F6EECF244321}">
                <p14:modId xmlns:p14="http://schemas.microsoft.com/office/powerpoint/2010/main" val="2093727704"/>
              </p:ext>
            </p:extLst>
          </p:nvPr>
        </p:nvGraphicFramePr>
        <p:xfrm>
          <a:off x="5328200" y="970025"/>
          <a:ext cx="3690575" cy="798516"/>
        </p:xfrm>
        <a:graphic>
          <a:graphicData uri="http://schemas.openxmlformats.org/drawingml/2006/table">
            <a:tbl>
              <a:tblPr>
                <a:noFill/>
                <a:tableStyleId>{6D1B0283-5687-4A5E-923D-03B7FAD6BEE9}</a:tableStyleId>
              </a:tblPr>
              <a:tblGrid>
                <a:gridCol w="1518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72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24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20"/>
                        <a:buFont typeface="Arial"/>
                        <a:buNone/>
                      </a:pPr>
                      <a:r>
                        <a:rPr lang="es" sz="1420" b="1" u="none" strike="noStrike" cap="none">
                          <a:solidFill>
                            <a:schemeClr val="dk1"/>
                          </a:solidFill>
                        </a:rPr>
                        <a:t>Día, Fecha:</a:t>
                      </a:r>
                      <a:endParaRPr sz="1420" b="1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u="none" strike="noStrike" cap="none" dirty="0"/>
                        <a:t>Martes, 7/10/2025</a:t>
                      </a:r>
                      <a:endParaRPr sz="1400" u="none" strike="noStrike" cap="none"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31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20"/>
                        <a:buFont typeface="Arial"/>
                        <a:buNone/>
                      </a:pPr>
                      <a:r>
                        <a:rPr lang="es" sz="1420" b="1" u="none" strike="noStrike" cap="none">
                          <a:solidFill>
                            <a:schemeClr val="dk1"/>
                          </a:solidFill>
                        </a:rPr>
                        <a:t>Hora de inicio:</a:t>
                      </a:r>
                      <a:endParaRPr sz="1420" b="1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u="none" strike="noStrike" cap="none" dirty="0"/>
                        <a:t>17:20</a:t>
                      </a:r>
                      <a:endParaRPr sz="1400" u="none" strike="noStrike" cap="none"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6" name="Google Shape;56;p1"/>
          <p:cNvSpPr txBox="1"/>
          <p:nvPr/>
        </p:nvSpPr>
        <p:spPr>
          <a:xfrm>
            <a:off x="3992650" y="2132750"/>
            <a:ext cx="5142900" cy="17235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s" sz="25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SISTEMAS ORGANIZACIONALES Y GERENCIALES 2 Sección P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endParaRPr lang="es" sz="25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s" sz="25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TAREA 4</a:t>
            </a:r>
          </a:p>
        </p:txBody>
      </p:sp>
      <p:sp>
        <p:nvSpPr>
          <p:cNvPr id="57" name="Google Shape;57;p1"/>
          <p:cNvSpPr txBox="1"/>
          <p:nvPr/>
        </p:nvSpPr>
        <p:spPr>
          <a:xfrm>
            <a:off x="107100" y="4595250"/>
            <a:ext cx="42906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buSzPts val="2000"/>
            </a:pPr>
            <a:r>
              <a:rPr lang="es-GT" sz="2000" dirty="0"/>
              <a:t>Mynor Israel Miranda López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62;g2d853e9ab94_0_26"/>
          <p:cNvPicPr preferRelativeResize="0"/>
          <p:nvPr/>
        </p:nvPicPr>
        <p:blipFill rotWithShape="1">
          <a:blip r:embed="rId3">
            <a:alphaModFix amt="62000"/>
          </a:blip>
          <a:srcRect/>
          <a:stretch/>
        </p:blipFill>
        <p:spPr>
          <a:xfrm>
            <a:off x="8451" y="0"/>
            <a:ext cx="9127099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g2d853e9ab94_0_26"/>
          <p:cNvSpPr txBox="1"/>
          <p:nvPr/>
        </p:nvSpPr>
        <p:spPr>
          <a:xfrm>
            <a:off x="62150" y="870200"/>
            <a:ext cx="8989500" cy="420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>
              <a:lnSpc>
                <a:spcPct val="115000"/>
              </a:lnSpc>
              <a:spcBef>
                <a:spcPts val="1200"/>
              </a:spcBef>
              <a:buClr>
                <a:schemeClr val="dk1"/>
              </a:buClr>
              <a:buSzPts val="1800"/>
            </a:pPr>
            <a:r>
              <a:rPr lang="es-MX" sz="1800" dirty="0"/>
              <a:t>Analizar e interpretar indicadores clave de rendimiento (</a:t>
            </a:r>
            <a:r>
              <a:rPr lang="es-MX" sz="1800" dirty="0" err="1"/>
              <a:t>KPIs</a:t>
            </a:r>
            <a:r>
              <a:rPr lang="es-MX" sz="1800" dirty="0"/>
              <a:t>) relacionados con el tráfico, la conversión y el </a:t>
            </a:r>
            <a:r>
              <a:rPr lang="es-MX" sz="1800" dirty="0" err="1"/>
              <a:t>engagement</a:t>
            </a:r>
            <a:r>
              <a:rPr lang="es-MX" sz="1800" dirty="0"/>
              <a:t> digital, para comprender la eficacia de las estrategias de marketing y proponer mejoras.</a:t>
            </a:r>
          </a:p>
          <a:p>
            <a:pPr marL="114300">
              <a:lnSpc>
                <a:spcPct val="115000"/>
              </a:lnSpc>
              <a:spcBef>
                <a:spcPts val="1200"/>
              </a:spcBef>
              <a:buClr>
                <a:schemeClr val="dk1"/>
              </a:buClr>
              <a:buSzPts val="1800"/>
            </a:pPr>
            <a:r>
              <a:rPr lang="es-MX" sz="1800" dirty="0">
                <a:solidFill>
                  <a:schemeClr val="dk1"/>
                </a:solidFill>
              </a:rPr>
              <a:t>Para esto se da la siguiente tabla de análisis después de un mes de campaña digital</a:t>
            </a:r>
          </a:p>
          <a:p>
            <a:pPr marL="114300">
              <a:lnSpc>
                <a:spcPct val="115000"/>
              </a:lnSpc>
              <a:spcBef>
                <a:spcPts val="1200"/>
              </a:spcBef>
              <a:buClr>
                <a:schemeClr val="dk1"/>
              </a:buClr>
              <a:buSzPts val="1800"/>
            </a:pPr>
            <a:endParaRPr lang="es-MX" sz="1800" dirty="0">
              <a:solidFill>
                <a:schemeClr val="dk1"/>
              </a:solidFill>
            </a:endParaRPr>
          </a:p>
          <a:p>
            <a:pPr marL="114300">
              <a:lnSpc>
                <a:spcPct val="115000"/>
              </a:lnSpc>
              <a:spcBef>
                <a:spcPts val="1200"/>
              </a:spcBef>
              <a:buClr>
                <a:schemeClr val="dk1"/>
              </a:buClr>
              <a:buSzPts val="1800"/>
            </a:pPr>
            <a:endParaRPr lang="es-GT" sz="1800" dirty="0">
              <a:solidFill>
                <a:schemeClr val="dk1"/>
              </a:solidFill>
            </a:endParaRPr>
          </a:p>
          <a:p>
            <a:pPr marL="114300">
              <a:lnSpc>
                <a:spcPct val="115000"/>
              </a:lnSpc>
              <a:spcBef>
                <a:spcPts val="1200"/>
              </a:spcBef>
              <a:buClr>
                <a:schemeClr val="dk1"/>
              </a:buClr>
              <a:buSzPts val="1800"/>
            </a:pPr>
            <a:endParaRPr lang="es-GT" sz="1800" dirty="0">
              <a:solidFill>
                <a:schemeClr val="dk1"/>
              </a:solidFill>
            </a:endParaRPr>
          </a:p>
        </p:txBody>
      </p:sp>
      <p:sp>
        <p:nvSpPr>
          <p:cNvPr id="2" name="Título 4">
            <a:extLst>
              <a:ext uri="{FF2B5EF4-FFF2-40B4-BE49-F238E27FC236}">
                <a16:creationId xmlns:a16="http://schemas.microsoft.com/office/drawing/2014/main" id="{A159586C-8A3F-1F2E-C197-2FD2F08A37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</p:spPr>
        <p:txBody>
          <a:bodyPr>
            <a:normAutofit fontScale="90000"/>
          </a:bodyPr>
          <a:lstStyle/>
          <a:p>
            <a:pPr algn="ctr"/>
            <a:r>
              <a:rPr lang="es-GT" dirty="0"/>
              <a:t>Tarea 4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E4515BBD-98A8-EFA8-E7DF-1BB65EABC9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3787" y="2674620"/>
            <a:ext cx="4086225" cy="21717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>
          <a:extLst>
            <a:ext uri="{FF2B5EF4-FFF2-40B4-BE49-F238E27FC236}">
              <a16:creationId xmlns:a16="http://schemas.microsoft.com/office/drawing/2014/main" id="{A0256F09-4DA7-8325-6AED-218934C21F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62;g2d853e9ab94_0_26">
            <a:extLst>
              <a:ext uri="{FF2B5EF4-FFF2-40B4-BE49-F238E27FC236}">
                <a16:creationId xmlns:a16="http://schemas.microsoft.com/office/drawing/2014/main" id="{78C15D57-8A3B-3D28-01E8-D1E64772FBBB}"/>
              </a:ext>
            </a:extLst>
          </p:cNvPr>
          <p:cNvPicPr preferRelativeResize="0"/>
          <p:nvPr/>
        </p:nvPicPr>
        <p:blipFill rotWithShape="1">
          <a:blip r:embed="rId3">
            <a:alphaModFix amt="62000"/>
          </a:blip>
          <a:srcRect/>
          <a:stretch/>
        </p:blipFill>
        <p:spPr>
          <a:xfrm>
            <a:off x="8451" y="0"/>
            <a:ext cx="9127099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ítulo 4">
            <a:extLst>
              <a:ext uri="{FF2B5EF4-FFF2-40B4-BE49-F238E27FC236}">
                <a16:creationId xmlns:a16="http://schemas.microsoft.com/office/drawing/2014/main" id="{6005C9A3-DE0B-02C7-6C85-4F3DC2BBB8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s-GT" dirty="0"/>
              <a:t>Tarea 4</a:t>
            </a:r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7266A398-8C83-953D-8E16-C8D313764B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114300" indent="0">
              <a:buNone/>
            </a:pPr>
            <a:r>
              <a:rPr lang="es-GT" dirty="0">
                <a:solidFill>
                  <a:schemeClr val="tx1"/>
                </a:solidFill>
              </a:rPr>
              <a:t>Interpreta los resultados:</a:t>
            </a:r>
          </a:p>
          <a:p>
            <a:pPr marL="114300" indent="0">
              <a:buNone/>
            </a:pPr>
            <a:endParaRPr lang="es-GT" dirty="0">
              <a:solidFill>
                <a:schemeClr val="tx1"/>
              </a:solidFill>
            </a:endParaRPr>
          </a:p>
          <a:p>
            <a:r>
              <a:rPr lang="es-MX" dirty="0">
                <a:solidFill>
                  <a:schemeClr val="tx1"/>
                </a:solidFill>
              </a:rPr>
              <a:t>¿Qué canal digital genera mayor interacción o conversiones?</a:t>
            </a:r>
          </a:p>
          <a:p>
            <a:r>
              <a:rPr lang="es-MX" dirty="0">
                <a:solidFill>
                  <a:schemeClr val="tx1"/>
                </a:solidFill>
              </a:rPr>
              <a:t>¿Qué contenido o formato tiene mejor desempeño?</a:t>
            </a:r>
          </a:p>
          <a:p>
            <a:r>
              <a:rPr lang="es-MX" dirty="0">
                <a:solidFill>
                  <a:schemeClr val="tx1"/>
                </a:solidFill>
              </a:rPr>
              <a:t>¿Qué relación existe entre el tráfico y las conversiones logradas?</a:t>
            </a:r>
          </a:p>
          <a:p>
            <a:r>
              <a:rPr lang="es-MX" dirty="0">
                <a:solidFill>
                  <a:schemeClr val="tx1"/>
                </a:solidFill>
              </a:rPr>
              <a:t>¿Qué acciones podrían aumentar la participación o el retorno de inversión (ROI)?</a:t>
            </a:r>
          </a:p>
          <a:p>
            <a:pPr marL="114300" indent="0">
              <a:buNone/>
            </a:pPr>
            <a:endParaRPr lang="es-GT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1619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g2d853e9ab94_0_31"/>
          <p:cNvPicPr preferRelativeResize="0"/>
          <p:nvPr/>
        </p:nvPicPr>
        <p:blipFill rotWithShape="1">
          <a:blip r:embed="rId3">
            <a:alphaModFix amt="62000"/>
          </a:blip>
          <a:srcRect/>
          <a:stretch/>
        </p:blipFill>
        <p:spPr>
          <a:xfrm>
            <a:off x="8451" y="0"/>
            <a:ext cx="9127099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g2d853e9ab94_0_31"/>
          <p:cNvSpPr txBox="1"/>
          <p:nvPr/>
        </p:nvSpPr>
        <p:spPr>
          <a:xfrm>
            <a:off x="38850" y="862425"/>
            <a:ext cx="9051600" cy="423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GT" sz="1800" b="1" dirty="0">
                <a:solidFill>
                  <a:schemeClr val="dk1"/>
                </a:solidFill>
              </a:rPr>
              <a:t>Entrega</a:t>
            </a:r>
            <a:endParaRPr sz="1800" b="1" dirty="0">
              <a:solidFill>
                <a:schemeClr val="dk1"/>
              </a:solidFill>
            </a:endParaRPr>
          </a:p>
          <a:p>
            <a:pPr marL="457200" lvl="0" indent="-34290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-GT" sz="1800" dirty="0">
                <a:solidFill>
                  <a:schemeClr val="dk1"/>
                </a:solidFill>
              </a:rPr>
              <a:t>Se debe de subir a la UEDI un archivo </a:t>
            </a:r>
            <a:r>
              <a:rPr lang="es-GT" sz="1800" dirty="0" err="1">
                <a:solidFill>
                  <a:schemeClr val="dk1"/>
                </a:solidFill>
              </a:rPr>
              <a:t>pdf</a:t>
            </a:r>
            <a:r>
              <a:rPr lang="es-GT" sz="1800" dirty="0">
                <a:solidFill>
                  <a:schemeClr val="dk1"/>
                </a:solidFill>
              </a:rPr>
              <a:t> nombrado de la siguiente manera [SOG2]Tarea4_carne.pdf</a:t>
            </a:r>
          </a:p>
          <a:p>
            <a:pPr marL="400050" lvl="2" indent="-285750" algn="just">
              <a:lnSpc>
                <a:spcPct val="115000"/>
              </a:lnSpc>
              <a:spcBef>
                <a:spcPts val="1200"/>
              </a:spcBef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</a:pPr>
            <a:r>
              <a:rPr lang="es-GT" sz="1800" dirty="0">
                <a:solidFill>
                  <a:schemeClr val="dk1"/>
                </a:solidFill>
              </a:rPr>
              <a:t>Caratula con su nombre, carne y dpi</a:t>
            </a:r>
          </a:p>
          <a:p>
            <a:pPr marL="400050" lvl="2" indent="-285750" algn="just">
              <a:lnSpc>
                <a:spcPct val="115000"/>
              </a:lnSpc>
              <a:spcBef>
                <a:spcPts val="1200"/>
              </a:spcBef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</a:pPr>
            <a:r>
              <a:rPr lang="es-GT" sz="1800" dirty="0">
                <a:solidFill>
                  <a:schemeClr val="dk1"/>
                </a:solidFill>
              </a:rPr>
              <a:t>Respuestas a las preguntas </a:t>
            </a:r>
            <a:r>
              <a:rPr lang="es-GT" sz="1800" dirty="0" err="1">
                <a:solidFill>
                  <a:schemeClr val="dk1"/>
                </a:solidFill>
              </a:rPr>
              <a:t>analiticas</a:t>
            </a:r>
            <a:endParaRPr lang="es-GT" sz="1800" dirty="0">
              <a:solidFill>
                <a:schemeClr val="dk1"/>
              </a:solidFill>
            </a:endParaRPr>
          </a:p>
          <a:p>
            <a:pPr marL="400050" lvl="2" indent="-285750" algn="just">
              <a:lnSpc>
                <a:spcPct val="115000"/>
              </a:lnSpc>
              <a:spcBef>
                <a:spcPts val="1200"/>
              </a:spcBef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</a:pPr>
            <a:r>
              <a:rPr lang="es-GT" sz="1800" dirty="0">
                <a:solidFill>
                  <a:schemeClr val="dk1"/>
                </a:solidFill>
              </a:rPr>
              <a:t>Es entrega individual</a:t>
            </a:r>
            <a:endParaRPr sz="1800" dirty="0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GT" sz="1800" b="1" dirty="0">
                <a:solidFill>
                  <a:schemeClr val="dk1"/>
                </a:solidFill>
              </a:rPr>
              <a:t>Fecha de entrega</a:t>
            </a:r>
            <a:endParaRPr sz="1800" b="1" dirty="0">
              <a:solidFill>
                <a:schemeClr val="dk1"/>
              </a:solidFill>
            </a:endParaRPr>
          </a:p>
          <a:p>
            <a:pPr marL="457200" lvl="0" indent="-34290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-GT" sz="1800" dirty="0">
                <a:solidFill>
                  <a:schemeClr val="dk1"/>
                </a:solidFill>
              </a:rPr>
              <a:t>Martes 14 de octubre del 2025 antes de 23:59 h</a:t>
            </a:r>
            <a:r>
              <a:rPr lang="es" sz="1800" dirty="0">
                <a:solidFill>
                  <a:schemeClr val="dk1"/>
                </a:solidFill>
              </a:rPr>
              <a:t>.</a:t>
            </a:r>
            <a:endParaRPr sz="1800" dirty="0">
              <a:solidFill>
                <a:schemeClr val="dk1"/>
              </a:solidFill>
            </a:endParaRPr>
          </a:p>
          <a:p>
            <a:pPr marL="0" lvl="0" indent="0" algn="just" rtl="0">
              <a:spcBef>
                <a:spcPts val="1200"/>
              </a:spcBef>
              <a:spcAft>
                <a:spcPts val="0"/>
              </a:spcAft>
              <a:buNone/>
            </a:pPr>
            <a:endParaRPr sz="1800" dirty="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437</TotalTime>
  <Words>184</Words>
  <Application>Microsoft Office PowerPoint</Application>
  <PresentationFormat>Presentación en pantalla (16:9)</PresentationFormat>
  <Paragraphs>26</Paragraphs>
  <Slides>4</Slides>
  <Notes>4</Notes>
  <HiddenSlides>0</HiddenSlides>
  <MMClips>0</MMClips>
  <ScaleCrop>false</ScaleCrop>
  <HeadingPairs>
    <vt:vector size="6" baseType="variant">
      <vt:variant>
        <vt:lpstr>Fuentes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6" baseType="lpstr">
      <vt:lpstr>Arial</vt:lpstr>
      <vt:lpstr>Simple Light</vt:lpstr>
      <vt:lpstr>Presentación de PowerPoint</vt:lpstr>
      <vt:lpstr>Tarea 4</vt:lpstr>
      <vt:lpstr>Tarea 4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mynor israel miranda lopez</dc:creator>
  <cp:lastModifiedBy>mynor israel miranda lopez</cp:lastModifiedBy>
  <cp:revision>11</cp:revision>
  <dcterms:modified xsi:type="dcterms:W3CDTF">2025-10-07T06:28:40Z</dcterms:modified>
</cp:coreProperties>
</file>