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02" r:id="rId2"/>
    <p:sldId id="296"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aokR1tr3jo/odoJz8obEEgE2N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1BA02C-6A80-4BA0-BD01-5099423E3828}">
  <a:tblStyle styleId="{151BA02C-6A80-4BA0-BD01-5099423E382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810" y="3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D1A0B72-BAF4-6AA0-A938-D5CA8BB7638F}"/>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1C1FAC4C-D503-B25E-093E-D904306948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FC902392-36BB-ED40-722B-8B23F4FB72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712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0D8DAF9-8317-32BB-5CFD-C223BB0B9ED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70A40B7-76A4-FA55-D710-BBDD18A4D7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A065B6E-4277-9CC0-7664-443EFB236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31448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61CE4F69-2907-DED8-FED4-78FCE3F28131}"/>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9EE7392-15E2-9260-A99F-E3DDB6DAE6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9D13BAE-4DE4-BCB9-8F74-2AD67E2862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9853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6D8183A-AB8F-7325-046E-24F921973B0C}"/>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EF5A1AE-CCD7-3D32-99D4-1174B35925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63BCF814-5F9B-E414-11AD-09E3C3E7E5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0563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7A1B082-2C82-7B52-FFCE-5A77ED9D9524}"/>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57818AE7-A4EA-AC9A-CEEF-EF6EE99B5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BFB61EB8-B642-5FDD-0D54-533E706A2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32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DCC4E61D-2524-8838-F853-C9E4A12ED22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E9880902-14F1-5EA5-5FC4-B2D6C4B2EB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09136E1F-D59C-082B-CF3E-B4D261388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8511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44E1623-D585-F327-D1E3-111781E1FF1C}"/>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0C8A12C8-00A2-188B-5BBD-45322B8C0E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8DF5178-06A5-90FA-AC94-89AAB26E28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888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1EB95EF-F74A-1238-E027-200D9B1BF42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30C7753-40EB-30B6-0614-17746659E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5AD0D6D-59CE-C282-E51D-ED0787F3EE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81615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9861709-A816-7D45-CF58-1C33A7C7155D}"/>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68F38953-FDD1-4CF6-96F4-164DEC849A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2B6C13C-8607-864A-08FC-1FA70E9A16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6970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8E1C0516-694E-D55E-4EF3-D170A82C7B93}"/>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D57A220-97E9-7F16-E714-093556F72A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948E4C6-BE08-3CBE-5B7C-5C0113B88A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77263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973F196-E78C-4BC1-DFD0-B87D8982CE17}"/>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8ECFC7EC-D267-242B-BC08-BF6E5B6714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671BECB-2CFD-80D7-C927-542152821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69891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D226D927-00F7-D9AE-BCA1-68A247A14FF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0AC1B94-0739-A02A-DB8C-A6772395B5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703B17F6-2452-4AC9-E725-0DD1A9B406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6801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F80B7E67-CCAA-3B04-FF6D-A72E9673B42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4B2769B-B5AB-E422-766C-86481363F9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2ED64CAD-96D4-901B-5F28-E5BCFFE835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76320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E0E4C2C-C2BC-749A-E090-473FFB5ECA3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9E8787A-3F5F-51CF-1132-B218ED6325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5D2268B8-37C6-B642-EBDD-2BE5EEE8F4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6297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D6F72624-E93E-2AE0-C798-62E27E0EAC46}"/>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D11F55C3-9E99-877D-74DC-1D91BE0CF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61934231-3455-3BEC-4412-BAC8655ECA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6499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D02AFE4-8C35-C8CE-83B2-9E4946131B69}"/>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08FB37F9-8931-C14E-86C9-7379A9849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A6A8997-17FD-431D-D046-42C278C4B9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80062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73A241E-D216-FDE8-12C5-CFCABAA3E4B8}"/>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B0870F02-FF09-43AC-2D9C-D32B5B547D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3DBD178-84A2-07D0-A1F3-C5A80F8F68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15828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C0A20FE-85EB-0AE8-B795-079339311CA6}"/>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A39FDC57-665C-F4E4-6FB5-2BE72C6A8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47C8378-52CC-1BFC-13F6-26D2599209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18895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290483FF-E2F5-94FB-C918-AB0F4BCB287A}"/>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14067CB3-A066-2DD6-646A-EEB60CAEF5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C198B67D-5C97-C15F-7790-CEB627381D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2635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9E470AC-590A-8353-11A3-FB02B710E448}"/>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72E6BEEC-67B4-CFB2-13EF-242D571F1A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AAFE4853-08FC-B359-FFF5-FA977AF7FF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73929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11F51F4-0183-A3EB-D5EA-0DD6D3845B1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8396061-6C0F-C1BC-91C5-6CDD977A4F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0370B4F7-6931-ADAA-6502-1948125514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34785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8D1E703-8F02-6F6F-13E1-43C92C74A1F3}"/>
            </a:ext>
          </a:extLst>
        </p:cNvPr>
        <p:cNvGrpSpPr/>
        <p:nvPr/>
      </p:nvGrpSpPr>
      <p:grpSpPr>
        <a:xfrm>
          <a:off x="0" y="0"/>
          <a:ext cx="0" cy="0"/>
          <a:chOff x="0" y="0"/>
          <a:chExt cx="0" cy="0"/>
        </a:xfrm>
      </p:grpSpPr>
      <p:pic>
        <p:nvPicPr>
          <p:cNvPr id="54" name="Google Shape;54;p1">
            <a:extLst>
              <a:ext uri="{FF2B5EF4-FFF2-40B4-BE49-F238E27FC236}">
                <a16:creationId xmlns:a16="http://schemas.microsoft.com/office/drawing/2014/main" id="{5E82514A-054D-EEC3-25AB-8E514000DBB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a:extLst>
              <a:ext uri="{FF2B5EF4-FFF2-40B4-BE49-F238E27FC236}">
                <a16:creationId xmlns:a16="http://schemas.microsoft.com/office/drawing/2014/main" id="{BEF249DC-C6D1-C435-B09B-A1C7ADEC351B}"/>
              </a:ext>
            </a:extLst>
          </p:cNvPr>
          <p:cNvGraphicFramePr/>
          <p:nvPr>
            <p:extLst>
              <p:ext uri="{D42A27DB-BD31-4B8C-83A1-F6EECF244321}">
                <p14:modId xmlns:p14="http://schemas.microsoft.com/office/powerpoint/2010/main" val="831118778"/>
              </p:ext>
            </p:extLst>
          </p:nvPr>
        </p:nvGraphicFramePr>
        <p:xfrm>
          <a:off x="5328200" y="970025"/>
          <a:ext cx="3690575" cy="798516"/>
        </p:xfrm>
        <a:graphic>
          <a:graphicData uri="http://schemas.openxmlformats.org/drawingml/2006/table">
            <a:tbl>
              <a:tblPr>
                <a:noFill/>
                <a:tableStyleId>{151BA02C-6A80-4BA0-BD01-5099423E3828}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14/10/2025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a:extLst>
              <a:ext uri="{FF2B5EF4-FFF2-40B4-BE49-F238E27FC236}">
                <a16:creationId xmlns:a16="http://schemas.microsoft.com/office/drawing/2014/main" id="{B7C12853-941F-6382-7500-0DBB3A0C5B64}"/>
              </a:ext>
            </a:extLst>
          </p:cNvPr>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Sección P</a:t>
            </a:r>
            <a:endParaRPr sz="2500" b="0" i="0" u="none" strike="noStrike" cap="none" dirty="0">
              <a:solidFill>
                <a:srgbClr val="000000"/>
              </a:solidFill>
              <a:latin typeface="Arial"/>
              <a:ea typeface="Arial"/>
              <a:cs typeface="Arial"/>
              <a:sym typeface="Arial"/>
            </a:endParaRPr>
          </a:p>
        </p:txBody>
      </p:sp>
      <p:sp>
        <p:nvSpPr>
          <p:cNvPr id="57" name="Google Shape;57;p1">
            <a:extLst>
              <a:ext uri="{FF2B5EF4-FFF2-40B4-BE49-F238E27FC236}">
                <a16:creationId xmlns:a16="http://schemas.microsoft.com/office/drawing/2014/main" id="{DD24CAFF-04EF-275A-56E9-40018C8F8B74}"/>
              </a:ext>
            </a:extLst>
          </p:cNvPr>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Mynor Israel Miranda López</a:t>
            </a:r>
          </a:p>
        </p:txBody>
      </p:sp>
    </p:spTree>
    <p:extLst>
      <p:ext uri="{BB962C8B-B14F-4D97-AF65-F5344CB8AC3E}">
        <p14:creationId xmlns:p14="http://schemas.microsoft.com/office/powerpoint/2010/main" val="2085788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9E9C14C7-9952-15FE-FB8B-4E4BC950355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A414A63A-2D72-BFA3-3E47-4C7DB9CFD0A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A8F12F7-894C-C8D1-647E-42C41271DCDC}"/>
              </a:ext>
            </a:extLst>
          </p:cNvPr>
          <p:cNvSpPr>
            <a:spLocks noGrp="1"/>
          </p:cNvSpPr>
          <p:nvPr>
            <p:ph type="title"/>
          </p:nvPr>
        </p:nvSpPr>
        <p:spPr>
          <a:xfrm>
            <a:off x="367580" y="0"/>
            <a:ext cx="8520600" cy="572700"/>
          </a:xfrm>
        </p:spPr>
        <p:txBody>
          <a:bodyPr>
            <a:normAutofit fontScale="90000"/>
          </a:bodyPr>
          <a:lstStyle/>
          <a:p>
            <a:pPr algn="ctr"/>
            <a:r>
              <a:rPr lang="es-MX" dirty="0"/>
              <a:t>Gestión de redes sociales</a:t>
            </a:r>
            <a:endParaRPr lang="es-GT" dirty="0"/>
          </a:p>
        </p:txBody>
      </p:sp>
      <p:sp>
        <p:nvSpPr>
          <p:cNvPr id="3" name="Marcador de texto 2">
            <a:extLst>
              <a:ext uri="{FF2B5EF4-FFF2-40B4-BE49-F238E27FC236}">
                <a16:creationId xmlns:a16="http://schemas.microsoft.com/office/drawing/2014/main" id="{8271C3A5-71C5-41E5-B79B-4E23EBB588A4}"/>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Estrategias de contenido y calendario editorial</a:t>
            </a:r>
          </a:p>
          <a:p>
            <a:pPr marL="114300" indent="0">
              <a:buNone/>
            </a:pPr>
            <a:endParaRPr lang="es-MX" sz="1400" dirty="0">
              <a:solidFill>
                <a:schemeClr val="tx1"/>
              </a:solidFill>
            </a:endParaRPr>
          </a:p>
          <a:p>
            <a:pPr marL="114300" indent="0">
              <a:buNone/>
            </a:pPr>
            <a:r>
              <a:rPr lang="es-MX" sz="1400" dirty="0">
                <a:solidFill>
                  <a:schemeClr val="tx1"/>
                </a:solidFill>
              </a:rPr>
              <a:t>En marketing digital, las estrategias de contenido constituyen la columna vertebral de toda campaña en redes sociales. Su propósito es atraer, informar y fidelizar al público a través de mensajes relevantes, coherentes y alineados con los objetivos de la marca. Estas estrategias se basan en la planeación de qué se comunica, cómo, a quién y con qué frecuencia.</a:t>
            </a:r>
          </a:p>
          <a:p>
            <a:pPr marL="114300" indent="0">
              <a:buNone/>
            </a:pPr>
            <a:endParaRPr lang="es-MX" sz="1400" dirty="0">
              <a:solidFill>
                <a:schemeClr val="tx1"/>
              </a:solidFill>
            </a:endParaRPr>
          </a:p>
          <a:p>
            <a:pPr marL="114300" indent="0">
              <a:buNone/>
            </a:pPr>
            <a:r>
              <a:rPr lang="es-MX" sz="1400" dirty="0">
                <a:solidFill>
                  <a:schemeClr val="tx1"/>
                </a:solidFill>
              </a:rPr>
              <a:t>Un calendario editorial es una herramienta clave dentro de la gestión de contenidos, ya que permite organizar de forma estratégica las publicaciones, fechas importantes y tipos de formatos que se utilizarán. Esto garantiza constancia, variedad y coherencia visual en la comunicación de la marca.</a:t>
            </a:r>
          </a:p>
          <a:p>
            <a:pPr marL="114300" indent="0">
              <a:buNone/>
            </a:pPr>
            <a:endParaRPr lang="es-MX" sz="1400" dirty="0">
              <a:solidFill>
                <a:schemeClr val="tx1"/>
              </a:solidFill>
            </a:endParaRPr>
          </a:p>
          <a:p>
            <a:pPr marL="114300" indent="0">
              <a:buNone/>
            </a:pPr>
            <a:r>
              <a:rPr lang="es-MX" sz="1400" dirty="0">
                <a:solidFill>
                  <a:schemeClr val="tx1"/>
                </a:solidFill>
              </a:rPr>
              <a:t>Al elaborar una estrategia de contenido, se suelen definir los siguientes elementos:</a:t>
            </a:r>
          </a:p>
          <a:p>
            <a:r>
              <a:rPr lang="es-MX" sz="1400" dirty="0">
                <a:solidFill>
                  <a:schemeClr val="tx1"/>
                </a:solidFill>
              </a:rPr>
              <a:t>Objetivos de comunicación: aumentar el reconocimiento, generar tráfico o impulsar ventas.</a:t>
            </a:r>
          </a:p>
          <a:p>
            <a:r>
              <a:rPr lang="es-MX" sz="1400" dirty="0">
                <a:solidFill>
                  <a:schemeClr val="tx1"/>
                </a:solidFill>
              </a:rPr>
              <a:t>Tono y estilo del mensaje: formal, juvenil, educativo, emocional, etc.</a:t>
            </a:r>
          </a:p>
          <a:p>
            <a:r>
              <a:rPr lang="es-MX" sz="1400" dirty="0">
                <a:solidFill>
                  <a:schemeClr val="tx1"/>
                </a:solidFill>
              </a:rPr>
              <a:t>Tipos de contenido: informativo, promocional, educativo, inspiracional o de entretenimiento.</a:t>
            </a:r>
          </a:p>
          <a:p>
            <a:r>
              <a:rPr lang="es-MX" sz="1400" dirty="0">
                <a:solidFill>
                  <a:schemeClr val="tx1"/>
                </a:solidFill>
              </a:rPr>
              <a:t>Formatos: videos, </a:t>
            </a:r>
            <a:r>
              <a:rPr lang="es-MX" sz="1400" dirty="0" err="1">
                <a:solidFill>
                  <a:schemeClr val="tx1"/>
                </a:solidFill>
              </a:rPr>
              <a:t>reels</a:t>
            </a:r>
            <a:r>
              <a:rPr lang="es-MX" sz="1400" dirty="0">
                <a:solidFill>
                  <a:schemeClr val="tx1"/>
                </a:solidFill>
              </a:rPr>
              <a:t>, historias, infografías, transmisiones en vivo o publicaciones estáticas.</a:t>
            </a:r>
          </a:p>
          <a:p>
            <a:r>
              <a:rPr lang="es-MX" sz="1400" dirty="0">
                <a:solidFill>
                  <a:schemeClr val="tx1"/>
                </a:solidFill>
              </a:rPr>
              <a:t>Frecuencia y horarios óptimos de publicación.</a:t>
            </a:r>
            <a:endParaRPr lang="es-GT" sz="1400" dirty="0">
              <a:solidFill>
                <a:schemeClr val="tx1"/>
              </a:solidFill>
            </a:endParaRPr>
          </a:p>
        </p:txBody>
      </p:sp>
    </p:spTree>
    <p:extLst>
      <p:ext uri="{BB962C8B-B14F-4D97-AF65-F5344CB8AC3E}">
        <p14:creationId xmlns:p14="http://schemas.microsoft.com/office/powerpoint/2010/main" val="246003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EBBA6D0-2E2B-EA38-A984-DFF03711ACC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2DFA95E9-C1B5-D258-4F22-7B2A69EECDE8}"/>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519CF4C5-10D0-258F-0E42-1F6ED78CC7E9}"/>
              </a:ext>
            </a:extLst>
          </p:cNvPr>
          <p:cNvSpPr>
            <a:spLocks noGrp="1"/>
          </p:cNvSpPr>
          <p:nvPr>
            <p:ph type="title"/>
          </p:nvPr>
        </p:nvSpPr>
        <p:spPr>
          <a:xfrm>
            <a:off x="367580" y="0"/>
            <a:ext cx="8520600" cy="572700"/>
          </a:xfrm>
        </p:spPr>
        <p:txBody>
          <a:bodyPr>
            <a:normAutofit fontScale="90000"/>
          </a:bodyPr>
          <a:lstStyle/>
          <a:p>
            <a:pPr algn="ctr"/>
            <a:r>
              <a:rPr lang="es-MX" dirty="0"/>
              <a:t>Gestión de redes sociales</a:t>
            </a:r>
            <a:endParaRPr lang="es-GT" dirty="0"/>
          </a:p>
        </p:txBody>
      </p:sp>
      <p:sp>
        <p:nvSpPr>
          <p:cNvPr id="3" name="Marcador de texto 2">
            <a:extLst>
              <a:ext uri="{FF2B5EF4-FFF2-40B4-BE49-F238E27FC236}">
                <a16:creationId xmlns:a16="http://schemas.microsoft.com/office/drawing/2014/main" id="{26F08245-84AE-8D98-B4D9-DA4F05D05CB4}"/>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Segmentación y análisis del público objetivo</a:t>
            </a:r>
          </a:p>
          <a:p>
            <a:pPr marL="114300" indent="0">
              <a:buNone/>
            </a:pPr>
            <a:endParaRPr lang="es-MX" sz="1400" dirty="0">
              <a:solidFill>
                <a:schemeClr val="tx1"/>
              </a:solidFill>
            </a:endParaRPr>
          </a:p>
          <a:p>
            <a:pPr marL="114300" indent="0">
              <a:buNone/>
            </a:pPr>
            <a:r>
              <a:rPr lang="es-MX" sz="1400" dirty="0">
                <a:solidFill>
                  <a:schemeClr val="tx1"/>
                </a:solidFill>
              </a:rPr>
              <a:t>En marketing, conocer al público objetivo es esencial para lograr campañas efectivas. La segmentación permite dividir el mercado en grupos de consumidores con características similares, de modo que los mensajes se adapten mejor a sus necesidades y comportamientos.</a:t>
            </a:r>
          </a:p>
          <a:p>
            <a:pPr marL="114300" indent="0">
              <a:buNone/>
            </a:pPr>
            <a:endParaRPr lang="es-MX" sz="1400" dirty="0">
              <a:solidFill>
                <a:schemeClr val="tx1"/>
              </a:solidFill>
            </a:endParaRPr>
          </a:p>
          <a:p>
            <a:pPr marL="114300" indent="0">
              <a:buNone/>
            </a:pPr>
            <a:r>
              <a:rPr lang="es-MX" sz="1400" dirty="0">
                <a:solidFill>
                  <a:schemeClr val="tx1"/>
                </a:solidFill>
              </a:rPr>
              <a:t>El análisis del público se realiza a partir de información demográfica, psicográfica y conductual, la cual se obtiene mediante herramientas analíticas o estudios de mercado. Esto permite comprender quiénes son los consumidores, qué buscan y cómo interactúan con las marcas.</a:t>
            </a:r>
          </a:p>
          <a:p>
            <a:pPr marL="114300" indent="0">
              <a:buNone/>
            </a:pPr>
            <a:endParaRPr lang="es-MX" sz="1400" dirty="0">
              <a:solidFill>
                <a:schemeClr val="tx1"/>
              </a:solidFill>
            </a:endParaRPr>
          </a:p>
          <a:p>
            <a:pPr marL="114300" indent="0">
              <a:buNone/>
            </a:pPr>
            <a:r>
              <a:rPr lang="es-MX" sz="1400" dirty="0">
                <a:solidFill>
                  <a:schemeClr val="tx1"/>
                </a:solidFill>
              </a:rPr>
              <a:t>Los principales tipos de segmentación en redes sociales incluyen:</a:t>
            </a:r>
          </a:p>
          <a:p>
            <a:pPr marL="114300" indent="0">
              <a:buNone/>
            </a:pPr>
            <a:endParaRPr lang="es-MX" sz="1400" dirty="0">
              <a:solidFill>
                <a:schemeClr val="tx1"/>
              </a:solidFill>
            </a:endParaRPr>
          </a:p>
          <a:p>
            <a:r>
              <a:rPr lang="es-MX" sz="1400" dirty="0">
                <a:solidFill>
                  <a:schemeClr val="tx1"/>
                </a:solidFill>
              </a:rPr>
              <a:t>Demográfica: edad, género, nivel educativo, ocupación.</a:t>
            </a:r>
          </a:p>
          <a:p>
            <a:r>
              <a:rPr lang="es-MX" sz="1400" dirty="0">
                <a:solidFill>
                  <a:schemeClr val="tx1"/>
                </a:solidFill>
              </a:rPr>
              <a:t>Geográfica: país, ciudad o zona específica.</a:t>
            </a:r>
          </a:p>
          <a:p>
            <a:r>
              <a:rPr lang="es-MX" sz="1400" dirty="0">
                <a:solidFill>
                  <a:schemeClr val="tx1"/>
                </a:solidFill>
              </a:rPr>
              <a:t>Psicográfica: intereses, valores, estilo de vida.</a:t>
            </a:r>
          </a:p>
          <a:p>
            <a:r>
              <a:rPr lang="es-MX" sz="1400" dirty="0">
                <a:solidFill>
                  <a:schemeClr val="tx1"/>
                </a:solidFill>
              </a:rPr>
              <a:t>Conductual: frecuencia de compra, tipo de dispositivo, horario de conexión.</a:t>
            </a:r>
            <a:endParaRPr lang="es-GT" sz="1400" dirty="0">
              <a:solidFill>
                <a:schemeClr val="tx1"/>
              </a:solidFill>
            </a:endParaRPr>
          </a:p>
        </p:txBody>
      </p:sp>
    </p:spTree>
    <p:extLst>
      <p:ext uri="{BB962C8B-B14F-4D97-AF65-F5344CB8AC3E}">
        <p14:creationId xmlns:p14="http://schemas.microsoft.com/office/powerpoint/2010/main" val="77649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D490E6FF-76CD-5FEA-C1AE-868DF38DE6B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E04F7B77-51EE-5ECA-2680-E12B6BC54AE1}"/>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CBA25CFC-75F3-5FB3-3832-1C4B04A49A14}"/>
              </a:ext>
            </a:extLst>
          </p:cNvPr>
          <p:cNvSpPr>
            <a:spLocks noGrp="1"/>
          </p:cNvSpPr>
          <p:nvPr>
            <p:ph type="title"/>
          </p:nvPr>
        </p:nvSpPr>
        <p:spPr>
          <a:xfrm>
            <a:off x="367580" y="0"/>
            <a:ext cx="8520600" cy="572700"/>
          </a:xfrm>
        </p:spPr>
        <p:txBody>
          <a:bodyPr>
            <a:normAutofit fontScale="90000"/>
          </a:bodyPr>
          <a:lstStyle/>
          <a:p>
            <a:pPr algn="ctr"/>
            <a:r>
              <a:rPr lang="es-MX" dirty="0"/>
              <a:t>Gestión de redes sociales</a:t>
            </a:r>
            <a:endParaRPr lang="es-GT" dirty="0"/>
          </a:p>
        </p:txBody>
      </p:sp>
      <p:sp>
        <p:nvSpPr>
          <p:cNvPr id="3" name="Marcador de texto 2">
            <a:extLst>
              <a:ext uri="{FF2B5EF4-FFF2-40B4-BE49-F238E27FC236}">
                <a16:creationId xmlns:a16="http://schemas.microsoft.com/office/drawing/2014/main" id="{FEC990B7-80FE-A685-11FE-822C02B4E57A}"/>
              </a:ext>
            </a:extLst>
          </p:cNvPr>
          <p:cNvSpPr>
            <a:spLocks noGrp="1"/>
          </p:cNvSpPr>
          <p:nvPr>
            <p:ph type="body" idx="1"/>
          </p:nvPr>
        </p:nvSpPr>
        <p:spPr>
          <a:xfrm>
            <a:off x="311700" y="777240"/>
            <a:ext cx="8520600" cy="4236195"/>
          </a:xfrm>
        </p:spPr>
        <p:txBody>
          <a:bodyPr>
            <a:normAutofit fontScale="85000" lnSpcReduction="10000"/>
          </a:bodyPr>
          <a:lstStyle/>
          <a:p>
            <a:pPr marL="114300" indent="0">
              <a:buNone/>
            </a:pPr>
            <a:r>
              <a:rPr lang="es-MX" sz="1400" b="1" dirty="0">
                <a:solidFill>
                  <a:schemeClr val="tx1"/>
                </a:solidFill>
              </a:rPr>
              <a:t>Uso de herramientas de gestión (Meta Business Suite, Hootsuite, Buffer, etc.)</a:t>
            </a:r>
          </a:p>
          <a:p>
            <a:pPr marL="114300" indent="0">
              <a:buNone/>
            </a:pPr>
            <a:endParaRPr lang="es-MX" sz="1400" dirty="0">
              <a:solidFill>
                <a:schemeClr val="tx1"/>
              </a:solidFill>
            </a:endParaRPr>
          </a:p>
          <a:p>
            <a:pPr marL="114300" indent="0">
              <a:buNone/>
            </a:pPr>
            <a:r>
              <a:rPr lang="es-MX" sz="1400" dirty="0">
                <a:solidFill>
                  <a:schemeClr val="tx1"/>
                </a:solidFill>
              </a:rPr>
              <a:t>Las herramientas de gestión de redes sociales son indispensables en el marketing moderno, ya que facilitan la planificación, publicación y seguimiento de múltiples cuentas desde un solo panel de control. Estas plataformas ahorran tiempo, mantienen la coherencia del mensaje y permiten analizar el rendimiento de las campañas en tiempo real.</a:t>
            </a:r>
          </a:p>
          <a:p>
            <a:pPr marL="114300" indent="0">
              <a:buNone/>
            </a:pPr>
            <a:endParaRPr lang="es-MX" sz="1400" dirty="0">
              <a:solidFill>
                <a:schemeClr val="tx1"/>
              </a:solidFill>
            </a:endParaRPr>
          </a:p>
          <a:p>
            <a:pPr marL="114300" indent="0">
              <a:buNone/>
            </a:pPr>
            <a:r>
              <a:rPr lang="es-MX" sz="1400" dirty="0">
                <a:solidFill>
                  <a:schemeClr val="tx1"/>
                </a:solidFill>
              </a:rPr>
              <a:t>Entre las herramientas más utilizadas se destacan:</a:t>
            </a:r>
          </a:p>
          <a:p>
            <a:pPr marL="114300" indent="0">
              <a:buNone/>
            </a:pPr>
            <a:endParaRPr lang="es-MX" sz="1400" dirty="0">
              <a:solidFill>
                <a:schemeClr val="tx1"/>
              </a:solidFill>
            </a:endParaRPr>
          </a:p>
          <a:p>
            <a:r>
              <a:rPr lang="es-MX" sz="1400" dirty="0">
                <a:solidFill>
                  <a:schemeClr val="tx1"/>
                </a:solidFill>
              </a:rPr>
              <a:t>Meta Business Suite: permite administrar Facebook e Instagram, programar publicaciones, responder mensajes y analizar estadísticas de rendimiento.</a:t>
            </a:r>
          </a:p>
          <a:p>
            <a:r>
              <a:rPr lang="es-MX" sz="1400" dirty="0">
                <a:solidFill>
                  <a:schemeClr val="tx1"/>
                </a:solidFill>
              </a:rPr>
              <a:t>Hootsuite: facilita la gestión de varias redes a la vez, la programación avanzada y la colaboración entre equipos.</a:t>
            </a:r>
          </a:p>
          <a:p>
            <a:r>
              <a:rPr lang="es-MX" sz="1400" dirty="0">
                <a:solidFill>
                  <a:schemeClr val="tx1"/>
                </a:solidFill>
              </a:rPr>
              <a:t>Buffer: se enfoca en la programación eficiente de contenido y análisis de resultados por red social.</a:t>
            </a:r>
          </a:p>
          <a:p>
            <a:r>
              <a:rPr lang="es-MX" sz="1400" dirty="0" err="1">
                <a:solidFill>
                  <a:schemeClr val="tx1"/>
                </a:solidFill>
              </a:rPr>
              <a:t>Later</a:t>
            </a:r>
            <a:r>
              <a:rPr lang="es-MX" sz="1400" dirty="0">
                <a:solidFill>
                  <a:schemeClr val="tx1"/>
                </a:solidFill>
              </a:rPr>
              <a:t> o </a:t>
            </a:r>
            <a:r>
              <a:rPr lang="es-MX" sz="1400" dirty="0" err="1">
                <a:solidFill>
                  <a:schemeClr val="tx1"/>
                </a:solidFill>
              </a:rPr>
              <a:t>Sprout</a:t>
            </a:r>
            <a:r>
              <a:rPr lang="es-MX" sz="1400" dirty="0">
                <a:solidFill>
                  <a:schemeClr val="tx1"/>
                </a:solidFill>
              </a:rPr>
              <a:t> Social: útiles para planificación visual, seguimiento de hashtags y análisis detallado del </a:t>
            </a:r>
            <a:r>
              <a:rPr lang="es-MX" sz="1400" dirty="0" err="1">
                <a:solidFill>
                  <a:schemeClr val="tx1"/>
                </a:solidFill>
              </a:rPr>
              <a:t>engagement</a:t>
            </a:r>
            <a:r>
              <a:rPr lang="es-MX" sz="1400" dirty="0">
                <a:solidFill>
                  <a:schemeClr val="tx1"/>
                </a:solidFill>
              </a:rPr>
              <a:t>.</a:t>
            </a:r>
          </a:p>
          <a:p>
            <a:pPr marL="114300" indent="0">
              <a:buNone/>
            </a:pPr>
            <a:endParaRPr lang="es-MX" sz="1400" dirty="0">
              <a:solidFill>
                <a:schemeClr val="tx1"/>
              </a:solidFill>
            </a:endParaRPr>
          </a:p>
          <a:p>
            <a:pPr marL="114300" indent="0">
              <a:buNone/>
            </a:pPr>
            <a:r>
              <a:rPr lang="es-MX" sz="1400" dirty="0">
                <a:solidFill>
                  <a:schemeClr val="tx1"/>
                </a:solidFill>
              </a:rPr>
              <a:t>Estas herramientas ofrecen ventajas como:</a:t>
            </a:r>
          </a:p>
          <a:p>
            <a:pPr marL="114300" indent="0">
              <a:buNone/>
            </a:pPr>
            <a:endParaRPr lang="es-MX" sz="1400" dirty="0">
              <a:solidFill>
                <a:schemeClr val="tx1"/>
              </a:solidFill>
            </a:endParaRPr>
          </a:p>
          <a:p>
            <a:r>
              <a:rPr lang="es-MX" sz="1400" dirty="0">
                <a:solidFill>
                  <a:schemeClr val="tx1"/>
                </a:solidFill>
              </a:rPr>
              <a:t>Mayor eficiencia operativa al automatizar publicaciones.</a:t>
            </a:r>
          </a:p>
          <a:p>
            <a:r>
              <a:rPr lang="es-MX" sz="1400" dirty="0">
                <a:solidFill>
                  <a:schemeClr val="tx1"/>
                </a:solidFill>
              </a:rPr>
              <a:t>Acceso a datos analíticos que ayudan a medir el impacto de las estrategias.</a:t>
            </a:r>
          </a:p>
          <a:p>
            <a:r>
              <a:rPr lang="es-MX" sz="1400" dirty="0">
                <a:solidFill>
                  <a:schemeClr val="tx1"/>
                </a:solidFill>
              </a:rPr>
              <a:t>Posibilidad de mantener una presencia constante y profesional en línea.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084817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E1A6E0F-F41E-CB74-13C4-4A9B9E7457E5}"/>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8322F1D2-D88C-94D8-89EE-C4C1561EC47C}"/>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95FF5CFD-FC1A-F158-C5A0-54657AB92DF3}"/>
              </a:ext>
            </a:extLst>
          </p:cNvPr>
          <p:cNvSpPr>
            <a:spLocks noGrp="1"/>
          </p:cNvSpPr>
          <p:nvPr>
            <p:ph type="title"/>
          </p:nvPr>
        </p:nvSpPr>
        <p:spPr>
          <a:xfrm>
            <a:off x="367580" y="0"/>
            <a:ext cx="8520600" cy="572700"/>
          </a:xfrm>
        </p:spPr>
        <p:txBody>
          <a:bodyPr>
            <a:normAutofit fontScale="90000"/>
          </a:bodyPr>
          <a:lstStyle/>
          <a:p>
            <a:pPr algn="ctr"/>
            <a:r>
              <a:rPr lang="es-MX" dirty="0"/>
              <a:t>Gestión de redes sociales</a:t>
            </a:r>
            <a:endParaRPr lang="es-GT" dirty="0"/>
          </a:p>
        </p:txBody>
      </p:sp>
      <p:sp>
        <p:nvSpPr>
          <p:cNvPr id="3" name="Marcador de texto 2">
            <a:extLst>
              <a:ext uri="{FF2B5EF4-FFF2-40B4-BE49-F238E27FC236}">
                <a16:creationId xmlns:a16="http://schemas.microsoft.com/office/drawing/2014/main" id="{F7E912B1-1E90-C5CE-81F1-CDBD1B1AA2B8}"/>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400" b="1" dirty="0">
                <a:solidFill>
                  <a:schemeClr val="tx1"/>
                </a:solidFill>
              </a:rPr>
              <a:t>Monitoreo de métricas de interacción y crecimiento</a:t>
            </a:r>
          </a:p>
          <a:p>
            <a:pPr marL="114300" indent="0">
              <a:buNone/>
            </a:pPr>
            <a:endParaRPr lang="es-MX" sz="1400" dirty="0">
              <a:solidFill>
                <a:schemeClr val="tx1"/>
              </a:solidFill>
            </a:endParaRPr>
          </a:p>
          <a:p>
            <a:pPr marL="114300" indent="0">
              <a:buNone/>
            </a:pPr>
            <a:r>
              <a:rPr lang="es-MX" sz="1400" dirty="0">
                <a:solidFill>
                  <a:schemeClr val="tx1"/>
                </a:solidFill>
              </a:rPr>
              <a:t>El monitoreo de métricas es una práctica esencial dentro del marketing digital, pues permite medir la efectividad de las acciones ejecutadas y tomar decisiones basadas en datos. En redes sociales, los indicadores más importantes se relacionan con la interacción del público y el crecimiento de la comunidad.</a:t>
            </a:r>
          </a:p>
          <a:p>
            <a:pPr marL="114300" indent="0">
              <a:buNone/>
            </a:pPr>
            <a:endParaRPr lang="es-MX" sz="1400" dirty="0">
              <a:solidFill>
                <a:schemeClr val="tx1"/>
              </a:solidFill>
            </a:endParaRPr>
          </a:p>
          <a:p>
            <a:pPr marL="114300" indent="0">
              <a:buNone/>
            </a:pPr>
            <a:r>
              <a:rPr lang="es-MX" sz="1400" dirty="0">
                <a:solidFill>
                  <a:schemeClr val="tx1"/>
                </a:solidFill>
              </a:rPr>
              <a:t>Algunas métricas relevantes incluyen:</a:t>
            </a:r>
          </a:p>
          <a:p>
            <a:pPr marL="114300" indent="0">
              <a:buNone/>
            </a:pPr>
            <a:endParaRPr lang="es-MX" sz="1400" dirty="0">
              <a:solidFill>
                <a:schemeClr val="tx1"/>
              </a:solidFill>
            </a:endParaRPr>
          </a:p>
          <a:p>
            <a:r>
              <a:rPr lang="es-MX" sz="1400" dirty="0">
                <a:solidFill>
                  <a:schemeClr val="tx1"/>
                </a:solidFill>
              </a:rPr>
              <a:t>Alcance e impresiones: cantidad de usuarios que ven el contenido.</a:t>
            </a:r>
          </a:p>
          <a:p>
            <a:r>
              <a:rPr lang="es-MX" sz="1400" dirty="0" err="1">
                <a:solidFill>
                  <a:schemeClr val="tx1"/>
                </a:solidFill>
              </a:rPr>
              <a:t>Engagement</a:t>
            </a:r>
            <a:r>
              <a:rPr lang="es-MX" sz="1400" dirty="0">
                <a:solidFill>
                  <a:schemeClr val="tx1"/>
                </a:solidFill>
              </a:rPr>
              <a:t> </a:t>
            </a:r>
            <a:r>
              <a:rPr lang="es-MX" sz="1400" dirty="0" err="1">
                <a:solidFill>
                  <a:schemeClr val="tx1"/>
                </a:solidFill>
              </a:rPr>
              <a:t>rate</a:t>
            </a:r>
            <a:r>
              <a:rPr lang="es-MX" sz="1400" dirty="0">
                <a:solidFill>
                  <a:schemeClr val="tx1"/>
                </a:solidFill>
              </a:rPr>
              <a:t>: mide el nivel de interacción (</a:t>
            </a:r>
            <a:r>
              <a:rPr lang="es-MX" sz="1400" dirty="0" err="1">
                <a:solidFill>
                  <a:schemeClr val="tx1"/>
                </a:solidFill>
              </a:rPr>
              <a:t>likes</a:t>
            </a:r>
            <a:r>
              <a:rPr lang="es-MX" sz="1400" dirty="0">
                <a:solidFill>
                  <a:schemeClr val="tx1"/>
                </a:solidFill>
              </a:rPr>
              <a:t>, comentarios, compartidos).</a:t>
            </a:r>
          </a:p>
          <a:p>
            <a:r>
              <a:rPr lang="es-MX" sz="1400" dirty="0">
                <a:solidFill>
                  <a:schemeClr val="tx1"/>
                </a:solidFill>
              </a:rPr>
              <a:t>Tasa de conversión: porcentaje de usuarios que realizan una acción deseada (clic, compra, registro).</a:t>
            </a:r>
          </a:p>
          <a:p>
            <a:r>
              <a:rPr lang="es-MX" sz="1400" dirty="0">
                <a:solidFill>
                  <a:schemeClr val="tx1"/>
                </a:solidFill>
              </a:rPr>
              <a:t>Crecimiento de seguidores: evolución del público en un periodo determinado.</a:t>
            </a:r>
          </a:p>
          <a:p>
            <a:r>
              <a:rPr lang="es-MX" sz="1400" dirty="0">
                <a:solidFill>
                  <a:schemeClr val="tx1"/>
                </a:solidFill>
              </a:rPr>
              <a:t>CTR (</a:t>
            </a:r>
            <a:r>
              <a:rPr lang="es-MX" sz="1400" dirty="0" err="1">
                <a:solidFill>
                  <a:schemeClr val="tx1"/>
                </a:solidFill>
              </a:rPr>
              <a:t>Click</a:t>
            </a:r>
            <a:r>
              <a:rPr lang="es-MX" sz="1400" dirty="0">
                <a:solidFill>
                  <a:schemeClr val="tx1"/>
                </a:solidFill>
              </a:rPr>
              <a:t> </a:t>
            </a:r>
            <a:r>
              <a:rPr lang="es-MX" sz="1400" dirty="0" err="1">
                <a:solidFill>
                  <a:schemeClr val="tx1"/>
                </a:solidFill>
              </a:rPr>
              <a:t>Through</a:t>
            </a:r>
            <a:r>
              <a:rPr lang="es-MX" sz="1400" dirty="0">
                <a:solidFill>
                  <a:schemeClr val="tx1"/>
                </a:solidFill>
              </a:rPr>
              <a:t> </a:t>
            </a:r>
            <a:r>
              <a:rPr lang="es-MX" sz="1400" dirty="0" err="1">
                <a:solidFill>
                  <a:schemeClr val="tx1"/>
                </a:solidFill>
              </a:rPr>
              <a:t>Rate</a:t>
            </a:r>
            <a:r>
              <a:rPr lang="es-MX" sz="1400" dirty="0">
                <a:solidFill>
                  <a:schemeClr val="tx1"/>
                </a:solidFill>
              </a:rPr>
              <a:t>): mide la efectividad de un enlace dentro de una publicación o anuncio.</a:t>
            </a:r>
          </a:p>
          <a:p>
            <a:pPr marL="114300" indent="0">
              <a:buNone/>
            </a:pPr>
            <a:endParaRPr lang="es-MX" sz="1400" dirty="0">
              <a:solidFill>
                <a:schemeClr val="tx1"/>
              </a:solidFill>
            </a:endParaRPr>
          </a:p>
          <a:p>
            <a:pPr marL="114300" indent="0">
              <a:buNone/>
            </a:pPr>
            <a:r>
              <a:rPr lang="es-MX" sz="1400" dirty="0">
                <a:solidFill>
                  <a:schemeClr val="tx1"/>
                </a:solidFill>
              </a:rPr>
              <a:t>El análisis de estas métricas ayuda a identificar qué tipo de contenido genera mejores resultados y qué áreas requieren ajustes. El uso de herramientas como Google </a:t>
            </a:r>
            <a:r>
              <a:rPr lang="es-MX" sz="1400" dirty="0" err="1">
                <a:solidFill>
                  <a:schemeClr val="tx1"/>
                </a:solidFill>
              </a:rPr>
              <a:t>Analytics</a:t>
            </a:r>
            <a:r>
              <a:rPr lang="es-MX" sz="1400" dirty="0">
                <a:solidFill>
                  <a:schemeClr val="tx1"/>
                </a:solidFill>
              </a:rPr>
              <a:t>, Meta </a:t>
            </a:r>
            <a:r>
              <a:rPr lang="es-MX" sz="1400" dirty="0" err="1">
                <a:solidFill>
                  <a:schemeClr val="tx1"/>
                </a:solidFill>
              </a:rPr>
              <a:t>Insights</a:t>
            </a:r>
            <a:r>
              <a:rPr lang="es-MX" sz="1400" dirty="0">
                <a:solidFill>
                  <a:schemeClr val="tx1"/>
                </a:solidFill>
              </a:rPr>
              <a:t> o Data Studio permite elaborar informes claros y visuales, esenciales para evaluar el rendimiento de las estrategias implementadas.</a:t>
            </a:r>
            <a:endParaRPr lang="es-GT" sz="1400" dirty="0">
              <a:solidFill>
                <a:schemeClr val="tx1"/>
              </a:solidFill>
            </a:endParaRPr>
          </a:p>
        </p:txBody>
      </p:sp>
    </p:spTree>
    <p:extLst>
      <p:ext uri="{BB962C8B-B14F-4D97-AF65-F5344CB8AC3E}">
        <p14:creationId xmlns:p14="http://schemas.microsoft.com/office/powerpoint/2010/main" val="255680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4F7E69B-7DF3-6138-C81F-E595DB502FC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9C56F17-FDF4-CF5A-678E-9F1DC24B2128}"/>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7F6CB92-43CB-61BD-986D-ECA3C7F66E87}"/>
              </a:ext>
            </a:extLst>
          </p:cNvPr>
          <p:cNvSpPr>
            <a:spLocks noGrp="1"/>
          </p:cNvSpPr>
          <p:nvPr>
            <p:ph type="title"/>
          </p:nvPr>
        </p:nvSpPr>
        <p:spPr>
          <a:xfrm>
            <a:off x="367580" y="0"/>
            <a:ext cx="8520600" cy="572700"/>
          </a:xfrm>
        </p:spPr>
        <p:txBody>
          <a:bodyPr>
            <a:normAutofit fontScale="90000"/>
          </a:bodyPr>
          <a:lstStyle/>
          <a:p>
            <a:pPr algn="ctr"/>
            <a:r>
              <a:rPr lang="es-MX" dirty="0"/>
              <a:t>Gestión de redes sociales</a:t>
            </a:r>
            <a:endParaRPr lang="es-GT" dirty="0"/>
          </a:p>
        </p:txBody>
      </p:sp>
      <p:sp>
        <p:nvSpPr>
          <p:cNvPr id="3" name="Marcador de texto 2">
            <a:extLst>
              <a:ext uri="{FF2B5EF4-FFF2-40B4-BE49-F238E27FC236}">
                <a16:creationId xmlns:a16="http://schemas.microsoft.com/office/drawing/2014/main" id="{7259869B-AAEE-ECBE-0973-CF670E5BA71E}"/>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Gestión de reputación y atención al cliente en redes</a:t>
            </a:r>
          </a:p>
          <a:p>
            <a:pPr marL="114300" indent="0">
              <a:buNone/>
            </a:pPr>
            <a:endParaRPr lang="es-MX" sz="1400" dirty="0">
              <a:solidFill>
                <a:schemeClr val="tx1"/>
              </a:solidFill>
            </a:endParaRPr>
          </a:p>
          <a:p>
            <a:pPr marL="114300" indent="0">
              <a:buNone/>
            </a:pPr>
            <a:r>
              <a:rPr lang="es-MX" sz="1400" dirty="0">
                <a:solidFill>
                  <a:schemeClr val="tx1"/>
                </a:solidFill>
              </a:rPr>
              <a:t>En el entorno digital, la reputación de una marca se construye a partir de la percepción que los usuarios tienen de ella. La gestión de reputación online y la atención al cliente en redes son aspectos fundamentales del marketing moderno, pues influyen directamente en la confianza y fidelización del consumidor.</a:t>
            </a:r>
          </a:p>
          <a:p>
            <a:pPr marL="114300" indent="0">
              <a:buNone/>
            </a:pPr>
            <a:endParaRPr lang="es-MX" sz="1400" dirty="0">
              <a:solidFill>
                <a:schemeClr val="tx1"/>
              </a:solidFill>
            </a:endParaRPr>
          </a:p>
          <a:p>
            <a:pPr marL="114300" indent="0">
              <a:buNone/>
            </a:pPr>
            <a:r>
              <a:rPr lang="es-MX" sz="1400" dirty="0">
                <a:solidFill>
                  <a:schemeClr val="tx1"/>
                </a:solidFill>
              </a:rPr>
              <a:t>Una respuesta rápida y empática ante comentarios o quejas puede transformar una experiencia negativa en una oportunidad de mejora. Por ello, las marcas deben contar con protocolos claros de comunicación y herramientas que faciliten el seguimiento de menciones y valoraciones.</a:t>
            </a:r>
          </a:p>
          <a:p>
            <a:pPr marL="114300" indent="0">
              <a:buNone/>
            </a:pPr>
            <a:endParaRPr lang="es-MX" sz="1400" dirty="0">
              <a:solidFill>
                <a:schemeClr val="tx1"/>
              </a:solidFill>
            </a:endParaRPr>
          </a:p>
          <a:p>
            <a:pPr marL="114300" indent="0">
              <a:buNone/>
            </a:pPr>
            <a:r>
              <a:rPr lang="es-MX" sz="1400" dirty="0">
                <a:solidFill>
                  <a:schemeClr val="tx1"/>
                </a:solidFill>
              </a:rPr>
              <a:t>Algunas prácticas clave incluyen:</a:t>
            </a:r>
          </a:p>
          <a:p>
            <a:pPr marL="114300" indent="0">
              <a:buNone/>
            </a:pPr>
            <a:endParaRPr lang="es-MX" sz="1400" dirty="0">
              <a:solidFill>
                <a:schemeClr val="tx1"/>
              </a:solidFill>
            </a:endParaRPr>
          </a:p>
          <a:p>
            <a:r>
              <a:rPr lang="es-MX" sz="1400" dirty="0">
                <a:solidFill>
                  <a:schemeClr val="tx1"/>
                </a:solidFill>
              </a:rPr>
              <a:t>Responder con rapidez y cortesía a mensajes y comentarios.</a:t>
            </a:r>
          </a:p>
          <a:p>
            <a:r>
              <a:rPr lang="es-MX" sz="1400" dirty="0">
                <a:solidFill>
                  <a:schemeClr val="tx1"/>
                </a:solidFill>
              </a:rPr>
              <a:t>Usar un tono coherente con la identidad de la marca.</a:t>
            </a:r>
          </a:p>
          <a:p>
            <a:r>
              <a:rPr lang="es-MX" sz="1400" dirty="0">
                <a:solidFill>
                  <a:schemeClr val="tx1"/>
                </a:solidFill>
              </a:rPr>
              <a:t>Implementar </a:t>
            </a:r>
            <a:r>
              <a:rPr lang="es-MX" sz="1400" dirty="0" err="1">
                <a:solidFill>
                  <a:schemeClr val="tx1"/>
                </a:solidFill>
              </a:rPr>
              <a:t>chatbots</a:t>
            </a:r>
            <a:r>
              <a:rPr lang="es-MX" sz="1400" dirty="0">
                <a:solidFill>
                  <a:schemeClr val="tx1"/>
                </a:solidFill>
              </a:rPr>
              <a:t> o respuestas automáticas para consultas frecuentes.</a:t>
            </a:r>
          </a:p>
          <a:p>
            <a:r>
              <a:rPr lang="es-MX" sz="1400" dirty="0">
                <a:solidFill>
                  <a:schemeClr val="tx1"/>
                </a:solidFill>
              </a:rPr>
              <a:t>Monitorear menciones mediante herramientas como </a:t>
            </a:r>
            <a:r>
              <a:rPr lang="es-MX" sz="1400" dirty="0" err="1">
                <a:solidFill>
                  <a:schemeClr val="tx1"/>
                </a:solidFill>
              </a:rPr>
              <a:t>Brandwatch</a:t>
            </a:r>
            <a:r>
              <a:rPr lang="es-MX" sz="1400" dirty="0">
                <a:solidFill>
                  <a:schemeClr val="tx1"/>
                </a:solidFill>
              </a:rPr>
              <a:t> o </a:t>
            </a:r>
            <a:r>
              <a:rPr lang="es-MX" sz="1400" dirty="0" err="1">
                <a:solidFill>
                  <a:schemeClr val="tx1"/>
                </a:solidFill>
              </a:rPr>
              <a:t>Mention</a:t>
            </a:r>
            <a:r>
              <a:rPr lang="es-MX" sz="1400" dirty="0">
                <a:solidFill>
                  <a:schemeClr val="tx1"/>
                </a:solidFill>
              </a:rPr>
              <a:t>.</a:t>
            </a:r>
          </a:p>
          <a:p>
            <a:r>
              <a:rPr lang="es-MX" sz="1400" dirty="0">
                <a:solidFill>
                  <a:schemeClr val="tx1"/>
                </a:solidFill>
              </a:rPr>
              <a:t>Generar contenido que refuerce la credibilidad y los valores de la marca.</a:t>
            </a:r>
            <a:endParaRPr lang="es-GT" sz="1400" dirty="0">
              <a:solidFill>
                <a:schemeClr val="tx1"/>
              </a:solidFill>
            </a:endParaRPr>
          </a:p>
        </p:txBody>
      </p:sp>
    </p:spTree>
    <p:extLst>
      <p:ext uri="{BB962C8B-B14F-4D97-AF65-F5344CB8AC3E}">
        <p14:creationId xmlns:p14="http://schemas.microsoft.com/office/powerpoint/2010/main" val="1010852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B7F596F-034B-3126-06A5-CD5E33657D38}"/>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3692568A-4EE8-7603-1857-44D103555394}"/>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CDEE424-80DB-ECAE-4C98-CB1A6CB79AB6}"/>
              </a:ext>
            </a:extLst>
          </p:cNvPr>
          <p:cNvSpPr>
            <a:spLocks noGrp="1"/>
          </p:cNvSpPr>
          <p:nvPr>
            <p:ph type="title"/>
          </p:nvPr>
        </p:nvSpPr>
        <p:spPr>
          <a:xfrm>
            <a:off x="367580" y="0"/>
            <a:ext cx="8520600" cy="572700"/>
          </a:xfrm>
        </p:spPr>
        <p:txBody>
          <a:bodyPr>
            <a:normAutofit fontScale="90000"/>
          </a:bodyPr>
          <a:lstStyle/>
          <a:p>
            <a:pPr algn="ctr"/>
            <a:r>
              <a:rPr lang="es-MX" dirty="0"/>
              <a:t>Herramientas para publicidad digital</a:t>
            </a:r>
            <a:endParaRPr lang="es-GT" dirty="0"/>
          </a:p>
        </p:txBody>
      </p:sp>
      <p:sp>
        <p:nvSpPr>
          <p:cNvPr id="3" name="Marcador de texto 2">
            <a:extLst>
              <a:ext uri="{FF2B5EF4-FFF2-40B4-BE49-F238E27FC236}">
                <a16:creationId xmlns:a16="http://schemas.microsoft.com/office/drawing/2014/main" id="{279435C8-5102-7418-D9E5-59A7AAC21C92}"/>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Plataformas de anuncios: Google </a:t>
            </a:r>
            <a:r>
              <a:rPr lang="es-MX" sz="1400" b="1" dirty="0" err="1">
                <a:solidFill>
                  <a:schemeClr val="tx1"/>
                </a:solidFill>
              </a:rPr>
              <a:t>Ads</a:t>
            </a:r>
            <a:r>
              <a:rPr lang="es-MX" sz="1400" b="1" dirty="0">
                <a:solidFill>
                  <a:schemeClr val="tx1"/>
                </a:solidFill>
              </a:rPr>
              <a:t>, Meta </a:t>
            </a:r>
            <a:r>
              <a:rPr lang="es-MX" sz="1400" b="1" dirty="0" err="1">
                <a:solidFill>
                  <a:schemeClr val="tx1"/>
                </a:solidFill>
              </a:rPr>
              <a:t>Ads</a:t>
            </a:r>
            <a:r>
              <a:rPr lang="es-MX" sz="1400" b="1" dirty="0">
                <a:solidFill>
                  <a:schemeClr val="tx1"/>
                </a:solidFill>
              </a:rPr>
              <a:t>, TikTok </a:t>
            </a:r>
            <a:r>
              <a:rPr lang="es-MX" sz="1400" b="1" dirty="0" err="1">
                <a:solidFill>
                  <a:schemeClr val="tx1"/>
                </a:solidFill>
              </a:rPr>
              <a:t>Ads</a:t>
            </a:r>
            <a:r>
              <a:rPr lang="es-MX" sz="1400" b="1" dirty="0">
                <a:solidFill>
                  <a:schemeClr val="tx1"/>
                </a:solidFill>
              </a:rPr>
              <a:t>, LinkedIn </a:t>
            </a:r>
            <a:r>
              <a:rPr lang="es-MX" sz="1400" b="1" dirty="0" err="1">
                <a:solidFill>
                  <a:schemeClr val="tx1"/>
                </a:solidFill>
              </a:rPr>
              <a:t>Ads</a:t>
            </a:r>
            <a:endParaRPr lang="es-MX" sz="1400" b="1" dirty="0">
              <a:solidFill>
                <a:schemeClr val="tx1"/>
              </a:solidFill>
            </a:endParaRPr>
          </a:p>
          <a:p>
            <a:pPr marL="114300" indent="0">
              <a:buNone/>
            </a:pPr>
            <a:r>
              <a:rPr lang="es-MX" sz="1400" dirty="0">
                <a:solidFill>
                  <a:schemeClr val="tx1"/>
                </a:solidFill>
              </a:rPr>
              <a:t>Las plataformas de anuncios digitales son herramientas esenciales dentro del marketing moderno, ya que permiten a las empresas llegar de forma segmentada a su público objetivo mediante estrategias pagadas. Cada plataforma ofrece ventajas y características específicas según el tipo de producto, servicio o audiencia que se desea alcanzar.</a:t>
            </a:r>
          </a:p>
          <a:p>
            <a:pPr marL="114300" indent="0">
              <a:buNone/>
            </a:pPr>
            <a:r>
              <a:rPr lang="es-MX" sz="1400" dirty="0">
                <a:solidFill>
                  <a:schemeClr val="tx1"/>
                </a:solidFill>
              </a:rPr>
              <a:t>Entre las más utilizadas se encuentran:</a:t>
            </a:r>
          </a:p>
          <a:p>
            <a:r>
              <a:rPr lang="es-MX" sz="1400" b="1" dirty="0">
                <a:solidFill>
                  <a:schemeClr val="tx1"/>
                </a:solidFill>
              </a:rPr>
              <a:t>Google </a:t>
            </a:r>
            <a:r>
              <a:rPr lang="es-MX" sz="1400" b="1" dirty="0" err="1">
                <a:solidFill>
                  <a:schemeClr val="tx1"/>
                </a:solidFill>
              </a:rPr>
              <a:t>Ads</a:t>
            </a:r>
            <a:r>
              <a:rPr lang="es-MX" sz="1400" b="1" dirty="0">
                <a:solidFill>
                  <a:schemeClr val="tx1"/>
                </a:solidFill>
              </a:rPr>
              <a:t>:</a:t>
            </a:r>
            <a:r>
              <a:rPr lang="es-MX" sz="1400" dirty="0">
                <a:solidFill>
                  <a:schemeClr val="tx1"/>
                </a:solidFill>
              </a:rPr>
              <a:t> es la plataforma publicitaria de Google que permite crear campañas en el buscador y en su red de </a:t>
            </a:r>
            <a:r>
              <a:rPr lang="es-MX" sz="1400" dirty="0" err="1">
                <a:solidFill>
                  <a:schemeClr val="tx1"/>
                </a:solidFill>
              </a:rPr>
              <a:t>display</a:t>
            </a:r>
            <a:r>
              <a:rPr lang="es-MX" sz="1400" dirty="0">
                <a:solidFill>
                  <a:schemeClr val="tx1"/>
                </a:solidFill>
              </a:rPr>
              <a:t> (YouTube, Gmail y millones de sitios asociados). Su principal ventaja es captar usuarios con intención de compra, ya que los anuncios aparecen cuando las personas buscan activamente un producto o servicio.</a:t>
            </a:r>
          </a:p>
          <a:p>
            <a:r>
              <a:rPr lang="es-MX" sz="1400" b="1" dirty="0">
                <a:solidFill>
                  <a:schemeClr val="tx1"/>
                </a:solidFill>
              </a:rPr>
              <a:t>Meta </a:t>
            </a:r>
            <a:r>
              <a:rPr lang="es-MX" sz="1400" b="1" dirty="0" err="1">
                <a:solidFill>
                  <a:schemeClr val="tx1"/>
                </a:solidFill>
              </a:rPr>
              <a:t>Ads</a:t>
            </a:r>
            <a:r>
              <a:rPr lang="es-MX" sz="1400" b="1" dirty="0">
                <a:solidFill>
                  <a:schemeClr val="tx1"/>
                </a:solidFill>
              </a:rPr>
              <a:t> (Facebook e Instagram):</a:t>
            </a:r>
            <a:r>
              <a:rPr lang="es-MX" sz="1400" dirty="0">
                <a:solidFill>
                  <a:schemeClr val="tx1"/>
                </a:solidFill>
              </a:rPr>
              <a:t> ideal para construir marca y generar interacción visual. Permite crear anuncios en formato imagen, video, carrusel y </a:t>
            </a:r>
            <a:r>
              <a:rPr lang="es-MX" sz="1400" dirty="0" err="1">
                <a:solidFill>
                  <a:schemeClr val="tx1"/>
                </a:solidFill>
              </a:rPr>
              <a:t>stories</a:t>
            </a:r>
            <a:r>
              <a:rPr lang="es-MX" sz="1400" dirty="0">
                <a:solidFill>
                  <a:schemeClr val="tx1"/>
                </a:solidFill>
              </a:rPr>
              <a:t>, con una segmentación basada en intereses, comportamientos y datos demográficos.</a:t>
            </a:r>
          </a:p>
          <a:p>
            <a:r>
              <a:rPr lang="es-MX" sz="1400" b="1" dirty="0">
                <a:solidFill>
                  <a:schemeClr val="tx1"/>
                </a:solidFill>
              </a:rPr>
              <a:t>TikTok </a:t>
            </a:r>
            <a:r>
              <a:rPr lang="es-MX" sz="1400" b="1" dirty="0" err="1">
                <a:solidFill>
                  <a:schemeClr val="tx1"/>
                </a:solidFill>
              </a:rPr>
              <a:t>Ads</a:t>
            </a:r>
            <a:r>
              <a:rPr lang="es-MX" sz="1400" b="1" dirty="0">
                <a:solidFill>
                  <a:schemeClr val="tx1"/>
                </a:solidFill>
              </a:rPr>
              <a:t>:</a:t>
            </a:r>
            <a:r>
              <a:rPr lang="es-MX" sz="1400" dirty="0">
                <a:solidFill>
                  <a:schemeClr val="tx1"/>
                </a:solidFill>
              </a:rPr>
              <a:t> enfocada en audiencias jóvenes, esta plataforma prioriza el contenido creativo y los videos cortos. Es ideal para campañas de branding o productos de consumo masivo, donde el entretenimiento impulsa la conexión con la marca.</a:t>
            </a:r>
          </a:p>
          <a:p>
            <a:r>
              <a:rPr lang="es-MX" sz="1400" b="1" dirty="0">
                <a:solidFill>
                  <a:schemeClr val="tx1"/>
                </a:solidFill>
              </a:rPr>
              <a:t>LinkedIn </a:t>
            </a:r>
            <a:r>
              <a:rPr lang="es-MX" sz="1400" b="1" dirty="0" err="1">
                <a:solidFill>
                  <a:schemeClr val="tx1"/>
                </a:solidFill>
              </a:rPr>
              <a:t>Ads</a:t>
            </a:r>
            <a:r>
              <a:rPr lang="es-MX" sz="1400" b="1" dirty="0">
                <a:solidFill>
                  <a:schemeClr val="tx1"/>
                </a:solidFill>
              </a:rPr>
              <a:t>:</a:t>
            </a:r>
            <a:r>
              <a:rPr lang="es-MX" sz="1400" dirty="0">
                <a:solidFill>
                  <a:schemeClr val="tx1"/>
                </a:solidFill>
              </a:rPr>
              <a:t> utilizada principalmente en el ámbito empresarial (B2B). Sus anuncios son efectivos para posicionar servicios profesionales, promover eventos o reclutar talento calificado.</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1848992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ECFE618-D61E-469E-12BD-D5F4E3DC7027}"/>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27B94151-CB52-4F4C-5C7F-C110A372DA3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85BFEED5-6602-EDC0-3981-BF691AABEAA3}"/>
              </a:ext>
            </a:extLst>
          </p:cNvPr>
          <p:cNvSpPr>
            <a:spLocks noGrp="1"/>
          </p:cNvSpPr>
          <p:nvPr>
            <p:ph type="title"/>
          </p:nvPr>
        </p:nvSpPr>
        <p:spPr>
          <a:xfrm>
            <a:off x="367580" y="0"/>
            <a:ext cx="8520600" cy="572700"/>
          </a:xfrm>
        </p:spPr>
        <p:txBody>
          <a:bodyPr>
            <a:normAutofit fontScale="90000"/>
          </a:bodyPr>
          <a:lstStyle/>
          <a:p>
            <a:pPr algn="ctr"/>
            <a:r>
              <a:rPr lang="es-MX" dirty="0"/>
              <a:t>Herramientas para publicidad digital</a:t>
            </a:r>
            <a:endParaRPr lang="es-GT" dirty="0"/>
          </a:p>
        </p:txBody>
      </p:sp>
      <p:sp>
        <p:nvSpPr>
          <p:cNvPr id="3" name="Marcador de texto 2">
            <a:extLst>
              <a:ext uri="{FF2B5EF4-FFF2-40B4-BE49-F238E27FC236}">
                <a16:creationId xmlns:a16="http://schemas.microsoft.com/office/drawing/2014/main" id="{374AAD7C-7A70-2B45-CF7A-9560041C6209}"/>
              </a:ext>
            </a:extLst>
          </p:cNvPr>
          <p:cNvSpPr>
            <a:spLocks noGrp="1"/>
          </p:cNvSpPr>
          <p:nvPr>
            <p:ph type="body" idx="1"/>
          </p:nvPr>
        </p:nvSpPr>
        <p:spPr>
          <a:xfrm>
            <a:off x="311700" y="777240"/>
            <a:ext cx="8520600" cy="4236195"/>
          </a:xfrm>
        </p:spPr>
        <p:txBody>
          <a:bodyPr>
            <a:normAutofit fontScale="92500" lnSpcReduction="10000"/>
          </a:bodyPr>
          <a:lstStyle/>
          <a:p>
            <a:pPr marL="114300" indent="0">
              <a:buNone/>
            </a:pPr>
            <a:r>
              <a:rPr lang="es-MX" sz="1400" b="1" dirty="0">
                <a:solidFill>
                  <a:schemeClr val="tx1"/>
                </a:solidFill>
              </a:rPr>
              <a:t>Diseño de anuncios y formatos publicitarios (</a:t>
            </a:r>
            <a:r>
              <a:rPr lang="es-MX" sz="1400" b="1" dirty="0" err="1">
                <a:solidFill>
                  <a:schemeClr val="tx1"/>
                </a:solidFill>
              </a:rPr>
              <a:t>display</a:t>
            </a:r>
            <a:r>
              <a:rPr lang="es-MX" sz="1400" b="1" dirty="0">
                <a:solidFill>
                  <a:schemeClr val="tx1"/>
                </a:solidFill>
              </a:rPr>
              <a:t>, video, </a:t>
            </a:r>
            <a:r>
              <a:rPr lang="es-MX" sz="1400" b="1" dirty="0" err="1">
                <a:solidFill>
                  <a:schemeClr val="tx1"/>
                </a:solidFill>
              </a:rPr>
              <a:t>remarketing</a:t>
            </a:r>
            <a:r>
              <a:rPr lang="es-MX" sz="1400" b="1" dirty="0">
                <a:solidFill>
                  <a:schemeClr val="tx1"/>
                </a:solidFill>
              </a:rPr>
              <a:t>)</a:t>
            </a:r>
          </a:p>
          <a:p>
            <a:pPr marL="114300" indent="0">
              <a:buNone/>
            </a:pPr>
            <a:r>
              <a:rPr lang="es-MX" sz="1400" dirty="0">
                <a:solidFill>
                  <a:schemeClr val="tx1"/>
                </a:solidFill>
              </a:rPr>
              <a:t>El diseño de anuncios digitales es un proceso estratégico que combina creatividad y análisis de datos para captar la atención del usuario y motivar una acción específica. En marketing, el diseño publicitario debe estar alineado con los objetivos de la campaña, la identidad visual de la marca y el comportamiento del público.</a:t>
            </a:r>
          </a:p>
          <a:p>
            <a:pPr marL="114300" indent="0">
              <a:buNone/>
            </a:pPr>
            <a:endParaRPr lang="es-MX" sz="1400" dirty="0">
              <a:solidFill>
                <a:schemeClr val="tx1"/>
              </a:solidFill>
            </a:endParaRPr>
          </a:p>
          <a:p>
            <a:pPr marL="114300" indent="0">
              <a:buNone/>
            </a:pPr>
            <a:r>
              <a:rPr lang="es-MX" sz="1400" dirty="0">
                <a:solidFill>
                  <a:schemeClr val="tx1"/>
                </a:solidFill>
              </a:rPr>
              <a:t>Los principales </a:t>
            </a:r>
            <a:r>
              <a:rPr lang="es-MX" sz="1400" b="1" dirty="0">
                <a:solidFill>
                  <a:schemeClr val="tx1"/>
                </a:solidFill>
              </a:rPr>
              <a:t>formatos publicitarios</a:t>
            </a:r>
            <a:r>
              <a:rPr lang="es-MX" sz="1400" dirty="0">
                <a:solidFill>
                  <a:schemeClr val="tx1"/>
                </a:solidFill>
              </a:rPr>
              <a:t> en medios digitales son:</a:t>
            </a:r>
          </a:p>
          <a:p>
            <a:r>
              <a:rPr lang="es-MX" sz="1400" b="1" dirty="0" err="1">
                <a:solidFill>
                  <a:schemeClr val="tx1"/>
                </a:solidFill>
              </a:rPr>
              <a:t>Display</a:t>
            </a:r>
            <a:r>
              <a:rPr lang="es-MX" sz="1400" b="1" dirty="0">
                <a:solidFill>
                  <a:schemeClr val="tx1"/>
                </a:solidFill>
              </a:rPr>
              <a:t> </a:t>
            </a:r>
            <a:r>
              <a:rPr lang="es-MX" sz="1400" b="1" dirty="0" err="1">
                <a:solidFill>
                  <a:schemeClr val="tx1"/>
                </a:solidFill>
              </a:rPr>
              <a:t>Ads</a:t>
            </a:r>
            <a:r>
              <a:rPr lang="es-MX" sz="1400" b="1" dirty="0">
                <a:solidFill>
                  <a:schemeClr val="tx1"/>
                </a:solidFill>
              </a:rPr>
              <a:t>:</a:t>
            </a:r>
            <a:r>
              <a:rPr lang="es-MX" sz="1400" dirty="0">
                <a:solidFill>
                  <a:schemeClr val="tx1"/>
                </a:solidFill>
              </a:rPr>
              <a:t> anuncios gráficos que aparecen en sitios web, aplicaciones o redes sociales. Son útiles para generar reconocimiento de marca y aumentar la visibilidad.</a:t>
            </a:r>
          </a:p>
          <a:p>
            <a:r>
              <a:rPr lang="es-MX" sz="1400" b="1" dirty="0">
                <a:solidFill>
                  <a:schemeClr val="tx1"/>
                </a:solidFill>
              </a:rPr>
              <a:t>Video </a:t>
            </a:r>
            <a:r>
              <a:rPr lang="es-MX" sz="1400" b="1" dirty="0" err="1">
                <a:solidFill>
                  <a:schemeClr val="tx1"/>
                </a:solidFill>
              </a:rPr>
              <a:t>Ads</a:t>
            </a:r>
            <a:r>
              <a:rPr lang="es-MX" sz="1400" b="1" dirty="0">
                <a:solidFill>
                  <a:schemeClr val="tx1"/>
                </a:solidFill>
              </a:rPr>
              <a:t>:</a:t>
            </a:r>
            <a:r>
              <a:rPr lang="es-MX" sz="1400" dirty="0">
                <a:solidFill>
                  <a:schemeClr val="tx1"/>
                </a:solidFill>
              </a:rPr>
              <a:t> se utilizan en plataformas como YouTube, Meta y TikTok. Permiten comunicar mensajes más emocionales y memorables, generando mayor retención del usuario.</a:t>
            </a:r>
          </a:p>
          <a:p>
            <a:r>
              <a:rPr lang="es-MX" sz="1400" b="1" dirty="0" err="1">
                <a:solidFill>
                  <a:schemeClr val="tx1"/>
                </a:solidFill>
              </a:rPr>
              <a:t>Remarketing</a:t>
            </a:r>
            <a:r>
              <a:rPr lang="es-MX" sz="1400" b="1" dirty="0">
                <a:solidFill>
                  <a:schemeClr val="tx1"/>
                </a:solidFill>
              </a:rPr>
              <a:t> </a:t>
            </a:r>
            <a:r>
              <a:rPr lang="es-MX" sz="1400" b="1" dirty="0" err="1">
                <a:solidFill>
                  <a:schemeClr val="tx1"/>
                </a:solidFill>
              </a:rPr>
              <a:t>Ads</a:t>
            </a:r>
            <a:r>
              <a:rPr lang="es-MX" sz="1400" b="1" dirty="0">
                <a:solidFill>
                  <a:schemeClr val="tx1"/>
                </a:solidFill>
              </a:rPr>
              <a:t>:</a:t>
            </a:r>
            <a:r>
              <a:rPr lang="es-MX" sz="1400" dirty="0">
                <a:solidFill>
                  <a:schemeClr val="tx1"/>
                </a:solidFill>
              </a:rPr>
              <a:t> dirigidos a usuarios que ya han interactuado con la marca (visitas, clics, carritos abandonados). Su objetivo es recordar la propuesta de valor y aumentar la conversión.</a:t>
            </a:r>
          </a:p>
          <a:p>
            <a:endParaRPr lang="es-MX" sz="1400" dirty="0">
              <a:solidFill>
                <a:schemeClr val="tx1"/>
              </a:solidFill>
            </a:endParaRPr>
          </a:p>
          <a:p>
            <a:pPr marL="114300" indent="0">
              <a:buNone/>
            </a:pPr>
            <a:r>
              <a:rPr lang="es-MX" sz="1400" dirty="0">
                <a:solidFill>
                  <a:schemeClr val="tx1"/>
                </a:solidFill>
              </a:rPr>
              <a:t>Al diseñar un anuncio, deben considerarse elementos como:</a:t>
            </a:r>
          </a:p>
          <a:p>
            <a:r>
              <a:rPr lang="es-MX" sz="1400" dirty="0">
                <a:solidFill>
                  <a:schemeClr val="tx1"/>
                </a:solidFill>
              </a:rPr>
              <a:t>El </a:t>
            </a:r>
            <a:r>
              <a:rPr lang="es-MX" sz="1400" b="1" dirty="0">
                <a:solidFill>
                  <a:schemeClr val="tx1"/>
                </a:solidFill>
              </a:rPr>
              <a:t>mensaje principal</a:t>
            </a:r>
            <a:r>
              <a:rPr lang="es-MX" sz="1400" dirty="0">
                <a:solidFill>
                  <a:schemeClr val="tx1"/>
                </a:solidFill>
              </a:rPr>
              <a:t> y su llamada a la acción (CTA).</a:t>
            </a:r>
          </a:p>
          <a:p>
            <a:r>
              <a:rPr lang="es-MX" sz="1400" dirty="0">
                <a:solidFill>
                  <a:schemeClr val="tx1"/>
                </a:solidFill>
              </a:rPr>
              <a:t>El </a:t>
            </a:r>
            <a:r>
              <a:rPr lang="es-MX" sz="1400" b="1" dirty="0">
                <a:solidFill>
                  <a:schemeClr val="tx1"/>
                </a:solidFill>
              </a:rPr>
              <a:t>uso de colores, tipografía e imagen de marca</a:t>
            </a:r>
            <a:r>
              <a:rPr lang="es-MX" sz="1400" dirty="0">
                <a:solidFill>
                  <a:schemeClr val="tx1"/>
                </a:solidFill>
              </a:rPr>
              <a:t> coherente.</a:t>
            </a:r>
          </a:p>
          <a:p>
            <a:r>
              <a:rPr lang="es-MX" sz="1400" dirty="0">
                <a:solidFill>
                  <a:schemeClr val="tx1"/>
                </a:solidFill>
              </a:rPr>
              <a:t>La </a:t>
            </a:r>
            <a:r>
              <a:rPr lang="es-MX" sz="1400" b="1" dirty="0">
                <a:solidFill>
                  <a:schemeClr val="tx1"/>
                </a:solidFill>
              </a:rPr>
              <a:t>adaptación al formato y dispositivo</a:t>
            </a:r>
            <a:r>
              <a:rPr lang="es-MX" sz="1400" dirty="0">
                <a:solidFill>
                  <a:schemeClr val="tx1"/>
                </a:solidFill>
              </a:rPr>
              <a:t> (móvil, desktop, </a:t>
            </a:r>
            <a:r>
              <a:rPr lang="es-MX" sz="1400" dirty="0" err="1">
                <a:solidFill>
                  <a:schemeClr val="tx1"/>
                </a:solidFill>
              </a:rPr>
              <a:t>tablet</a:t>
            </a:r>
            <a:r>
              <a:rPr lang="es-MX" sz="1400" dirty="0">
                <a:solidFill>
                  <a:schemeClr val="tx1"/>
                </a:solidFill>
              </a:rPr>
              <a:t>).</a:t>
            </a:r>
          </a:p>
          <a:p>
            <a:r>
              <a:rPr lang="es-MX" sz="1400" dirty="0">
                <a:solidFill>
                  <a:schemeClr val="tx1"/>
                </a:solidFill>
              </a:rPr>
              <a:t>La </a:t>
            </a:r>
            <a:r>
              <a:rPr lang="es-MX" sz="1400" b="1" dirty="0">
                <a:solidFill>
                  <a:schemeClr val="tx1"/>
                </a:solidFill>
              </a:rPr>
              <a:t>optimización del contenido visual y textual</a:t>
            </a:r>
            <a:r>
              <a:rPr lang="es-MX" sz="1400" dirty="0">
                <a:solidFill>
                  <a:schemeClr val="tx1"/>
                </a:solidFill>
              </a:rPr>
              <a:t> según las métricas de rendimiento.</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380116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2414C7C-36F0-980A-EC4E-BE9C80B9883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3C7576E-CFD4-6610-0BC0-4DD01D5B5D9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F027231F-247E-C6F8-A26A-D34C1C9E0485}"/>
              </a:ext>
            </a:extLst>
          </p:cNvPr>
          <p:cNvSpPr>
            <a:spLocks noGrp="1"/>
          </p:cNvSpPr>
          <p:nvPr>
            <p:ph type="title"/>
          </p:nvPr>
        </p:nvSpPr>
        <p:spPr>
          <a:xfrm>
            <a:off x="367580" y="0"/>
            <a:ext cx="8520600" cy="572700"/>
          </a:xfrm>
        </p:spPr>
        <p:txBody>
          <a:bodyPr>
            <a:normAutofit fontScale="90000"/>
          </a:bodyPr>
          <a:lstStyle/>
          <a:p>
            <a:pPr algn="ctr"/>
            <a:r>
              <a:rPr lang="es-MX" dirty="0"/>
              <a:t>Herramientas para publicidad digital</a:t>
            </a:r>
            <a:endParaRPr lang="es-GT" dirty="0"/>
          </a:p>
        </p:txBody>
      </p:sp>
      <p:sp>
        <p:nvSpPr>
          <p:cNvPr id="3" name="Marcador de texto 2">
            <a:extLst>
              <a:ext uri="{FF2B5EF4-FFF2-40B4-BE49-F238E27FC236}">
                <a16:creationId xmlns:a16="http://schemas.microsoft.com/office/drawing/2014/main" id="{371D6E10-6D6D-660D-26A1-28B9A2EB8E3A}"/>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Automatización de campañas y uso de inteligencia artificial</a:t>
            </a:r>
          </a:p>
          <a:p>
            <a:pPr marL="114300" indent="0">
              <a:buNone/>
            </a:pPr>
            <a:r>
              <a:rPr lang="es-MX" sz="1400" dirty="0">
                <a:solidFill>
                  <a:schemeClr val="tx1"/>
                </a:solidFill>
              </a:rPr>
              <a:t>La automatización ha transformado la gestión del marketing digital, permitiendo optimizar recursos y mejorar la eficiencia en las campañas publicitarias. A través de algoritmos y herramientas de inteligencia artificial (IA), los anunciantes pueden programar acciones, ajustar presupuestos automáticamente y personalizar los anuncios según el comportamiento del usuario.</a:t>
            </a:r>
          </a:p>
          <a:p>
            <a:pPr marL="114300" indent="0">
              <a:buNone/>
            </a:pPr>
            <a:r>
              <a:rPr lang="es-MX" sz="1400" dirty="0">
                <a:solidFill>
                  <a:schemeClr val="tx1"/>
                </a:solidFill>
              </a:rPr>
              <a:t>En el ámbito universitario, comprender la automatización significa entender cómo la tecnología apoya la estrategia. Algunas aplicaciones prácticas son:</a:t>
            </a:r>
          </a:p>
          <a:p>
            <a:r>
              <a:rPr lang="es-MX" sz="1400" b="1" dirty="0">
                <a:solidFill>
                  <a:schemeClr val="tx1"/>
                </a:solidFill>
              </a:rPr>
              <a:t>Optimización automática de pujas:</a:t>
            </a:r>
            <a:r>
              <a:rPr lang="es-MX" sz="1400" dirty="0">
                <a:solidFill>
                  <a:schemeClr val="tx1"/>
                </a:solidFill>
              </a:rPr>
              <a:t> las plataformas ajustan el costo por clic (CPC) para maximizar conversiones.</a:t>
            </a:r>
          </a:p>
          <a:p>
            <a:r>
              <a:rPr lang="es-MX" sz="1400" b="1" dirty="0">
                <a:solidFill>
                  <a:schemeClr val="tx1"/>
                </a:solidFill>
              </a:rPr>
              <a:t>Segmentación inteligente:</a:t>
            </a:r>
            <a:r>
              <a:rPr lang="es-MX" sz="1400" dirty="0">
                <a:solidFill>
                  <a:schemeClr val="tx1"/>
                </a:solidFill>
              </a:rPr>
              <a:t> los sistemas de IA identifican patrones de comportamiento y recomiendan audiencias con mayor probabilidad de respuesta.</a:t>
            </a:r>
          </a:p>
          <a:p>
            <a:r>
              <a:rPr lang="es-MX" sz="1400" b="1" dirty="0">
                <a:solidFill>
                  <a:schemeClr val="tx1"/>
                </a:solidFill>
              </a:rPr>
              <a:t>Personalización dinámica de anuncios:</a:t>
            </a:r>
            <a:r>
              <a:rPr lang="es-MX" sz="1400" dirty="0">
                <a:solidFill>
                  <a:schemeClr val="tx1"/>
                </a:solidFill>
              </a:rPr>
              <a:t> el contenido del anuncio cambia automáticamente según los intereses o historial del usuario.</a:t>
            </a:r>
          </a:p>
          <a:p>
            <a:r>
              <a:rPr lang="es-MX" sz="1400" b="1" dirty="0">
                <a:solidFill>
                  <a:schemeClr val="tx1"/>
                </a:solidFill>
              </a:rPr>
              <a:t>Automatización del flujo de comunicación:</a:t>
            </a:r>
            <a:r>
              <a:rPr lang="es-MX" sz="1400" dirty="0">
                <a:solidFill>
                  <a:schemeClr val="tx1"/>
                </a:solidFill>
              </a:rPr>
              <a:t> mediante herramientas como HubSpot o </a:t>
            </a:r>
            <a:r>
              <a:rPr lang="es-MX" sz="1400" dirty="0" err="1">
                <a:solidFill>
                  <a:schemeClr val="tx1"/>
                </a:solidFill>
              </a:rPr>
              <a:t>ActiveCampaign</a:t>
            </a:r>
            <a:r>
              <a:rPr lang="es-MX" sz="1400" dirty="0">
                <a:solidFill>
                  <a:schemeClr val="tx1"/>
                </a:solidFill>
              </a:rPr>
              <a:t> se pueden enviar mensajes automatizados tras interacciones específicas.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6422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F6F6EF1-C6C2-AB7A-E9D0-84435E6A541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FEDF2FFC-3485-1B69-8587-0D5017B4D36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9D282F22-5AFB-246B-2E1B-7FF4535C62F9}"/>
              </a:ext>
            </a:extLst>
          </p:cNvPr>
          <p:cNvSpPr>
            <a:spLocks noGrp="1"/>
          </p:cNvSpPr>
          <p:nvPr>
            <p:ph type="title"/>
          </p:nvPr>
        </p:nvSpPr>
        <p:spPr>
          <a:xfrm>
            <a:off x="367580" y="0"/>
            <a:ext cx="8520600" cy="572700"/>
          </a:xfrm>
        </p:spPr>
        <p:txBody>
          <a:bodyPr>
            <a:normAutofit fontScale="90000"/>
          </a:bodyPr>
          <a:lstStyle/>
          <a:p>
            <a:pPr algn="ctr"/>
            <a:r>
              <a:rPr lang="es-MX" dirty="0"/>
              <a:t>Herramientas para publicidad digital</a:t>
            </a:r>
            <a:endParaRPr lang="es-GT" dirty="0"/>
          </a:p>
        </p:txBody>
      </p:sp>
      <p:sp>
        <p:nvSpPr>
          <p:cNvPr id="3" name="Marcador de texto 2">
            <a:extLst>
              <a:ext uri="{FF2B5EF4-FFF2-40B4-BE49-F238E27FC236}">
                <a16:creationId xmlns:a16="http://schemas.microsoft.com/office/drawing/2014/main" id="{C25E3E1D-EA4C-FC1E-9103-B9D11E87737D}"/>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Presupuestación, pujas y segmentación avanzada</a:t>
            </a:r>
          </a:p>
          <a:p>
            <a:pPr marL="114300" indent="0">
              <a:buNone/>
            </a:pPr>
            <a:r>
              <a:rPr lang="es-MX" sz="1400" dirty="0">
                <a:solidFill>
                  <a:schemeClr val="tx1"/>
                </a:solidFill>
              </a:rPr>
              <a:t>La gestión del presupuesto y las pujas es un aspecto crítico en toda campaña digital, ya que define la inversión económica y el rendimiento esperado. En las plataformas publicitarias, los anunciantes compiten en tiempo real mediante un sistema de </a:t>
            </a:r>
            <a:r>
              <a:rPr lang="es-MX" sz="1400" b="1" dirty="0">
                <a:solidFill>
                  <a:schemeClr val="tx1"/>
                </a:solidFill>
              </a:rPr>
              <a:t>subastas</a:t>
            </a:r>
            <a:r>
              <a:rPr lang="es-MX" sz="1400" dirty="0">
                <a:solidFill>
                  <a:schemeClr val="tx1"/>
                </a:solidFill>
              </a:rPr>
              <a:t>, donde el anuncio que ofrece mejor relevancia y costo obtiene la posición más visible.</a:t>
            </a:r>
          </a:p>
          <a:p>
            <a:pPr marL="114300" indent="0">
              <a:buNone/>
            </a:pPr>
            <a:r>
              <a:rPr lang="es-MX" sz="1400" dirty="0">
                <a:solidFill>
                  <a:schemeClr val="tx1"/>
                </a:solidFill>
              </a:rPr>
              <a:t>Los principales </a:t>
            </a:r>
            <a:r>
              <a:rPr lang="es-MX" sz="1400" b="1" dirty="0">
                <a:solidFill>
                  <a:schemeClr val="tx1"/>
                </a:solidFill>
              </a:rPr>
              <a:t>modelos de puja</a:t>
            </a:r>
            <a:r>
              <a:rPr lang="es-MX" sz="1400" dirty="0">
                <a:solidFill>
                  <a:schemeClr val="tx1"/>
                </a:solidFill>
              </a:rPr>
              <a:t> incluyen:</a:t>
            </a:r>
          </a:p>
          <a:p>
            <a:r>
              <a:rPr lang="es-MX" sz="1400" b="1" dirty="0">
                <a:solidFill>
                  <a:schemeClr val="tx1"/>
                </a:solidFill>
              </a:rPr>
              <a:t>CPC (Costo por Clic):</a:t>
            </a:r>
            <a:r>
              <a:rPr lang="es-MX" sz="1400" dirty="0">
                <a:solidFill>
                  <a:schemeClr val="tx1"/>
                </a:solidFill>
              </a:rPr>
              <a:t> se paga por cada clic recibido.</a:t>
            </a:r>
          </a:p>
          <a:p>
            <a:r>
              <a:rPr lang="es-MX" sz="1400" b="1" dirty="0">
                <a:solidFill>
                  <a:schemeClr val="tx1"/>
                </a:solidFill>
              </a:rPr>
              <a:t>CPM (Costo por Mil Impresiones):</a:t>
            </a:r>
            <a:r>
              <a:rPr lang="es-MX" sz="1400" dirty="0">
                <a:solidFill>
                  <a:schemeClr val="tx1"/>
                </a:solidFill>
              </a:rPr>
              <a:t> ideal para campañas de visibilidad o reconocimiento.</a:t>
            </a:r>
          </a:p>
          <a:p>
            <a:r>
              <a:rPr lang="es-MX" sz="1400" b="1" dirty="0">
                <a:solidFill>
                  <a:schemeClr val="tx1"/>
                </a:solidFill>
              </a:rPr>
              <a:t>CPA (Costo por Adquisición):</a:t>
            </a:r>
            <a:r>
              <a:rPr lang="es-MX" sz="1400" dirty="0">
                <a:solidFill>
                  <a:schemeClr val="tx1"/>
                </a:solidFill>
              </a:rPr>
              <a:t> se paga solo cuando se logra una acción concreta (registro, compra).</a:t>
            </a:r>
          </a:p>
          <a:p>
            <a:r>
              <a:rPr lang="es-MX" sz="1400" b="1" dirty="0">
                <a:solidFill>
                  <a:schemeClr val="tx1"/>
                </a:solidFill>
              </a:rPr>
              <a:t>ROAS (Retorno de la Inversión Publicitaria):</a:t>
            </a:r>
            <a:r>
              <a:rPr lang="es-MX" sz="1400" dirty="0">
                <a:solidFill>
                  <a:schemeClr val="tx1"/>
                </a:solidFill>
              </a:rPr>
              <a:t> indicador que mide la eficiencia económica de la campaña.</a:t>
            </a:r>
          </a:p>
          <a:p>
            <a:pPr marL="114300" indent="0">
              <a:buNone/>
            </a:pPr>
            <a:r>
              <a:rPr lang="es-MX" sz="1400" dirty="0">
                <a:solidFill>
                  <a:schemeClr val="tx1"/>
                </a:solidFill>
              </a:rPr>
              <a:t>La </a:t>
            </a:r>
            <a:r>
              <a:rPr lang="es-MX" sz="1400" b="1" dirty="0">
                <a:solidFill>
                  <a:schemeClr val="tx1"/>
                </a:solidFill>
              </a:rPr>
              <a:t>segmentación avanzada</a:t>
            </a:r>
            <a:r>
              <a:rPr lang="es-MX" sz="1400" dirty="0">
                <a:solidFill>
                  <a:schemeClr val="tx1"/>
                </a:solidFill>
              </a:rPr>
              <a:t> permite dirigir los anuncios a públicos muy específicos mediante variables como:</a:t>
            </a:r>
          </a:p>
          <a:p>
            <a:r>
              <a:rPr lang="es-MX" sz="1400" b="1" dirty="0">
                <a:solidFill>
                  <a:schemeClr val="tx1"/>
                </a:solidFill>
              </a:rPr>
              <a:t>Datos demográficos y ubicación.</a:t>
            </a:r>
            <a:endParaRPr lang="es-MX" sz="1400" dirty="0">
              <a:solidFill>
                <a:schemeClr val="tx1"/>
              </a:solidFill>
            </a:endParaRPr>
          </a:p>
          <a:p>
            <a:r>
              <a:rPr lang="es-MX" sz="1400" b="1" dirty="0">
                <a:solidFill>
                  <a:schemeClr val="tx1"/>
                </a:solidFill>
              </a:rPr>
              <a:t>Intereses, hábitos de compra y comportamiento online.</a:t>
            </a:r>
            <a:endParaRPr lang="es-MX" sz="1400" dirty="0">
              <a:solidFill>
                <a:schemeClr val="tx1"/>
              </a:solidFill>
            </a:endParaRPr>
          </a:p>
          <a:p>
            <a:r>
              <a:rPr lang="es-MX" sz="1400" b="1" dirty="0">
                <a:solidFill>
                  <a:schemeClr val="tx1"/>
                </a:solidFill>
              </a:rPr>
              <a:t>Audiencias personalizadas y similares (</a:t>
            </a:r>
            <a:r>
              <a:rPr lang="es-MX" sz="1400" b="1" dirty="0" err="1">
                <a:solidFill>
                  <a:schemeClr val="tx1"/>
                </a:solidFill>
              </a:rPr>
              <a:t>Lookalike</a:t>
            </a:r>
            <a:r>
              <a:rPr lang="es-MX" sz="1400" b="1" dirty="0">
                <a:solidFill>
                  <a:schemeClr val="tx1"/>
                </a:solidFill>
              </a:rPr>
              <a:t> </a:t>
            </a:r>
            <a:r>
              <a:rPr lang="es-MX" sz="1400" b="1" dirty="0" err="1">
                <a:solidFill>
                  <a:schemeClr val="tx1"/>
                </a:solidFill>
              </a:rPr>
              <a:t>Audiences</a:t>
            </a:r>
            <a:r>
              <a:rPr lang="es-MX" sz="1400" b="1" dirty="0">
                <a:solidFill>
                  <a:schemeClr val="tx1"/>
                </a:solidFill>
              </a:rPr>
              <a:t>).</a:t>
            </a:r>
            <a:endParaRPr lang="es-MX" sz="1400" dirty="0">
              <a:solidFill>
                <a:schemeClr val="tx1"/>
              </a:solidFill>
            </a:endParaRPr>
          </a:p>
          <a:p>
            <a:r>
              <a:rPr lang="es-MX" sz="1400" b="1" dirty="0" err="1">
                <a:solidFill>
                  <a:schemeClr val="tx1"/>
                </a:solidFill>
              </a:rPr>
              <a:t>Retargeting</a:t>
            </a:r>
            <a:r>
              <a:rPr lang="es-MX" sz="1400" dirty="0">
                <a:solidFill>
                  <a:schemeClr val="tx1"/>
                </a:solidFill>
              </a:rPr>
              <a:t> a usuarios que ya interactuaron con el sitio web o redes sociales.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190571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15090ED1-0788-4D0B-5A95-3DBD4707624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49BBFC83-F9F1-A728-CEAF-63AE0CA6BC15}"/>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F527142-633A-869D-9B06-22F8808FC8E2}"/>
              </a:ext>
            </a:extLst>
          </p:cNvPr>
          <p:cNvSpPr>
            <a:spLocks noGrp="1"/>
          </p:cNvSpPr>
          <p:nvPr>
            <p:ph type="title"/>
          </p:nvPr>
        </p:nvSpPr>
        <p:spPr>
          <a:xfrm>
            <a:off x="367580" y="0"/>
            <a:ext cx="8520600" cy="572700"/>
          </a:xfrm>
        </p:spPr>
        <p:txBody>
          <a:bodyPr>
            <a:normAutofit fontScale="90000"/>
          </a:bodyPr>
          <a:lstStyle/>
          <a:p>
            <a:pPr algn="ctr"/>
            <a:r>
              <a:rPr lang="es-MX" dirty="0"/>
              <a:t>Herramientas para publicidad digital</a:t>
            </a:r>
            <a:endParaRPr lang="es-GT" dirty="0"/>
          </a:p>
        </p:txBody>
      </p:sp>
      <p:sp>
        <p:nvSpPr>
          <p:cNvPr id="3" name="Marcador de texto 2">
            <a:extLst>
              <a:ext uri="{FF2B5EF4-FFF2-40B4-BE49-F238E27FC236}">
                <a16:creationId xmlns:a16="http://schemas.microsoft.com/office/drawing/2014/main" id="{7612A2FC-30AF-D6C4-C8EE-7CAAD8999186}"/>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Integración con herramientas analíticas (Google </a:t>
            </a:r>
            <a:r>
              <a:rPr lang="es-MX" sz="1400" b="1" dirty="0" err="1">
                <a:solidFill>
                  <a:schemeClr val="tx1"/>
                </a:solidFill>
              </a:rPr>
              <a:t>Analytics</a:t>
            </a:r>
            <a:r>
              <a:rPr lang="es-MX" sz="1400" b="1" dirty="0">
                <a:solidFill>
                  <a:schemeClr val="tx1"/>
                </a:solidFill>
              </a:rPr>
              <a:t>, Data Studio)</a:t>
            </a:r>
          </a:p>
          <a:p>
            <a:pPr marL="114300" indent="0">
              <a:buNone/>
            </a:pPr>
            <a:r>
              <a:rPr lang="es-MX" sz="1400" dirty="0">
                <a:solidFill>
                  <a:schemeClr val="tx1"/>
                </a:solidFill>
              </a:rPr>
              <a:t>En el marketing digital, la toma de decisiones basada en datos (data-</a:t>
            </a:r>
            <a:r>
              <a:rPr lang="es-MX" sz="1400" dirty="0" err="1">
                <a:solidFill>
                  <a:schemeClr val="tx1"/>
                </a:solidFill>
              </a:rPr>
              <a:t>driven</a:t>
            </a:r>
            <a:r>
              <a:rPr lang="es-MX" sz="1400" dirty="0">
                <a:solidFill>
                  <a:schemeClr val="tx1"/>
                </a:solidFill>
              </a:rPr>
              <a:t> marketing) es una práctica esencial. La integración de las plataformas publicitarias con herramientas analíticas permite medir con precisión el desempeño de las campañas, entender el comportamiento del usuario y optimizar resultados en tiempo real.</a:t>
            </a:r>
          </a:p>
          <a:p>
            <a:pPr marL="114300" indent="0">
              <a:buNone/>
            </a:pPr>
            <a:r>
              <a:rPr lang="es-MX" sz="1400" dirty="0">
                <a:solidFill>
                  <a:schemeClr val="tx1"/>
                </a:solidFill>
              </a:rPr>
              <a:t>Las herramientas más utilizadas son:</a:t>
            </a:r>
          </a:p>
          <a:p>
            <a:r>
              <a:rPr lang="es-MX" sz="1400" b="1" dirty="0">
                <a:solidFill>
                  <a:schemeClr val="tx1"/>
                </a:solidFill>
              </a:rPr>
              <a:t>Google </a:t>
            </a:r>
            <a:r>
              <a:rPr lang="es-MX" sz="1400" b="1" dirty="0" err="1">
                <a:solidFill>
                  <a:schemeClr val="tx1"/>
                </a:solidFill>
              </a:rPr>
              <a:t>Analytics</a:t>
            </a:r>
            <a:r>
              <a:rPr lang="es-MX" sz="1400" b="1" dirty="0">
                <a:solidFill>
                  <a:schemeClr val="tx1"/>
                </a:solidFill>
              </a:rPr>
              <a:t>:</a:t>
            </a:r>
            <a:r>
              <a:rPr lang="es-MX" sz="1400" dirty="0">
                <a:solidFill>
                  <a:schemeClr val="tx1"/>
                </a:solidFill>
              </a:rPr>
              <a:t> mide tráfico web, fuentes de visita, tiempo de permanencia, tasa de rebote y conversiones. Es clave para conocer cómo los usuarios llegan al sitio y qué acciones realizan.</a:t>
            </a:r>
          </a:p>
          <a:p>
            <a:r>
              <a:rPr lang="es-MX" sz="1400" b="1" dirty="0">
                <a:solidFill>
                  <a:schemeClr val="tx1"/>
                </a:solidFill>
              </a:rPr>
              <a:t>Google Data Studio (ahora </a:t>
            </a:r>
            <a:r>
              <a:rPr lang="es-MX" sz="1400" b="1" dirty="0" err="1">
                <a:solidFill>
                  <a:schemeClr val="tx1"/>
                </a:solidFill>
              </a:rPr>
              <a:t>Looker</a:t>
            </a:r>
            <a:r>
              <a:rPr lang="es-MX" sz="1400" b="1" dirty="0">
                <a:solidFill>
                  <a:schemeClr val="tx1"/>
                </a:solidFill>
              </a:rPr>
              <a:t> Studio):</a:t>
            </a:r>
            <a:r>
              <a:rPr lang="es-MX" sz="1400" dirty="0">
                <a:solidFill>
                  <a:schemeClr val="tx1"/>
                </a:solidFill>
              </a:rPr>
              <a:t> permite visualizar los resultados de las campañas en paneles dinámicos y personalizados, facilitando el análisis y la presentación de informes.</a:t>
            </a:r>
          </a:p>
          <a:p>
            <a:r>
              <a:rPr lang="es-MX" sz="1400" b="1" dirty="0">
                <a:solidFill>
                  <a:schemeClr val="tx1"/>
                </a:solidFill>
              </a:rPr>
              <a:t>Pixel de Meta y </a:t>
            </a:r>
            <a:r>
              <a:rPr lang="es-MX" sz="1400" b="1" dirty="0" err="1">
                <a:solidFill>
                  <a:schemeClr val="tx1"/>
                </a:solidFill>
              </a:rPr>
              <a:t>Conversion</a:t>
            </a:r>
            <a:r>
              <a:rPr lang="es-MX" sz="1400" b="1" dirty="0">
                <a:solidFill>
                  <a:schemeClr val="tx1"/>
                </a:solidFill>
              </a:rPr>
              <a:t> Tag de Google </a:t>
            </a:r>
            <a:r>
              <a:rPr lang="es-MX" sz="1400" b="1" dirty="0" err="1">
                <a:solidFill>
                  <a:schemeClr val="tx1"/>
                </a:solidFill>
              </a:rPr>
              <a:t>Ads</a:t>
            </a:r>
            <a:r>
              <a:rPr lang="es-MX" sz="1400" b="1" dirty="0">
                <a:solidFill>
                  <a:schemeClr val="tx1"/>
                </a:solidFill>
              </a:rPr>
              <a:t>:</a:t>
            </a:r>
            <a:r>
              <a:rPr lang="es-MX" sz="1400" dirty="0">
                <a:solidFill>
                  <a:schemeClr val="tx1"/>
                </a:solidFill>
              </a:rPr>
              <a:t> herramientas que rastrean las acciones del usuario tras interactuar con los anuncios, fundamentales para medir conversiones reales.</a:t>
            </a:r>
          </a:p>
          <a:p>
            <a:pPr marL="114300" indent="0">
              <a:buNone/>
            </a:pPr>
            <a:r>
              <a:rPr lang="es-MX" sz="1400" dirty="0">
                <a:solidFill>
                  <a:schemeClr val="tx1"/>
                </a:solidFill>
              </a:rPr>
              <a:t>Los principales beneficios de integrar estas herramientas son:</a:t>
            </a:r>
          </a:p>
          <a:p>
            <a:r>
              <a:rPr lang="es-MX" sz="1400" dirty="0">
                <a:solidFill>
                  <a:schemeClr val="tx1"/>
                </a:solidFill>
              </a:rPr>
              <a:t>Obtener una </a:t>
            </a:r>
            <a:r>
              <a:rPr lang="es-MX" sz="1400" b="1" dirty="0">
                <a:solidFill>
                  <a:schemeClr val="tx1"/>
                </a:solidFill>
              </a:rPr>
              <a:t>visión integral</a:t>
            </a:r>
            <a:r>
              <a:rPr lang="es-MX" sz="1400" dirty="0">
                <a:solidFill>
                  <a:schemeClr val="tx1"/>
                </a:solidFill>
              </a:rPr>
              <a:t> del rendimiento publicitario.</a:t>
            </a:r>
          </a:p>
          <a:p>
            <a:r>
              <a:rPr lang="es-MX" sz="1400" dirty="0">
                <a:solidFill>
                  <a:schemeClr val="tx1"/>
                </a:solidFill>
              </a:rPr>
              <a:t>Identificar los </a:t>
            </a:r>
            <a:r>
              <a:rPr lang="es-MX" sz="1400" b="1" dirty="0">
                <a:solidFill>
                  <a:schemeClr val="tx1"/>
                </a:solidFill>
              </a:rPr>
              <a:t>canales más rentables</a:t>
            </a:r>
            <a:r>
              <a:rPr lang="es-MX" sz="1400" dirty="0">
                <a:solidFill>
                  <a:schemeClr val="tx1"/>
                </a:solidFill>
              </a:rPr>
              <a:t>.</a:t>
            </a:r>
          </a:p>
          <a:p>
            <a:r>
              <a:rPr lang="es-MX" sz="1400" dirty="0">
                <a:solidFill>
                  <a:schemeClr val="tx1"/>
                </a:solidFill>
              </a:rPr>
              <a:t>Facilitar la </a:t>
            </a:r>
            <a:r>
              <a:rPr lang="es-MX" sz="1400" b="1" dirty="0">
                <a:solidFill>
                  <a:schemeClr val="tx1"/>
                </a:solidFill>
              </a:rPr>
              <a:t>optimización continua</a:t>
            </a:r>
            <a:r>
              <a:rPr lang="es-MX" sz="1400" dirty="0">
                <a:solidFill>
                  <a:schemeClr val="tx1"/>
                </a:solidFill>
              </a:rPr>
              <a:t> de anuncios y presupuestos.</a:t>
            </a:r>
          </a:p>
          <a:p>
            <a:r>
              <a:rPr lang="es-MX" sz="1400" dirty="0">
                <a:solidFill>
                  <a:schemeClr val="tx1"/>
                </a:solidFill>
              </a:rPr>
              <a:t>Permitir una </a:t>
            </a:r>
            <a:r>
              <a:rPr lang="es-MX" sz="1400" b="1" dirty="0">
                <a:solidFill>
                  <a:schemeClr val="tx1"/>
                </a:solidFill>
              </a:rPr>
              <a:t>evaluación comparativa (benchmarking)</a:t>
            </a:r>
            <a:r>
              <a:rPr lang="es-MX" sz="1400" dirty="0">
                <a:solidFill>
                  <a:schemeClr val="tx1"/>
                </a:solidFill>
              </a:rPr>
              <a:t> entre diferentes campañas o plataformas.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67424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3C1D581-C5AD-E486-DBC0-CD906FE50E5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6F023B3-9CFE-5E52-8703-4BB28CB669B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2077EA87-9905-D4E4-2CFA-8F88A0EC3A78}"/>
              </a:ext>
            </a:extLst>
          </p:cNvPr>
          <p:cNvSpPr>
            <a:spLocks noGrp="1"/>
          </p:cNvSpPr>
          <p:nvPr>
            <p:ph type="title"/>
          </p:nvPr>
        </p:nvSpPr>
        <p:spPr>
          <a:xfrm>
            <a:off x="367580" y="0"/>
            <a:ext cx="8520600" cy="572700"/>
          </a:xfrm>
        </p:spPr>
        <p:txBody>
          <a:bodyPr>
            <a:normAutofit fontScale="90000"/>
          </a:bodyPr>
          <a:lstStyle/>
          <a:p>
            <a:pPr algn="ctr"/>
            <a:r>
              <a:rPr lang="es-MX" dirty="0"/>
              <a:t>Creación de campañas de búsquedas</a:t>
            </a:r>
            <a:endParaRPr lang="es-GT" dirty="0"/>
          </a:p>
        </p:txBody>
      </p:sp>
      <p:sp>
        <p:nvSpPr>
          <p:cNvPr id="3" name="Marcador de texto 2">
            <a:extLst>
              <a:ext uri="{FF2B5EF4-FFF2-40B4-BE49-F238E27FC236}">
                <a16:creationId xmlns:a16="http://schemas.microsoft.com/office/drawing/2014/main" id="{5C2BAAC4-6C31-B8C7-624A-116B2193100A}"/>
              </a:ext>
            </a:extLst>
          </p:cNvPr>
          <p:cNvSpPr>
            <a:spLocks noGrp="1"/>
          </p:cNvSpPr>
          <p:nvPr>
            <p:ph type="body" idx="1"/>
          </p:nvPr>
        </p:nvSpPr>
        <p:spPr>
          <a:xfrm>
            <a:off x="311700" y="777240"/>
            <a:ext cx="8520600" cy="4236195"/>
          </a:xfrm>
        </p:spPr>
        <p:txBody>
          <a:bodyPr>
            <a:normAutofit fontScale="92500" lnSpcReduction="10000"/>
          </a:bodyPr>
          <a:lstStyle/>
          <a:p>
            <a:pPr marL="114300" indent="0">
              <a:buNone/>
            </a:pPr>
            <a:r>
              <a:rPr lang="es-MX" sz="1400" b="1" dirty="0">
                <a:solidFill>
                  <a:schemeClr val="tx1"/>
                </a:solidFill>
              </a:rPr>
              <a:t>Investigación y selección de palabras clave (SEO/SEM)</a:t>
            </a:r>
          </a:p>
          <a:p>
            <a:pPr marL="114300" indent="0">
              <a:buNone/>
            </a:pPr>
            <a:r>
              <a:rPr lang="es-MX" sz="1400" dirty="0">
                <a:solidFill>
                  <a:schemeClr val="tx1"/>
                </a:solidFill>
              </a:rPr>
              <a:t>En marketing digital, la investigación de palabras clave es uno de los pilares fundamentales del posicionamiento y la publicidad en buscadores. Este proceso consiste en identificar los términos que los usuarios emplean al buscar información, productos o servicios relacionados con una marca. Una adecuada selección de palabras clave permite optimizar el contenido para atraer tráfico de calidad y mejorar la visibilidad en los motores de búsqueda.</a:t>
            </a:r>
          </a:p>
          <a:p>
            <a:pPr marL="114300" indent="0">
              <a:buNone/>
            </a:pPr>
            <a:r>
              <a:rPr lang="es-MX" sz="1400" dirty="0">
                <a:solidFill>
                  <a:schemeClr val="tx1"/>
                </a:solidFill>
              </a:rPr>
              <a:t>Existen dos enfoques complementarios:</a:t>
            </a:r>
          </a:p>
          <a:p>
            <a:r>
              <a:rPr lang="es-MX" sz="1400" b="1" dirty="0">
                <a:solidFill>
                  <a:schemeClr val="tx1"/>
                </a:solidFill>
              </a:rPr>
              <a:t>SEO (</a:t>
            </a:r>
            <a:r>
              <a:rPr lang="es-MX" sz="1400" b="1" dirty="0" err="1">
                <a:solidFill>
                  <a:schemeClr val="tx1"/>
                </a:solidFill>
              </a:rPr>
              <a:t>Search</a:t>
            </a:r>
            <a:r>
              <a:rPr lang="es-MX" sz="1400" b="1" dirty="0">
                <a:solidFill>
                  <a:schemeClr val="tx1"/>
                </a:solidFill>
              </a:rPr>
              <a:t> </a:t>
            </a:r>
            <a:r>
              <a:rPr lang="es-MX" sz="1400" b="1" dirty="0" err="1">
                <a:solidFill>
                  <a:schemeClr val="tx1"/>
                </a:solidFill>
              </a:rPr>
              <a:t>Engine</a:t>
            </a:r>
            <a:r>
              <a:rPr lang="es-MX" sz="1400" b="1" dirty="0">
                <a:solidFill>
                  <a:schemeClr val="tx1"/>
                </a:solidFill>
              </a:rPr>
              <a:t> </a:t>
            </a:r>
            <a:r>
              <a:rPr lang="es-MX" sz="1400" b="1" dirty="0" err="1">
                <a:solidFill>
                  <a:schemeClr val="tx1"/>
                </a:solidFill>
              </a:rPr>
              <a:t>Optimization</a:t>
            </a:r>
            <a:r>
              <a:rPr lang="es-MX" sz="1400" b="1" dirty="0">
                <a:solidFill>
                  <a:schemeClr val="tx1"/>
                </a:solidFill>
              </a:rPr>
              <a:t>):</a:t>
            </a:r>
            <a:r>
              <a:rPr lang="es-MX" sz="1400" dirty="0">
                <a:solidFill>
                  <a:schemeClr val="tx1"/>
                </a:solidFill>
              </a:rPr>
              <a:t> se orienta al posicionamiento orgánico, es decir, a lograr visibilidad sin pagar por clics.</a:t>
            </a:r>
          </a:p>
          <a:p>
            <a:r>
              <a:rPr lang="es-MX" sz="1400" b="1" dirty="0">
                <a:solidFill>
                  <a:schemeClr val="tx1"/>
                </a:solidFill>
              </a:rPr>
              <a:t>SEM (</a:t>
            </a:r>
            <a:r>
              <a:rPr lang="es-MX" sz="1400" b="1" dirty="0" err="1">
                <a:solidFill>
                  <a:schemeClr val="tx1"/>
                </a:solidFill>
              </a:rPr>
              <a:t>Search</a:t>
            </a:r>
            <a:r>
              <a:rPr lang="es-MX" sz="1400" b="1" dirty="0">
                <a:solidFill>
                  <a:schemeClr val="tx1"/>
                </a:solidFill>
              </a:rPr>
              <a:t> </a:t>
            </a:r>
            <a:r>
              <a:rPr lang="es-MX" sz="1400" b="1" dirty="0" err="1">
                <a:solidFill>
                  <a:schemeClr val="tx1"/>
                </a:solidFill>
              </a:rPr>
              <a:t>Engine</a:t>
            </a:r>
            <a:r>
              <a:rPr lang="es-MX" sz="1400" b="1" dirty="0">
                <a:solidFill>
                  <a:schemeClr val="tx1"/>
                </a:solidFill>
              </a:rPr>
              <a:t> Marketing):</a:t>
            </a:r>
            <a:r>
              <a:rPr lang="es-MX" sz="1400" dirty="0">
                <a:solidFill>
                  <a:schemeClr val="tx1"/>
                </a:solidFill>
              </a:rPr>
              <a:t> consiste en campañas pagadas, donde los anuncios se muestran en función de las palabras clave elegidas y las pujas realizadas.</a:t>
            </a:r>
          </a:p>
          <a:p>
            <a:pPr marL="114300" indent="0">
              <a:buNone/>
            </a:pPr>
            <a:r>
              <a:rPr lang="es-MX" sz="1400" dirty="0">
                <a:solidFill>
                  <a:schemeClr val="tx1"/>
                </a:solidFill>
              </a:rPr>
              <a:t>Durante la investigación, se deben considerar criterios como:</a:t>
            </a:r>
          </a:p>
          <a:p>
            <a:r>
              <a:rPr lang="es-MX" sz="1400" b="1" dirty="0">
                <a:solidFill>
                  <a:schemeClr val="tx1"/>
                </a:solidFill>
              </a:rPr>
              <a:t>Volumen de búsqueda:</a:t>
            </a:r>
            <a:r>
              <a:rPr lang="es-MX" sz="1400" dirty="0">
                <a:solidFill>
                  <a:schemeClr val="tx1"/>
                </a:solidFill>
              </a:rPr>
              <a:t> frecuencia con que los usuarios buscan un término.</a:t>
            </a:r>
          </a:p>
          <a:p>
            <a:r>
              <a:rPr lang="es-MX" sz="1400" b="1" dirty="0">
                <a:solidFill>
                  <a:schemeClr val="tx1"/>
                </a:solidFill>
              </a:rPr>
              <a:t>Nivel de competencia:</a:t>
            </a:r>
            <a:r>
              <a:rPr lang="es-MX" sz="1400" dirty="0">
                <a:solidFill>
                  <a:schemeClr val="tx1"/>
                </a:solidFill>
              </a:rPr>
              <a:t> cantidad de anunciantes o páginas que utilizan la misma palabra clave.</a:t>
            </a:r>
          </a:p>
          <a:p>
            <a:r>
              <a:rPr lang="es-MX" sz="1400" b="1" dirty="0">
                <a:solidFill>
                  <a:schemeClr val="tx1"/>
                </a:solidFill>
              </a:rPr>
              <a:t>Intención de búsqueda:</a:t>
            </a:r>
            <a:r>
              <a:rPr lang="es-MX" sz="1400" dirty="0">
                <a:solidFill>
                  <a:schemeClr val="tx1"/>
                </a:solidFill>
              </a:rPr>
              <a:t> si el usuario busca información, comparación o realizar una compra.</a:t>
            </a:r>
          </a:p>
          <a:p>
            <a:r>
              <a:rPr lang="es-MX" sz="1400" b="1" dirty="0">
                <a:solidFill>
                  <a:schemeClr val="tx1"/>
                </a:solidFill>
              </a:rPr>
              <a:t>Relevancia para el negocio:</a:t>
            </a:r>
            <a:r>
              <a:rPr lang="es-MX" sz="1400" dirty="0">
                <a:solidFill>
                  <a:schemeClr val="tx1"/>
                </a:solidFill>
              </a:rPr>
              <a:t> conexión entre la palabra y el producto o servicio ofrecido.</a:t>
            </a:r>
          </a:p>
          <a:p>
            <a:pPr marL="114300" indent="0">
              <a:buNone/>
            </a:pPr>
            <a:r>
              <a:rPr lang="es-MX" sz="1400" dirty="0">
                <a:solidFill>
                  <a:schemeClr val="tx1"/>
                </a:solidFill>
              </a:rPr>
              <a:t>Herramientas como </a:t>
            </a:r>
            <a:r>
              <a:rPr lang="es-MX" sz="1400" b="1" dirty="0">
                <a:solidFill>
                  <a:schemeClr val="tx1"/>
                </a:solidFill>
              </a:rPr>
              <a:t>Google </a:t>
            </a:r>
            <a:r>
              <a:rPr lang="es-MX" sz="1400" b="1" dirty="0" err="1">
                <a:solidFill>
                  <a:schemeClr val="tx1"/>
                </a:solidFill>
              </a:rPr>
              <a:t>Keyword</a:t>
            </a:r>
            <a:r>
              <a:rPr lang="es-MX" sz="1400" b="1" dirty="0">
                <a:solidFill>
                  <a:schemeClr val="tx1"/>
                </a:solidFill>
              </a:rPr>
              <a:t> </a:t>
            </a:r>
            <a:r>
              <a:rPr lang="es-MX" sz="1400" b="1" dirty="0" err="1">
                <a:solidFill>
                  <a:schemeClr val="tx1"/>
                </a:solidFill>
              </a:rPr>
              <a:t>Planner</a:t>
            </a:r>
            <a:r>
              <a:rPr lang="es-MX" sz="1400" dirty="0">
                <a:solidFill>
                  <a:schemeClr val="tx1"/>
                </a:solidFill>
              </a:rPr>
              <a:t>, </a:t>
            </a:r>
            <a:r>
              <a:rPr lang="es-MX" sz="1400" b="1" dirty="0" err="1">
                <a:solidFill>
                  <a:schemeClr val="tx1"/>
                </a:solidFill>
              </a:rPr>
              <a:t>Ubersuggest</a:t>
            </a:r>
            <a:r>
              <a:rPr lang="es-MX" sz="1400" dirty="0">
                <a:solidFill>
                  <a:schemeClr val="tx1"/>
                </a:solidFill>
              </a:rPr>
              <a:t>, </a:t>
            </a:r>
            <a:r>
              <a:rPr lang="es-MX" sz="1400" b="1" dirty="0" err="1">
                <a:solidFill>
                  <a:schemeClr val="tx1"/>
                </a:solidFill>
              </a:rPr>
              <a:t>SEMrush</a:t>
            </a:r>
            <a:r>
              <a:rPr lang="es-MX" sz="1400" dirty="0">
                <a:solidFill>
                  <a:schemeClr val="tx1"/>
                </a:solidFill>
              </a:rPr>
              <a:t> y </a:t>
            </a:r>
            <a:r>
              <a:rPr lang="es-MX" sz="1400" b="1" dirty="0" err="1">
                <a:solidFill>
                  <a:schemeClr val="tx1"/>
                </a:solidFill>
              </a:rPr>
              <a:t>Ahrefs</a:t>
            </a:r>
            <a:r>
              <a:rPr lang="es-MX" sz="1400" dirty="0">
                <a:solidFill>
                  <a:schemeClr val="tx1"/>
                </a:solidFill>
              </a:rPr>
              <a:t> permiten identificar palabras clave rentables, analizar su tendencia y descubrir oportunidades de posicionamiento.</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4117238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D44B939-3E64-D208-3184-8E723292552F}"/>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78049F2-EC78-052C-399E-B905645B4BF1}"/>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E3CE4A5F-4589-367C-D6E2-73AADE0D5771}"/>
              </a:ext>
            </a:extLst>
          </p:cNvPr>
          <p:cNvSpPr>
            <a:spLocks noGrp="1"/>
          </p:cNvSpPr>
          <p:nvPr>
            <p:ph type="title"/>
          </p:nvPr>
        </p:nvSpPr>
        <p:spPr>
          <a:xfrm>
            <a:off x="367580" y="0"/>
            <a:ext cx="8520600" cy="572700"/>
          </a:xfrm>
        </p:spPr>
        <p:txBody>
          <a:bodyPr>
            <a:normAutofit fontScale="90000"/>
          </a:bodyPr>
          <a:lstStyle/>
          <a:p>
            <a:pPr algn="ctr"/>
            <a:r>
              <a:rPr lang="es-MX" dirty="0"/>
              <a:t>Creación de campañas de búsquedas</a:t>
            </a:r>
            <a:endParaRPr lang="es-GT" dirty="0"/>
          </a:p>
        </p:txBody>
      </p:sp>
      <p:sp>
        <p:nvSpPr>
          <p:cNvPr id="3" name="Marcador de texto 2">
            <a:extLst>
              <a:ext uri="{FF2B5EF4-FFF2-40B4-BE49-F238E27FC236}">
                <a16:creationId xmlns:a16="http://schemas.microsoft.com/office/drawing/2014/main" id="{B565DD4E-6759-9711-AAF9-4174053CB961}"/>
              </a:ext>
            </a:extLst>
          </p:cNvPr>
          <p:cNvSpPr>
            <a:spLocks noGrp="1"/>
          </p:cNvSpPr>
          <p:nvPr>
            <p:ph type="body" idx="1"/>
          </p:nvPr>
        </p:nvSpPr>
        <p:spPr>
          <a:xfrm>
            <a:off x="311700" y="777240"/>
            <a:ext cx="8520600" cy="4236195"/>
          </a:xfrm>
        </p:spPr>
        <p:txBody>
          <a:bodyPr>
            <a:normAutofit fontScale="85000" lnSpcReduction="20000"/>
          </a:bodyPr>
          <a:lstStyle/>
          <a:p>
            <a:pPr marL="114300" indent="0">
              <a:buNone/>
            </a:pPr>
            <a:r>
              <a:rPr lang="es-MX" b="1" dirty="0">
                <a:solidFill>
                  <a:schemeClr val="tx1"/>
                </a:solidFill>
              </a:rPr>
              <a:t>Estructura de campañas y grupos de anuncios</a:t>
            </a:r>
          </a:p>
          <a:p>
            <a:pPr marL="114300" indent="0">
              <a:buNone/>
            </a:pPr>
            <a:r>
              <a:rPr lang="es-MX" dirty="0">
                <a:solidFill>
                  <a:schemeClr val="tx1"/>
                </a:solidFill>
              </a:rPr>
              <a:t>Una campaña de búsqueda bien estructurada es esencial para garantizar el orden, la eficiencia y la optimización de los resultados. En plataformas como </a:t>
            </a:r>
            <a:r>
              <a:rPr lang="es-MX" b="1" dirty="0">
                <a:solidFill>
                  <a:schemeClr val="tx1"/>
                </a:solidFill>
              </a:rPr>
              <a:t>Google </a:t>
            </a:r>
            <a:r>
              <a:rPr lang="es-MX" b="1" dirty="0" err="1">
                <a:solidFill>
                  <a:schemeClr val="tx1"/>
                </a:solidFill>
              </a:rPr>
              <a:t>Ads</a:t>
            </a:r>
            <a:r>
              <a:rPr lang="es-MX" dirty="0">
                <a:solidFill>
                  <a:schemeClr val="tx1"/>
                </a:solidFill>
              </a:rPr>
              <a:t>, la estructura jerárquica se compone de </a:t>
            </a:r>
            <a:r>
              <a:rPr lang="es-MX" b="1" dirty="0">
                <a:solidFill>
                  <a:schemeClr val="tx1"/>
                </a:solidFill>
              </a:rPr>
              <a:t>cuenta → campaña → grupo de anuncios → palabras clave y anuncios</a:t>
            </a:r>
            <a:r>
              <a:rPr lang="es-MX" dirty="0">
                <a:solidFill>
                  <a:schemeClr val="tx1"/>
                </a:solidFill>
              </a:rPr>
              <a:t>.</a:t>
            </a:r>
            <a:br>
              <a:rPr lang="es-MX" dirty="0">
                <a:solidFill>
                  <a:schemeClr val="tx1"/>
                </a:solidFill>
              </a:rPr>
            </a:br>
            <a:r>
              <a:rPr lang="es-MX" dirty="0">
                <a:solidFill>
                  <a:schemeClr val="tx1"/>
                </a:solidFill>
              </a:rPr>
              <a:t>Cada nivel cumple una función específica que permite segmentar y controlar los objetivos publicitarios con precisión.</a:t>
            </a:r>
          </a:p>
          <a:p>
            <a:r>
              <a:rPr lang="es-MX" dirty="0">
                <a:solidFill>
                  <a:schemeClr val="tx1"/>
                </a:solidFill>
              </a:rPr>
              <a:t>Al diseñar una campaña se deben definir:</a:t>
            </a:r>
          </a:p>
          <a:p>
            <a:r>
              <a:rPr lang="es-MX" b="1" dirty="0">
                <a:solidFill>
                  <a:schemeClr val="tx1"/>
                </a:solidFill>
              </a:rPr>
              <a:t>Objetivo principal:</a:t>
            </a:r>
            <a:r>
              <a:rPr lang="es-MX" dirty="0">
                <a:solidFill>
                  <a:schemeClr val="tx1"/>
                </a:solidFill>
              </a:rPr>
              <a:t> tráfico web, ventas, registros, leads o reconocimiento de marca.</a:t>
            </a:r>
          </a:p>
          <a:p>
            <a:r>
              <a:rPr lang="es-MX" b="1" dirty="0">
                <a:solidFill>
                  <a:schemeClr val="tx1"/>
                </a:solidFill>
              </a:rPr>
              <a:t>Presupuesto y pujas:</a:t>
            </a:r>
            <a:r>
              <a:rPr lang="es-MX" dirty="0">
                <a:solidFill>
                  <a:schemeClr val="tx1"/>
                </a:solidFill>
              </a:rPr>
              <a:t> cuánto se está dispuesto a invertir por clic o conversión.</a:t>
            </a:r>
          </a:p>
          <a:p>
            <a:r>
              <a:rPr lang="es-MX" b="1" dirty="0">
                <a:solidFill>
                  <a:schemeClr val="tx1"/>
                </a:solidFill>
              </a:rPr>
              <a:t>Segmentación:</a:t>
            </a:r>
            <a:r>
              <a:rPr lang="es-MX" dirty="0">
                <a:solidFill>
                  <a:schemeClr val="tx1"/>
                </a:solidFill>
              </a:rPr>
              <a:t> idioma, ubicación geográfica, dispositivo y horario.</a:t>
            </a:r>
          </a:p>
          <a:p>
            <a:r>
              <a:rPr lang="es-MX" b="1" dirty="0">
                <a:solidFill>
                  <a:schemeClr val="tx1"/>
                </a:solidFill>
              </a:rPr>
              <a:t>Estrategia de puja:</a:t>
            </a:r>
            <a:r>
              <a:rPr lang="es-MX" dirty="0">
                <a:solidFill>
                  <a:schemeClr val="tx1"/>
                </a:solidFill>
              </a:rPr>
              <a:t> manual, automática o inteligente.</a:t>
            </a:r>
          </a:p>
          <a:p>
            <a:pPr marL="114300" indent="0">
              <a:buNone/>
            </a:pPr>
            <a:r>
              <a:rPr lang="es-MX" dirty="0">
                <a:solidFill>
                  <a:schemeClr val="tx1"/>
                </a:solidFill>
              </a:rPr>
              <a:t>Los </a:t>
            </a:r>
            <a:r>
              <a:rPr lang="es-MX" b="1" dirty="0">
                <a:solidFill>
                  <a:schemeClr val="tx1"/>
                </a:solidFill>
              </a:rPr>
              <a:t>grupos de anuncios</a:t>
            </a:r>
            <a:r>
              <a:rPr lang="es-MX" dirty="0">
                <a:solidFill>
                  <a:schemeClr val="tx1"/>
                </a:solidFill>
              </a:rPr>
              <a:t> organizan las palabras clave y anuncios relacionados entre sí, de modo que cada grupo responda a una intención de búsqueda específica.</a:t>
            </a:r>
            <a:br>
              <a:rPr lang="es-MX" dirty="0">
                <a:solidFill>
                  <a:schemeClr val="tx1"/>
                </a:solidFill>
              </a:rPr>
            </a:br>
            <a:r>
              <a:rPr lang="es-MX" dirty="0">
                <a:solidFill>
                  <a:schemeClr val="tx1"/>
                </a:solidFill>
              </a:rPr>
              <a:t>Por ejemplo:</a:t>
            </a:r>
          </a:p>
          <a:p>
            <a:r>
              <a:rPr lang="es-MX" dirty="0">
                <a:solidFill>
                  <a:schemeClr val="tx1"/>
                </a:solidFill>
              </a:rPr>
              <a:t>Campaña: “Ropa deportiva”</a:t>
            </a:r>
          </a:p>
          <a:p>
            <a:pPr lvl="1"/>
            <a:r>
              <a:rPr lang="es-MX" dirty="0">
                <a:solidFill>
                  <a:schemeClr val="tx1"/>
                </a:solidFill>
              </a:rPr>
              <a:t>Grupo 1: “Zapatillas para correr”</a:t>
            </a:r>
          </a:p>
          <a:p>
            <a:pPr lvl="1"/>
            <a:r>
              <a:rPr lang="es-MX" dirty="0">
                <a:solidFill>
                  <a:schemeClr val="tx1"/>
                </a:solidFill>
              </a:rPr>
              <a:t>Grupo 2: “Ropa de gimnasio para mujer”</a:t>
            </a:r>
          </a:p>
          <a:p>
            <a:pPr lvl="1"/>
            <a:r>
              <a:rPr lang="es-MX" dirty="0">
                <a:solidFill>
                  <a:schemeClr val="tx1"/>
                </a:solidFill>
              </a:rPr>
              <a:t>Grupo 3: “Accesorios deportivos”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570885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08E6571-BA85-33D4-D7D6-21C8696C8DC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D7EDC105-2BAF-C309-F0D7-82182DC30A78}"/>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0FF083C-8598-BD00-C818-DE1128215BE4}"/>
              </a:ext>
            </a:extLst>
          </p:cNvPr>
          <p:cNvSpPr>
            <a:spLocks noGrp="1"/>
          </p:cNvSpPr>
          <p:nvPr>
            <p:ph type="title"/>
          </p:nvPr>
        </p:nvSpPr>
        <p:spPr>
          <a:xfrm>
            <a:off x="367580" y="0"/>
            <a:ext cx="8520600" cy="572700"/>
          </a:xfrm>
        </p:spPr>
        <p:txBody>
          <a:bodyPr>
            <a:normAutofit fontScale="90000"/>
          </a:bodyPr>
          <a:lstStyle/>
          <a:p>
            <a:pPr algn="ctr"/>
            <a:r>
              <a:rPr lang="es-MX" dirty="0"/>
              <a:t>Creación de campañas de búsquedas</a:t>
            </a:r>
            <a:endParaRPr lang="es-GT" dirty="0"/>
          </a:p>
        </p:txBody>
      </p:sp>
      <p:sp>
        <p:nvSpPr>
          <p:cNvPr id="3" name="Marcador de texto 2">
            <a:extLst>
              <a:ext uri="{FF2B5EF4-FFF2-40B4-BE49-F238E27FC236}">
                <a16:creationId xmlns:a16="http://schemas.microsoft.com/office/drawing/2014/main" id="{AF4BB44D-378F-FB03-7474-B559B73AF14F}"/>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Redacción de anuncios efectivos y orientados a conversión</a:t>
            </a:r>
          </a:p>
          <a:p>
            <a:pPr marL="114300" indent="0">
              <a:buNone/>
            </a:pPr>
            <a:r>
              <a:rPr lang="es-MX" sz="1400" dirty="0">
                <a:solidFill>
                  <a:schemeClr val="tx1"/>
                </a:solidFill>
              </a:rPr>
              <a:t>La redacción publicitaria en campañas de búsqueda requiere precisión, creatividad y enfoque estratégico. Un anuncio efectivo debe captar la atención del usuario en pocos segundos, generar interés y motivarlo a realizar una acción concreta, como hacer clic o comprar.</a:t>
            </a:r>
          </a:p>
          <a:p>
            <a:pPr marL="114300" indent="0">
              <a:buNone/>
            </a:pPr>
            <a:r>
              <a:rPr lang="es-MX" sz="1400" dirty="0">
                <a:solidFill>
                  <a:schemeClr val="tx1"/>
                </a:solidFill>
              </a:rPr>
              <a:t>Para lograrlo, se aplican principios del </a:t>
            </a:r>
            <a:r>
              <a:rPr lang="es-MX" sz="1400" b="1" dirty="0" err="1">
                <a:solidFill>
                  <a:schemeClr val="tx1"/>
                </a:solidFill>
              </a:rPr>
              <a:t>copywriting</a:t>
            </a:r>
            <a:r>
              <a:rPr lang="es-MX" sz="1400" b="1" dirty="0">
                <a:solidFill>
                  <a:schemeClr val="tx1"/>
                </a:solidFill>
              </a:rPr>
              <a:t> persuasivo</a:t>
            </a:r>
            <a:r>
              <a:rPr lang="es-MX" sz="1400" dirty="0">
                <a:solidFill>
                  <a:schemeClr val="tx1"/>
                </a:solidFill>
              </a:rPr>
              <a:t>, que consiste en escribir mensajes enfocados en los beneficios, las emociones y las necesidades del consumidor.</a:t>
            </a:r>
            <a:br>
              <a:rPr lang="es-MX" sz="1400" dirty="0">
                <a:solidFill>
                  <a:schemeClr val="tx1"/>
                </a:solidFill>
              </a:rPr>
            </a:br>
            <a:r>
              <a:rPr lang="es-MX" sz="1400" dirty="0">
                <a:solidFill>
                  <a:schemeClr val="tx1"/>
                </a:solidFill>
              </a:rPr>
              <a:t>Un anuncio eficaz debe incluir:</a:t>
            </a:r>
          </a:p>
          <a:p>
            <a:r>
              <a:rPr lang="es-MX" sz="1400" b="1" dirty="0">
                <a:solidFill>
                  <a:schemeClr val="tx1"/>
                </a:solidFill>
              </a:rPr>
              <a:t>Título atractivo:</a:t>
            </a:r>
            <a:r>
              <a:rPr lang="es-MX" sz="1400" dirty="0">
                <a:solidFill>
                  <a:schemeClr val="tx1"/>
                </a:solidFill>
              </a:rPr>
              <a:t> debe contener la palabra clave y despertar interés.</a:t>
            </a:r>
          </a:p>
          <a:p>
            <a:r>
              <a:rPr lang="es-MX" sz="1400" b="1" dirty="0">
                <a:solidFill>
                  <a:schemeClr val="tx1"/>
                </a:solidFill>
              </a:rPr>
              <a:t>Descripción clara:</a:t>
            </a:r>
            <a:r>
              <a:rPr lang="es-MX" sz="1400" dirty="0">
                <a:solidFill>
                  <a:schemeClr val="tx1"/>
                </a:solidFill>
              </a:rPr>
              <a:t> explica el valor diferencial o beneficio principal.</a:t>
            </a:r>
          </a:p>
          <a:p>
            <a:r>
              <a:rPr lang="es-MX" sz="1400" b="1" dirty="0">
                <a:solidFill>
                  <a:schemeClr val="tx1"/>
                </a:solidFill>
              </a:rPr>
              <a:t>Llamado a la acción (CTA):</a:t>
            </a:r>
            <a:r>
              <a:rPr lang="es-MX" sz="1400" dirty="0">
                <a:solidFill>
                  <a:schemeClr val="tx1"/>
                </a:solidFill>
              </a:rPr>
              <a:t> invita a realizar una acción inmediata (“Compra ahora”, “Descubre más”, “Regístrate gratis”).</a:t>
            </a:r>
          </a:p>
          <a:p>
            <a:r>
              <a:rPr lang="es-MX" sz="1400" b="1" dirty="0">
                <a:solidFill>
                  <a:schemeClr val="tx1"/>
                </a:solidFill>
              </a:rPr>
              <a:t>Enlace visible:</a:t>
            </a:r>
            <a:r>
              <a:rPr lang="es-MX" sz="1400" dirty="0">
                <a:solidFill>
                  <a:schemeClr val="tx1"/>
                </a:solidFill>
              </a:rPr>
              <a:t> que dirija a una página de destino coherente con el anuncio.</a:t>
            </a:r>
          </a:p>
          <a:p>
            <a:pPr marL="114300" indent="0">
              <a:buNone/>
            </a:pPr>
            <a:r>
              <a:rPr lang="es-MX" sz="1400" dirty="0">
                <a:solidFill>
                  <a:schemeClr val="tx1"/>
                </a:solidFill>
              </a:rPr>
              <a:t>Ejemplo:</a:t>
            </a:r>
          </a:p>
          <a:p>
            <a:pPr marL="114300" indent="0">
              <a:buNone/>
            </a:pPr>
            <a:r>
              <a:rPr lang="es-MX" sz="1400" dirty="0">
                <a:solidFill>
                  <a:schemeClr val="tx1"/>
                </a:solidFill>
              </a:rPr>
              <a:t>	“Zapatillas deportivas para correr – Envío gratis y descuentos del 20%. ¡Compra hoy y mejora 	tu rendimiento!”</a:t>
            </a:r>
          </a:p>
          <a:p>
            <a:pPr marL="114300" indent="0">
              <a:buNone/>
            </a:pPr>
            <a:r>
              <a:rPr lang="es-MX" sz="1400" dirty="0">
                <a:solidFill>
                  <a:schemeClr val="tx1"/>
                </a:solidFill>
              </a:rPr>
              <a:t>Además, en campañas SEM, la relevancia entre la palabra clave, el anuncio y la página de destino determina el </a:t>
            </a:r>
            <a:r>
              <a:rPr lang="es-MX" sz="1400" b="1" dirty="0" err="1">
                <a:solidFill>
                  <a:schemeClr val="tx1"/>
                </a:solidFill>
              </a:rPr>
              <a:t>Quality</a:t>
            </a:r>
            <a:r>
              <a:rPr lang="es-MX" sz="1400" b="1" dirty="0">
                <a:solidFill>
                  <a:schemeClr val="tx1"/>
                </a:solidFill>
              </a:rPr>
              <a:t> Score</a:t>
            </a:r>
            <a:r>
              <a:rPr lang="es-MX" sz="1400" dirty="0">
                <a:solidFill>
                  <a:schemeClr val="tx1"/>
                </a:solidFill>
              </a:rPr>
              <a:t> (nivel de calidad) de Google </a:t>
            </a:r>
            <a:r>
              <a:rPr lang="es-MX" sz="1400" dirty="0" err="1">
                <a:solidFill>
                  <a:schemeClr val="tx1"/>
                </a:solidFill>
              </a:rPr>
              <a:t>Ads</a:t>
            </a:r>
            <a:r>
              <a:rPr lang="es-MX" sz="1400" dirty="0">
                <a:solidFill>
                  <a:schemeClr val="tx1"/>
                </a:solidFill>
              </a:rPr>
              <a:t>, lo que influye directamente en el costo y la posición del anuncio.</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499421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591CC0C-8F02-24E9-B1BB-F275C0FC6454}"/>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5183D8C1-1855-2C7B-B8B0-186D1FA0A34A}"/>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5B54853-50E6-B67E-B49A-9FC7ED3E639C}"/>
              </a:ext>
            </a:extLst>
          </p:cNvPr>
          <p:cNvSpPr>
            <a:spLocks noGrp="1"/>
          </p:cNvSpPr>
          <p:nvPr>
            <p:ph type="title"/>
          </p:nvPr>
        </p:nvSpPr>
        <p:spPr>
          <a:xfrm>
            <a:off x="367580" y="0"/>
            <a:ext cx="8520600" cy="572700"/>
          </a:xfrm>
        </p:spPr>
        <p:txBody>
          <a:bodyPr>
            <a:normAutofit fontScale="90000"/>
          </a:bodyPr>
          <a:lstStyle/>
          <a:p>
            <a:pPr algn="ctr"/>
            <a:r>
              <a:rPr lang="es-MX" dirty="0"/>
              <a:t>Creación de campañas de búsquedas</a:t>
            </a:r>
            <a:endParaRPr lang="es-GT" dirty="0"/>
          </a:p>
        </p:txBody>
      </p:sp>
      <p:sp>
        <p:nvSpPr>
          <p:cNvPr id="3" name="Marcador de texto 2">
            <a:extLst>
              <a:ext uri="{FF2B5EF4-FFF2-40B4-BE49-F238E27FC236}">
                <a16:creationId xmlns:a16="http://schemas.microsoft.com/office/drawing/2014/main" id="{00F44A78-9EB1-19E4-4220-D6F7887FF1A2}"/>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Configuración de extensiones y parámetros de seguimiento</a:t>
            </a:r>
          </a:p>
          <a:p>
            <a:pPr marL="114300" indent="0">
              <a:buNone/>
            </a:pPr>
            <a:r>
              <a:rPr lang="es-MX" sz="1400" dirty="0">
                <a:solidFill>
                  <a:schemeClr val="tx1"/>
                </a:solidFill>
              </a:rPr>
              <a:t>Las extensiones de anuncios son elementos adicionales que mejoran la visibilidad y el rendimiento de los anuncios en buscadores. Permiten incluir información complementaria y aumentar el espacio ocupado en los resultados de búsqueda, lo que incrementa la tasa de clics (CTR).</a:t>
            </a:r>
          </a:p>
          <a:p>
            <a:pPr marL="114300" indent="0">
              <a:buNone/>
            </a:pPr>
            <a:r>
              <a:rPr lang="es-MX" sz="1400" dirty="0">
                <a:solidFill>
                  <a:schemeClr val="tx1"/>
                </a:solidFill>
              </a:rPr>
              <a:t>Algunas extensiones más utilizadas son:</a:t>
            </a:r>
          </a:p>
          <a:p>
            <a:r>
              <a:rPr lang="es-MX" sz="1400" b="1" dirty="0">
                <a:solidFill>
                  <a:schemeClr val="tx1"/>
                </a:solidFill>
              </a:rPr>
              <a:t>Extensión de sitio:</a:t>
            </a:r>
            <a:r>
              <a:rPr lang="es-MX" sz="1400" dirty="0">
                <a:solidFill>
                  <a:schemeClr val="tx1"/>
                </a:solidFill>
              </a:rPr>
              <a:t> muestra enlaces directos a secciones específicas del sitio web (productos, contacto, promociones).</a:t>
            </a:r>
          </a:p>
          <a:p>
            <a:r>
              <a:rPr lang="es-MX" sz="1400" b="1" dirty="0">
                <a:solidFill>
                  <a:schemeClr val="tx1"/>
                </a:solidFill>
              </a:rPr>
              <a:t>Extensión de llamada:</a:t>
            </a:r>
            <a:r>
              <a:rPr lang="es-MX" sz="1400" dirty="0">
                <a:solidFill>
                  <a:schemeClr val="tx1"/>
                </a:solidFill>
              </a:rPr>
              <a:t> permite que el usuario contacte directamente por teléfono desde el anuncio.</a:t>
            </a:r>
          </a:p>
          <a:p>
            <a:r>
              <a:rPr lang="es-MX" sz="1400" b="1" dirty="0">
                <a:solidFill>
                  <a:schemeClr val="tx1"/>
                </a:solidFill>
              </a:rPr>
              <a:t>Extensión de ubicación:</a:t>
            </a:r>
            <a:r>
              <a:rPr lang="es-MX" sz="1400" dirty="0">
                <a:solidFill>
                  <a:schemeClr val="tx1"/>
                </a:solidFill>
              </a:rPr>
              <a:t> muestra la dirección física del negocio, útil para tiendas locales.</a:t>
            </a:r>
          </a:p>
          <a:p>
            <a:r>
              <a:rPr lang="es-MX" sz="1400" b="1" dirty="0">
                <a:solidFill>
                  <a:schemeClr val="tx1"/>
                </a:solidFill>
              </a:rPr>
              <a:t>Extensión de texto destacado:</a:t>
            </a:r>
            <a:r>
              <a:rPr lang="es-MX" sz="1400" dirty="0">
                <a:solidFill>
                  <a:schemeClr val="tx1"/>
                </a:solidFill>
              </a:rPr>
              <a:t> resalta beneficios o características (“Atención 24/7”, “Envío gratis”).</a:t>
            </a:r>
          </a:p>
          <a:p>
            <a:r>
              <a:rPr lang="es-MX" sz="1400" b="1" dirty="0">
                <a:solidFill>
                  <a:schemeClr val="tx1"/>
                </a:solidFill>
              </a:rPr>
              <a:t>Extensión de precio:</a:t>
            </a:r>
            <a:r>
              <a:rPr lang="es-MX" sz="1400" dirty="0">
                <a:solidFill>
                  <a:schemeClr val="tx1"/>
                </a:solidFill>
              </a:rPr>
              <a:t> muestra los costos o promociones de productos específicos.</a:t>
            </a:r>
          </a:p>
          <a:p>
            <a:pPr marL="114300" indent="0">
              <a:buNone/>
            </a:pPr>
            <a:r>
              <a:rPr lang="es-MX" sz="1400" dirty="0">
                <a:solidFill>
                  <a:schemeClr val="tx1"/>
                </a:solidFill>
              </a:rPr>
              <a:t>Por otro lado, los </a:t>
            </a:r>
            <a:r>
              <a:rPr lang="es-MX" sz="1400" b="1" dirty="0">
                <a:solidFill>
                  <a:schemeClr val="tx1"/>
                </a:solidFill>
              </a:rPr>
              <a:t>parámetros de seguimiento (UTM)</a:t>
            </a:r>
            <a:r>
              <a:rPr lang="es-MX" sz="1400" dirty="0">
                <a:solidFill>
                  <a:schemeClr val="tx1"/>
                </a:solidFill>
              </a:rPr>
              <a:t> son códigos que se añaden a las URL para analizar el comportamiento de los usuarios que hacen clic en los anuncios. Estos permiten rastrear:</a:t>
            </a:r>
          </a:p>
          <a:p>
            <a:r>
              <a:rPr lang="es-MX" sz="1400" dirty="0">
                <a:solidFill>
                  <a:schemeClr val="tx1"/>
                </a:solidFill>
              </a:rPr>
              <a:t>Fuente de tráfico (ej. Google, Facebook, </a:t>
            </a:r>
            <a:r>
              <a:rPr lang="es-MX" sz="1400" dirty="0" err="1">
                <a:solidFill>
                  <a:schemeClr val="tx1"/>
                </a:solidFill>
              </a:rPr>
              <a:t>newsletter</a:t>
            </a:r>
            <a:r>
              <a:rPr lang="es-MX" sz="1400" dirty="0">
                <a:solidFill>
                  <a:schemeClr val="tx1"/>
                </a:solidFill>
              </a:rPr>
              <a:t>).</a:t>
            </a:r>
          </a:p>
          <a:p>
            <a:r>
              <a:rPr lang="es-MX" sz="1400" dirty="0">
                <a:solidFill>
                  <a:schemeClr val="tx1"/>
                </a:solidFill>
              </a:rPr>
              <a:t>Medio de la campaña (CPC, email, orgánico).</a:t>
            </a:r>
          </a:p>
          <a:p>
            <a:r>
              <a:rPr lang="es-MX" sz="1400" dirty="0">
                <a:solidFill>
                  <a:schemeClr val="tx1"/>
                </a:solidFill>
              </a:rPr>
              <a:t>Nombre y tipo de campaña.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788550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1AD400E-C513-8251-4CCE-5C9A0B2DAC71}"/>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780B51FF-20A1-1E2B-986D-D241072DBDAA}"/>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C8A2EB79-3861-FCB2-8BF5-2B441B524EFB}"/>
              </a:ext>
            </a:extLst>
          </p:cNvPr>
          <p:cNvSpPr>
            <a:spLocks noGrp="1"/>
          </p:cNvSpPr>
          <p:nvPr>
            <p:ph type="title"/>
          </p:nvPr>
        </p:nvSpPr>
        <p:spPr>
          <a:xfrm>
            <a:off x="367580" y="0"/>
            <a:ext cx="8520600" cy="572700"/>
          </a:xfrm>
        </p:spPr>
        <p:txBody>
          <a:bodyPr>
            <a:normAutofit fontScale="90000"/>
          </a:bodyPr>
          <a:lstStyle/>
          <a:p>
            <a:pPr algn="ctr"/>
            <a:r>
              <a:rPr lang="es-MX" dirty="0"/>
              <a:t>Creación de campañas de búsquedas</a:t>
            </a:r>
            <a:endParaRPr lang="es-GT" dirty="0"/>
          </a:p>
        </p:txBody>
      </p:sp>
      <p:sp>
        <p:nvSpPr>
          <p:cNvPr id="3" name="Marcador de texto 2">
            <a:extLst>
              <a:ext uri="{FF2B5EF4-FFF2-40B4-BE49-F238E27FC236}">
                <a16:creationId xmlns:a16="http://schemas.microsoft.com/office/drawing/2014/main" id="{7BC9D781-6E0A-6947-EF4C-3E5959C8F7A6}"/>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400" b="1" dirty="0">
                <a:solidFill>
                  <a:schemeClr val="tx1"/>
                </a:solidFill>
              </a:rPr>
              <a:t>Estrategias de optimización de CTR y calidad del anuncio</a:t>
            </a:r>
          </a:p>
          <a:p>
            <a:pPr marL="114300" indent="0">
              <a:buNone/>
            </a:pPr>
            <a:r>
              <a:rPr lang="es-MX" sz="1400" dirty="0">
                <a:solidFill>
                  <a:schemeClr val="tx1"/>
                </a:solidFill>
              </a:rPr>
              <a:t>La optimización de campañas es un proceso continuo en marketing digital. El objetivo es mejorar el </a:t>
            </a:r>
            <a:r>
              <a:rPr lang="es-MX" sz="1400" b="1" dirty="0">
                <a:solidFill>
                  <a:schemeClr val="tx1"/>
                </a:solidFill>
              </a:rPr>
              <a:t>CTR (</a:t>
            </a:r>
            <a:r>
              <a:rPr lang="es-MX" sz="1400" b="1" dirty="0" err="1">
                <a:solidFill>
                  <a:schemeClr val="tx1"/>
                </a:solidFill>
              </a:rPr>
              <a:t>Click</a:t>
            </a:r>
            <a:r>
              <a:rPr lang="es-MX" sz="1400" b="1" dirty="0">
                <a:solidFill>
                  <a:schemeClr val="tx1"/>
                </a:solidFill>
              </a:rPr>
              <a:t> </a:t>
            </a:r>
            <a:r>
              <a:rPr lang="es-MX" sz="1400" b="1" dirty="0" err="1">
                <a:solidFill>
                  <a:schemeClr val="tx1"/>
                </a:solidFill>
              </a:rPr>
              <a:t>Through</a:t>
            </a:r>
            <a:r>
              <a:rPr lang="es-MX" sz="1400" b="1" dirty="0">
                <a:solidFill>
                  <a:schemeClr val="tx1"/>
                </a:solidFill>
              </a:rPr>
              <a:t> </a:t>
            </a:r>
            <a:r>
              <a:rPr lang="es-MX" sz="1400" b="1" dirty="0" err="1">
                <a:solidFill>
                  <a:schemeClr val="tx1"/>
                </a:solidFill>
              </a:rPr>
              <a:t>Rate</a:t>
            </a:r>
            <a:r>
              <a:rPr lang="es-MX" sz="1400" b="1" dirty="0">
                <a:solidFill>
                  <a:schemeClr val="tx1"/>
                </a:solidFill>
              </a:rPr>
              <a:t>)</a:t>
            </a:r>
            <a:r>
              <a:rPr lang="es-MX" sz="1400" dirty="0">
                <a:solidFill>
                  <a:schemeClr val="tx1"/>
                </a:solidFill>
              </a:rPr>
              <a:t>, el nivel de calidad y el retorno de la inversión publicitaria (ROI).</a:t>
            </a:r>
            <a:br>
              <a:rPr lang="es-MX" sz="1400" dirty="0">
                <a:solidFill>
                  <a:schemeClr val="tx1"/>
                </a:solidFill>
              </a:rPr>
            </a:br>
            <a:r>
              <a:rPr lang="es-MX" sz="1400" dirty="0">
                <a:solidFill>
                  <a:schemeClr val="tx1"/>
                </a:solidFill>
              </a:rPr>
              <a:t>Un alto CTR indica que los anuncios son relevantes y atractivos para los usuarios, mientras que una buena puntuación de calidad reduce los costos por clic y mejora la posición del anuncio en los resultados.</a:t>
            </a:r>
          </a:p>
          <a:p>
            <a:pPr marL="114300" indent="0">
              <a:buNone/>
            </a:pPr>
            <a:r>
              <a:rPr lang="es-MX" sz="1400" dirty="0">
                <a:solidFill>
                  <a:schemeClr val="tx1"/>
                </a:solidFill>
              </a:rPr>
              <a:t>Algunas estrategias clave de optimización son:</a:t>
            </a:r>
          </a:p>
          <a:p>
            <a:r>
              <a:rPr lang="es-MX" sz="1400" b="1" dirty="0">
                <a:solidFill>
                  <a:schemeClr val="tx1"/>
                </a:solidFill>
              </a:rPr>
              <a:t>Refinar palabras clave:</a:t>
            </a:r>
            <a:r>
              <a:rPr lang="es-MX" sz="1400" dirty="0">
                <a:solidFill>
                  <a:schemeClr val="tx1"/>
                </a:solidFill>
              </a:rPr>
              <a:t> eliminar las de bajo rendimiento y agregar nuevas oportunidades (palabras de cola larga).</a:t>
            </a:r>
          </a:p>
          <a:p>
            <a:r>
              <a:rPr lang="es-MX" sz="1400" b="1" dirty="0">
                <a:solidFill>
                  <a:schemeClr val="tx1"/>
                </a:solidFill>
              </a:rPr>
              <a:t>Probar variaciones de anuncios (A/B </a:t>
            </a:r>
            <a:r>
              <a:rPr lang="es-MX" sz="1400" b="1" dirty="0" err="1">
                <a:solidFill>
                  <a:schemeClr val="tx1"/>
                </a:solidFill>
              </a:rPr>
              <a:t>Testing</a:t>
            </a:r>
            <a:r>
              <a:rPr lang="es-MX" sz="1400" b="1" dirty="0">
                <a:solidFill>
                  <a:schemeClr val="tx1"/>
                </a:solidFill>
              </a:rPr>
              <a:t>):</a:t>
            </a:r>
            <a:r>
              <a:rPr lang="es-MX" sz="1400" dirty="0">
                <a:solidFill>
                  <a:schemeClr val="tx1"/>
                </a:solidFill>
              </a:rPr>
              <a:t> comparar títulos, descripciones o </a:t>
            </a:r>
            <a:r>
              <a:rPr lang="es-MX" sz="1400" dirty="0" err="1">
                <a:solidFill>
                  <a:schemeClr val="tx1"/>
                </a:solidFill>
              </a:rPr>
              <a:t>CTAs</a:t>
            </a:r>
            <a:r>
              <a:rPr lang="es-MX" sz="1400" dirty="0">
                <a:solidFill>
                  <a:schemeClr val="tx1"/>
                </a:solidFill>
              </a:rPr>
              <a:t> para determinar cuál genera mejores resultados.</a:t>
            </a:r>
          </a:p>
          <a:p>
            <a:r>
              <a:rPr lang="es-MX" sz="1400" b="1" dirty="0">
                <a:solidFill>
                  <a:schemeClr val="tx1"/>
                </a:solidFill>
              </a:rPr>
              <a:t>Ajustar segmentación:</a:t>
            </a:r>
            <a:r>
              <a:rPr lang="es-MX" sz="1400" dirty="0">
                <a:solidFill>
                  <a:schemeClr val="tx1"/>
                </a:solidFill>
              </a:rPr>
              <a:t> modificar ubicación, horario o dispositivo según las métricas.</a:t>
            </a:r>
          </a:p>
          <a:p>
            <a:r>
              <a:rPr lang="es-MX" sz="1400" b="1" dirty="0">
                <a:solidFill>
                  <a:schemeClr val="tx1"/>
                </a:solidFill>
              </a:rPr>
              <a:t>Optimizar la página de destino:</a:t>
            </a:r>
            <a:r>
              <a:rPr lang="es-MX" sz="1400" dirty="0">
                <a:solidFill>
                  <a:schemeClr val="tx1"/>
                </a:solidFill>
              </a:rPr>
              <a:t> asegurar que sea rápida, relevante y con una experiencia de usuario clara.</a:t>
            </a:r>
          </a:p>
          <a:p>
            <a:r>
              <a:rPr lang="es-MX" sz="1400" b="1" dirty="0">
                <a:solidFill>
                  <a:schemeClr val="tx1"/>
                </a:solidFill>
              </a:rPr>
              <a:t>Monitorear el </a:t>
            </a:r>
            <a:r>
              <a:rPr lang="es-MX" sz="1400" b="1" dirty="0" err="1">
                <a:solidFill>
                  <a:schemeClr val="tx1"/>
                </a:solidFill>
              </a:rPr>
              <a:t>Quality</a:t>
            </a:r>
            <a:r>
              <a:rPr lang="es-MX" sz="1400" b="1" dirty="0">
                <a:solidFill>
                  <a:schemeClr val="tx1"/>
                </a:solidFill>
              </a:rPr>
              <a:t> Score:</a:t>
            </a:r>
            <a:r>
              <a:rPr lang="es-MX" sz="1400" dirty="0">
                <a:solidFill>
                  <a:schemeClr val="tx1"/>
                </a:solidFill>
              </a:rPr>
              <a:t> mantener coherencia entre palabra clave, anuncio y destino.</a:t>
            </a:r>
          </a:p>
          <a:p>
            <a:pPr marL="114300" indent="0">
              <a:buNone/>
            </a:pPr>
            <a:r>
              <a:rPr lang="es-MX" sz="1400" dirty="0">
                <a:solidFill>
                  <a:schemeClr val="tx1"/>
                </a:solidFill>
              </a:rPr>
              <a:t>El marketing digital se basa en la mejora continua, por lo que la capacidad de analizar resultados y aplicar ajustes estratégicos es una de las competencias más valoradas en los profesionales del área.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1090552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F2CC3BF-133E-C68F-AE26-5CBFD4F7695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4B52F7D-EE05-244A-C9F4-6F590B1DBF5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F64F587-1862-CECE-F37E-519C0C8AA555}"/>
              </a:ext>
            </a:extLst>
          </p:cNvPr>
          <p:cNvSpPr>
            <a:spLocks noGrp="1"/>
          </p:cNvSpPr>
          <p:nvPr>
            <p:ph type="title"/>
          </p:nvPr>
        </p:nvSpPr>
        <p:spPr>
          <a:xfrm>
            <a:off x="367580" y="0"/>
            <a:ext cx="8520600" cy="572700"/>
          </a:xfrm>
        </p:spPr>
        <p:txBody>
          <a:bodyPr>
            <a:normAutofit fontScale="90000"/>
          </a:bodyPr>
          <a:lstStyle/>
          <a:p>
            <a:pPr algn="ctr"/>
            <a:r>
              <a:rPr lang="es-MX" dirty="0"/>
              <a:t>Medición y optimización de anuncios</a:t>
            </a:r>
            <a:endParaRPr lang="es-GT" dirty="0"/>
          </a:p>
        </p:txBody>
      </p:sp>
      <p:sp>
        <p:nvSpPr>
          <p:cNvPr id="3" name="Marcador de texto 2">
            <a:extLst>
              <a:ext uri="{FF2B5EF4-FFF2-40B4-BE49-F238E27FC236}">
                <a16:creationId xmlns:a16="http://schemas.microsoft.com/office/drawing/2014/main" id="{5DE8CF56-A5E9-7434-F3E5-FDA0EA1C1D56}"/>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Indicadores clave de desempeño (CTR, CPC, CPA, ROI, ROAS)</a:t>
            </a:r>
          </a:p>
          <a:p>
            <a:pPr marL="114300" indent="0">
              <a:buNone/>
            </a:pPr>
            <a:endParaRPr lang="es-MX" sz="1400" dirty="0">
              <a:solidFill>
                <a:schemeClr val="tx1"/>
              </a:solidFill>
            </a:endParaRPr>
          </a:p>
          <a:p>
            <a:pPr marL="114300" indent="0">
              <a:buNone/>
            </a:pPr>
            <a:r>
              <a:rPr lang="es-MX" sz="1400" dirty="0">
                <a:solidFill>
                  <a:schemeClr val="tx1"/>
                </a:solidFill>
              </a:rPr>
              <a:t>En marketing digital, los indicadores clave de desempeño (</a:t>
            </a:r>
            <a:r>
              <a:rPr lang="es-MX" sz="1400" dirty="0" err="1">
                <a:solidFill>
                  <a:schemeClr val="tx1"/>
                </a:solidFill>
              </a:rPr>
              <a:t>KPIs</a:t>
            </a:r>
            <a:r>
              <a:rPr lang="es-MX" sz="1400" dirty="0">
                <a:solidFill>
                  <a:schemeClr val="tx1"/>
                </a:solidFill>
              </a:rPr>
              <a:t>) son métricas fundamentales para evaluar la efectividad de una campaña publicitaria. Permiten medir el retorno de inversión, la eficiencia del gasto y la capacidad de conversión de los anuncios. Los más utilizados son:</a:t>
            </a:r>
          </a:p>
          <a:p>
            <a:r>
              <a:rPr lang="es-MX" sz="1400" b="1" dirty="0">
                <a:solidFill>
                  <a:schemeClr val="tx1"/>
                </a:solidFill>
              </a:rPr>
              <a:t>CTR (</a:t>
            </a:r>
            <a:r>
              <a:rPr lang="es-MX" sz="1400" b="1" dirty="0" err="1">
                <a:solidFill>
                  <a:schemeClr val="tx1"/>
                </a:solidFill>
              </a:rPr>
              <a:t>Click</a:t>
            </a:r>
            <a:r>
              <a:rPr lang="es-MX" sz="1400" b="1" dirty="0">
                <a:solidFill>
                  <a:schemeClr val="tx1"/>
                </a:solidFill>
              </a:rPr>
              <a:t> </a:t>
            </a:r>
            <a:r>
              <a:rPr lang="es-MX" sz="1400" b="1" dirty="0" err="1">
                <a:solidFill>
                  <a:schemeClr val="tx1"/>
                </a:solidFill>
              </a:rPr>
              <a:t>Through</a:t>
            </a:r>
            <a:r>
              <a:rPr lang="es-MX" sz="1400" b="1" dirty="0">
                <a:solidFill>
                  <a:schemeClr val="tx1"/>
                </a:solidFill>
              </a:rPr>
              <a:t> </a:t>
            </a:r>
            <a:r>
              <a:rPr lang="es-MX" sz="1400" b="1" dirty="0" err="1">
                <a:solidFill>
                  <a:schemeClr val="tx1"/>
                </a:solidFill>
              </a:rPr>
              <a:t>Rate</a:t>
            </a:r>
            <a:r>
              <a:rPr lang="es-MX" sz="1400" b="1" dirty="0">
                <a:solidFill>
                  <a:schemeClr val="tx1"/>
                </a:solidFill>
              </a:rPr>
              <a:t>)</a:t>
            </a:r>
            <a:r>
              <a:rPr lang="es-MX" sz="1400" dirty="0">
                <a:solidFill>
                  <a:schemeClr val="tx1"/>
                </a:solidFill>
              </a:rPr>
              <a:t>: mide el porcentaje de usuarios que hacen clic en un anuncio respecto al número de veces que se muestra. Indica la relevancia del mensaje publicitario.</a:t>
            </a:r>
          </a:p>
          <a:p>
            <a:r>
              <a:rPr lang="es-MX" sz="1400" b="1" dirty="0">
                <a:solidFill>
                  <a:schemeClr val="tx1"/>
                </a:solidFill>
              </a:rPr>
              <a:t>CPC (Costo Por Clic)</a:t>
            </a:r>
            <a:r>
              <a:rPr lang="es-MX" sz="1400" dirty="0">
                <a:solidFill>
                  <a:schemeClr val="tx1"/>
                </a:solidFill>
              </a:rPr>
              <a:t>: representa el costo que se paga por cada clic recibido, siendo un indicador clave de eficiencia económica.</a:t>
            </a:r>
          </a:p>
          <a:p>
            <a:r>
              <a:rPr lang="es-MX" sz="1400" b="1" dirty="0">
                <a:solidFill>
                  <a:schemeClr val="tx1"/>
                </a:solidFill>
              </a:rPr>
              <a:t>CPA (Costo Por Adquisición)</a:t>
            </a:r>
            <a:r>
              <a:rPr lang="es-MX" sz="1400" dirty="0">
                <a:solidFill>
                  <a:schemeClr val="tx1"/>
                </a:solidFill>
              </a:rPr>
              <a:t>: evalúa cuánto cuesta conseguir una conversión o cliente nuevo.</a:t>
            </a:r>
          </a:p>
          <a:p>
            <a:r>
              <a:rPr lang="es-MX" sz="1400" b="1" dirty="0">
                <a:solidFill>
                  <a:schemeClr val="tx1"/>
                </a:solidFill>
              </a:rPr>
              <a:t>ROI (Retorno de Inversión)</a:t>
            </a:r>
            <a:r>
              <a:rPr lang="es-MX" sz="1400" dirty="0">
                <a:solidFill>
                  <a:schemeClr val="tx1"/>
                </a:solidFill>
              </a:rPr>
              <a:t>: mide la rentabilidad general de la inversión publicitaria.</a:t>
            </a:r>
          </a:p>
          <a:p>
            <a:r>
              <a:rPr lang="es-MX" sz="1400" b="1" dirty="0">
                <a:solidFill>
                  <a:schemeClr val="tx1"/>
                </a:solidFill>
              </a:rPr>
              <a:t>ROAS (Retorno de Inversión en Publicidad)</a:t>
            </a:r>
            <a:r>
              <a:rPr lang="es-MX" sz="1400" dirty="0">
                <a:solidFill>
                  <a:schemeClr val="tx1"/>
                </a:solidFill>
              </a:rPr>
              <a:t>: se centra en los ingresos generados específicamente por las campañas digitales.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943076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1AACBDE6-815E-1EC1-C71E-DD41AC15DBC0}"/>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E9D951D-E525-28A5-917B-226D0C2EAA37}"/>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E8F0D771-354E-3C8B-AA99-13F89A3C03C1}"/>
              </a:ext>
            </a:extLst>
          </p:cNvPr>
          <p:cNvSpPr>
            <a:spLocks noGrp="1"/>
          </p:cNvSpPr>
          <p:nvPr>
            <p:ph type="title"/>
          </p:nvPr>
        </p:nvSpPr>
        <p:spPr>
          <a:xfrm>
            <a:off x="367580" y="0"/>
            <a:ext cx="8520600" cy="572700"/>
          </a:xfrm>
        </p:spPr>
        <p:txBody>
          <a:bodyPr>
            <a:normAutofit fontScale="90000"/>
          </a:bodyPr>
          <a:lstStyle/>
          <a:p>
            <a:pPr algn="ctr"/>
            <a:r>
              <a:rPr lang="es-MX" dirty="0"/>
              <a:t>Medición y optimización de anuncios</a:t>
            </a:r>
            <a:endParaRPr lang="es-GT" dirty="0"/>
          </a:p>
        </p:txBody>
      </p:sp>
      <p:sp>
        <p:nvSpPr>
          <p:cNvPr id="3" name="Marcador de texto 2">
            <a:extLst>
              <a:ext uri="{FF2B5EF4-FFF2-40B4-BE49-F238E27FC236}">
                <a16:creationId xmlns:a16="http://schemas.microsoft.com/office/drawing/2014/main" id="{2FB6DCA9-BCA6-1836-B2DC-220C99D332C0}"/>
              </a:ext>
            </a:extLst>
          </p:cNvPr>
          <p:cNvSpPr>
            <a:spLocks noGrp="1"/>
          </p:cNvSpPr>
          <p:nvPr>
            <p:ph type="body" idx="1"/>
          </p:nvPr>
        </p:nvSpPr>
        <p:spPr>
          <a:xfrm>
            <a:off x="311700" y="777240"/>
            <a:ext cx="8520600" cy="4236195"/>
          </a:xfrm>
        </p:spPr>
        <p:txBody>
          <a:bodyPr>
            <a:normAutofit fontScale="92500" lnSpcReduction="20000"/>
          </a:bodyPr>
          <a:lstStyle/>
          <a:p>
            <a:pPr marL="114300" indent="0">
              <a:buNone/>
            </a:pPr>
            <a:r>
              <a:rPr lang="es-MX" b="1" dirty="0">
                <a:solidFill>
                  <a:schemeClr val="tx1"/>
                </a:solidFill>
              </a:rPr>
              <a:t>Configuración de conversiones y eventos en Google </a:t>
            </a:r>
            <a:r>
              <a:rPr lang="es-MX" b="1" dirty="0" err="1">
                <a:solidFill>
                  <a:schemeClr val="tx1"/>
                </a:solidFill>
              </a:rPr>
              <a:t>Analytics</a:t>
            </a:r>
            <a:r>
              <a:rPr lang="es-MX" b="1" dirty="0">
                <a:solidFill>
                  <a:schemeClr val="tx1"/>
                </a:solidFill>
              </a:rPr>
              <a:t> o Meta Pixel</a:t>
            </a:r>
          </a:p>
          <a:p>
            <a:pPr marL="114300" indent="0">
              <a:buNone/>
            </a:pPr>
            <a:endParaRPr lang="es-MX" dirty="0">
              <a:solidFill>
                <a:schemeClr val="tx1"/>
              </a:solidFill>
            </a:endParaRPr>
          </a:p>
          <a:p>
            <a:pPr marL="114300" indent="0">
              <a:buNone/>
            </a:pPr>
            <a:r>
              <a:rPr lang="es-MX" dirty="0">
                <a:solidFill>
                  <a:schemeClr val="tx1"/>
                </a:solidFill>
              </a:rPr>
              <a:t>La medición de conversiones es esencial para determinar si los objetivos de una campaña se están cumpliendo. En marketing digital, las </a:t>
            </a:r>
            <a:r>
              <a:rPr lang="es-MX" b="1" dirty="0">
                <a:solidFill>
                  <a:schemeClr val="tx1"/>
                </a:solidFill>
              </a:rPr>
              <a:t>conversiones</a:t>
            </a:r>
            <a:r>
              <a:rPr lang="es-MX" dirty="0">
                <a:solidFill>
                  <a:schemeClr val="tx1"/>
                </a:solidFill>
              </a:rPr>
              <a:t> pueden representar acciones como completar un formulario, realizar una compra o registrarse en una lista de correos.</a:t>
            </a:r>
          </a:p>
          <a:p>
            <a:pPr marL="114300" indent="0">
              <a:buNone/>
            </a:pPr>
            <a:endParaRPr lang="es-MX" dirty="0">
              <a:solidFill>
                <a:schemeClr val="tx1"/>
              </a:solidFill>
            </a:endParaRPr>
          </a:p>
          <a:p>
            <a:pPr marL="114300" indent="0">
              <a:buNone/>
            </a:pPr>
            <a:r>
              <a:rPr lang="es-MX" dirty="0">
                <a:solidFill>
                  <a:schemeClr val="tx1"/>
                </a:solidFill>
              </a:rPr>
              <a:t>Herramientas como </a:t>
            </a:r>
            <a:r>
              <a:rPr lang="es-MX" b="1" dirty="0">
                <a:solidFill>
                  <a:schemeClr val="tx1"/>
                </a:solidFill>
              </a:rPr>
              <a:t>Google </a:t>
            </a:r>
            <a:r>
              <a:rPr lang="es-MX" b="1" dirty="0" err="1">
                <a:solidFill>
                  <a:schemeClr val="tx1"/>
                </a:solidFill>
              </a:rPr>
              <a:t>Analytics</a:t>
            </a:r>
            <a:r>
              <a:rPr lang="es-MX" dirty="0">
                <a:solidFill>
                  <a:schemeClr val="tx1"/>
                </a:solidFill>
              </a:rPr>
              <a:t> y </a:t>
            </a:r>
            <a:r>
              <a:rPr lang="es-MX" b="1" dirty="0">
                <a:solidFill>
                  <a:schemeClr val="tx1"/>
                </a:solidFill>
              </a:rPr>
              <a:t>Meta Pixel</a:t>
            </a:r>
            <a:r>
              <a:rPr lang="es-MX" dirty="0">
                <a:solidFill>
                  <a:schemeClr val="tx1"/>
                </a:solidFill>
              </a:rPr>
              <a:t> permiten rastrear estas acciones mediante la instalación de fragmentos de código en el sitio web o en las plataformas publicitarias. Estas herramientas recopilan datos sobre:</a:t>
            </a:r>
          </a:p>
          <a:p>
            <a:pPr marL="114300" indent="0">
              <a:buNone/>
            </a:pPr>
            <a:endParaRPr lang="es-MX" dirty="0">
              <a:solidFill>
                <a:schemeClr val="tx1"/>
              </a:solidFill>
            </a:endParaRPr>
          </a:p>
          <a:p>
            <a:r>
              <a:rPr lang="es-MX" dirty="0">
                <a:solidFill>
                  <a:schemeClr val="tx1"/>
                </a:solidFill>
              </a:rPr>
              <a:t>Número de usuarios que completan una acción deseada.</a:t>
            </a:r>
          </a:p>
          <a:p>
            <a:r>
              <a:rPr lang="es-MX" dirty="0">
                <a:solidFill>
                  <a:schemeClr val="tx1"/>
                </a:solidFill>
              </a:rPr>
              <a:t>Fuentes de tráfico (búsqueda orgánica, anuncios, redes sociales, etc.).</a:t>
            </a:r>
          </a:p>
          <a:p>
            <a:r>
              <a:rPr lang="es-MX" dirty="0">
                <a:solidFill>
                  <a:schemeClr val="tx1"/>
                </a:solidFill>
              </a:rPr>
              <a:t>Comportamiento previo a la conversión (páginas visitadas, tiempo de sesión, dispositivos utilizados).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498167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13F34A15-DA74-1B8E-6C40-B95D0B95A9AF}"/>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B42E7451-1838-ED9C-F94B-D42E5194961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8BF05A06-CF57-D898-4A7C-BF69C7547EB9}"/>
              </a:ext>
            </a:extLst>
          </p:cNvPr>
          <p:cNvSpPr>
            <a:spLocks noGrp="1"/>
          </p:cNvSpPr>
          <p:nvPr>
            <p:ph type="title"/>
          </p:nvPr>
        </p:nvSpPr>
        <p:spPr>
          <a:xfrm>
            <a:off x="367580" y="0"/>
            <a:ext cx="8520600" cy="572700"/>
          </a:xfrm>
        </p:spPr>
        <p:txBody>
          <a:bodyPr>
            <a:normAutofit fontScale="90000"/>
          </a:bodyPr>
          <a:lstStyle/>
          <a:p>
            <a:pPr algn="ctr"/>
            <a:r>
              <a:rPr lang="es-MX" dirty="0"/>
              <a:t>Medición y optimización de anuncios</a:t>
            </a:r>
            <a:endParaRPr lang="es-GT" dirty="0"/>
          </a:p>
        </p:txBody>
      </p:sp>
      <p:sp>
        <p:nvSpPr>
          <p:cNvPr id="3" name="Marcador de texto 2">
            <a:extLst>
              <a:ext uri="{FF2B5EF4-FFF2-40B4-BE49-F238E27FC236}">
                <a16:creationId xmlns:a16="http://schemas.microsoft.com/office/drawing/2014/main" id="{F8D183F3-8D6A-1A8B-706C-D94437CF85E3}"/>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A/B </a:t>
            </a:r>
            <a:r>
              <a:rPr lang="es-MX" sz="1400" b="1" dirty="0" err="1">
                <a:solidFill>
                  <a:schemeClr val="tx1"/>
                </a:solidFill>
              </a:rPr>
              <a:t>Testing</a:t>
            </a:r>
            <a:r>
              <a:rPr lang="es-MX" sz="1400" b="1" dirty="0">
                <a:solidFill>
                  <a:schemeClr val="tx1"/>
                </a:solidFill>
              </a:rPr>
              <a:t> y análisis comparativo de anuncios</a:t>
            </a:r>
          </a:p>
          <a:p>
            <a:pPr marL="114300" indent="0">
              <a:buNone/>
            </a:pPr>
            <a:endParaRPr lang="es-MX" sz="1400" dirty="0">
              <a:solidFill>
                <a:schemeClr val="tx1"/>
              </a:solidFill>
            </a:endParaRPr>
          </a:p>
          <a:p>
            <a:pPr marL="114300" indent="0">
              <a:buNone/>
            </a:pPr>
            <a:r>
              <a:rPr lang="es-MX" sz="1400" dirty="0">
                <a:solidFill>
                  <a:schemeClr val="tx1"/>
                </a:solidFill>
              </a:rPr>
              <a:t>El </a:t>
            </a:r>
            <a:r>
              <a:rPr lang="es-MX" sz="1400" b="1" dirty="0">
                <a:solidFill>
                  <a:schemeClr val="tx1"/>
                </a:solidFill>
              </a:rPr>
              <a:t>A/B </a:t>
            </a:r>
            <a:r>
              <a:rPr lang="es-MX" sz="1400" b="1" dirty="0" err="1">
                <a:solidFill>
                  <a:schemeClr val="tx1"/>
                </a:solidFill>
              </a:rPr>
              <a:t>Testing</a:t>
            </a:r>
            <a:r>
              <a:rPr lang="es-MX" sz="1400" dirty="0">
                <a:solidFill>
                  <a:schemeClr val="tx1"/>
                </a:solidFill>
              </a:rPr>
              <a:t> es una técnica que consiste en comparar dos versiones de un anuncio, una página o un contenido para identificar cuál genera mejores resultados. Esta práctica es fundamental en marketing digital, ya que permite basar las decisiones en evidencia empírica y no en suposiciones.</a:t>
            </a:r>
          </a:p>
          <a:p>
            <a:pPr marL="114300" indent="0">
              <a:buNone/>
            </a:pPr>
            <a:endParaRPr lang="es-MX" sz="1400" dirty="0">
              <a:solidFill>
                <a:schemeClr val="tx1"/>
              </a:solidFill>
            </a:endParaRPr>
          </a:p>
          <a:p>
            <a:pPr marL="114300" indent="0">
              <a:buNone/>
            </a:pPr>
            <a:r>
              <a:rPr lang="es-MX" sz="1400" dirty="0">
                <a:solidFill>
                  <a:schemeClr val="tx1"/>
                </a:solidFill>
              </a:rPr>
              <a:t>Por ejemplo, se pueden probar variaciones en:</a:t>
            </a:r>
          </a:p>
          <a:p>
            <a:r>
              <a:rPr lang="es-MX" sz="1400" dirty="0">
                <a:solidFill>
                  <a:schemeClr val="tx1"/>
                </a:solidFill>
              </a:rPr>
              <a:t>El texto del anuncio (</a:t>
            </a:r>
            <a:r>
              <a:rPr lang="es-MX" sz="1400" dirty="0" err="1">
                <a:solidFill>
                  <a:schemeClr val="tx1"/>
                </a:solidFill>
              </a:rPr>
              <a:t>copywriting</a:t>
            </a:r>
            <a:r>
              <a:rPr lang="es-MX" sz="1400" dirty="0">
                <a:solidFill>
                  <a:schemeClr val="tx1"/>
                </a:solidFill>
              </a:rPr>
              <a:t>).</a:t>
            </a:r>
          </a:p>
          <a:p>
            <a:r>
              <a:rPr lang="es-MX" sz="1400" dirty="0">
                <a:solidFill>
                  <a:schemeClr val="tx1"/>
                </a:solidFill>
              </a:rPr>
              <a:t>Los títulos o llamados a la acción.</a:t>
            </a:r>
          </a:p>
          <a:p>
            <a:r>
              <a:rPr lang="es-MX" sz="1400" dirty="0">
                <a:solidFill>
                  <a:schemeClr val="tx1"/>
                </a:solidFill>
              </a:rPr>
              <a:t>Las imágenes o videos utilizados.</a:t>
            </a:r>
          </a:p>
          <a:p>
            <a:r>
              <a:rPr lang="es-MX" sz="1400" dirty="0">
                <a:solidFill>
                  <a:schemeClr val="tx1"/>
                </a:solidFill>
              </a:rPr>
              <a:t>El público objetivo o el horario de publicación.</a:t>
            </a:r>
          </a:p>
          <a:p>
            <a:pPr marL="114300" indent="0">
              <a:buNone/>
            </a:pPr>
            <a:endParaRPr lang="es-MX" sz="1400" dirty="0">
              <a:solidFill>
                <a:schemeClr val="tx1"/>
              </a:solidFill>
            </a:endParaRPr>
          </a:p>
          <a:p>
            <a:pPr marL="114300" indent="0">
              <a:buNone/>
            </a:pPr>
            <a:r>
              <a:rPr lang="es-MX" sz="1400" dirty="0">
                <a:solidFill>
                  <a:schemeClr val="tx1"/>
                </a:solidFill>
              </a:rPr>
              <a:t>Una vez obtenidos los resultados, se analizan las métricas (CTR, conversiones, rebotes) para determinar qué versión es más efectiva.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461816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BC0894B2-18FC-A9E0-4A49-3D6D93751B2D}"/>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4389FBA1-97B6-800C-EEA3-70304BA6F44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AED4831D-3357-00B2-B35D-0F68FEC5D459}"/>
              </a:ext>
            </a:extLst>
          </p:cNvPr>
          <p:cNvSpPr>
            <a:spLocks noGrp="1"/>
          </p:cNvSpPr>
          <p:nvPr>
            <p:ph type="title"/>
          </p:nvPr>
        </p:nvSpPr>
        <p:spPr>
          <a:xfrm>
            <a:off x="367580" y="0"/>
            <a:ext cx="8520600" cy="572700"/>
          </a:xfrm>
        </p:spPr>
        <p:txBody>
          <a:bodyPr>
            <a:normAutofit fontScale="90000"/>
          </a:bodyPr>
          <a:lstStyle/>
          <a:p>
            <a:pPr algn="ctr"/>
            <a:r>
              <a:rPr lang="es-MX" dirty="0"/>
              <a:t>Medición y optimización de anuncios</a:t>
            </a:r>
            <a:endParaRPr lang="es-GT" dirty="0"/>
          </a:p>
        </p:txBody>
      </p:sp>
      <p:sp>
        <p:nvSpPr>
          <p:cNvPr id="3" name="Marcador de texto 2">
            <a:extLst>
              <a:ext uri="{FF2B5EF4-FFF2-40B4-BE49-F238E27FC236}">
                <a16:creationId xmlns:a16="http://schemas.microsoft.com/office/drawing/2014/main" id="{947B0B4B-3D1D-3E77-597F-CCCBCB7F4100}"/>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Ajuste de presupuesto y segmentación según resultados</a:t>
            </a:r>
          </a:p>
          <a:p>
            <a:pPr marL="114300" indent="0">
              <a:buNone/>
            </a:pPr>
            <a:endParaRPr lang="es-MX" sz="1400" b="1" dirty="0">
              <a:solidFill>
                <a:schemeClr val="tx1"/>
              </a:solidFill>
            </a:endParaRPr>
          </a:p>
          <a:p>
            <a:pPr marL="114300" indent="0">
              <a:buNone/>
            </a:pPr>
            <a:r>
              <a:rPr lang="es-MX" sz="1400" dirty="0">
                <a:solidFill>
                  <a:schemeClr val="tx1"/>
                </a:solidFill>
              </a:rPr>
              <a:t>El manejo del presupuesto en publicidad digital requiere flexibilidad y análisis constante. A medida que las campañas avanzan, los resultados permiten identificar qué audiencias, ubicaciones o tipos de anuncios generan un mejor retorno.</a:t>
            </a:r>
          </a:p>
          <a:p>
            <a:pPr marL="114300" indent="0">
              <a:buNone/>
            </a:pPr>
            <a:endParaRPr lang="es-MX" sz="1400" dirty="0">
              <a:solidFill>
                <a:schemeClr val="tx1"/>
              </a:solidFill>
            </a:endParaRPr>
          </a:p>
          <a:p>
            <a:pPr marL="114300" indent="0">
              <a:buNone/>
            </a:pPr>
            <a:r>
              <a:rPr lang="es-MX" sz="1400" dirty="0">
                <a:solidFill>
                  <a:schemeClr val="tx1"/>
                </a:solidFill>
              </a:rPr>
              <a:t>Las estrategias más comunes de ajuste incluyen:</a:t>
            </a:r>
          </a:p>
          <a:p>
            <a:pPr marL="114300" indent="0">
              <a:buNone/>
            </a:pPr>
            <a:endParaRPr lang="es-MX" sz="1400" dirty="0">
              <a:solidFill>
                <a:schemeClr val="tx1"/>
              </a:solidFill>
            </a:endParaRPr>
          </a:p>
          <a:p>
            <a:r>
              <a:rPr lang="es-MX" sz="1400" b="1" dirty="0">
                <a:solidFill>
                  <a:schemeClr val="tx1"/>
                </a:solidFill>
              </a:rPr>
              <a:t>Redistribución del presupuesto</a:t>
            </a:r>
            <a:r>
              <a:rPr lang="es-MX" sz="1400" dirty="0">
                <a:solidFill>
                  <a:schemeClr val="tx1"/>
                </a:solidFill>
              </a:rPr>
              <a:t> hacia los canales o anuncios con mejor rendimiento.</a:t>
            </a:r>
          </a:p>
          <a:p>
            <a:r>
              <a:rPr lang="es-MX" sz="1400" b="1" dirty="0">
                <a:solidFill>
                  <a:schemeClr val="tx1"/>
                </a:solidFill>
              </a:rPr>
              <a:t>Pausar campañas ineficientes</a:t>
            </a:r>
            <a:r>
              <a:rPr lang="es-MX" sz="1400" dirty="0">
                <a:solidFill>
                  <a:schemeClr val="tx1"/>
                </a:solidFill>
              </a:rPr>
              <a:t> para evitar desperdicio de recursos.</a:t>
            </a:r>
          </a:p>
          <a:p>
            <a:r>
              <a:rPr lang="es-MX" sz="1400" b="1" dirty="0">
                <a:solidFill>
                  <a:schemeClr val="tx1"/>
                </a:solidFill>
              </a:rPr>
              <a:t>Refinar la segmentación</a:t>
            </a:r>
            <a:r>
              <a:rPr lang="es-MX" sz="1400" dirty="0">
                <a:solidFill>
                  <a:schemeClr val="tx1"/>
                </a:solidFill>
              </a:rPr>
              <a:t>, ajustando variables como edad, ubicación, intereses o comportamiento del usuario.</a:t>
            </a:r>
          </a:p>
          <a:p>
            <a:r>
              <a:rPr lang="es-MX" sz="1400" b="1" dirty="0">
                <a:solidFill>
                  <a:schemeClr val="tx1"/>
                </a:solidFill>
              </a:rPr>
              <a:t>Aumentar la inversión progresiva</a:t>
            </a:r>
            <a:r>
              <a:rPr lang="es-MX" sz="1400" dirty="0">
                <a:solidFill>
                  <a:schemeClr val="tx1"/>
                </a:solidFill>
              </a:rPr>
              <a:t> en los grupos con mayor conversión o ROI.</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074458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2148CB4-20C2-4052-5846-975BA100BB5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95489954-993E-3E0C-1AE8-52526B472E53}"/>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FCB6A95-7D62-655A-9CA3-FA8FF3F49679}"/>
              </a:ext>
            </a:extLst>
          </p:cNvPr>
          <p:cNvSpPr>
            <a:spLocks noGrp="1"/>
          </p:cNvSpPr>
          <p:nvPr>
            <p:ph type="title"/>
          </p:nvPr>
        </p:nvSpPr>
        <p:spPr>
          <a:xfrm>
            <a:off x="367580" y="0"/>
            <a:ext cx="8520600" cy="572700"/>
          </a:xfrm>
        </p:spPr>
        <p:txBody>
          <a:bodyPr>
            <a:normAutofit fontScale="90000"/>
          </a:bodyPr>
          <a:lstStyle/>
          <a:p>
            <a:pPr algn="ctr"/>
            <a:r>
              <a:rPr lang="es-MX" dirty="0"/>
              <a:t>Medición y optimización de anuncios</a:t>
            </a:r>
            <a:endParaRPr lang="es-GT" dirty="0"/>
          </a:p>
        </p:txBody>
      </p:sp>
      <p:sp>
        <p:nvSpPr>
          <p:cNvPr id="3" name="Marcador de texto 2">
            <a:extLst>
              <a:ext uri="{FF2B5EF4-FFF2-40B4-BE49-F238E27FC236}">
                <a16:creationId xmlns:a16="http://schemas.microsoft.com/office/drawing/2014/main" id="{FD12F504-14FB-B217-03E8-026D4E6ABD16}"/>
              </a:ext>
            </a:extLst>
          </p:cNvPr>
          <p:cNvSpPr>
            <a:spLocks noGrp="1"/>
          </p:cNvSpPr>
          <p:nvPr>
            <p:ph type="body" idx="1"/>
          </p:nvPr>
        </p:nvSpPr>
        <p:spPr>
          <a:xfrm>
            <a:off x="311700" y="777240"/>
            <a:ext cx="8520600" cy="4236195"/>
          </a:xfrm>
        </p:spPr>
        <p:txBody>
          <a:bodyPr>
            <a:normAutofit/>
          </a:bodyPr>
          <a:lstStyle/>
          <a:p>
            <a:pPr marL="114300" indent="0">
              <a:buNone/>
            </a:pPr>
            <a:r>
              <a:rPr lang="es-MX" sz="1400" b="1" dirty="0">
                <a:solidFill>
                  <a:schemeClr val="tx1"/>
                </a:solidFill>
              </a:rPr>
              <a:t>Elaboración de reportes y toma de decisiones basada en datos</a:t>
            </a:r>
          </a:p>
          <a:p>
            <a:pPr marL="114300" indent="0">
              <a:buNone/>
            </a:pPr>
            <a:endParaRPr lang="es-MX" sz="1400" dirty="0">
              <a:solidFill>
                <a:schemeClr val="tx1"/>
              </a:solidFill>
            </a:endParaRPr>
          </a:p>
          <a:p>
            <a:pPr marL="114300" indent="0">
              <a:buNone/>
            </a:pPr>
            <a:r>
              <a:rPr lang="es-MX" sz="1400" dirty="0">
                <a:solidFill>
                  <a:schemeClr val="tx1"/>
                </a:solidFill>
              </a:rPr>
              <a:t>El último paso en la medición y optimización de anuncios es la elaboración de reportes claros y útiles para la toma de decisiones. Los reportes deben presentar los resultados de manera visual y comprensible, destacando los indicadores más relevantes y las tendencias observadas.</a:t>
            </a:r>
          </a:p>
          <a:p>
            <a:pPr marL="114300" indent="0">
              <a:buNone/>
            </a:pPr>
            <a:endParaRPr lang="es-MX" sz="1400" dirty="0">
              <a:solidFill>
                <a:schemeClr val="tx1"/>
              </a:solidFill>
            </a:endParaRPr>
          </a:p>
          <a:p>
            <a:pPr marL="114300" indent="0">
              <a:buNone/>
            </a:pPr>
            <a:r>
              <a:rPr lang="es-MX" sz="1400" dirty="0">
                <a:solidFill>
                  <a:schemeClr val="tx1"/>
                </a:solidFill>
              </a:rPr>
              <a:t>Un reporte efectivo incluye:</a:t>
            </a:r>
          </a:p>
          <a:p>
            <a:r>
              <a:rPr lang="es-MX" sz="1400" dirty="0">
                <a:solidFill>
                  <a:schemeClr val="tx1"/>
                </a:solidFill>
              </a:rPr>
              <a:t>Resultados de </a:t>
            </a:r>
            <a:r>
              <a:rPr lang="es-MX" sz="1400" dirty="0" err="1">
                <a:solidFill>
                  <a:schemeClr val="tx1"/>
                </a:solidFill>
              </a:rPr>
              <a:t>KPIs</a:t>
            </a:r>
            <a:r>
              <a:rPr lang="es-MX" sz="1400" dirty="0">
                <a:solidFill>
                  <a:schemeClr val="tx1"/>
                </a:solidFill>
              </a:rPr>
              <a:t> clave (CTR, CPC, CPA, ROI, ROAS).</a:t>
            </a:r>
          </a:p>
          <a:p>
            <a:r>
              <a:rPr lang="es-MX" sz="1400" dirty="0">
                <a:solidFill>
                  <a:schemeClr val="tx1"/>
                </a:solidFill>
              </a:rPr>
              <a:t>Análisis comparativo entre periodos o campañas.</a:t>
            </a:r>
          </a:p>
          <a:p>
            <a:r>
              <a:rPr lang="es-MX" sz="1400" dirty="0">
                <a:solidFill>
                  <a:schemeClr val="tx1"/>
                </a:solidFill>
              </a:rPr>
              <a:t>Gráficas e interpretaciones de desempeño.</a:t>
            </a:r>
          </a:p>
          <a:p>
            <a:r>
              <a:rPr lang="es-MX" sz="1400" dirty="0">
                <a:solidFill>
                  <a:schemeClr val="tx1"/>
                </a:solidFill>
              </a:rPr>
              <a:t>Recomendaciones estratégicas basadas en los datos obtenidos.</a:t>
            </a:r>
          </a:p>
          <a:p>
            <a:pPr marL="114300" indent="0">
              <a:buNone/>
            </a:pPr>
            <a:endParaRPr lang="es-MX" sz="1400" dirty="0">
              <a:solidFill>
                <a:schemeClr val="tx1"/>
              </a:solidFill>
            </a:endParaRPr>
          </a:p>
          <a:p>
            <a:pPr marL="114300" indent="0">
              <a:buNone/>
            </a:pPr>
            <a:r>
              <a:rPr lang="es-MX" sz="1400" dirty="0">
                <a:solidFill>
                  <a:schemeClr val="tx1"/>
                </a:solidFill>
              </a:rPr>
              <a:t>La toma de decisiones basada en datos (data-</a:t>
            </a:r>
            <a:r>
              <a:rPr lang="es-MX" sz="1400" dirty="0" err="1">
                <a:solidFill>
                  <a:schemeClr val="tx1"/>
                </a:solidFill>
              </a:rPr>
              <a:t>driven</a:t>
            </a:r>
            <a:r>
              <a:rPr lang="es-MX" sz="1400" dirty="0">
                <a:solidFill>
                  <a:schemeClr val="tx1"/>
                </a:solidFill>
              </a:rPr>
              <a:t> </a:t>
            </a:r>
            <a:r>
              <a:rPr lang="es-MX" sz="1400" dirty="0" err="1">
                <a:solidFill>
                  <a:schemeClr val="tx1"/>
                </a:solidFill>
              </a:rPr>
              <a:t>decision</a:t>
            </a:r>
            <a:r>
              <a:rPr lang="es-MX" sz="1400" dirty="0">
                <a:solidFill>
                  <a:schemeClr val="tx1"/>
                </a:solidFill>
              </a:rPr>
              <a:t> </a:t>
            </a:r>
            <a:r>
              <a:rPr lang="es-MX" sz="1400" dirty="0" err="1">
                <a:solidFill>
                  <a:schemeClr val="tx1"/>
                </a:solidFill>
              </a:rPr>
              <a:t>making</a:t>
            </a:r>
            <a:r>
              <a:rPr lang="es-MX" sz="1400" dirty="0">
                <a:solidFill>
                  <a:schemeClr val="tx1"/>
                </a:solidFill>
              </a:rPr>
              <a:t>) permite que las estrategias de marketing digital evolucionen de manera lógica y sustentada, priorizando acciones que maximicen el retorno y reduzcan el riesgo.</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76154563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TotalTime>
  <Words>3778</Words>
  <Application>Microsoft Office PowerPoint</Application>
  <PresentationFormat>Presentación en pantalla (16:9)</PresentationFormat>
  <Paragraphs>245</Paragraphs>
  <Slides>21</Slides>
  <Notes>21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21</vt:i4>
      </vt:variant>
    </vt:vector>
  </HeadingPairs>
  <TitlesOfParts>
    <vt:vector size="23" baseType="lpstr">
      <vt:lpstr>Arial</vt:lpstr>
      <vt:lpstr>Simple Light</vt:lpstr>
      <vt:lpstr>Presentación de PowerPoint</vt:lpstr>
      <vt:lpstr>Gestión de redes sociales</vt:lpstr>
      <vt:lpstr>Gestión de redes sociales</vt:lpstr>
      <vt:lpstr>Gestión de redes sociales</vt:lpstr>
      <vt:lpstr>Gestión de redes sociales</vt:lpstr>
      <vt:lpstr>Gestión de redes sociales</vt:lpstr>
      <vt:lpstr>Herramientas para publicidad digital</vt:lpstr>
      <vt:lpstr>Herramientas para publicidad digital</vt:lpstr>
      <vt:lpstr>Herramientas para publicidad digital</vt:lpstr>
      <vt:lpstr>Herramientas para publicidad digital</vt:lpstr>
      <vt:lpstr>Herramientas para publicidad digital</vt:lpstr>
      <vt:lpstr>Creación de campañas de búsquedas</vt:lpstr>
      <vt:lpstr>Creación de campañas de búsquedas</vt:lpstr>
      <vt:lpstr>Creación de campañas de búsquedas</vt:lpstr>
      <vt:lpstr>Creación de campañas de búsquedas</vt:lpstr>
      <vt:lpstr>Creación de campañas de búsquedas</vt:lpstr>
      <vt:lpstr>Medición y optimización de anuncios</vt:lpstr>
      <vt:lpstr>Medición y optimización de anuncios</vt:lpstr>
      <vt:lpstr>Medición y optimización de anuncios</vt:lpstr>
      <vt:lpstr>Medición y optimización de anuncios</vt:lpstr>
      <vt:lpstr>Medición y optimización de anuncios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7</cp:revision>
  <dcterms:modified xsi:type="dcterms:W3CDTF">2025-10-15T04:01:36Z</dcterms:modified>
</cp:coreProperties>
</file>