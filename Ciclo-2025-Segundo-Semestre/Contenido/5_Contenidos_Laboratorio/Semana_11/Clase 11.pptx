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56" r:id="rId2"/>
    <p:sldId id="302" r:id="rId3"/>
    <p:sldId id="266" r:id="rId4"/>
    <p:sldId id="288" r:id="rId5"/>
    <p:sldId id="289" r:id="rId6"/>
    <p:sldId id="290" r:id="rId7"/>
    <p:sldId id="292" r:id="rId8"/>
    <p:sldId id="293" r:id="rId9"/>
    <p:sldId id="294" r:id="rId10"/>
    <p:sldId id="295" r:id="rId11"/>
    <p:sldId id="296" r:id="rId12"/>
    <p:sldId id="298" r:id="rId13"/>
    <p:sldId id="299" r:id="rId14"/>
    <p:sldId id="300" r:id="rId15"/>
    <p:sldId id="301" r:id="rId1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9" roundtripDataSignature="AMtx7mgaokR1tr3jo/odoJz8obEEgE2NO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51BA02C-6A80-4BA0-BD01-5099423E3828}">
  <a:tblStyle styleId="{151BA02C-6A80-4BA0-BD01-5099423E3828}"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88" d="100"/>
          <a:sy n="188" d="100"/>
        </p:scale>
        <p:origin x="1014" y="3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1D1A0B72-BAF4-6AA0-A938-D5CA8BB7638F}"/>
            </a:ext>
          </a:extLst>
        </p:cNvPr>
        <p:cNvGrpSpPr/>
        <p:nvPr/>
      </p:nvGrpSpPr>
      <p:grpSpPr>
        <a:xfrm>
          <a:off x="0" y="0"/>
          <a:ext cx="0" cy="0"/>
          <a:chOff x="0" y="0"/>
          <a:chExt cx="0" cy="0"/>
        </a:xfrm>
      </p:grpSpPr>
      <p:sp>
        <p:nvSpPr>
          <p:cNvPr id="51" name="Google Shape;51;p1:notes">
            <a:extLst>
              <a:ext uri="{FF2B5EF4-FFF2-40B4-BE49-F238E27FC236}">
                <a16:creationId xmlns:a16="http://schemas.microsoft.com/office/drawing/2014/main" id="{1C1FAC4C-D503-B25E-093E-D904306948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a:extLst>
              <a:ext uri="{FF2B5EF4-FFF2-40B4-BE49-F238E27FC236}">
                <a16:creationId xmlns:a16="http://schemas.microsoft.com/office/drawing/2014/main" id="{FC902392-36BB-ED40-722B-8B23F4FB72E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8971238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AFC345E4-8094-B605-D5D2-A29C935161EA}"/>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A1DF8664-28D0-4A3A-8A89-CDA2BE5D92E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4BDFE665-6F27-ECEF-3555-5C460C9C098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93825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17E91152-CDEA-99F0-ABB3-D1ADA86265B1}"/>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90EEEF0B-764C-1474-123C-C6DE8ABDA0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157BD28E-FDBF-E01A-C7F0-2B71DD6DB54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9272795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3920F65A-8983-2B61-AF9A-C7861D55F956}"/>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B8976248-3227-F6C3-1072-CF4717B4ECE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69437FC2-7FD8-E65E-F483-70588470222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136255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E37579CC-658E-B218-3E21-42251E40210A}"/>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9420B6DE-47EB-64DD-570E-F0D5D2C348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99BD3811-4E07-2D28-F3ED-D02A2440A2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157235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2CE8212E-91A1-C3FA-EB47-5A3138588237}"/>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4273D296-56F6-BB30-3479-92AAA1DB187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4FA3DD8A-35E2-EC64-5381-8A7D7556245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57024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7AF17C81-8722-1202-C53E-AD6319D923E0}"/>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CC90E6BB-C589-7EFA-72DF-F208E69009A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C26CCB2C-1B48-4F9E-BBAE-91BE82B1AB4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691825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0CD661D1-130D-8C30-DF1B-137EAC369040}"/>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C3A77305-19E2-FE66-FD0A-59BB12E671D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386E1733-8D65-8F81-61AC-42ABAC8FF51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41333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A14E1C0E-2076-9E4B-9D86-88F444F5F7A0}"/>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4689A67A-ADC9-C4A0-77D2-254035D6661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917FBE9E-95D4-645D-7061-C1C257FE235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799592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40D8DAF9-8317-32BB-5CFD-C223BB0B9ED0}"/>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370A40B7-76A4-FA55-D710-BBDD18A4D7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3A065B6E-4277-9CC0-7664-443EFB2367F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3314482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A479E1B6-BA43-9327-2BE8-80DC33D7D944}"/>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B4CDA644-8B25-0CCD-D07D-A8F44436639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2E27200C-02DE-A2CE-93EC-2585AB7CAB9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553656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0733F65B-E98C-8689-2EE2-708F5FAA5EFE}"/>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34961359-908C-DDA2-113A-6630240B80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F52AB3B6-CD8F-ACD5-ED88-86C71A696B2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9193124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AC01E63A-5AD6-6643-4509-484A1083C2A2}"/>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FCAE8D18-8D3F-369D-3621-AA43E1B70C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91D6D379-6C0C-DFD0-0017-85751EDF9DE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035268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B3068CD4-AC31-D69E-5943-B4F2828EA49E}"/>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C99CB6A4-481C-BE72-ACBE-976BF50B467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AF250567-050F-AB35-CF97-B71C074E679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0989706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
        <p:cNvGrpSpPr/>
        <p:nvPr/>
      </p:nvGrpSpPr>
      <p:grpSpPr>
        <a:xfrm>
          <a:off x="0" y="0"/>
          <a:ext cx="0" cy="0"/>
          <a:chOff x="0" y="0"/>
          <a:chExt cx="0" cy="0"/>
        </a:xfrm>
      </p:grpSpPr>
      <p:sp>
        <p:nvSpPr>
          <p:cNvPr id="10" name="Google Shape;10;p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1" name="Google Shape;11;p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2" name="Google Shape;12;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5" name="Google Shape;15;p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6" name="Google Shape;16;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6"/>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6"/>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8"/>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8"/>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9"/>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10"/>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1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1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1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1"/>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2"/>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2"/>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
          <p:cNvPicPr preferRelativeResize="0"/>
          <p:nvPr/>
        </p:nvPicPr>
        <p:blipFill rotWithShape="1">
          <a:blip r:embed="rId3">
            <a:alphaModFix amt="62000"/>
          </a:blip>
          <a:srcRect/>
          <a:stretch/>
        </p:blipFill>
        <p:spPr>
          <a:xfrm>
            <a:off x="8451" y="0"/>
            <a:ext cx="9127099" cy="5143501"/>
          </a:xfrm>
          <a:prstGeom prst="rect">
            <a:avLst/>
          </a:prstGeom>
          <a:noFill/>
          <a:ln>
            <a:noFill/>
          </a:ln>
        </p:spPr>
      </p:pic>
      <p:graphicFrame>
        <p:nvGraphicFramePr>
          <p:cNvPr id="55" name="Google Shape;55;p1"/>
          <p:cNvGraphicFramePr/>
          <p:nvPr>
            <p:extLst>
              <p:ext uri="{D42A27DB-BD31-4B8C-83A1-F6EECF244321}">
                <p14:modId xmlns:p14="http://schemas.microsoft.com/office/powerpoint/2010/main" val="1857873009"/>
              </p:ext>
            </p:extLst>
          </p:nvPr>
        </p:nvGraphicFramePr>
        <p:xfrm>
          <a:off x="5328200" y="970025"/>
          <a:ext cx="3690575" cy="798516"/>
        </p:xfrm>
        <a:graphic>
          <a:graphicData uri="http://schemas.openxmlformats.org/drawingml/2006/table">
            <a:tbl>
              <a:tblPr>
                <a:noFill/>
                <a:tableStyleId>{151BA02C-6A80-4BA0-BD01-5099423E3828}</a:tableStyleId>
              </a:tblPr>
              <a:tblGrid>
                <a:gridCol w="1518200">
                  <a:extLst>
                    <a:ext uri="{9D8B030D-6E8A-4147-A177-3AD203B41FA5}">
                      <a16:colId xmlns:a16="http://schemas.microsoft.com/office/drawing/2014/main" val="20000"/>
                    </a:ext>
                  </a:extLst>
                </a:gridCol>
                <a:gridCol w="2172375">
                  <a:extLst>
                    <a:ext uri="{9D8B030D-6E8A-4147-A177-3AD203B41FA5}">
                      <a16:colId xmlns:a16="http://schemas.microsoft.com/office/drawing/2014/main" val="20001"/>
                    </a:ext>
                  </a:extLst>
                </a:gridCol>
              </a:tblGrid>
              <a:tr h="322450">
                <a:tc>
                  <a:txBody>
                    <a:bodyPr/>
                    <a:lstStyle/>
                    <a:p>
                      <a:pPr marL="0" marR="0" lvl="0" indent="0" algn="l" rtl="0">
                        <a:lnSpc>
                          <a:spcPct val="100000"/>
                        </a:lnSpc>
                        <a:spcBef>
                          <a:spcPts val="0"/>
                        </a:spcBef>
                        <a:spcAft>
                          <a:spcPts val="0"/>
                        </a:spcAft>
                        <a:buClr>
                          <a:srgbClr val="000000"/>
                        </a:buClr>
                        <a:buSzPts val="1420"/>
                        <a:buFont typeface="Arial"/>
                        <a:buNone/>
                      </a:pPr>
                      <a:r>
                        <a:rPr lang="es" sz="1420" b="1" u="none" strike="noStrike" cap="none">
                          <a:solidFill>
                            <a:schemeClr val="dk1"/>
                          </a:solidFill>
                        </a:rPr>
                        <a:t>Día, Fecha:</a:t>
                      </a:r>
                      <a:endParaRPr sz="1420" b="1" u="none" strike="noStrike" cap="none">
                        <a:solidFill>
                          <a:schemeClr val="dk1"/>
                        </a:solidFill>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dirty="0"/>
                        <a:t>Martes, 23/09/2025</a:t>
                      </a:r>
                      <a:endParaRPr sz="1400" u="none" strike="noStrike" cap="none" dirty="0"/>
                    </a:p>
                  </a:txBody>
                  <a:tcPr marL="91425" marR="91425" marT="91425" marB="91425"/>
                </a:tc>
                <a:extLst>
                  <a:ext uri="{0D108BD9-81ED-4DB2-BD59-A6C34878D82A}">
                    <a16:rowId xmlns:a16="http://schemas.microsoft.com/office/drawing/2014/main" val="10000"/>
                  </a:ext>
                </a:extLst>
              </a:tr>
              <a:tr h="363100">
                <a:tc>
                  <a:txBody>
                    <a:bodyPr/>
                    <a:lstStyle/>
                    <a:p>
                      <a:pPr marL="0" marR="0" lvl="0" indent="0" algn="l" rtl="0">
                        <a:lnSpc>
                          <a:spcPct val="100000"/>
                        </a:lnSpc>
                        <a:spcBef>
                          <a:spcPts val="0"/>
                        </a:spcBef>
                        <a:spcAft>
                          <a:spcPts val="0"/>
                        </a:spcAft>
                        <a:buClr>
                          <a:srgbClr val="000000"/>
                        </a:buClr>
                        <a:buSzPts val="1420"/>
                        <a:buFont typeface="Arial"/>
                        <a:buNone/>
                      </a:pPr>
                      <a:r>
                        <a:rPr lang="es" sz="1420" b="1" u="none" strike="noStrike" cap="none">
                          <a:solidFill>
                            <a:schemeClr val="dk1"/>
                          </a:solidFill>
                        </a:rPr>
                        <a:t>Hora de inicio:</a:t>
                      </a:r>
                      <a:endParaRPr sz="1420" b="1" u="none" strike="noStrike" cap="none">
                        <a:solidFill>
                          <a:schemeClr val="dk1"/>
                        </a:solidFill>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dirty="0"/>
                        <a:t>17:20</a:t>
                      </a:r>
                      <a:endParaRPr sz="1400" u="none" strike="noStrike" cap="none" dirty="0"/>
                    </a:p>
                  </a:txBody>
                  <a:tcPr marL="91425" marR="91425" marT="91425" marB="91425"/>
                </a:tc>
                <a:extLst>
                  <a:ext uri="{0D108BD9-81ED-4DB2-BD59-A6C34878D82A}">
                    <a16:rowId xmlns:a16="http://schemas.microsoft.com/office/drawing/2014/main" val="10001"/>
                  </a:ext>
                </a:extLst>
              </a:tr>
            </a:tbl>
          </a:graphicData>
        </a:graphic>
      </p:graphicFrame>
      <p:sp>
        <p:nvSpPr>
          <p:cNvPr id="56" name="Google Shape;56;p1"/>
          <p:cNvSpPr txBox="1"/>
          <p:nvPr/>
        </p:nvSpPr>
        <p:spPr>
          <a:xfrm>
            <a:off x="485970" y="1692341"/>
            <a:ext cx="8658030" cy="3062347"/>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s" sz="2500" b="0" i="0" u="none" strike="noStrike" cap="none" dirty="0">
                <a:solidFill>
                  <a:srgbClr val="000000"/>
                </a:solidFill>
                <a:latin typeface="Arial"/>
                <a:ea typeface="Arial"/>
                <a:cs typeface="Arial"/>
                <a:sym typeface="Arial"/>
              </a:rPr>
              <a:t>Conferencia: Sistemas Organizacionales y G</a:t>
            </a:r>
            <a:r>
              <a:rPr lang="es-GT" sz="2500" b="0" i="0" u="none" strike="noStrike" cap="none" dirty="0">
                <a:solidFill>
                  <a:srgbClr val="000000"/>
                </a:solidFill>
                <a:latin typeface="Arial"/>
                <a:ea typeface="Arial"/>
                <a:cs typeface="Arial"/>
                <a:sym typeface="Arial"/>
              </a:rPr>
              <a:t>e</a:t>
            </a:r>
            <a:r>
              <a:rPr lang="es" sz="2500" b="0" i="0" u="none" strike="noStrike" cap="none" dirty="0">
                <a:solidFill>
                  <a:srgbClr val="000000"/>
                </a:solidFill>
                <a:latin typeface="Arial"/>
                <a:ea typeface="Arial"/>
                <a:cs typeface="Arial"/>
                <a:sym typeface="Arial"/>
              </a:rPr>
              <a:t>renciales 2</a:t>
            </a:r>
          </a:p>
          <a:p>
            <a:pPr marL="0" marR="0" lvl="0" indent="0" algn="l" rtl="0">
              <a:lnSpc>
                <a:spcPct val="100000"/>
              </a:lnSpc>
              <a:spcBef>
                <a:spcPts val="0"/>
              </a:spcBef>
              <a:spcAft>
                <a:spcPts val="0"/>
              </a:spcAft>
              <a:buClr>
                <a:srgbClr val="000000"/>
              </a:buClr>
              <a:buSzPts val="2500"/>
              <a:buFont typeface="Arial"/>
              <a:buNone/>
            </a:pPr>
            <a:endParaRPr lang="es" sz="2500" dirty="0"/>
          </a:p>
          <a:p>
            <a:pPr>
              <a:buSzPts val="2500"/>
            </a:pPr>
            <a:r>
              <a:rPr lang="es-MX" sz="2800" b="1" dirty="0"/>
              <a:t>Implementaciones de ERP y CRM para transformación digital</a:t>
            </a:r>
          </a:p>
          <a:p>
            <a:pPr>
              <a:buSzPts val="2500"/>
            </a:pPr>
            <a:endParaRPr lang="es-MX" sz="2800" b="1" dirty="0"/>
          </a:p>
          <a:p>
            <a:pPr>
              <a:buSzPts val="2500"/>
            </a:pPr>
            <a:r>
              <a:rPr lang="es-MX" sz="2800" b="1" dirty="0"/>
              <a:t>Ing. Levin </a:t>
            </a:r>
            <a:r>
              <a:rPr lang="es-MX" sz="2800" b="1" dirty="0" err="1"/>
              <a:t>Menendez</a:t>
            </a:r>
            <a:endParaRPr lang="es-MX" sz="2800" b="1" dirty="0"/>
          </a:p>
          <a:p>
            <a:pPr marL="0" marR="0" lvl="0" indent="0" algn="l" rtl="0">
              <a:lnSpc>
                <a:spcPct val="100000"/>
              </a:lnSpc>
              <a:spcBef>
                <a:spcPts val="0"/>
              </a:spcBef>
              <a:spcAft>
                <a:spcPts val="0"/>
              </a:spcAft>
              <a:buClr>
                <a:srgbClr val="000000"/>
              </a:buClr>
              <a:buSzPts val="2500"/>
              <a:buFont typeface="Arial"/>
              <a:buNone/>
            </a:pPr>
            <a:endParaRPr sz="2500" b="0"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A8D1E703-8F02-6F6F-13E1-43C92C74A1F3}"/>
            </a:ext>
          </a:extLst>
        </p:cNvPr>
        <p:cNvGrpSpPr/>
        <p:nvPr/>
      </p:nvGrpSpPr>
      <p:grpSpPr>
        <a:xfrm>
          <a:off x="0" y="0"/>
          <a:ext cx="0" cy="0"/>
          <a:chOff x="0" y="0"/>
          <a:chExt cx="0" cy="0"/>
        </a:xfrm>
      </p:grpSpPr>
      <p:pic>
        <p:nvPicPr>
          <p:cNvPr id="54" name="Google Shape;54;p1">
            <a:extLst>
              <a:ext uri="{FF2B5EF4-FFF2-40B4-BE49-F238E27FC236}">
                <a16:creationId xmlns:a16="http://schemas.microsoft.com/office/drawing/2014/main" id="{5E82514A-054D-EEC3-25AB-8E514000DBBE}"/>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graphicFrame>
        <p:nvGraphicFramePr>
          <p:cNvPr id="55" name="Google Shape;55;p1">
            <a:extLst>
              <a:ext uri="{FF2B5EF4-FFF2-40B4-BE49-F238E27FC236}">
                <a16:creationId xmlns:a16="http://schemas.microsoft.com/office/drawing/2014/main" id="{BEF249DC-C6D1-C435-B09B-A1C7ADEC351B}"/>
              </a:ext>
            </a:extLst>
          </p:cNvPr>
          <p:cNvGraphicFramePr/>
          <p:nvPr/>
        </p:nvGraphicFramePr>
        <p:xfrm>
          <a:off x="5328200" y="970025"/>
          <a:ext cx="3690575" cy="798516"/>
        </p:xfrm>
        <a:graphic>
          <a:graphicData uri="http://schemas.openxmlformats.org/drawingml/2006/table">
            <a:tbl>
              <a:tblPr>
                <a:noFill/>
                <a:tableStyleId>{151BA02C-6A80-4BA0-BD01-5099423E3828}</a:tableStyleId>
              </a:tblPr>
              <a:tblGrid>
                <a:gridCol w="1518200">
                  <a:extLst>
                    <a:ext uri="{9D8B030D-6E8A-4147-A177-3AD203B41FA5}">
                      <a16:colId xmlns:a16="http://schemas.microsoft.com/office/drawing/2014/main" val="20000"/>
                    </a:ext>
                  </a:extLst>
                </a:gridCol>
                <a:gridCol w="2172375">
                  <a:extLst>
                    <a:ext uri="{9D8B030D-6E8A-4147-A177-3AD203B41FA5}">
                      <a16:colId xmlns:a16="http://schemas.microsoft.com/office/drawing/2014/main" val="20001"/>
                    </a:ext>
                  </a:extLst>
                </a:gridCol>
              </a:tblGrid>
              <a:tr h="322450">
                <a:tc>
                  <a:txBody>
                    <a:bodyPr/>
                    <a:lstStyle/>
                    <a:p>
                      <a:pPr marL="0" marR="0" lvl="0" indent="0" algn="l" rtl="0">
                        <a:lnSpc>
                          <a:spcPct val="100000"/>
                        </a:lnSpc>
                        <a:spcBef>
                          <a:spcPts val="0"/>
                        </a:spcBef>
                        <a:spcAft>
                          <a:spcPts val="0"/>
                        </a:spcAft>
                        <a:buClr>
                          <a:srgbClr val="000000"/>
                        </a:buClr>
                        <a:buSzPts val="1420"/>
                        <a:buFont typeface="Arial"/>
                        <a:buNone/>
                      </a:pPr>
                      <a:r>
                        <a:rPr lang="es" sz="1420" b="1" u="none" strike="noStrike" cap="none">
                          <a:solidFill>
                            <a:schemeClr val="dk1"/>
                          </a:solidFill>
                        </a:rPr>
                        <a:t>Día, Fecha:</a:t>
                      </a:r>
                      <a:endParaRPr sz="1420" b="1" u="none" strike="noStrike" cap="none">
                        <a:solidFill>
                          <a:schemeClr val="dk1"/>
                        </a:solidFill>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dirty="0"/>
                        <a:t>Martes, 23/09/2025</a:t>
                      </a:r>
                      <a:endParaRPr sz="1400" u="none" strike="noStrike" cap="none" dirty="0"/>
                    </a:p>
                  </a:txBody>
                  <a:tcPr marL="91425" marR="91425" marT="91425" marB="91425"/>
                </a:tc>
                <a:extLst>
                  <a:ext uri="{0D108BD9-81ED-4DB2-BD59-A6C34878D82A}">
                    <a16:rowId xmlns:a16="http://schemas.microsoft.com/office/drawing/2014/main" val="10000"/>
                  </a:ext>
                </a:extLst>
              </a:tr>
              <a:tr h="363100">
                <a:tc>
                  <a:txBody>
                    <a:bodyPr/>
                    <a:lstStyle/>
                    <a:p>
                      <a:pPr marL="0" marR="0" lvl="0" indent="0" algn="l" rtl="0">
                        <a:lnSpc>
                          <a:spcPct val="100000"/>
                        </a:lnSpc>
                        <a:spcBef>
                          <a:spcPts val="0"/>
                        </a:spcBef>
                        <a:spcAft>
                          <a:spcPts val="0"/>
                        </a:spcAft>
                        <a:buClr>
                          <a:srgbClr val="000000"/>
                        </a:buClr>
                        <a:buSzPts val="1420"/>
                        <a:buFont typeface="Arial"/>
                        <a:buNone/>
                      </a:pPr>
                      <a:r>
                        <a:rPr lang="es" sz="1420" b="1" u="none" strike="noStrike" cap="none">
                          <a:solidFill>
                            <a:schemeClr val="dk1"/>
                          </a:solidFill>
                        </a:rPr>
                        <a:t>Hora de inicio:</a:t>
                      </a:r>
                      <a:endParaRPr sz="1420" b="1" u="none" strike="noStrike" cap="none">
                        <a:solidFill>
                          <a:schemeClr val="dk1"/>
                        </a:solidFill>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dirty="0"/>
                        <a:t>17:20</a:t>
                      </a:r>
                      <a:endParaRPr sz="1400" u="none" strike="noStrike" cap="none" dirty="0"/>
                    </a:p>
                  </a:txBody>
                  <a:tcPr marL="91425" marR="91425" marT="91425" marB="91425"/>
                </a:tc>
                <a:extLst>
                  <a:ext uri="{0D108BD9-81ED-4DB2-BD59-A6C34878D82A}">
                    <a16:rowId xmlns:a16="http://schemas.microsoft.com/office/drawing/2014/main" val="10001"/>
                  </a:ext>
                </a:extLst>
              </a:tr>
            </a:tbl>
          </a:graphicData>
        </a:graphic>
      </p:graphicFrame>
      <p:sp>
        <p:nvSpPr>
          <p:cNvPr id="56" name="Google Shape;56;p1">
            <a:extLst>
              <a:ext uri="{FF2B5EF4-FFF2-40B4-BE49-F238E27FC236}">
                <a16:creationId xmlns:a16="http://schemas.microsoft.com/office/drawing/2014/main" id="{B7C12853-941F-6382-7500-0DBB3A0C5B64}"/>
              </a:ext>
            </a:extLst>
          </p:cNvPr>
          <p:cNvSpPr txBox="1"/>
          <p:nvPr/>
        </p:nvSpPr>
        <p:spPr>
          <a:xfrm>
            <a:off x="3992650" y="2132750"/>
            <a:ext cx="5142900" cy="954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s" sz="2500" b="0" i="0" u="none" strike="noStrike" cap="none" dirty="0">
                <a:solidFill>
                  <a:srgbClr val="000000"/>
                </a:solidFill>
                <a:latin typeface="Arial"/>
                <a:ea typeface="Arial"/>
                <a:cs typeface="Arial"/>
                <a:sym typeface="Arial"/>
              </a:rPr>
              <a:t>SISTEMAS ORGANIZACIONALES Y GERENCIALES 2 Sección P</a:t>
            </a:r>
            <a:endParaRPr sz="2500" b="0" i="0" u="none" strike="noStrike" cap="none" dirty="0">
              <a:solidFill>
                <a:srgbClr val="000000"/>
              </a:solidFill>
              <a:latin typeface="Arial"/>
              <a:ea typeface="Arial"/>
              <a:cs typeface="Arial"/>
              <a:sym typeface="Arial"/>
            </a:endParaRPr>
          </a:p>
        </p:txBody>
      </p:sp>
      <p:sp>
        <p:nvSpPr>
          <p:cNvPr id="57" name="Google Shape;57;p1">
            <a:extLst>
              <a:ext uri="{FF2B5EF4-FFF2-40B4-BE49-F238E27FC236}">
                <a16:creationId xmlns:a16="http://schemas.microsoft.com/office/drawing/2014/main" id="{DD24CAFF-04EF-275A-56E9-40018C8F8B74}"/>
              </a:ext>
            </a:extLst>
          </p:cNvPr>
          <p:cNvSpPr txBox="1"/>
          <p:nvPr/>
        </p:nvSpPr>
        <p:spPr>
          <a:xfrm>
            <a:off x="107100" y="4595250"/>
            <a:ext cx="4290600" cy="492600"/>
          </a:xfrm>
          <a:prstGeom prst="rect">
            <a:avLst/>
          </a:prstGeom>
          <a:noFill/>
          <a:ln>
            <a:noFill/>
          </a:ln>
        </p:spPr>
        <p:txBody>
          <a:bodyPr spcFirstLastPara="1" wrap="square" lIns="91425" tIns="91425" rIns="91425" bIns="91425" anchor="t" anchorCtr="0">
            <a:spAutoFit/>
          </a:bodyPr>
          <a:lstStyle/>
          <a:p>
            <a:pPr lvl="0">
              <a:buSzPts val="2000"/>
            </a:pPr>
            <a:r>
              <a:rPr lang="es-GT" sz="2000" dirty="0"/>
              <a:t>Mynor Israel Miranda López</a:t>
            </a:r>
          </a:p>
        </p:txBody>
      </p:sp>
    </p:spTree>
    <p:extLst>
      <p:ext uri="{BB962C8B-B14F-4D97-AF65-F5344CB8AC3E}">
        <p14:creationId xmlns:p14="http://schemas.microsoft.com/office/powerpoint/2010/main" val="2085788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BAC9BC6D-7869-8D66-CF29-F1E7015150F8}"/>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1EF99C74-5D45-EF3C-2403-4FD3843A4B29}"/>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2" name="Título 1">
            <a:extLst>
              <a:ext uri="{FF2B5EF4-FFF2-40B4-BE49-F238E27FC236}">
                <a16:creationId xmlns:a16="http://schemas.microsoft.com/office/drawing/2014/main" id="{71906EC6-8EAC-7D0B-705C-62EAFE58C526}"/>
              </a:ext>
            </a:extLst>
          </p:cNvPr>
          <p:cNvSpPr>
            <a:spLocks noGrp="1"/>
          </p:cNvSpPr>
          <p:nvPr>
            <p:ph type="title"/>
          </p:nvPr>
        </p:nvSpPr>
        <p:spPr>
          <a:xfrm>
            <a:off x="362500" y="130065"/>
            <a:ext cx="8520600" cy="572700"/>
          </a:xfrm>
        </p:spPr>
        <p:txBody>
          <a:bodyPr>
            <a:normAutofit fontScale="90000"/>
          </a:bodyPr>
          <a:lstStyle/>
          <a:p>
            <a:pPr algn="ctr"/>
            <a:r>
              <a:rPr lang="es-GT" dirty="0"/>
              <a:t>Marketing</a:t>
            </a:r>
          </a:p>
        </p:txBody>
      </p:sp>
      <p:sp>
        <p:nvSpPr>
          <p:cNvPr id="3" name="Marcador de texto 2">
            <a:extLst>
              <a:ext uri="{FF2B5EF4-FFF2-40B4-BE49-F238E27FC236}">
                <a16:creationId xmlns:a16="http://schemas.microsoft.com/office/drawing/2014/main" id="{E5ED18DF-6EAE-738C-4902-805935661C8F}"/>
              </a:ext>
            </a:extLst>
          </p:cNvPr>
          <p:cNvSpPr>
            <a:spLocks noGrp="1"/>
          </p:cNvSpPr>
          <p:nvPr>
            <p:ph type="body" idx="1"/>
          </p:nvPr>
        </p:nvSpPr>
        <p:spPr>
          <a:xfrm>
            <a:off x="311700" y="777240"/>
            <a:ext cx="8520600" cy="4236195"/>
          </a:xfrm>
        </p:spPr>
        <p:txBody>
          <a:bodyPr>
            <a:normAutofit/>
          </a:bodyPr>
          <a:lstStyle/>
          <a:p>
            <a:pPr marL="114300" indent="0">
              <a:buNone/>
            </a:pPr>
            <a:r>
              <a:rPr lang="es-GT" sz="1600" b="1" dirty="0">
                <a:solidFill>
                  <a:schemeClr val="tx1"/>
                </a:solidFill>
              </a:rPr>
              <a:t>Conceptos de Marketing</a:t>
            </a:r>
          </a:p>
          <a:p>
            <a:pPr marL="114300" indent="0">
              <a:buNone/>
            </a:pPr>
            <a:r>
              <a:rPr lang="es-MX" sz="1400" b="1" dirty="0">
                <a:solidFill>
                  <a:schemeClr val="tx1"/>
                </a:solidFill>
              </a:rPr>
              <a:t>Evolución histórica del marketing: del intercambio tradicional al enfoque actual</a:t>
            </a:r>
          </a:p>
          <a:p>
            <a:pPr marL="114300" indent="0">
              <a:buNone/>
            </a:pPr>
            <a:r>
              <a:rPr lang="es-MX" sz="1400" dirty="0">
                <a:solidFill>
                  <a:schemeClr val="tx1"/>
                </a:solidFill>
              </a:rPr>
              <a:t>El marketing ha recorrido un largo camino desde sus primeras manifestaciones en el trueque y los mercados locales. En sus inicios, el énfasis estaba en la oferta: producir y vender lo que se tenía a disposición, sin mayor análisis del consumidor. </a:t>
            </a:r>
          </a:p>
          <a:p>
            <a:pPr marL="114300" indent="0">
              <a:buNone/>
            </a:pPr>
            <a:endParaRPr lang="es-MX" sz="1400" dirty="0">
              <a:solidFill>
                <a:schemeClr val="tx1"/>
              </a:solidFill>
            </a:endParaRPr>
          </a:p>
          <a:p>
            <a:pPr marL="114300" indent="0">
              <a:buNone/>
            </a:pPr>
            <a:r>
              <a:rPr lang="es-MX" sz="1400" dirty="0">
                <a:solidFill>
                  <a:schemeClr val="tx1"/>
                </a:solidFill>
              </a:rPr>
              <a:t>Con la Revolución Industrial surgió la producción en masa, lo que permitió fabricar grandes volúmenes a bajo costo, aunque con poca variedad. En la primera mitad del siglo XX, el enfoque se trasladó a las ventas, dando lugar a estrategias de persuasión y publicidad para colocar los productos en el mercado. </a:t>
            </a:r>
          </a:p>
          <a:p>
            <a:pPr marL="114300" indent="0">
              <a:buNone/>
            </a:pPr>
            <a:endParaRPr lang="es-MX" sz="1400" dirty="0">
              <a:solidFill>
                <a:schemeClr val="tx1"/>
              </a:solidFill>
            </a:endParaRPr>
          </a:p>
          <a:p>
            <a:pPr marL="114300" indent="0">
              <a:buNone/>
            </a:pPr>
            <a:r>
              <a:rPr lang="es-MX" sz="1400" dirty="0">
                <a:solidFill>
                  <a:schemeClr val="tx1"/>
                </a:solidFill>
              </a:rPr>
              <a:t>A partir de la década de 1960, las empresas comenzaron a reconocer que el cliente debía estar en el centro de la estrategia, surgiendo así el marketing moderno con sus bases en la segmentación y el marketing </a:t>
            </a:r>
            <a:r>
              <a:rPr lang="es-MX" sz="1400" dirty="0" err="1">
                <a:solidFill>
                  <a:schemeClr val="tx1"/>
                </a:solidFill>
              </a:rPr>
              <a:t>mix</a:t>
            </a:r>
            <a:r>
              <a:rPr lang="es-MX" sz="1400" dirty="0">
                <a:solidFill>
                  <a:schemeClr val="tx1"/>
                </a:solidFill>
              </a:rPr>
              <a:t>. Hoy, el marketing vive una etapa digital, interactiva y centrada en la experiencia del cliente, donde el reto no es solo vender, sino construir relaciones duraderas y auténticas con los consumidores.</a:t>
            </a:r>
          </a:p>
          <a:p>
            <a:pPr marL="114300" indent="0">
              <a:buNone/>
            </a:pPr>
            <a:endParaRPr lang="es-GT" sz="1400" dirty="0">
              <a:solidFill>
                <a:schemeClr val="tx1"/>
              </a:solidFill>
            </a:endParaRPr>
          </a:p>
        </p:txBody>
      </p:sp>
    </p:spTree>
    <p:extLst>
      <p:ext uri="{BB962C8B-B14F-4D97-AF65-F5344CB8AC3E}">
        <p14:creationId xmlns:p14="http://schemas.microsoft.com/office/powerpoint/2010/main" val="33568500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31D7F4BA-29AD-78F5-DEE0-1A073952C3A0}"/>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94CD6627-4FE5-AFDD-7D7F-193528A010C7}"/>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2" name="Título 1">
            <a:extLst>
              <a:ext uri="{FF2B5EF4-FFF2-40B4-BE49-F238E27FC236}">
                <a16:creationId xmlns:a16="http://schemas.microsoft.com/office/drawing/2014/main" id="{B5765313-33CB-8278-706E-1817A3E91F21}"/>
              </a:ext>
            </a:extLst>
          </p:cNvPr>
          <p:cNvSpPr>
            <a:spLocks noGrp="1"/>
          </p:cNvSpPr>
          <p:nvPr>
            <p:ph type="title"/>
          </p:nvPr>
        </p:nvSpPr>
        <p:spPr>
          <a:xfrm>
            <a:off x="362500" y="130065"/>
            <a:ext cx="8520600" cy="572700"/>
          </a:xfrm>
        </p:spPr>
        <p:txBody>
          <a:bodyPr>
            <a:normAutofit fontScale="90000"/>
          </a:bodyPr>
          <a:lstStyle/>
          <a:p>
            <a:pPr algn="ctr"/>
            <a:r>
              <a:rPr lang="es-GT" dirty="0"/>
              <a:t>Marketing</a:t>
            </a:r>
          </a:p>
        </p:txBody>
      </p:sp>
      <p:sp>
        <p:nvSpPr>
          <p:cNvPr id="3" name="Marcador de texto 2">
            <a:extLst>
              <a:ext uri="{FF2B5EF4-FFF2-40B4-BE49-F238E27FC236}">
                <a16:creationId xmlns:a16="http://schemas.microsoft.com/office/drawing/2014/main" id="{ED9B5BD5-8420-829B-EBAD-CFE32D0C00F2}"/>
              </a:ext>
            </a:extLst>
          </p:cNvPr>
          <p:cNvSpPr>
            <a:spLocks noGrp="1"/>
          </p:cNvSpPr>
          <p:nvPr>
            <p:ph type="body" idx="1"/>
          </p:nvPr>
        </p:nvSpPr>
        <p:spPr>
          <a:xfrm>
            <a:off x="311700" y="777240"/>
            <a:ext cx="8520600" cy="4236195"/>
          </a:xfrm>
        </p:spPr>
        <p:txBody>
          <a:bodyPr>
            <a:normAutofit/>
          </a:bodyPr>
          <a:lstStyle/>
          <a:p>
            <a:pPr marL="114300" indent="0">
              <a:buNone/>
            </a:pPr>
            <a:r>
              <a:rPr lang="es-MX" sz="1600" b="1" dirty="0">
                <a:solidFill>
                  <a:schemeClr val="tx1"/>
                </a:solidFill>
              </a:rPr>
              <a:t>Necesidades, deseos y demanda: pilares del comportamiento del consumidor</a:t>
            </a:r>
          </a:p>
          <a:p>
            <a:pPr marL="114300" indent="0">
              <a:buNone/>
            </a:pPr>
            <a:r>
              <a:rPr lang="es-MX" sz="1600" dirty="0">
                <a:solidFill>
                  <a:schemeClr val="tx1"/>
                </a:solidFill>
              </a:rPr>
              <a:t>El marketing parte de tres conceptos fundamentales: </a:t>
            </a:r>
          </a:p>
          <a:p>
            <a:pPr marL="114300" indent="0" algn="ctr">
              <a:buNone/>
            </a:pPr>
            <a:r>
              <a:rPr lang="es-MX" sz="1600" dirty="0">
                <a:solidFill>
                  <a:schemeClr val="tx1"/>
                </a:solidFill>
              </a:rPr>
              <a:t>Necesidades, deseos y demanda. </a:t>
            </a:r>
          </a:p>
          <a:p>
            <a:pPr marL="114300" indent="0">
              <a:buNone/>
            </a:pPr>
            <a:r>
              <a:rPr lang="es-MX" sz="1600" dirty="0">
                <a:solidFill>
                  <a:schemeClr val="tx1"/>
                </a:solidFill>
              </a:rPr>
              <a:t>Las </a:t>
            </a:r>
            <a:r>
              <a:rPr lang="es-MX" sz="1600" b="1" dirty="0">
                <a:solidFill>
                  <a:schemeClr val="tx1"/>
                </a:solidFill>
              </a:rPr>
              <a:t>necesidades</a:t>
            </a:r>
            <a:r>
              <a:rPr lang="es-MX" sz="1600" dirty="0">
                <a:solidFill>
                  <a:schemeClr val="tx1"/>
                </a:solidFill>
              </a:rPr>
              <a:t> son inherentes a la condición humana y corresponden a carencias básicas como alimentación, vivienda, seguridad o afecto. </a:t>
            </a:r>
          </a:p>
          <a:p>
            <a:pPr marL="114300" indent="0">
              <a:buNone/>
            </a:pPr>
            <a:r>
              <a:rPr lang="es-MX" sz="1600" dirty="0">
                <a:solidFill>
                  <a:schemeClr val="tx1"/>
                </a:solidFill>
              </a:rPr>
              <a:t>Los </a:t>
            </a:r>
            <a:r>
              <a:rPr lang="es-MX" sz="1600" b="1" dirty="0">
                <a:solidFill>
                  <a:schemeClr val="tx1"/>
                </a:solidFill>
              </a:rPr>
              <a:t>deseos</a:t>
            </a:r>
            <a:r>
              <a:rPr lang="es-MX" sz="1600" dirty="0">
                <a:solidFill>
                  <a:schemeClr val="tx1"/>
                </a:solidFill>
              </a:rPr>
              <a:t> representan la forma en que cada individuo busca satisfacer esas necesidades según su cultura, personalidad o entorno, por ejemplo, la necesidad de alimentarse puede transformarse en el deseo de una pizza gourmet. </a:t>
            </a:r>
          </a:p>
          <a:p>
            <a:pPr marL="114300" indent="0">
              <a:buNone/>
            </a:pPr>
            <a:r>
              <a:rPr lang="es-MX" sz="1600" dirty="0">
                <a:solidFill>
                  <a:schemeClr val="tx1"/>
                </a:solidFill>
              </a:rPr>
              <a:t>Finalmente, la </a:t>
            </a:r>
            <a:r>
              <a:rPr lang="es-MX" sz="1600" b="1" dirty="0">
                <a:solidFill>
                  <a:schemeClr val="tx1"/>
                </a:solidFill>
              </a:rPr>
              <a:t>demanda</a:t>
            </a:r>
            <a:r>
              <a:rPr lang="es-MX" sz="1600" dirty="0">
                <a:solidFill>
                  <a:schemeClr val="tx1"/>
                </a:solidFill>
              </a:rPr>
              <a:t> ocurre cuando el deseo está respaldado por la capacidad adquisitiva, es decir, cuando el consumidor tiene los recursos para concretar la compra. </a:t>
            </a:r>
          </a:p>
          <a:p>
            <a:pPr marL="114300" indent="0">
              <a:buNone/>
            </a:pPr>
            <a:endParaRPr lang="es-MX" sz="1600" dirty="0">
              <a:solidFill>
                <a:schemeClr val="tx1"/>
              </a:solidFill>
            </a:endParaRPr>
          </a:p>
          <a:p>
            <a:pPr marL="114300" indent="0">
              <a:buNone/>
            </a:pPr>
            <a:r>
              <a:rPr lang="es-MX" sz="1600" dirty="0">
                <a:solidFill>
                  <a:schemeClr val="tx1"/>
                </a:solidFill>
              </a:rPr>
              <a:t>La función del marketing es identificar las necesidades reales y diseñar productos o servicios que conviertan los deseos en demandas efectivas, generando así valor para la empresa y satisfacción para el cliente.</a:t>
            </a:r>
          </a:p>
          <a:p>
            <a:pPr marL="114300" indent="0">
              <a:buNone/>
            </a:pPr>
            <a:endParaRPr lang="es-GT" sz="1400" dirty="0">
              <a:solidFill>
                <a:schemeClr val="tx1"/>
              </a:solidFill>
            </a:endParaRPr>
          </a:p>
        </p:txBody>
      </p:sp>
    </p:spTree>
    <p:extLst>
      <p:ext uri="{BB962C8B-B14F-4D97-AF65-F5344CB8AC3E}">
        <p14:creationId xmlns:p14="http://schemas.microsoft.com/office/powerpoint/2010/main" val="980745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ED17426D-0B4D-448B-8609-19C26EF334B4}"/>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0721DF33-B64D-41E2-8EFA-B53FAEC3532B}"/>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2" name="Título 1">
            <a:extLst>
              <a:ext uri="{FF2B5EF4-FFF2-40B4-BE49-F238E27FC236}">
                <a16:creationId xmlns:a16="http://schemas.microsoft.com/office/drawing/2014/main" id="{711835B9-4F70-9A2E-ADCA-C5A38F3E214F}"/>
              </a:ext>
            </a:extLst>
          </p:cNvPr>
          <p:cNvSpPr>
            <a:spLocks noGrp="1"/>
          </p:cNvSpPr>
          <p:nvPr>
            <p:ph type="title"/>
          </p:nvPr>
        </p:nvSpPr>
        <p:spPr>
          <a:xfrm>
            <a:off x="362500" y="130065"/>
            <a:ext cx="8520600" cy="572700"/>
          </a:xfrm>
        </p:spPr>
        <p:txBody>
          <a:bodyPr>
            <a:normAutofit fontScale="90000"/>
          </a:bodyPr>
          <a:lstStyle/>
          <a:p>
            <a:pPr algn="ctr"/>
            <a:r>
              <a:rPr lang="es-GT" dirty="0"/>
              <a:t>Marketing</a:t>
            </a:r>
          </a:p>
        </p:txBody>
      </p:sp>
      <p:sp>
        <p:nvSpPr>
          <p:cNvPr id="3" name="Marcador de texto 2">
            <a:extLst>
              <a:ext uri="{FF2B5EF4-FFF2-40B4-BE49-F238E27FC236}">
                <a16:creationId xmlns:a16="http://schemas.microsoft.com/office/drawing/2014/main" id="{BFA7A4CA-F2ED-65FF-FB51-D5AAE5D08B33}"/>
              </a:ext>
            </a:extLst>
          </p:cNvPr>
          <p:cNvSpPr>
            <a:spLocks noGrp="1"/>
          </p:cNvSpPr>
          <p:nvPr>
            <p:ph type="body" idx="1"/>
          </p:nvPr>
        </p:nvSpPr>
        <p:spPr>
          <a:xfrm>
            <a:off x="311700" y="777240"/>
            <a:ext cx="8520600" cy="4236195"/>
          </a:xfrm>
        </p:spPr>
        <p:txBody>
          <a:bodyPr>
            <a:normAutofit/>
          </a:bodyPr>
          <a:lstStyle/>
          <a:p>
            <a:pPr marL="114300" indent="0">
              <a:buNone/>
            </a:pPr>
            <a:r>
              <a:rPr lang="es-MX" sz="1600" b="1" dirty="0">
                <a:solidFill>
                  <a:schemeClr val="tx1"/>
                </a:solidFill>
              </a:rPr>
              <a:t>Las 4P del marketing (Producto, Precio, Plaza, Promoción) y su relevancia</a:t>
            </a:r>
          </a:p>
          <a:p>
            <a:pPr marL="114300" indent="0">
              <a:buNone/>
            </a:pPr>
            <a:r>
              <a:rPr lang="es-MX" sz="1600" dirty="0">
                <a:solidFill>
                  <a:schemeClr val="tx1"/>
                </a:solidFill>
              </a:rPr>
              <a:t>El marketing </a:t>
            </a:r>
            <a:r>
              <a:rPr lang="es-MX" sz="1600" dirty="0" err="1">
                <a:solidFill>
                  <a:schemeClr val="tx1"/>
                </a:solidFill>
              </a:rPr>
              <a:t>mix</a:t>
            </a:r>
            <a:r>
              <a:rPr lang="es-MX" sz="1600" dirty="0">
                <a:solidFill>
                  <a:schemeClr val="tx1"/>
                </a:solidFill>
              </a:rPr>
              <a:t>, o la mezcla de mercadotecnia, es un conjunto de herramientas estratégicas que las empresas utilizan para alcanzar sus objetivos de marketing, basadas en un concepto original de cuatro pilares conocidos como las 4 P:</a:t>
            </a:r>
          </a:p>
          <a:p>
            <a:r>
              <a:rPr lang="es-MX" sz="1600" b="1" dirty="0">
                <a:solidFill>
                  <a:schemeClr val="tx1"/>
                </a:solidFill>
              </a:rPr>
              <a:t>Producto</a:t>
            </a:r>
            <a:r>
              <a:rPr lang="es-MX" sz="1600" dirty="0">
                <a:solidFill>
                  <a:schemeClr val="tx1"/>
                </a:solidFill>
              </a:rPr>
              <a:t>: lo que se ofrece al mercado (bien, servicio o idea). Incluye calidad, diseño, empaque y ciclo de vida.</a:t>
            </a:r>
          </a:p>
          <a:p>
            <a:r>
              <a:rPr lang="es-MX" sz="1600" b="1" dirty="0">
                <a:solidFill>
                  <a:schemeClr val="tx1"/>
                </a:solidFill>
              </a:rPr>
              <a:t>Precio</a:t>
            </a:r>
            <a:r>
              <a:rPr lang="es-MX" sz="1600" dirty="0">
                <a:solidFill>
                  <a:schemeClr val="tx1"/>
                </a:solidFill>
              </a:rPr>
              <a:t>: lo que el consumidor paga. Incluye estrategias como precios psicológicos, descuentos o financiamiento.</a:t>
            </a:r>
          </a:p>
          <a:p>
            <a:r>
              <a:rPr lang="es-MX" sz="1600" b="1" dirty="0">
                <a:solidFill>
                  <a:schemeClr val="tx1"/>
                </a:solidFill>
              </a:rPr>
              <a:t>Plaza (distribución)</a:t>
            </a:r>
            <a:r>
              <a:rPr lang="es-MX" sz="1600" dirty="0">
                <a:solidFill>
                  <a:schemeClr val="tx1"/>
                </a:solidFill>
              </a:rPr>
              <a:t>: cómo llega el producto al cliente. Puede ser física (tiendas, supermercados) o digital (e-</a:t>
            </a:r>
            <a:r>
              <a:rPr lang="es-MX" sz="1600" dirty="0" err="1">
                <a:solidFill>
                  <a:schemeClr val="tx1"/>
                </a:solidFill>
              </a:rPr>
              <a:t>commerce</a:t>
            </a:r>
            <a:r>
              <a:rPr lang="es-MX" sz="1600" dirty="0">
                <a:solidFill>
                  <a:schemeClr val="tx1"/>
                </a:solidFill>
              </a:rPr>
              <a:t>).</a:t>
            </a:r>
          </a:p>
          <a:p>
            <a:r>
              <a:rPr lang="es-MX" sz="1600" b="1" dirty="0">
                <a:solidFill>
                  <a:schemeClr val="tx1"/>
                </a:solidFill>
              </a:rPr>
              <a:t>Promoción</a:t>
            </a:r>
            <a:r>
              <a:rPr lang="es-MX" sz="1600" dirty="0">
                <a:solidFill>
                  <a:schemeClr val="tx1"/>
                </a:solidFill>
              </a:rPr>
              <a:t>: todas las acciones para dar a conocer el producto y persuadir a los clientes (publicidad, relaciones públicas, promociones, redes sociales).</a:t>
            </a:r>
          </a:p>
          <a:p>
            <a:pPr marL="114300" indent="0">
              <a:buNone/>
            </a:pPr>
            <a:r>
              <a:rPr lang="es-MX" sz="1600" dirty="0">
                <a:solidFill>
                  <a:schemeClr val="tx1"/>
                </a:solidFill>
              </a:rPr>
              <a:t>Hoy se complementan con otras variables como las </a:t>
            </a:r>
            <a:r>
              <a:rPr lang="es-MX" sz="1600" b="1" dirty="0">
                <a:solidFill>
                  <a:schemeClr val="tx1"/>
                </a:solidFill>
              </a:rPr>
              <a:t>7P</a:t>
            </a:r>
            <a:r>
              <a:rPr lang="es-MX" sz="1600" dirty="0">
                <a:solidFill>
                  <a:schemeClr val="tx1"/>
                </a:solidFill>
              </a:rPr>
              <a:t> (añadiendo Personas, Procesos y Evidencia física).</a:t>
            </a:r>
          </a:p>
          <a:p>
            <a:pPr marL="114300" indent="0">
              <a:buNone/>
            </a:pPr>
            <a:endParaRPr lang="es-GT" sz="1400" dirty="0">
              <a:solidFill>
                <a:schemeClr val="tx1"/>
              </a:solidFill>
            </a:endParaRPr>
          </a:p>
        </p:txBody>
      </p:sp>
    </p:spTree>
    <p:extLst>
      <p:ext uri="{BB962C8B-B14F-4D97-AF65-F5344CB8AC3E}">
        <p14:creationId xmlns:p14="http://schemas.microsoft.com/office/powerpoint/2010/main" val="27430146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863CDEF3-64DE-9D63-AEF1-33CE56541357}"/>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C949F9C4-23D8-8FAD-D003-39CF38DFAE41}"/>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2" name="Título 1">
            <a:extLst>
              <a:ext uri="{FF2B5EF4-FFF2-40B4-BE49-F238E27FC236}">
                <a16:creationId xmlns:a16="http://schemas.microsoft.com/office/drawing/2014/main" id="{128C6EF4-5AA8-3DDD-7E16-0852CE9F41E6}"/>
              </a:ext>
            </a:extLst>
          </p:cNvPr>
          <p:cNvSpPr>
            <a:spLocks noGrp="1"/>
          </p:cNvSpPr>
          <p:nvPr>
            <p:ph type="title"/>
          </p:nvPr>
        </p:nvSpPr>
        <p:spPr>
          <a:xfrm>
            <a:off x="362500" y="130065"/>
            <a:ext cx="8520600" cy="572700"/>
          </a:xfrm>
        </p:spPr>
        <p:txBody>
          <a:bodyPr>
            <a:normAutofit fontScale="90000"/>
          </a:bodyPr>
          <a:lstStyle/>
          <a:p>
            <a:pPr algn="ctr"/>
            <a:r>
              <a:rPr lang="es-GT" dirty="0"/>
              <a:t>Marketing</a:t>
            </a:r>
          </a:p>
        </p:txBody>
      </p:sp>
      <p:sp>
        <p:nvSpPr>
          <p:cNvPr id="3" name="Marcador de texto 2">
            <a:extLst>
              <a:ext uri="{FF2B5EF4-FFF2-40B4-BE49-F238E27FC236}">
                <a16:creationId xmlns:a16="http://schemas.microsoft.com/office/drawing/2014/main" id="{2A749420-8248-8540-F31A-B53FA503B39D}"/>
              </a:ext>
            </a:extLst>
          </p:cNvPr>
          <p:cNvSpPr>
            <a:spLocks noGrp="1"/>
          </p:cNvSpPr>
          <p:nvPr>
            <p:ph type="body" idx="1"/>
          </p:nvPr>
        </p:nvSpPr>
        <p:spPr>
          <a:xfrm>
            <a:off x="311700" y="777240"/>
            <a:ext cx="8520600" cy="4236195"/>
          </a:xfrm>
        </p:spPr>
        <p:txBody>
          <a:bodyPr>
            <a:normAutofit/>
          </a:bodyPr>
          <a:lstStyle/>
          <a:p>
            <a:pPr marL="114300" indent="0">
              <a:buNone/>
            </a:pPr>
            <a:r>
              <a:rPr lang="es-MX" sz="1600" b="1" dirty="0">
                <a:solidFill>
                  <a:schemeClr val="tx1"/>
                </a:solidFill>
              </a:rPr>
              <a:t>Segmentación de mercados, público objetivo y posicionamiento</a:t>
            </a:r>
          </a:p>
          <a:p>
            <a:pPr marL="114300" indent="0">
              <a:buNone/>
            </a:pPr>
            <a:r>
              <a:rPr lang="es-MX" sz="1600" dirty="0">
                <a:solidFill>
                  <a:schemeClr val="tx1"/>
                </a:solidFill>
              </a:rPr>
              <a:t>En un mercado tan amplio y diverso, no todas las personas pueden ser clientes de un mismo producto. Por eso surge la segmentación de mercados, que consiste en dividir a los consumidores en grupos más pequeños y homogéneos con base en características demográficas, geográficas, psicográficas o conductuales. </a:t>
            </a:r>
          </a:p>
          <a:p>
            <a:pPr marL="114300" indent="0">
              <a:buNone/>
            </a:pPr>
            <a:r>
              <a:rPr lang="es-MX" sz="1600" dirty="0">
                <a:solidFill>
                  <a:schemeClr val="tx1"/>
                </a:solidFill>
              </a:rPr>
              <a:t>Una vez identificados estos grupos, la empresa selecciona a su público objetivo, es decir, el segmento al que realmente dirigirá sus esfuerzos comerciales y de comunicación. </a:t>
            </a:r>
          </a:p>
          <a:p>
            <a:pPr marL="114300" indent="0">
              <a:buNone/>
            </a:pPr>
            <a:r>
              <a:rPr lang="es-MX" sz="1600" dirty="0">
                <a:solidFill>
                  <a:schemeClr val="tx1"/>
                </a:solidFill>
              </a:rPr>
              <a:t>Sin embargo, no basta con identificar a quién venderle, sino también cómo quiere ser percibida la marca. Aquí entra el concepto de posicionamiento, que es el lugar que ocupa la marca en la mente del consumidor en comparación con sus competidores. </a:t>
            </a:r>
          </a:p>
          <a:p>
            <a:pPr marL="114300" indent="0">
              <a:buNone/>
            </a:pPr>
            <a:r>
              <a:rPr lang="es-MX" sz="1600" dirty="0">
                <a:solidFill>
                  <a:schemeClr val="tx1"/>
                </a:solidFill>
              </a:rPr>
              <a:t>Ejemplos claros de posicionamiento son Apple como sinónimo de innovación, Volvo como referente de seguridad o Coca-Cola como símbolo de felicidad.</a:t>
            </a:r>
          </a:p>
          <a:p>
            <a:pPr marL="114300" indent="0">
              <a:buNone/>
            </a:pPr>
            <a:endParaRPr lang="es-GT" sz="1400" dirty="0">
              <a:solidFill>
                <a:schemeClr val="tx1"/>
              </a:solidFill>
            </a:endParaRPr>
          </a:p>
        </p:txBody>
      </p:sp>
    </p:spTree>
    <p:extLst>
      <p:ext uri="{BB962C8B-B14F-4D97-AF65-F5344CB8AC3E}">
        <p14:creationId xmlns:p14="http://schemas.microsoft.com/office/powerpoint/2010/main" val="23606699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BF577E8C-50CF-F37B-9ACC-ED8F17457DB6}"/>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15516D87-37DC-173E-5C93-3270C1670AF9}"/>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2" name="Título 1">
            <a:extLst>
              <a:ext uri="{FF2B5EF4-FFF2-40B4-BE49-F238E27FC236}">
                <a16:creationId xmlns:a16="http://schemas.microsoft.com/office/drawing/2014/main" id="{4DF6C4CA-7F80-5BBB-AEE2-EA6AF7399E5E}"/>
              </a:ext>
            </a:extLst>
          </p:cNvPr>
          <p:cNvSpPr>
            <a:spLocks noGrp="1"/>
          </p:cNvSpPr>
          <p:nvPr>
            <p:ph type="title"/>
          </p:nvPr>
        </p:nvSpPr>
        <p:spPr>
          <a:xfrm>
            <a:off x="362500" y="130065"/>
            <a:ext cx="8520600" cy="572700"/>
          </a:xfrm>
        </p:spPr>
        <p:txBody>
          <a:bodyPr>
            <a:normAutofit fontScale="90000"/>
          </a:bodyPr>
          <a:lstStyle/>
          <a:p>
            <a:pPr algn="ctr"/>
            <a:r>
              <a:rPr lang="es-GT" dirty="0"/>
              <a:t>Marketing</a:t>
            </a:r>
          </a:p>
        </p:txBody>
      </p:sp>
      <p:sp>
        <p:nvSpPr>
          <p:cNvPr id="3" name="Marcador de texto 2">
            <a:extLst>
              <a:ext uri="{FF2B5EF4-FFF2-40B4-BE49-F238E27FC236}">
                <a16:creationId xmlns:a16="http://schemas.microsoft.com/office/drawing/2014/main" id="{7E0DFBF0-CBB5-5C59-E42A-94B5DBC472EA}"/>
              </a:ext>
            </a:extLst>
          </p:cNvPr>
          <p:cNvSpPr>
            <a:spLocks noGrp="1"/>
          </p:cNvSpPr>
          <p:nvPr>
            <p:ph type="body" idx="1"/>
          </p:nvPr>
        </p:nvSpPr>
        <p:spPr>
          <a:xfrm>
            <a:off x="311700" y="777240"/>
            <a:ext cx="8520600" cy="4236195"/>
          </a:xfrm>
        </p:spPr>
        <p:txBody>
          <a:bodyPr>
            <a:normAutofit/>
          </a:bodyPr>
          <a:lstStyle/>
          <a:p>
            <a:pPr marL="114300" indent="0">
              <a:buNone/>
            </a:pPr>
            <a:r>
              <a:rPr lang="es-MX" sz="1600" b="1" dirty="0">
                <a:solidFill>
                  <a:schemeClr val="tx1"/>
                </a:solidFill>
              </a:rPr>
              <a:t>El valor de marca y la fidelización de clientes</a:t>
            </a:r>
          </a:p>
          <a:p>
            <a:pPr marL="114300" indent="0">
              <a:buNone/>
            </a:pPr>
            <a:r>
              <a:rPr lang="es-MX" sz="1600" dirty="0">
                <a:solidFill>
                  <a:schemeClr val="tx1"/>
                </a:solidFill>
              </a:rPr>
              <a:t>Una marca fuerte representa mucho más que un producto: transmite confianza, calidad y prestigio. El </a:t>
            </a:r>
            <a:r>
              <a:rPr lang="es-MX" sz="1600" b="1" dirty="0">
                <a:solidFill>
                  <a:schemeClr val="tx1"/>
                </a:solidFill>
              </a:rPr>
              <a:t>valor de marca</a:t>
            </a:r>
            <a:r>
              <a:rPr lang="es-MX" sz="1600" dirty="0">
                <a:solidFill>
                  <a:schemeClr val="tx1"/>
                </a:solidFill>
              </a:rPr>
              <a:t> se construye a través de la experiencia del cliente, la comunicación y la diferenciación frente a la competencia, permitiendo incluso cobrar precios más altos gracias al reconocimiento. La </a:t>
            </a:r>
            <a:r>
              <a:rPr lang="es-MX" sz="1600" b="1" dirty="0">
                <a:solidFill>
                  <a:schemeClr val="tx1"/>
                </a:solidFill>
              </a:rPr>
              <a:t>fidelización de clientes</a:t>
            </a:r>
            <a:r>
              <a:rPr lang="es-MX" sz="1600" dirty="0">
                <a:solidFill>
                  <a:schemeClr val="tx1"/>
                </a:solidFill>
              </a:rPr>
              <a:t> se logra mediante estrategias que fortalezcan la relación a largo plazo, como:</a:t>
            </a:r>
          </a:p>
          <a:p>
            <a:r>
              <a:rPr lang="es-MX" sz="1600" dirty="0">
                <a:solidFill>
                  <a:schemeClr val="tx1"/>
                </a:solidFill>
              </a:rPr>
              <a:t>Programas de recompensas o puntos.</a:t>
            </a:r>
          </a:p>
          <a:p>
            <a:r>
              <a:rPr lang="es-MX" sz="1600" dirty="0">
                <a:solidFill>
                  <a:schemeClr val="tx1"/>
                </a:solidFill>
              </a:rPr>
              <a:t>Experiencias personalizadas.</a:t>
            </a:r>
          </a:p>
          <a:p>
            <a:r>
              <a:rPr lang="es-MX" sz="1600" dirty="0">
                <a:solidFill>
                  <a:schemeClr val="tx1"/>
                </a:solidFill>
              </a:rPr>
              <a:t>Atención al cliente de alta calidad.</a:t>
            </a:r>
          </a:p>
          <a:p>
            <a:r>
              <a:rPr lang="es-MX" sz="1600" dirty="0">
                <a:solidFill>
                  <a:schemeClr val="tx1"/>
                </a:solidFill>
              </a:rPr>
              <a:t>Comunicación emocional y cercana.</a:t>
            </a:r>
          </a:p>
          <a:p>
            <a:pPr marL="114300" indent="0">
              <a:buNone/>
            </a:pPr>
            <a:r>
              <a:rPr lang="es-MX" sz="1600" dirty="0">
                <a:solidFill>
                  <a:schemeClr val="tx1"/>
                </a:solidFill>
              </a:rPr>
              <a:t>Esto es crucial porque retener a un cliente resulta menos costoso que captar uno nuevo, y los clientes fieles no solo repiten compras, sino que también recomiendan la marca, convirtiéndose en embajadores naturales.</a:t>
            </a:r>
          </a:p>
          <a:p>
            <a:pPr marL="114300" indent="0">
              <a:buNone/>
            </a:pPr>
            <a:endParaRPr lang="es-GT" sz="1400" dirty="0">
              <a:solidFill>
                <a:schemeClr val="tx1"/>
              </a:solidFill>
            </a:endParaRPr>
          </a:p>
        </p:txBody>
      </p:sp>
    </p:spTree>
    <p:extLst>
      <p:ext uri="{BB962C8B-B14F-4D97-AF65-F5344CB8AC3E}">
        <p14:creationId xmlns:p14="http://schemas.microsoft.com/office/powerpoint/2010/main" val="22898299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224696AA-2170-EA7F-E6CC-B99FBD6ADA56}"/>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3F045546-B332-E154-F27D-124195331CC9}"/>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2" name="Título 1">
            <a:extLst>
              <a:ext uri="{FF2B5EF4-FFF2-40B4-BE49-F238E27FC236}">
                <a16:creationId xmlns:a16="http://schemas.microsoft.com/office/drawing/2014/main" id="{1A13A13F-D354-A8F4-9B5F-EAD3960831CC}"/>
              </a:ext>
            </a:extLst>
          </p:cNvPr>
          <p:cNvSpPr>
            <a:spLocks noGrp="1"/>
          </p:cNvSpPr>
          <p:nvPr>
            <p:ph type="title"/>
          </p:nvPr>
        </p:nvSpPr>
        <p:spPr>
          <a:xfrm>
            <a:off x="367580" y="0"/>
            <a:ext cx="8520600" cy="572700"/>
          </a:xfrm>
        </p:spPr>
        <p:txBody>
          <a:bodyPr>
            <a:normAutofit fontScale="90000"/>
          </a:bodyPr>
          <a:lstStyle/>
          <a:p>
            <a:pPr algn="ctr"/>
            <a:r>
              <a:rPr lang="es-GT" dirty="0"/>
              <a:t>Introducción al </a:t>
            </a:r>
            <a:br>
              <a:rPr lang="es-GT" dirty="0"/>
            </a:br>
            <a:r>
              <a:rPr lang="es-GT" dirty="0"/>
              <a:t>Marketing Digital</a:t>
            </a:r>
          </a:p>
        </p:txBody>
      </p:sp>
      <p:sp>
        <p:nvSpPr>
          <p:cNvPr id="3" name="Marcador de texto 2">
            <a:extLst>
              <a:ext uri="{FF2B5EF4-FFF2-40B4-BE49-F238E27FC236}">
                <a16:creationId xmlns:a16="http://schemas.microsoft.com/office/drawing/2014/main" id="{334BDB44-BC5C-58AC-F646-9160C5293182}"/>
              </a:ext>
            </a:extLst>
          </p:cNvPr>
          <p:cNvSpPr>
            <a:spLocks noGrp="1"/>
          </p:cNvSpPr>
          <p:nvPr>
            <p:ph type="body" idx="1"/>
          </p:nvPr>
        </p:nvSpPr>
        <p:spPr>
          <a:xfrm>
            <a:off x="311700" y="777240"/>
            <a:ext cx="8520600" cy="4236195"/>
          </a:xfrm>
        </p:spPr>
        <p:txBody>
          <a:bodyPr>
            <a:normAutofit/>
          </a:bodyPr>
          <a:lstStyle/>
          <a:p>
            <a:pPr marL="114300" indent="0">
              <a:buNone/>
            </a:pPr>
            <a:r>
              <a:rPr lang="es-MX" sz="1600" b="1" dirty="0">
                <a:solidFill>
                  <a:schemeClr val="tx1"/>
                </a:solidFill>
              </a:rPr>
              <a:t>Diferencias entre marketing tradicional y marketing digital</a:t>
            </a:r>
          </a:p>
          <a:p>
            <a:pPr marL="114300" indent="0">
              <a:buNone/>
            </a:pPr>
            <a:r>
              <a:rPr lang="es-MX" sz="1600" dirty="0">
                <a:solidFill>
                  <a:schemeClr val="tx1"/>
                </a:solidFill>
              </a:rPr>
              <a:t>El marketing tradicional y el marketing digital persiguen el mismo objetivo —conectar con el consumidor y generar ventas—, pero difieren en sus medios, alcance y formas de interacción. El marketing tradicional utiliza canales como la televisión, la radio, la prensa escrita y la publicidad exterior, alcanzando a grandes masas pero con poca segmentación y sin retroalimentación directa. En cambio, el marketing digital se desarrolla en entornos online como redes sociales, motores de búsqueda y sitios web, permitiendo segmentar con precisión, medir resultados en tiempo real y generar interacción bidireccional. Entre las principales diferencias se destacan:</a:t>
            </a:r>
          </a:p>
          <a:p>
            <a:pPr marL="114300" indent="0">
              <a:buNone/>
            </a:pPr>
            <a:endParaRPr lang="es-MX" sz="1600" dirty="0">
              <a:solidFill>
                <a:schemeClr val="tx1"/>
              </a:solidFill>
            </a:endParaRPr>
          </a:p>
          <a:p>
            <a:r>
              <a:rPr lang="es-MX" sz="1600" b="1" dirty="0">
                <a:solidFill>
                  <a:schemeClr val="tx1"/>
                </a:solidFill>
              </a:rPr>
              <a:t>Alcance</a:t>
            </a:r>
            <a:r>
              <a:rPr lang="es-MX" sz="1600" dirty="0">
                <a:solidFill>
                  <a:schemeClr val="tx1"/>
                </a:solidFill>
              </a:rPr>
              <a:t>: tradicional = masivo; digital = global y segmentado.</a:t>
            </a:r>
          </a:p>
          <a:p>
            <a:r>
              <a:rPr lang="es-MX" sz="1600" b="1" dirty="0">
                <a:solidFill>
                  <a:schemeClr val="tx1"/>
                </a:solidFill>
              </a:rPr>
              <a:t>Interacción</a:t>
            </a:r>
            <a:r>
              <a:rPr lang="es-MX" sz="1600" dirty="0">
                <a:solidFill>
                  <a:schemeClr val="tx1"/>
                </a:solidFill>
              </a:rPr>
              <a:t>: tradicional = unidireccional; digital = bidireccional y personalizada.</a:t>
            </a:r>
          </a:p>
          <a:p>
            <a:r>
              <a:rPr lang="es-MX" sz="1600" b="1" dirty="0">
                <a:solidFill>
                  <a:schemeClr val="tx1"/>
                </a:solidFill>
              </a:rPr>
              <a:t>Medición</a:t>
            </a:r>
            <a:r>
              <a:rPr lang="es-MX" sz="1600" dirty="0">
                <a:solidFill>
                  <a:schemeClr val="tx1"/>
                </a:solidFill>
              </a:rPr>
              <a:t>: tradicional = limitada; digital = inmediata y detallada.</a:t>
            </a:r>
          </a:p>
          <a:p>
            <a:r>
              <a:rPr lang="es-MX" sz="1600" b="1" dirty="0">
                <a:solidFill>
                  <a:schemeClr val="tx1"/>
                </a:solidFill>
              </a:rPr>
              <a:t>Costos</a:t>
            </a:r>
            <a:r>
              <a:rPr lang="es-MX" sz="1600" dirty="0">
                <a:solidFill>
                  <a:schemeClr val="tx1"/>
                </a:solidFill>
              </a:rPr>
              <a:t>: tradicional = altos; digital = más accesibles y escalables.</a:t>
            </a:r>
          </a:p>
          <a:p>
            <a:pPr marL="114300" indent="0">
              <a:buNone/>
            </a:pPr>
            <a:endParaRPr lang="es-GT" sz="1400" dirty="0">
              <a:solidFill>
                <a:schemeClr val="tx1"/>
              </a:solidFill>
            </a:endParaRPr>
          </a:p>
        </p:txBody>
      </p:sp>
    </p:spTree>
    <p:extLst>
      <p:ext uri="{BB962C8B-B14F-4D97-AF65-F5344CB8AC3E}">
        <p14:creationId xmlns:p14="http://schemas.microsoft.com/office/powerpoint/2010/main" val="13570791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615CB178-5D6D-C167-C19D-E45EF5E699E1}"/>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E24CC5A1-C766-F1CB-EEFF-E4D0CB1F9E24}"/>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2" name="Título 1">
            <a:extLst>
              <a:ext uri="{FF2B5EF4-FFF2-40B4-BE49-F238E27FC236}">
                <a16:creationId xmlns:a16="http://schemas.microsoft.com/office/drawing/2014/main" id="{B1931870-0E39-4605-7A22-0E070903C41E}"/>
              </a:ext>
            </a:extLst>
          </p:cNvPr>
          <p:cNvSpPr>
            <a:spLocks noGrp="1"/>
          </p:cNvSpPr>
          <p:nvPr>
            <p:ph type="title"/>
          </p:nvPr>
        </p:nvSpPr>
        <p:spPr>
          <a:xfrm>
            <a:off x="352340" y="0"/>
            <a:ext cx="8520600" cy="572700"/>
          </a:xfrm>
        </p:spPr>
        <p:txBody>
          <a:bodyPr>
            <a:normAutofit fontScale="90000"/>
          </a:bodyPr>
          <a:lstStyle/>
          <a:p>
            <a:pPr algn="ctr"/>
            <a:r>
              <a:rPr lang="es-GT" dirty="0"/>
              <a:t>Introducción al </a:t>
            </a:r>
            <a:br>
              <a:rPr lang="es-GT" dirty="0"/>
            </a:br>
            <a:r>
              <a:rPr lang="es-GT" dirty="0"/>
              <a:t>Marketing Digital</a:t>
            </a:r>
          </a:p>
        </p:txBody>
      </p:sp>
      <p:sp>
        <p:nvSpPr>
          <p:cNvPr id="3" name="Marcador de texto 2">
            <a:extLst>
              <a:ext uri="{FF2B5EF4-FFF2-40B4-BE49-F238E27FC236}">
                <a16:creationId xmlns:a16="http://schemas.microsoft.com/office/drawing/2014/main" id="{06FDBF56-C5EB-056E-FD03-8CEBF4BB9FF6}"/>
              </a:ext>
            </a:extLst>
          </p:cNvPr>
          <p:cNvSpPr>
            <a:spLocks noGrp="1"/>
          </p:cNvSpPr>
          <p:nvPr>
            <p:ph type="body" idx="1"/>
          </p:nvPr>
        </p:nvSpPr>
        <p:spPr>
          <a:xfrm>
            <a:off x="311700" y="777240"/>
            <a:ext cx="8520600" cy="4236195"/>
          </a:xfrm>
        </p:spPr>
        <p:txBody>
          <a:bodyPr>
            <a:normAutofit fontScale="92500"/>
          </a:bodyPr>
          <a:lstStyle/>
          <a:p>
            <a:pPr marL="114300" indent="0">
              <a:buNone/>
            </a:pPr>
            <a:r>
              <a:rPr lang="es-MX" sz="1600" b="1" dirty="0" err="1">
                <a:solidFill>
                  <a:schemeClr val="tx1"/>
                </a:solidFill>
              </a:rPr>
              <a:t>Buyer</a:t>
            </a:r>
            <a:r>
              <a:rPr lang="es-MX" sz="1600" b="1" dirty="0">
                <a:solidFill>
                  <a:schemeClr val="tx1"/>
                </a:solidFill>
              </a:rPr>
              <a:t> persona y </a:t>
            </a:r>
            <a:r>
              <a:rPr lang="es-MX" sz="1600" b="1" dirty="0" err="1">
                <a:solidFill>
                  <a:schemeClr val="tx1"/>
                </a:solidFill>
              </a:rPr>
              <a:t>customer</a:t>
            </a:r>
            <a:r>
              <a:rPr lang="es-MX" sz="1600" b="1" dirty="0">
                <a:solidFill>
                  <a:schemeClr val="tx1"/>
                </a:solidFill>
              </a:rPr>
              <a:t> </a:t>
            </a:r>
            <a:r>
              <a:rPr lang="es-MX" sz="1600" b="1" dirty="0" err="1">
                <a:solidFill>
                  <a:schemeClr val="tx1"/>
                </a:solidFill>
              </a:rPr>
              <a:t>journey</a:t>
            </a:r>
            <a:r>
              <a:rPr lang="es-MX" sz="1600" b="1" dirty="0">
                <a:solidFill>
                  <a:schemeClr val="tx1"/>
                </a:solidFill>
              </a:rPr>
              <a:t> en entornos digitales</a:t>
            </a:r>
          </a:p>
          <a:p>
            <a:pPr marL="114300" indent="0">
              <a:buNone/>
            </a:pPr>
            <a:r>
              <a:rPr lang="es-MX" sz="1600" dirty="0">
                <a:solidFill>
                  <a:schemeClr val="tx1"/>
                </a:solidFill>
              </a:rPr>
              <a:t>El </a:t>
            </a:r>
            <a:r>
              <a:rPr lang="es-MX" sz="1600" b="1" dirty="0" err="1">
                <a:solidFill>
                  <a:schemeClr val="tx1"/>
                </a:solidFill>
              </a:rPr>
              <a:t>buyer</a:t>
            </a:r>
            <a:r>
              <a:rPr lang="es-MX" sz="1600" b="1" dirty="0">
                <a:solidFill>
                  <a:schemeClr val="tx1"/>
                </a:solidFill>
              </a:rPr>
              <a:t> persona</a:t>
            </a:r>
            <a:r>
              <a:rPr lang="es-MX" sz="1600" dirty="0">
                <a:solidFill>
                  <a:schemeClr val="tx1"/>
                </a:solidFill>
              </a:rPr>
              <a:t> es la representación </a:t>
            </a:r>
            <a:r>
              <a:rPr lang="es-MX" sz="1600" dirty="0" err="1">
                <a:solidFill>
                  <a:schemeClr val="tx1"/>
                </a:solidFill>
              </a:rPr>
              <a:t>semificticia</a:t>
            </a:r>
            <a:r>
              <a:rPr lang="es-MX" sz="1600" dirty="0">
                <a:solidFill>
                  <a:schemeClr val="tx1"/>
                </a:solidFill>
              </a:rPr>
              <a:t> del cliente ideal, basada en datos demográficos, intereses, motivaciones y comportamientos. Sirve como guía para diseñar mensajes y estrategias más acertadas. Por otro lado, el </a:t>
            </a:r>
            <a:r>
              <a:rPr lang="es-MX" sz="1600" b="1" dirty="0" err="1">
                <a:solidFill>
                  <a:schemeClr val="tx1"/>
                </a:solidFill>
              </a:rPr>
              <a:t>customer</a:t>
            </a:r>
            <a:r>
              <a:rPr lang="es-MX" sz="1600" b="1" dirty="0">
                <a:solidFill>
                  <a:schemeClr val="tx1"/>
                </a:solidFill>
              </a:rPr>
              <a:t> </a:t>
            </a:r>
            <a:r>
              <a:rPr lang="es-MX" sz="1600" b="1" dirty="0" err="1">
                <a:solidFill>
                  <a:schemeClr val="tx1"/>
                </a:solidFill>
              </a:rPr>
              <a:t>journey</a:t>
            </a:r>
            <a:r>
              <a:rPr lang="es-MX" sz="1600" dirty="0">
                <a:solidFill>
                  <a:schemeClr val="tx1"/>
                </a:solidFill>
              </a:rPr>
              <a:t> describe las etapas por las que pasa un consumidor desde que descubre una marca hasta que se convierte en cliente y promotor. En entornos digitales, este recorrido suele incluir:</a:t>
            </a:r>
          </a:p>
          <a:p>
            <a:pPr marL="114300" indent="0">
              <a:buNone/>
            </a:pPr>
            <a:endParaRPr lang="es-MX" sz="1600" dirty="0">
              <a:solidFill>
                <a:schemeClr val="tx1"/>
              </a:solidFill>
            </a:endParaRPr>
          </a:p>
          <a:p>
            <a:r>
              <a:rPr lang="es-MX" sz="1600" b="1" dirty="0">
                <a:solidFill>
                  <a:schemeClr val="tx1"/>
                </a:solidFill>
              </a:rPr>
              <a:t>Descubrimiento</a:t>
            </a:r>
            <a:r>
              <a:rPr lang="es-MX" sz="1600" dirty="0">
                <a:solidFill>
                  <a:schemeClr val="tx1"/>
                </a:solidFill>
              </a:rPr>
              <a:t>: el cliente detecta una necesidad (ej. búsqueda en Google o interacción en redes sociales).</a:t>
            </a:r>
          </a:p>
          <a:p>
            <a:r>
              <a:rPr lang="es-MX" sz="1600" b="1" dirty="0">
                <a:solidFill>
                  <a:schemeClr val="tx1"/>
                </a:solidFill>
              </a:rPr>
              <a:t>Consideración</a:t>
            </a:r>
            <a:r>
              <a:rPr lang="es-MX" sz="1600" dirty="0">
                <a:solidFill>
                  <a:schemeClr val="tx1"/>
                </a:solidFill>
              </a:rPr>
              <a:t>: compara alternativas, revisa reseñas y consume contenido informativo.</a:t>
            </a:r>
          </a:p>
          <a:p>
            <a:r>
              <a:rPr lang="es-MX" sz="1600" b="1" dirty="0">
                <a:solidFill>
                  <a:schemeClr val="tx1"/>
                </a:solidFill>
              </a:rPr>
              <a:t>Decisión</a:t>
            </a:r>
            <a:r>
              <a:rPr lang="es-MX" sz="1600" dirty="0">
                <a:solidFill>
                  <a:schemeClr val="tx1"/>
                </a:solidFill>
              </a:rPr>
              <a:t>: elige una opción y realiza la compra.</a:t>
            </a:r>
          </a:p>
          <a:p>
            <a:r>
              <a:rPr lang="es-MX" sz="1600" b="1" dirty="0">
                <a:solidFill>
                  <a:schemeClr val="tx1"/>
                </a:solidFill>
              </a:rPr>
              <a:t>Fidelización</a:t>
            </a:r>
            <a:r>
              <a:rPr lang="es-MX" sz="1600" dirty="0">
                <a:solidFill>
                  <a:schemeClr val="tx1"/>
                </a:solidFill>
              </a:rPr>
              <a:t>: evalúa su experiencia, deja opiniones y puede recomendar la marca.</a:t>
            </a:r>
          </a:p>
          <a:p>
            <a:endParaRPr lang="es-MX" sz="1600" dirty="0">
              <a:solidFill>
                <a:schemeClr val="tx1"/>
              </a:solidFill>
            </a:endParaRPr>
          </a:p>
          <a:p>
            <a:pPr marL="114300" indent="0">
              <a:buNone/>
            </a:pPr>
            <a:r>
              <a:rPr lang="es-MX" sz="1600" dirty="0">
                <a:solidFill>
                  <a:schemeClr val="tx1"/>
                </a:solidFill>
              </a:rPr>
              <a:t>Tener claro el </a:t>
            </a:r>
            <a:r>
              <a:rPr lang="es-MX" sz="1600" dirty="0" err="1">
                <a:solidFill>
                  <a:schemeClr val="tx1"/>
                </a:solidFill>
              </a:rPr>
              <a:t>buyer</a:t>
            </a:r>
            <a:r>
              <a:rPr lang="es-MX" sz="1600" dirty="0">
                <a:solidFill>
                  <a:schemeClr val="tx1"/>
                </a:solidFill>
              </a:rPr>
              <a:t> persona y el </a:t>
            </a:r>
            <a:r>
              <a:rPr lang="es-MX" sz="1600" dirty="0" err="1">
                <a:solidFill>
                  <a:schemeClr val="tx1"/>
                </a:solidFill>
              </a:rPr>
              <a:t>customer</a:t>
            </a:r>
            <a:r>
              <a:rPr lang="es-MX" sz="1600" dirty="0">
                <a:solidFill>
                  <a:schemeClr val="tx1"/>
                </a:solidFill>
              </a:rPr>
              <a:t> </a:t>
            </a:r>
            <a:r>
              <a:rPr lang="es-MX" sz="1600" dirty="0" err="1">
                <a:solidFill>
                  <a:schemeClr val="tx1"/>
                </a:solidFill>
              </a:rPr>
              <a:t>journey</a:t>
            </a:r>
            <a:r>
              <a:rPr lang="es-MX" sz="1600" dirty="0">
                <a:solidFill>
                  <a:schemeClr val="tx1"/>
                </a:solidFill>
              </a:rPr>
              <a:t> permite a las empresas diseñar estrategias digitales más efectivas, personalizadas y centradas en la experiencia del cliente.</a:t>
            </a:r>
          </a:p>
          <a:p>
            <a:pPr marL="114300" indent="0">
              <a:buNone/>
            </a:pPr>
            <a:endParaRPr lang="es-GT" sz="1400" dirty="0">
              <a:solidFill>
                <a:schemeClr val="tx1"/>
              </a:solidFill>
            </a:endParaRPr>
          </a:p>
        </p:txBody>
      </p:sp>
    </p:spTree>
    <p:extLst>
      <p:ext uri="{BB962C8B-B14F-4D97-AF65-F5344CB8AC3E}">
        <p14:creationId xmlns:p14="http://schemas.microsoft.com/office/powerpoint/2010/main" val="806660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380AE725-CCC2-1FE2-6F10-73B9D5658FCA}"/>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A0DAFCAB-0A57-1F53-60A0-B1C6412C080B}"/>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2" name="Título 1">
            <a:extLst>
              <a:ext uri="{FF2B5EF4-FFF2-40B4-BE49-F238E27FC236}">
                <a16:creationId xmlns:a16="http://schemas.microsoft.com/office/drawing/2014/main" id="{187F4AAD-998B-189C-BC6B-88D84715F101}"/>
              </a:ext>
            </a:extLst>
          </p:cNvPr>
          <p:cNvSpPr>
            <a:spLocks noGrp="1"/>
          </p:cNvSpPr>
          <p:nvPr>
            <p:ph type="title"/>
          </p:nvPr>
        </p:nvSpPr>
        <p:spPr>
          <a:xfrm>
            <a:off x="352340" y="0"/>
            <a:ext cx="8520600" cy="572700"/>
          </a:xfrm>
        </p:spPr>
        <p:txBody>
          <a:bodyPr>
            <a:normAutofit fontScale="90000"/>
          </a:bodyPr>
          <a:lstStyle/>
          <a:p>
            <a:pPr algn="ctr"/>
            <a:r>
              <a:rPr lang="es-GT" dirty="0"/>
              <a:t>Introducción al </a:t>
            </a:r>
            <a:br>
              <a:rPr lang="es-GT" dirty="0"/>
            </a:br>
            <a:r>
              <a:rPr lang="es-GT" dirty="0"/>
              <a:t>Marketing Digital</a:t>
            </a:r>
          </a:p>
        </p:txBody>
      </p:sp>
      <p:sp>
        <p:nvSpPr>
          <p:cNvPr id="3" name="Marcador de texto 2">
            <a:extLst>
              <a:ext uri="{FF2B5EF4-FFF2-40B4-BE49-F238E27FC236}">
                <a16:creationId xmlns:a16="http://schemas.microsoft.com/office/drawing/2014/main" id="{393DA799-7A1C-4B11-9C96-13A57EE23FD9}"/>
              </a:ext>
            </a:extLst>
          </p:cNvPr>
          <p:cNvSpPr>
            <a:spLocks noGrp="1"/>
          </p:cNvSpPr>
          <p:nvPr>
            <p:ph type="body" idx="1"/>
          </p:nvPr>
        </p:nvSpPr>
        <p:spPr>
          <a:xfrm>
            <a:off x="311700" y="777240"/>
            <a:ext cx="8520600" cy="4236195"/>
          </a:xfrm>
        </p:spPr>
        <p:txBody>
          <a:bodyPr>
            <a:normAutofit/>
          </a:bodyPr>
          <a:lstStyle/>
          <a:p>
            <a:pPr marL="114300" indent="0">
              <a:buNone/>
            </a:pPr>
            <a:r>
              <a:rPr lang="es-MX" sz="1600" b="1" dirty="0">
                <a:solidFill>
                  <a:schemeClr val="tx1"/>
                </a:solidFill>
              </a:rPr>
              <a:t>Estrategias de contenido y su impacto en la visibilidad online</a:t>
            </a:r>
          </a:p>
          <a:p>
            <a:pPr marL="114300" indent="0">
              <a:buNone/>
            </a:pPr>
            <a:r>
              <a:rPr lang="es-MX" sz="1600" dirty="0">
                <a:solidFill>
                  <a:schemeClr val="tx1"/>
                </a:solidFill>
              </a:rPr>
              <a:t>En el entorno digital, el contenido se ha convertido en una de las herramientas más poderosas para captar y retener la atención del público. Las </a:t>
            </a:r>
            <a:r>
              <a:rPr lang="es-MX" sz="1600" b="1" dirty="0">
                <a:solidFill>
                  <a:schemeClr val="tx1"/>
                </a:solidFill>
              </a:rPr>
              <a:t>estrategias de contenido</a:t>
            </a:r>
            <a:r>
              <a:rPr lang="es-MX" sz="1600" dirty="0">
                <a:solidFill>
                  <a:schemeClr val="tx1"/>
                </a:solidFill>
              </a:rPr>
              <a:t> buscan crear y distribuir materiales relevantes que aporten valor al consumidor, generen confianza y mejoren el posicionamiento en buscadores. Estas estrategias incluyen:</a:t>
            </a:r>
          </a:p>
          <a:p>
            <a:pPr marL="114300" indent="0">
              <a:buNone/>
            </a:pPr>
            <a:endParaRPr lang="es-MX" sz="1600" dirty="0">
              <a:solidFill>
                <a:schemeClr val="tx1"/>
              </a:solidFill>
            </a:endParaRPr>
          </a:p>
          <a:p>
            <a:r>
              <a:rPr lang="es-MX" sz="1600" b="1" dirty="0">
                <a:solidFill>
                  <a:schemeClr val="tx1"/>
                </a:solidFill>
              </a:rPr>
              <a:t>Blogs y artículos</a:t>
            </a:r>
            <a:r>
              <a:rPr lang="es-MX" sz="1600" dirty="0">
                <a:solidFill>
                  <a:schemeClr val="tx1"/>
                </a:solidFill>
              </a:rPr>
              <a:t> optimizados con SEO para atraer tráfico orgánico.</a:t>
            </a:r>
          </a:p>
          <a:p>
            <a:r>
              <a:rPr lang="es-MX" sz="1600" b="1" dirty="0">
                <a:solidFill>
                  <a:schemeClr val="tx1"/>
                </a:solidFill>
              </a:rPr>
              <a:t>Videos</a:t>
            </a:r>
            <a:r>
              <a:rPr lang="es-MX" sz="1600" dirty="0">
                <a:solidFill>
                  <a:schemeClr val="tx1"/>
                </a:solidFill>
              </a:rPr>
              <a:t> educativos o promocionales en plataformas como YouTube o TikTok.</a:t>
            </a:r>
          </a:p>
          <a:p>
            <a:r>
              <a:rPr lang="es-MX" sz="1600" b="1" dirty="0">
                <a:solidFill>
                  <a:schemeClr val="tx1"/>
                </a:solidFill>
              </a:rPr>
              <a:t>Infografías y posts en redes sociales</a:t>
            </a:r>
            <a:r>
              <a:rPr lang="es-MX" sz="1600" dirty="0">
                <a:solidFill>
                  <a:schemeClr val="tx1"/>
                </a:solidFill>
              </a:rPr>
              <a:t> que faciliten la comprensión visual.</a:t>
            </a:r>
          </a:p>
          <a:p>
            <a:r>
              <a:rPr lang="es-MX" sz="1600" b="1" dirty="0">
                <a:solidFill>
                  <a:schemeClr val="tx1"/>
                </a:solidFill>
              </a:rPr>
              <a:t>Email marketing</a:t>
            </a:r>
            <a:r>
              <a:rPr lang="es-MX" sz="1600" dirty="0">
                <a:solidFill>
                  <a:schemeClr val="tx1"/>
                </a:solidFill>
              </a:rPr>
              <a:t> con información segmentada y personalizada.</a:t>
            </a:r>
          </a:p>
          <a:p>
            <a:endParaRPr lang="es-MX" sz="1600" dirty="0">
              <a:solidFill>
                <a:schemeClr val="tx1"/>
              </a:solidFill>
            </a:endParaRPr>
          </a:p>
          <a:p>
            <a:pPr marL="114300" indent="0">
              <a:buNone/>
            </a:pPr>
            <a:r>
              <a:rPr lang="es-MX" sz="1600" dirty="0">
                <a:solidFill>
                  <a:schemeClr val="tx1"/>
                </a:solidFill>
              </a:rPr>
              <a:t>El impacto de estas acciones se refleja en una mayor </a:t>
            </a:r>
            <a:r>
              <a:rPr lang="es-MX" sz="1600" b="1" dirty="0">
                <a:solidFill>
                  <a:schemeClr val="tx1"/>
                </a:solidFill>
              </a:rPr>
              <a:t>visibilidad online</a:t>
            </a:r>
            <a:r>
              <a:rPr lang="es-MX" sz="1600" dirty="0">
                <a:solidFill>
                  <a:schemeClr val="tx1"/>
                </a:solidFill>
              </a:rPr>
              <a:t>, ya que las marcas logran aparecer en los primeros resultados de búsqueda, atraer a su público objetivo y fortalecer su autoridad en el mercado digital.</a:t>
            </a:r>
          </a:p>
          <a:p>
            <a:pPr marL="114300" indent="0">
              <a:buNone/>
            </a:pPr>
            <a:endParaRPr lang="es-GT" sz="1400" dirty="0">
              <a:solidFill>
                <a:schemeClr val="tx1"/>
              </a:solidFill>
            </a:endParaRPr>
          </a:p>
        </p:txBody>
      </p:sp>
    </p:spTree>
    <p:extLst>
      <p:ext uri="{BB962C8B-B14F-4D97-AF65-F5344CB8AC3E}">
        <p14:creationId xmlns:p14="http://schemas.microsoft.com/office/powerpoint/2010/main" val="32821890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9E9C14C7-9952-15FE-FB8B-4E4BC9503552}"/>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A414A63A-2D72-BFA3-3E47-4C7DB9CFD0A9}"/>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2" name="Título 1">
            <a:extLst>
              <a:ext uri="{FF2B5EF4-FFF2-40B4-BE49-F238E27FC236}">
                <a16:creationId xmlns:a16="http://schemas.microsoft.com/office/drawing/2014/main" id="{1A8F12F7-894C-C8D1-647E-42C41271DCDC}"/>
              </a:ext>
            </a:extLst>
          </p:cNvPr>
          <p:cNvSpPr>
            <a:spLocks noGrp="1"/>
          </p:cNvSpPr>
          <p:nvPr>
            <p:ph type="title"/>
          </p:nvPr>
        </p:nvSpPr>
        <p:spPr>
          <a:xfrm>
            <a:off x="367580" y="0"/>
            <a:ext cx="8520600" cy="572700"/>
          </a:xfrm>
        </p:spPr>
        <p:txBody>
          <a:bodyPr>
            <a:normAutofit fontScale="90000"/>
          </a:bodyPr>
          <a:lstStyle/>
          <a:p>
            <a:pPr algn="ctr"/>
            <a:r>
              <a:rPr lang="es-MX" dirty="0"/>
              <a:t>Comportamiento </a:t>
            </a:r>
            <a:br>
              <a:rPr lang="es-MX" dirty="0"/>
            </a:br>
            <a:r>
              <a:rPr lang="es-MX" dirty="0"/>
              <a:t>del análisis de tráfico</a:t>
            </a:r>
            <a:endParaRPr lang="es-GT" dirty="0"/>
          </a:p>
        </p:txBody>
      </p:sp>
      <p:sp>
        <p:nvSpPr>
          <p:cNvPr id="3" name="Marcador de texto 2">
            <a:extLst>
              <a:ext uri="{FF2B5EF4-FFF2-40B4-BE49-F238E27FC236}">
                <a16:creationId xmlns:a16="http://schemas.microsoft.com/office/drawing/2014/main" id="{8271C3A5-71C5-41E5-B79B-4E23EBB588A4}"/>
              </a:ext>
            </a:extLst>
          </p:cNvPr>
          <p:cNvSpPr>
            <a:spLocks noGrp="1"/>
          </p:cNvSpPr>
          <p:nvPr>
            <p:ph type="body" idx="1"/>
          </p:nvPr>
        </p:nvSpPr>
        <p:spPr>
          <a:xfrm>
            <a:off x="311700" y="777240"/>
            <a:ext cx="8520600" cy="4236195"/>
          </a:xfrm>
        </p:spPr>
        <p:txBody>
          <a:bodyPr>
            <a:normAutofit fontScale="92500"/>
          </a:bodyPr>
          <a:lstStyle/>
          <a:p>
            <a:pPr marL="114300" indent="0">
              <a:buNone/>
            </a:pPr>
            <a:r>
              <a:rPr lang="es-MX" sz="1600" b="1" dirty="0">
                <a:solidFill>
                  <a:schemeClr val="tx1"/>
                </a:solidFill>
              </a:rPr>
              <a:t>Fuentes de tráfico digital: orgánico, de pago, directo, referido y redes sociales</a:t>
            </a:r>
          </a:p>
          <a:p>
            <a:pPr marL="114300" indent="0">
              <a:buNone/>
            </a:pPr>
            <a:endParaRPr lang="es-MX" sz="1600" dirty="0">
              <a:solidFill>
                <a:schemeClr val="tx1"/>
              </a:solidFill>
            </a:endParaRPr>
          </a:p>
          <a:p>
            <a:pPr marL="114300" indent="0">
              <a:buNone/>
            </a:pPr>
            <a:r>
              <a:rPr lang="es-MX" sz="1600" dirty="0">
                <a:solidFill>
                  <a:schemeClr val="tx1"/>
                </a:solidFill>
              </a:rPr>
              <a:t>El análisis de tráfico digital comienza por identificar de dónde provienen los visitantes de un sitio web. Las principales fuentes son diversas y cada una aporta un valor distinto al negocio. </a:t>
            </a:r>
          </a:p>
          <a:p>
            <a:pPr marL="114300" indent="0">
              <a:buNone/>
            </a:pPr>
            <a:endParaRPr lang="es-MX" sz="1600" dirty="0">
              <a:solidFill>
                <a:schemeClr val="tx1"/>
              </a:solidFill>
            </a:endParaRPr>
          </a:p>
          <a:p>
            <a:pPr marL="114300" indent="0">
              <a:buNone/>
            </a:pPr>
            <a:r>
              <a:rPr lang="es-MX" sz="1600" dirty="0">
                <a:solidFill>
                  <a:schemeClr val="tx1"/>
                </a:solidFill>
              </a:rPr>
              <a:t>El </a:t>
            </a:r>
            <a:r>
              <a:rPr lang="es-MX" sz="1600" b="1" dirty="0">
                <a:solidFill>
                  <a:schemeClr val="tx1"/>
                </a:solidFill>
              </a:rPr>
              <a:t>tráfico orgánico</a:t>
            </a:r>
            <a:r>
              <a:rPr lang="es-MX" sz="1600" dirty="0">
                <a:solidFill>
                  <a:schemeClr val="tx1"/>
                </a:solidFill>
              </a:rPr>
              <a:t> proviene de motores de búsqueda como Google, gracias a la optimización SEO. </a:t>
            </a:r>
          </a:p>
          <a:p>
            <a:pPr marL="114300" indent="0">
              <a:buNone/>
            </a:pPr>
            <a:r>
              <a:rPr lang="es-MX" sz="1600" dirty="0">
                <a:solidFill>
                  <a:schemeClr val="tx1"/>
                </a:solidFill>
              </a:rPr>
              <a:t>El </a:t>
            </a:r>
            <a:r>
              <a:rPr lang="es-MX" sz="1600" b="1" dirty="0">
                <a:solidFill>
                  <a:schemeClr val="tx1"/>
                </a:solidFill>
              </a:rPr>
              <a:t>tráfico de pago</a:t>
            </a:r>
            <a:r>
              <a:rPr lang="es-MX" sz="1600" dirty="0">
                <a:solidFill>
                  <a:schemeClr val="tx1"/>
                </a:solidFill>
              </a:rPr>
              <a:t> se genera a través de campañas publicitarias en buscadores o redes sociales. </a:t>
            </a:r>
          </a:p>
          <a:p>
            <a:pPr marL="114300" indent="0">
              <a:buNone/>
            </a:pPr>
            <a:r>
              <a:rPr lang="es-MX" sz="1600" dirty="0">
                <a:solidFill>
                  <a:schemeClr val="tx1"/>
                </a:solidFill>
              </a:rPr>
              <a:t>El </a:t>
            </a:r>
            <a:r>
              <a:rPr lang="es-MX" sz="1600" b="1" dirty="0">
                <a:solidFill>
                  <a:schemeClr val="tx1"/>
                </a:solidFill>
              </a:rPr>
              <a:t>tráfico directo</a:t>
            </a:r>
            <a:r>
              <a:rPr lang="es-MX" sz="1600" dirty="0">
                <a:solidFill>
                  <a:schemeClr val="tx1"/>
                </a:solidFill>
              </a:rPr>
              <a:t> ocurre cuando los usuarios escriben directamente la URL en su navegador. </a:t>
            </a:r>
          </a:p>
          <a:p>
            <a:pPr marL="114300" indent="0">
              <a:buNone/>
            </a:pPr>
            <a:r>
              <a:rPr lang="es-MX" sz="1600" dirty="0">
                <a:solidFill>
                  <a:schemeClr val="tx1"/>
                </a:solidFill>
              </a:rPr>
              <a:t>El </a:t>
            </a:r>
            <a:r>
              <a:rPr lang="es-MX" sz="1600" b="1" dirty="0">
                <a:solidFill>
                  <a:schemeClr val="tx1"/>
                </a:solidFill>
              </a:rPr>
              <a:t>tráfico referido</a:t>
            </a:r>
            <a:r>
              <a:rPr lang="es-MX" sz="1600" dirty="0">
                <a:solidFill>
                  <a:schemeClr val="tx1"/>
                </a:solidFill>
              </a:rPr>
              <a:t> llega desde otros sitios web que incluyen enlaces hacia la página analizada. </a:t>
            </a:r>
          </a:p>
          <a:p>
            <a:pPr marL="114300" indent="0">
              <a:buNone/>
            </a:pPr>
            <a:r>
              <a:rPr lang="es-MX" sz="1600" dirty="0">
                <a:solidFill>
                  <a:schemeClr val="tx1"/>
                </a:solidFill>
              </a:rPr>
              <a:t>Finalmente, el </a:t>
            </a:r>
            <a:r>
              <a:rPr lang="es-MX" sz="1600" b="1" dirty="0">
                <a:solidFill>
                  <a:schemeClr val="tx1"/>
                </a:solidFill>
              </a:rPr>
              <a:t>tráfico de redes sociales</a:t>
            </a:r>
            <a:r>
              <a:rPr lang="es-MX" sz="1600" dirty="0">
                <a:solidFill>
                  <a:schemeClr val="tx1"/>
                </a:solidFill>
              </a:rPr>
              <a:t> corresponde a las visitas que provienen de plataformas como Facebook, Instagram o LinkedIn. </a:t>
            </a:r>
          </a:p>
          <a:p>
            <a:pPr marL="114300" indent="0">
              <a:buNone/>
            </a:pPr>
            <a:endParaRPr lang="es-MX" sz="1600" dirty="0">
              <a:solidFill>
                <a:schemeClr val="tx1"/>
              </a:solidFill>
            </a:endParaRPr>
          </a:p>
          <a:p>
            <a:pPr marL="114300" indent="0">
              <a:buNone/>
            </a:pPr>
            <a:r>
              <a:rPr lang="es-MX" sz="1600" dirty="0">
                <a:solidFill>
                  <a:schemeClr val="tx1"/>
                </a:solidFill>
              </a:rPr>
              <a:t>Conocer estas fuentes permite optimizar estrategias y distribuir mejor los recursos de marketing.</a:t>
            </a:r>
            <a:endParaRPr lang="es-GT" sz="1400" dirty="0">
              <a:solidFill>
                <a:schemeClr val="tx1"/>
              </a:solidFill>
            </a:endParaRPr>
          </a:p>
        </p:txBody>
      </p:sp>
    </p:spTree>
    <p:extLst>
      <p:ext uri="{BB962C8B-B14F-4D97-AF65-F5344CB8AC3E}">
        <p14:creationId xmlns:p14="http://schemas.microsoft.com/office/powerpoint/2010/main" val="24600370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A0818E6F-CA01-3620-C74B-90DB042A6C94}"/>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1C124E2D-2634-AE78-5079-525EDC3E259D}"/>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2" name="Título 1">
            <a:extLst>
              <a:ext uri="{FF2B5EF4-FFF2-40B4-BE49-F238E27FC236}">
                <a16:creationId xmlns:a16="http://schemas.microsoft.com/office/drawing/2014/main" id="{05168751-222D-D169-1AB1-A4C47DC524CF}"/>
              </a:ext>
            </a:extLst>
          </p:cNvPr>
          <p:cNvSpPr>
            <a:spLocks noGrp="1"/>
          </p:cNvSpPr>
          <p:nvPr>
            <p:ph type="title"/>
          </p:nvPr>
        </p:nvSpPr>
        <p:spPr>
          <a:xfrm>
            <a:off x="367580" y="0"/>
            <a:ext cx="8520600" cy="572700"/>
          </a:xfrm>
        </p:spPr>
        <p:txBody>
          <a:bodyPr>
            <a:normAutofit fontScale="90000"/>
          </a:bodyPr>
          <a:lstStyle/>
          <a:p>
            <a:pPr algn="ctr"/>
            <a:r>
              <a:rPr lang="es-MX" dirty="0"/>
              <a:t>Comportamiento </a:t>
            </a:r>
            <a:br>
              <a:rPr lang="es-MX" dirty="0"/>
            </a:br>
            <a:r>
              <a:rPr lang="es-MX" dirty="0"/>
              <a:t>del análisis de tráfico</a:t>
            </a:r>
            <a:endParaRPr lang="es-GT" dirty="0"/>
          </a:p>
        </p:txBody>
      </p:sp>
      <p:sp>
        <p:nvSpPr>
          <p:cNvPr id="3" name="Marcador de texto 2">
            <a:extLst>
              <a:ext uri="{FF2B5EF4-FFF2-40B4-BE49-F238E27FC236}">
                <a16:creationId xmlns:a16="http://schemas.microsoft.com/office/drawing/2014/main" id="{C456D433-8E54-09BB-56A8-E0D1C46CF23A}"/>
              </a:ext>
            </a:extLst>
          </p:cNvPr>
          <p:cNvSpPr>
            <a:spLocks noGrp="1"/>
          </p:cNvSpPr>
          <p:nvPr>
            <p:ph type="body" idx="1"/>
          </p:nvPr>
        </p:nvSpPr>
        <p:spPr>
          <a:xfrm>
            <a:off x="311700" y="777240"/>
            <a:ext cx="8520600" cy="4236195"/>
          </a:xfrm>
        </p:spPr>
        <p:txBody>
          <a:bodyPr>
            <a:normAutofit fontScale="92500" lnSpcReduction="10000"/>
          </a:bodyPr>
          <a:lstStyle/>
          <a:p>
            <a:pPr marL="114300" indent="0">
              <a:buNone/>
            </a:pPr>
            <a:r>
              <a:rPr lang="es-MX" sz="1600" b="1" dirty="0">
                <a:solidFill>
                  <a:schemeClr val="tx1"/>
                </a:solidFill>
              </a:rPr>
              <a:t>Análisis del comportamiento del usuario: páginas vistas, tiempo en el sitio, tasa de rebote y recorridos de navegación</a:t>
            </a:r>
          </a:p>
          <a:p>
            <a:pPr marL="114300" indent="0">
              <a:buNone/>
            </a:pPr>
            <a:r>
              <a:rPr lang="es-MX" sz="1600" dirty="0">
                <a:solidFill>
                  <a:schemeClr val="tx1"/>
                </a:solidFill>
              </a:rPr>
              <a:t>Además de saber de dónde viene el tráfico, es crucial comprender cómo interactúan los usuarios dentro del sitio. Para ello, se analizan métricas que revelan su nivel de interés. Entre las más relevantes están:</a:t>
            </a:r>
          </a:p>
          <a:p>
            <a:pPr marL="114300" indent="0">
              <a:buNone/>
            </a:pPr>
            <a:endParaRPr lang="es-MX" sz="1600" dirty="0">
              <a:solidFill>
                <a:schemeClr val="tx1"/>
              </a:solidFill>
            </a:endParaRPr>
          </a:p>
          <a:p>
            <a:r>
              <a:rPr lang="es-MX" sz="1600" b="1" dirty="0">
                <a:solidFill>
                  <a:schemeClr val="tx1"/>
                </a:solidFill>
              </a:rPr>
              <a:t>Páginas vistas</a:t>
            </a:r>
            <a:r>
              <a:rPr lang="es-MX" sz="1600" dirty="0">
                <a:solidFill>
                  <a:schemeClr val="tx1"/>
                </a:solidFill>
              </a:rPr>
              <a:t>: número total de páginas consultadas por los visitantes.</a:t>
            </a:r>
          </a:p>
          <a:p>
            <a:r>
              <a:rPr lang="es-MX" sz="1600" b="1" dirty="0">
                <a:solidFill>
                  <a:schemeClr val="tx1"/>
                </a:solidFill>
              </a:rPr>
              <a:t>Tiempo en el sitio</a:t>
            </a:r>
            <a:r>
              <a:rPr lang="es-MX" sz="1600" dirty="0">
                <a:solidFill>
                  <a:schemeClr val="tx1"/>
                </a:solidFill>
              </a:rPr>
              <a:t>: duración promedio de la sesión, útil para evaluar si el contenido resulta atractivo.</a:t>
            </a:r>
          </a:p>
          <a:p>
            <a:r>
              <a:rPr lang="es-MX" sz="1600" b="1" dirty="0">
                <a:solidFill>
                  <a:schemeClr val="tx1"/>
                </a:solidFill>
              </a:rPr>
              <a:t>Tasa de rebote</a:t>
            </a:r>
            <a:r>
              <a:rPr lang="es-MX" sz="1600" dirty="0">
                <a:solidFill>
                  <a:schemeClr val="tx1"/>
                </a:solidFill>
              </a:rPr>
              <a:t>: porcentaje de usuarios que entran y salen sin interactuar, lo cual puede indicar problemas de usabilidad o contenido poco relevante.</a:t>
            </a:r>
          </a:p>
          <a:p>
            <a:r>
              <a:rPr lang="es-MX" sz="1600" b="1" dirty="0">
                <a:solidFill>
                  <a:schemeClr val="tx1"/>
                </a:solidFill>
              </a:rPr>
              <a:t>Recorridos de navegación</a:t>
            </a:r>
            <a:r>
              <a:rPr lang="es-MX" sz="1600" dirty="0">
                <a:solidFill>
                  <a:schemeClr val="tx1"/>
                </a:solidFill>
              </a:rPr>
              <a:t>: rutas que siguen los usuarios dentro del sitio, mostrando qué páginas visitan antes de realizar una acción.</a:t>
            </a:r>
          </a:p>
          <a:p>
            <a:endParaRPr lang="es-MX" sz="1600" dirty="0">
              <a:solidFill>
                <a:schemeClr val="tx1"/>
              </a:solidFill>
            </a:endParaRPr>
          </a:p>
          <a:p>
            <a:pPr marL="114300" indent="0">
              <a:buNone/>
            </a:pPr>
            <a:r>
              <a:rPr lang="es-MX" sz="1600" dirty="0">
                <a:solidFill>
                  <a:schemeClr val="tx1"/>
                </a:solidFill>
              </a:rPr>
              <a:t>Estos datos permiten mejorar la experiencia del usuario y aumentar la probabilidad de conversión.</a:t>
            </a:r>
          </a:p>
          <a:p>
            <a:pPr marL="114300" indent="0">
              <a:buNone/>
            </a:pPr>
            <a:endParaRPr lang="es-GT" sz="1400" dirty="0">
              <a:solidFill>
                <a:schemeClr val="tx1"/>
              </a:solidFill>
            </a:endParaRPr>
          </a:p>
        </p:txBody>
      </p:sp>
    </p:spTree>
    <p:extLst>
      <p:ext uri="{BB962C8B-B14F-4D97-AF65-F5344CB8AC3E}">
        <p14:creationId xmlns:p14="http://schemas.microsoft.com/office/powerpoint/2010/main" val="31644828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45DBD934-6316-1A61-C40B-79DB3F2A944A}"/>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9BEB1CB2-EEA9-7F6C-CD73-E01B476514DF}"/>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2" name="Título 1">
            <a:extLst>
              <a:ext uri="{FF2B5EF4-FFF2-40B4-BE49-F238E27FC236}">
                <a16:creationId xmlns:a16="http://schemas.microsoft.com/office/drawing/2014/main" id="{658BF54D-28FA-D5C3-06D8-439717158FC5}"/>
              </a:ext>
            </a:extLst>
          </p:cNvPr>
          <p:cNvSpPr>
            <a:spLocks noGrp="1"/>
          </p:cNvSpPr>
          <p:nvPr>
            <p:ph type="title"/>
          </p:nvPr>
        </p:nvSpPr>
        <p:spPr>
          <a:xfrm>
            <a:off x="367580" y="0"/>
            <a:ext cx="8520600" cy="572700"/>
          </a:xfrm>
        </p:spPr>
        <p:txBody>
          <a:bodyPr>
            <a:normAutofit fontScale="90000"/>
          </a:bodyPr>
          <a:lstStyle/>
          <a:p>
            <a:pPr algn="ctr"/>
            <a:r>
              <a:rPr lang="es-MX" dirty="0"/>
              <a:t>Comportamiento </a:t>
            </a:r>
            <a:br>
              <a:rPr lang="es-MX" dirty="0"/>
            </a:br>
            <a:r>
              <a:rPr lang="es-MX" dirty="0"/>
              <a:t>del análisis de tráfico</a:t>
            </a:r>
            <a:endParaRPr lang="es-GT" dirty="0"/>
          </a:p>
        </p:txBody>
      </p:sp>
      <p:sp>
        <p:nvSpPr>
          <p:cNvPr id="3" name="Marcador de texto 2">
            <a:extLst>
              <a:ext uri="{FF2B5EF4-FFF2-40B4-BE49-F238E27FC236}">
                <a16:creationId xmlns:a16="http://schemas.microsoft.com/office/drawing/2014/main" id="{61D1792B-F4AA-9969-74AA-E3B8A48B663E}"/>
              </a:ext>
            </a:extLst>
          </p:cNvPr>
          <p:cNvSpPr>
            <a:spLocks noGrp="1"/>
          </p:cNvSpPr>
          <p:nvPr>
            <p:ph type="body" idx="1"/>
          </p:nvPr>
        </p:nvSpPr>
        <p:spPr>
          <a:xfrm>
            <a:off x="311700" y="777240"/>
            <a:ext cx="8520600" cy="4236195"/>
          </a:xfrm>
        </p:spPr>
        <p:txBody>
          <a:bodyPr>
            <a:normAutofit lnSpcReduction="10000"/>
          </a:bodyPr>
          <a:lstStyle/>
          <a:p>
            <a:pPr marL="114300" indent="0">
              <a:buNone/>
            </a:pPr>
            <a:r>
              <a:rPr lang="es-MX" sz="1600" b="1" dirty="0">
                <a:solidFill>
                  <a:schemeClr val="tx1"/>
                </a:solidFill>
              </a:rPr>
              <a:t>Segmentación del tráfico: por ubicación geográfica, dispositivo, horario y demografía</a:t>
            </a:r>
          </a:p>
          <a:p>
            <a:pPr marL="114300" indent="0">
              <a:buNone/>
            </a:pPr>
            <a:r>
              <a:rPr lang="es-MX" sz="1600" dirty="0">
                <a:solidFill>
                  <a:schemeClr val="tx1"/>
                </a:solidFill>
              </a:rPr>
              <a:t>El análisis de tráfico también implica dividir y comprender a la audiencia según diferentes variables.</a:t>
            </a:r>
          </a:p>
          <a:p>
            <a:pPr marL="114300" indent="0">
              <a:buNone/>
            </a:pPr>
            <a:r>
              <a:rPr lang="es-MX" sz="1600" dirty="0">
                <a:solidFill>
                  <a:schemeClr val="tx1"/>
                </a:solidFill>
              </a:rPr>
              <a:t>La </a:t>
            </a:r>
            <a:r>
              <a:rPr lang="es-MX" sz="1600" b="1" dirty="0">
                <a:solidFill>
                  <a:schemeClr val="tx1"/>
                </a:solidFill>
              </a:rPr>
              <a:t>segmentación por ubicación geográfica</a:t>
            </a:r>
            <a:r>
              <a:rPr lang="es-MX" sz="1600" dirty="0">
                <a:solidFill>
                  <a:schemeClr val="tx1"/>
                </a:solidFill>
              </a:rPr>
              <a:t> revela desde qué países, regiones o ciudades acceden los usuarios, lo que ayuda a adaptar estrategias locales. </a:t>
            </a:r>
          </a:p>
          <a:p>
            <a:pPr marL="114300" indent="0">
              <a:buNone/>
            </a:pPr>
            <a:r>
              <a:rPr lang="es-MX" sz="1600" dirty="0">
                <a:solidFill>
                  <a:schemeClr val="tx1"/>
                </a:solidFill>
              </a:rPr>
              <a:t>La </a:t>
            </a:r>
            <a:r>
              <a:rPr lang="es-MX" sz="1600" b="1" dirty="0">
                <a:solidFill>
                  <a:schemeClr val="tx1"/>
                </a:solidFill>
              </a:rPr>
              <a:t>segmentación por dispositivo</a:t>
            </a:r>
            <a:r>
              <a:rPr lang="es-MX" sz="1600" dirty="0">
                <a:solidFill>
                  <a:schemeClr val="tx1"/>
                </a:solidFill>
              </a:rPr>
              <a:t> distingue si el acceso se realiza desde computadora, </a:t>
            </a:r>
            <a:r>
              <a:rPr lang="es-MX" sz="1600" dirty="0" err="1">
                <a:solidFill>
                  <a:schemeClr val="tx1"/>
                </a:solidFill>
              </a:rPr>
              <a:t>tablet</a:t>
            </a:r>
            <a:r>
              <a:rPr lang="es-MX" sz="1600" dirty="0">
                <a:solidFill>
                  <a:schemeClr val="tx1"/>
                </a:solidFill>
              </a:rPr>
              <a:t> o smartphone, optimizando así la experiencia en cada formato. </a:t>
            </a:r>
          </a:p>
          <a:p>
            <a:pPr marL="114300" indent="0">
              <a:buNone/>
            </a:pPr>
            <a:r>
              <a:rPr lang="es-MX" sz="1600" dirty="0">
                <a:solidFill>
                  <a:schemeClr val="tx1"/>
                </a:solidFill>
              </a:rPr>
              <a:t>El </a:t>
            </a:r>
            <a:r>
              <a:rPr lang="es-MX" sz="1600" b="1" dirty="0">
                <a:solidFill>
                  <a:schemeClr val="tx1"/>
                </a:solidFill>
              </a:rPr>
              <a:t>análisis por horario</a:t>
            </a:r>
            <a:r>
              <a:rPr lang="es-MX" sz="1600" dirty="0">
                <a:solidFill>
                  <a:schemeClr val="tx1"/>
                </a:solidFill>
              </a:rPr>
              <a:t> permite identificar los momentos del día o días de la semana con mayor actividad. </a:t>
            </a:r>
          </a:p>
          <a:p>
            <a:pPr marL="114300" indent="0">
              <a:buNone/>
            </a:pPr>
            <a:r>
              <a:rPr lang="es-MX" sz="1600" dirty="0">
                <a:solidFill>
                  <a:schemeClr val="tx1"/>
                </a:solidFill>
              </a:rPr>
              <a:t>La </a:t>
            </a:r>
            <a:r>
              <a:rPr lang="es-MX" sz="1600" b="1" dirty="0">
                <a:solidFill>
                  <a:schemeClr val="tx1"/>
                </a:solidFill>
              </a:rPr>
              <a:t>segmentación demográfica</a:t>
            </a:r>
            <a:r>
              <a:rPr lang="es-MX" sz="1600" dirty="0">
                <a:solidFill>
                  <a:schemeClr val="tx1"/>
                </a:solidFill>
              </a:rPr>
              <a:t> considera factores como edad, género e intereses, útiles para crear campañas personalizadas. </a:t>
            </a:r>
          </a:p>
          <a:p>
            <a:pPr marL="114300" indent="0">
              <a:buNone/>
            </a:pPr>
            <a:endParaRPr lang="es-MX" sz="1600" dirty="0">
              <a:solidFill>
                <a:schemeClr val="tx1"/>
              </a:solidFill>
            </a:endParaRPr>
          </a:p>
          <a:p>
            <a:pPr marL="114300" indent="0">
              <a:buNone/>
            </a:pPr>
            <a:r>
              <a:rPr lang="es-MX" sz="1600" dirty="0">
                <a:solidFill>
                  <a:schemeClr val="tx1"/>
                </a:solidFill>
              </a:rPr>
              <a:t>Esta segmentación da una visión más precisa del público y facilita la toma de decisiones estratégicas.</a:t>
            </a:r>
          </a:p>
          <a:p>
            <a:pPr marL="114300" indent="0">
              <a:buNone/>
            </a:pPr>
            <a:endParaRPr lang="es-GT" sz="1400" dirty="0">
              <a:solidFill>
                <a:schemeClr val="tx1"/>
              </a:solidFill>
            </a:endParaRPr>
          </a:p>
        </p:txBody>
      </p:sp>
    </p:spTree>
    <p:extLst>
      <p:ext uri="{BB962C8B-B14F-4D97-AF65-F5344CB8AC3E}">
        <p14:creationId xmlns:p14="http://schemas.microsoft.com/office/powerpoint/2010/main" val="22242186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2704CD05-B7F2-0397-75FF-AEDCA8B7DC6D}"/>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0F1B7A74-B9B4-797C-C47B-159BEB1AD76E}"/>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2" name="Título 1">
            <a:extLst>
              <a:ext uri="{FF2B5EF4-FFF2-40B4-BE49-F238E27FC236}">
                <a16:creationId xmlns:a16="http://schemas.microsoft.com/office/drawing/2014/main" id="{9203CA85-3B61-6202-DAFB-7A035C841D14}"/>
              </a:ext>
            </a:extLst>
          </p:cNvPr>
          <p:cNvSpPr>
            <a:spLocks noGrp="1"/>
          </p:cNvSpPr>
          <p:nvPr>
            <p:ph type="title"/>
          </p:nvPr>
        </p:nvSpPr>
        <p:spPr>
          <a:xfrm>
            <a:off x="367580" y="0"/>
            <a:ext cx="8520600" cy="572700"/>
          </a:xfrm>
        </p:spPr>
        <p:txBody>
          <a:bodyPr>
            <a:normAutofit fontScale="90000"/>
          </a:bodyPr>
          <a:lstStyle/>
          <a:p>
            <a:pPr algn="ctr"/>
            <a:r>
              <a:rPr lang="es-MX" dirty="0"/>
              <a:t>Comportamiento </a:t>
            </a:r>
            <a:br>
              <a:rPr lang="es-MX" dirty="0"/>
            </a:br>
            <a:r>
              <a:rPr lang="es-MX" dirty="0"/>
              <a:t>del análisis de tráfico</a:t>
            </a:r>
            <a:endParaRPr lang="es-GT" dirty="0"/>
          </a:p>
        </p:txBody>
      </p:sp>
      <p:sp>
        <p:nvSpPr>
          <p:cNvPr id="3" name="Marcador de texto 2">
            <a:extLst>
              <a:ext uri="{FF2B5EF4-FFF2-40B4-BE49-F238E27FC236}">
                <a16:creationId xmlns:a16="http://schemas.microsoft.com/office/drawing/2014/main" id="{F2CC0DDC-B099-5DE1-84CA-3FE236865059}"/>
              </a:ext>
            </a:extLst>
          </p:cNvPr>
          <p:cNvSpPr>
            <a:spLocks noGrp="1"/>
          </p:cNvSpPr>
          <p:nvPr>
            <p:ph type="body" idx="1"/>
          </p:nvPr>
        </p:nvSpPr>
        <p:spPr>
          <a:xfrm>
            <a:off x="311700" y="777240"/>
            <a:ext cx="8520600" cy="4236195"/>
          </a:xfrm>
        </p:spPr>
        <p:txBody>
          <a:bodyPr>
            <a:normAutofit/>
          </a:bodyPr>
          <a:lstStyle/>
          <a:p>
            <a:pPr marL="114300" indent="0">
              <a:buNone/>
            </a:pPr>
            <a:r>
              <a:rPr lang="es-MX" sz="1600" b="1" dirty="0">
                <a:solidFill>
                  <a:schemeClr val="tx1"/>
                </a:solidFill>
              </a:rPr>
              <a:t>Herramientas de análisis de tráfico: Google </a:t>
            </a:r>
            <a:r>
              <a:rPr lang="es-MX" sz="1600" b="1" dirty="0" err="1">
                <a:solidFill>
                  <a:schemeClr val="tx1"/>
                </a:solidFill>
              </a:rPr>
              <a:t>Analytics</a:t>
            </a:r>
            <a:r>
              <a:rPr lang="es-MX" sz="1600" b="1" dirty="0">
                <a:solidFill>
                  <a:schemeClr val="tx1"/>
                </a:solidFill>
              </a:rPr>
              <a:t>, </a:t>
            </a:r>
            <a:r>
              <a:rPr lang="es-MX" sz="1600" b="1" dirty="0" err="1">
                <a:solidFill>
                  <a:schemeClr val="tx1"/>
                </a:solidFill>
              </a:rPr>
              <a:t>Search</a:t>
            </a:r>
            <a:r>
              <a:rPr lang="es-MX" sz="1600" b="1" dirty="0">
                <a:solidFill>
                  <a:schemeClr val="tx1"/>
                </a:solidFill>
              </a:rPr>
              <a:t> </a:t>
            </a:r>
            <a:r>
              <a:rPr lang="es-MX" sz="1600" b="1" dirty="0" err="1">
                <a:solidFill>
                  <a:schemeClr val="tx1"/>
                </a:solidFill>
              </a:rPr>
              <a:t>Console</a:t>
            </a:r>
            <a:r>
              <a:rPr lang="es-MX" sz="1600" b="1" dirty="0">
                <a:solidFill>
                  <a:schemeClr val="tx1"/>
                </a:solidFill>
              </a:rPr>
              <a:t> y otras plataformas</a:t>
            </a:r>
          </a:p>
          <a:p>
            <a:pPr marL="114300" indent="0">
              <a:buNone/>
            </a:pPr>
            <a:r>
              <a:rPr lang="es-MX" sz="1600" dirty="0">
                <a:solidFill>
                  <a:schemeClr val="tx1"/>
                </a:solidFill>
              </a:rPr>
              <a:t>Para realizar un análisis de tráfico eficiente se necesitan herramientas digitales que recolecten y procesen los datos. </a:t>
            </a:r>
            <a:r>
              <a:rPr lang="es-MX" sz="1600" b="1" dirty="0">
                <a:solidFill>
                  <a:schemeClr val="tx1"/>
                </a:solidFill>
              </a:rPr>
              <a:t>Google </a:t>
            </a:r>
            <a:r>
              <a:rPr lang="es-MX" sz="1600" b="1" dirty="0" err="1">
                <a:solidFill>
                  <a:schemeClr val="tx1"/>
                </a:solidFill>
              </a:rPr>
              <a:t>Analytics</a:t>
            </a:r>
            <a:r>
              <a:rPr lang="es-MX" sz="1600" dirty="0">
                <a:solidFill>
                  <a:schemeClr val="tx1"/>
                </a:solidFill>
              </a:rPr>
              <a:t> es la más utilizada, ya que ofrece información detallada sobre visitas, comportamiento de los usuarios y conversiones. </a:t>
            </a:r>
            <a:r>
              <a:rPr lang="es-MX" sz="1600" b="1" dirty="0">
                <a:solidFill>
                  <a:schemeClr val="tx1"/>
                </a:solidFill>
              </a:rPr>
              <a:t>Google </a:t>
            </a:r>
            <a:r>
              <a:rPr lang="es-MX" sz="1600" b="1" dirty="0" err="1">
                <a:solidFill>
                  <a:schemeClr val="tx1"/>
                </a:solidFill>
              </a:rPr>
              <a:t>Search</a:t>
            </a:r>
            <a:r>
              <a:rPr lang="es-MX" sz="1600" b="1" dirty="0">
                <a:solidFill>
                  <a:schemeClr val="tx1"/>
                </a:solidFill>
              </a:rPr>
              <a:t> </a:t>
            </a:r>
            <a:r>
              <a:rPr lang="es-MX" sz="1600" b="1" dirty="0" err="1">
                <a:solidFill>
                  <a:schemeClr val="tx1"/>
                </a:solidFill>
              </a:rPr>
              <a:t>Console</a:t>
            </a:r>
            <a:r>
              <a:rPr lang="es-MX" sz="1600" dirty="0">
                <a:solidFill>
                  <a:schemeClr val="tx1"/>
                </a:solidFill>
              </a:rPr>
              <a:t> complementa este análisis al mostrar el rendimiento de un sitio en los resultados de búsqueda, incluyendo palabras clave y errores de indexación.</a:t>
            </a:r>
          </a:p>
          <a:p>
            <a:pPr marL="114300" indent="0">
              <a:buNone/>
            </a:pPr>
            <a:endParaRPr lang="es-MX" sz="1600" dirty="0">
              <a:solidFill>
                <a:schemeClr val="tx1"/>
              </a:solidFill>
            </a:endParaRPr>
          </a:p>
          <a:p>
            <a:pPr marL="114300" indent="0">
              <a:buNone/>
            </a:pPr>
            <a:r>
              <a:rPr lang="es-MX" sz="1600" dirty="0">
                <a:solidFill>
                  <a:schemeClr val="tx1"/>
                </a:solidFill>
              </a:rPr>
              <a:t>Además, existen otras plataformas como </a:t>
            </a:r>
            <a:r>
              <a:rPr lang="es-MX" sz="1600" b="1" dirty="0" err="1">
                <a:solidFill>
                  <a:schemeClr val="tx1"/>
                </a:solidFill>
              </a:rPr>
              <a:t>Semrush</a:t>
            </a:r>
            <a:r>
              <a:rPr lang="es-MX" sz="1600" b="1" dirty="0">
                <a:solidFill>
                  <a:schemeClr val="tx1"/>
                </a:solidFill>
              </a:rPr>
              <a:t>, </a:t>
            </a:r>
            <a:r>
              <a:rPr lang="es-MX" sz="1600" b="1" dirty="0" err="1">
                <a:solidFill>
                  <a:schemeClr val="tx1"/>
                </a:solidFill>
              </a:rPr>
              <a:t>Ahrefs</a:t>
            </a:r>
            <a:r>
              <a:rPr lang="es-MX" sz="1600" b="1" dirty="0">
                <a:solidFill>
                  <a:schemeClr val="tx1"/>
                </a:solidFill>
              </a:rPr>
              <a:t> o </a:t>
            </a:r>
            <a:r>
              <a:rPr lang="es-MX" sz="1600" b="1" dirty="0" err="1">
                <a:solidFill>
                  <a:schemeClr val="tx1"/>
                </a:solidFill>
              </a:rPr>
              <a:t>Hotjar</a:t>
            </a:r>
            <a:r>
              <a:rPr lang="es-MX" sz="1600" dirty="0">
                <a:solidFill>
                  <a:schemeClr val="tx1"/>
                </a:solidFill>
              </a:rPr>
              <a:t>, que proporcionan datos sobre SEO, análisis de la competencia y mapas de calor para visualizar cómo interactúan los usuarios con la web. El uso combinado de estas herramientas facilita una visión integral del rendimiento digital.</a:t>
            </a:r>
          </a:p>
          <a:p>
            <a:pPr marL="114300" indent="0">
              <a:buNone/>
            </a:pPr>
            <a:endParaRPr lang="es-GT" sz="1400" dirty="0">
              <a:solidFill>
                <a:schemeClr val="tx1"/>
              </a:solidFill>
            </a:endParaRPr>
          </a:p>
        </p:txBody>
      </p:sp>
    </p:spTree>
    <p:extLst>
      <p:ext uri="{BB962C8B-B14F-4D97-AF65-F5344CB8AC3E}">
        <p14:creationId xmlns:p14="http://schemas.microsoft.com/office/powerpoint/2010/main" val="28143892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7CDEA58B-5E67-0472-8F50-E04E85D8A043}"/>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30447C05-35C3-2CFE-9F1B-742813AD272F}"/>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2" name="Título 1">
            <a:extLst>
              <a:ext uri="{FF2B5EF4-FFF2-40B4-BE49-F238E27FC236}">
                <a16:creationId xmlns:a16="http://schemas.microsoft.com/office/drawing/2014/main" id="{4D014A02-D8FD-9F46-9E0C-543FC19809E9}"/>
              </a:ext>
            </a:extLst>
          </p:cNvPr>
          <p:cNvSpPr>
            <a:spLocks noGrp="1"/>
          </p:cNvSpPr>
          <p:nvPr>
            <p:ph type="title"/>
          </p:nvPr>
        </p:nvSpPr>
        <p:spPr>
          <a:xfrm>
            <a:off x="367580" y="0"/>
            <a:ext cx="8520600" cy="572700"/>
          </a:xfrm>
        </p:spPr>
        <p:txBody>
          <a:bodyPr>
            <a:normAutofit fontScale="90000"/>
          </a:bodyPr>
          <a:lstStyle/>
          <a:p>
            <a:pPr algn="ctr"/>
            <a:r>
              <a:rPr lang="es-MX" dirty="0"/>
              <a:t>Comportamiento </a:t>
            </a:r>
            <a:br>
              <a:rPr lang="es-MX" dirty="0"/>
            </a:br>
            <a:r>
              <a:rPr lang="es-MX" dirty="0"/>
              <a:t>del análisis de tráfico</a:t>
            </a:r>
            <a:endParaRPr lang="es-GT" dirty="0"/>
          </a:p>
        </p:txBody>
      </p:sp>
      <p:sp>
        <p:nvSpPr>
          <p:cNvPr id="3" name="Marcador de texto 2">
            <a:extLst>
              <a:ext uri="{FF2B5EF4-FFF2-40B4-BE49-F238E27FC236}">
                <a16:creationId xmlns:a16="http://schemas.microsoft.com/office/drawing/2014/main" id="{E0BA18EF-4FB7-525E-D70D-D21004EE4632}"/>
              </a:ext>
            </a:extLst>
          </p:cNvPr>
          <p:cNvSpPr>
            <a:spLocks noGrp="1"/>
          </p:cNvSpPr>
          <p:nvPr>
            <p:ph type="body" idx="1"/>
          </p:nvPr>
        </p:nvSpPr>
        <p:spPr>
          <a:xfrm>
            <a:off x="311700" y="777240"/>
            <a:ext cx="8520600" cy="4236195"/>
          </a:xfrm>
        </p:spPr>
        <p:txBody>
          <a:bodyPr>
            <a:normAutofit fontScale="92500"/>
          </a:bodyPr>
          <a:lstStyle/>
          <a:p>
            <a:pPr marL="114300" indent="0">
              <a:buNone/>
            </a:pPr>
            <a:r>
              <a:rPr lang="es-MX" sz="1600" b="1" dirty="0">
                <a:solidFill>
                  <a:schemeClr val="tx1"/>
                </a:solidFill>
              </a:rPr>
              <a:t>Indicadores clave de rendimiento (</a:t>
            </a:r>
            <a:r>
              <a:rPr lang="es-MX" sz="1600" b="1" dirty="0" err="1">
                <a:solidFill>
                  <a:schemeClr val="tx1"/>
                </a:solidFill>
              </a:rPr>
              <a:t>KPIs</a:t>
            </a:r>
            <a:r>
              <a:rPr lang="es-MX" sz="1600" b="1" dirty="0">
                <a:solidFill>
                  <a:schemeClr val="tx1"/>
                </a:solidFill>
              </a:rPr>
              <a:t>) en el análisis de tráfico: conversiones, CTR, tasa de retención</a:t>
            </a:r>
          </a:p>
          <a:p>
            <a:pPr marL="114300" indent="0">
              <a:buNone/>
            </a:pPr>
            <a:r>
              <a:rPr lang="es-MX" sz="1600" dirty="0">
                <a:solidFill>
                  <a:schemeClr val="tx1"/>
                </a:solidFill>
              </a:rPr>
              <a:t>Los </a:t>
            </a:r>
            <a:r>
              <a:rPr lang="es-MX" sz="1600" b="1" dirty="0" err="1">
                <a:solidFill>
                  <a:schemeClr val="tx1"/>
                </a:solidFill>
              </a:rPr>
              <a:t>KPIs</a:t>
            </a:r>
            <a:r>
              <a:rPr lang="es-MX" sz="1600" b="1" dirty="0">
                <a:solidFill>
                  <a:schemeClr val="tx1"/>
                </a:solidFill>
              </a:rPr>
              <a:t> (Key Performance </a:t>
            </a:r>
            <a:r>
              <a:rPr lang="es-MX" sz="1600" b="1" dirty="0" err="1">
                <a:solidFill>
                  <a:schemeClr val="tx1"/>
                </a:solidFill>
              </a:rPr>
              <a:t>Indicators</a:t>
            </a:r>
            <a:r>
              <a:rPr lang="es-MX" sz="1600" b="1" dirty="0">
                <a:solidFill>
                  <a:schemeClr val="tx1"/>
                </a:solidFill>
              </a:rPr>
              <a:t>)</a:t>
            </a:r>
            <a:r>
              <a:rPr lang="es-MX" sz="1600" dirty="0">
                <a:solidFill>
                  <a:schemeClr val="tx1"/>
                </a:solidFill>
              </a:rPr>
              <a:t> permiten medir si las estrategias de marketing digital están alcanzando los objetivos propuestos. Algunos de los más importantes en el análisis de tráfico son:</a:t>
            </a:r>
          </a:p>
          <a:p>
            <a:pPr marL="114300" indent="0">
              <a:buNone/>
            </a:pPr>
            <a:endParaRPr lang="es-MX" sz="1600" dirty="0">
              <a:solidFill>
                <a:schemeClr val="tx1"/>
              </a:solidFill>
            </a:endParaRPr>
          </a:p>
          <a:p>
            <a:r>
              <a:rPr lang="es-MX" sz="1600" b="1" dirty="0">
                <a:solidFill>
                  <a:schemeClr val="tx1"/>
                </a:solidFill>
              </a:rPr>
              <a:t>Conversiones</a:t>
            </a:r>
            <a:r>
              <a:rPr lang="es-MX" sz="1600" dirty="0">
                <a:solidFill>
                  <a:schemeClr val="tx1"/>
                </a:solidFill>
              </a:rPr>
              <a:t>: acciones concretas realizadas por los usuarios, como compras, registros o descargas.</a:t>
            </a:r>
          </a:p>
          <a:p>
            <a:r>
              <a:rPr lang="es-MX" sz="1600" b="1" dirty="0">
                <a:solidFill>
                  <a:schemeClr val="tx1"/>
                </a:solidFill>
              </a:rPr>
              <a:t>CTR (</a:t>
            </a:r>
            <a:r>
              <a:rPr lang="es-MX" sz="1600" b="1" dirty="0" err="1">
                <a:solidFill>
                  <a:schemeClr val="tx1"/>
                </a:solidFill>
              </a:rPr>
              <a:t>Click</a:t>
            </a:r>
            <a:r>
              <a:rPr lang="es-MX" sz="1600" b="1" dirty="0">
                <a:solidFill>
                  <a:schemeClr val="tx1"/>
                </a:solidFill>
              </a:rPr>
              <a:t> </a:t>
            </a:r>
            <a:r>
              <a:rPr lang="es-MX" sz="1600" b="1" dirty="0" err="1">
                <a:solidFill>
                  <a:schemeClr val="tx1"/>
                </a:solidFill>
              </a:rPr>
              <a:t>Through</a:t>
            </a:r>
            <a:r>
              <a:rPr lang="es-MX" sz="1600" b="1" dirty="0">
                <a:solidFill>
                  <a:schemeClr val="tx1"/>
                </a:solidFill>
              </a:rPr>
              <a:t> </a:t>
            </a:r>
            <a:r>
              <a:rPr lang="es-MX" sz="1600" b="1" dirty="0" err="1">
                <a:solidFill>
                  <a:schemeClr val="tx1"/>
                </a:solidFill>
              </a:rPr>
              <a:t>Rate</a:t>
            </a:r>
            <a:r>
              <a:rPr lang="es-MX" sz="1600" b="1" dirty="0">
                <a:solidFill>
                  <a:schemeClr val="tx1"/>
                </a:solidFill>
              </a:rPr>
              <a:t>)</a:t>
            </a:r>
            <a:r>
              <a:rPr lang="es-MX" sz="1600" dirty="0">
                <a:solidFill>
                  <a:schemeClr val="tx1"/>
                </a:solidFill>
              </a:rPr>
              <a:t>: porcentaje de clics en relación con las impresiones, útil para evaluar la efectividad de anuncios y enlaces.</a:t>
            </a:r>
          </a:p>
          <a:p>
            <a:r>
              <a:rPr lang="es-MX" sz="1600" b="1" dirty="0">
                <a:solidFill>
                  <a:schemeClr val="tx1"/>
                </a:solidFill>
              </a:rPr>
              <a:t>Tasa de retención</a:t>
            </a:r>
            <a:r>
              <a:rPr lang="es-MX" sz="1600" dirty="0">
                <a:solidFill>
                  <a:schemeClr val="tx1"/>
                </a:solidFill>
              </a:rPr>
              <a:t>: mide la capacidad de un sitio o plataforma para mantener a los usuarios activos a lo largo del tiempo.</a:t>
            </a:r>
          </a:p>
          <a:p>
            <a:endParaRPr lang="es-MX" sz="1600" dirty="0">
              <a:solidFill>
                <a:schemeClr val="tx1"/>
              </a:solidFill>
            </a:endParaRPr>
          </a:p>
          <a:p>
            <a:pPr marL="114300" indent="0">
              <a:buNone/>
            </a:pPr>
            <a:r>
              <a:rPr lang="es-MX" sz="1600" dirty="0">
                <a:solidFill>
                  <a:schemeClr val="tx1"/>
                </a:solidFill>
              </a:rPr>
              <a:t>El seguimiento de estos indicadores ofrece información valiosa para optimizar campañas, mejorar la experiencia del cliente y garantizar un crecimiento sostenible en el entorno digital.</a:t>
            </a:r>
          </a:p>
          <a:p>
            <a:pPr marL="114300" indent="0">
              <a:buNone/>
            </a:pPr>
            <a:endParaRPr lang="es-GT" sz="1400" dirty="0">
              <a:solidFill>
                <a:schemeClr val="tx1"/>
              </a:solidFill>
            </a:endParaRPr>
          </a:p>
        </p:txBody>
      </p:sp>
    </p:spTree>
    <p:extLst>
      <p:ext uri="{BB962C8B-B14F-4D97-AF65-F5344CB8AC3E}">
        <p14:creationId xmlns:p14="http://schemas.microsoft.com/office/powerpoint/2010/main" val="312686109"/>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167</TotalTime>
  <Words>2104</Words>
  <Application>Microsoft Office PowerPoint</Application>
  <PresentationFormat>Presentación en pantalla (16:9)</PresentationFormat>
  <Paragraphs>127</Paragraphs>
  <Slides>15</Slides>
  <Notes>15</Notes>
  <HiddenSlides>0</HiddenSlides>
  <MMClips>0</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15</vt:i4>
      </vt:variant>
    </vt:vector>
  </HeadingPairs>
  <TitlesOfParts>
    <vt:vector size="17" baseType="lpstr">
      <vt:lpstr>Arial</vt:lpstr>
      <vt:lpstr>Simple Light</vt:lpstr>
      <vt:lpstr>Presentación de PowerPoint</vt:lpstr>
      <vt:lpstr>Presentación de PowerPoint</vt:lpstr>
      <vt:lpstr>Marketing</vt:lpstr>
      <vt:lpstr>Marketing</vt:lpstr>
      <vt:lpstr>Marketing</vt:lpstr>
      <vt:lpstr>Marketing</vt:lpstr>
      <vt:lpstr>Marketing</vt:lpstr>
      <vt:lpstr>Introducción al  Marketing Digital</vt:lpstr>
      <vt:lpstr>Introducción al  Marketing Digital</vt:lpstr>
      <vt:lpstr>Introducción al  Marketing Digital</vt:lpstr>
      <vt:lpstr>Comportamiento  del análisis de tráfico</vt:lpstr>
      <vt:lpstr>Comportamiento  del análisis de tráfico</vt:lpstr>
      <vt:lpstr>Comportamiento  del análisis de tráfico</vt:lpstr>
      <vt:lpstr>Comportamiento  del análisis de tráfico</vt:lpstr>
      <vt:lpstr>Comportamiento  del análisis de tráfico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mynor israel miranda lopez</dc:creator>
  <cp:lastModifiedBy>mynor israel miranda lopez</cp:lastModifiedBy>
  <cp:revision>4</cp:revision>
  <dcterms:modified xsi:type="dcterms:W3CDTF">2025-09-24T01:01:15Z</dcterms:modified>
</cp:coreProperties>
</file>