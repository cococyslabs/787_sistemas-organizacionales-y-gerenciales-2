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302" r:id="rId2"/>
    <p:sldId id="296" r:id="rId3"/>
    <p:sldId id="298" r:id="rId4"/>
    <p:sldId id="299" r:id="rId5"/>
    <p:sldId id="300" r:id="rId6"/>
    <p:sldId id="301" r:id="rId7"/>
    <p:sldId id="303" r:id="rId8"/>
    <p:sldId id="304" r:id="rId9"/>
    <p:sldId id="305" r:id="rId10"/>
    <p:sldId id="306" r:id="rId11"/>
    <p:sldId id="307" r:id="rId12"/>
    <p:sldId id="308" r:id="rId13"/>
    <p:sldId id="309" r:id="rId14"/>
    <p:sldId id="310" r:id="rId15"/>
    <p:sldId id="311"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gaokR1tr3jo/odoJz8obEEgE2N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51BA02C-6A80-4BA0-BD01-5099423E3828}">
  <a:tblStyle styleId="{151BA02C-6A80-4BA0-BD01-5099423E382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88" d="100"/>
          <a:sy n="188" d="100"/>
        </p:scale>
        <p:origin x="1014" y="3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1D1A0B72-BAF4-6AA0-A938-D5CA8BB7638F}"/>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1C1FAC4C-D503-B25E-093E-D904306948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FC902392-36BB-ED40-722B-8B23F4FB72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97123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40D8DAF9-8317-32BB-5CFD-C223BB0B9ED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370A40B7-76A4-FA55-D710-BBDD18A4D7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3A065B6E-4277-9CC0-7664-443EFB2367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31448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A479E1B6-BA43-9327-2BE8-80DC33D7D944}"/>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B4CDA644-8B25-0CCD-D07D-A8F4443663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2E27200C-02DE-A2CE-93EC-2585AB7CAB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5365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0733F65B-E98C-8689-2EE2-708F5FAA5EFE}"/>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34961359-908C-DDA2-113A-6630240B8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F52AB3B6-CD8F-ACD5-ED88-86C71A696B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19312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AC01E63A-5AD6-6643-4509-484A1083C2A2}"/>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FCAE8D18-8D3F-369D-3621-AA43E1B70C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91D6D379-6C0C-DFD0-0017-85751EDF9D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03526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B3068CD4-AC31-D69E-5943-B4F2828EA49E}"/>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C99CB6A4-481C-BE72-ACBE-976BF50B46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AF250567-050F-AB35-CF97-B71C074E679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98970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93194F24-F53C-DD4D-F3B0-D213023869F2}"/>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CBC3D135-F4A5-E89A-966A-5E0998C9C4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E0D414C9-DF49-9DD6-2B33-912591AFBC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73226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9322321D-5EAC-82B8-911D-5EADED7598B9}"/>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167C96BF-1B74-DD07-6F0D-02C2AF9129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B73CC592-FA51-E6BB-C455-9532BEECDAD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169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34F63B7F-1BE3-3ECC-EA04-4FA3B9C1E5B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856D9DF1-EEA2-0193-304F-38709D8884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B0203839-3F87-4B39-D1B9-993199523E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35101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AFEAC9E9-7175-4392-FD4E-C76F7A0D232F}"/>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0DA07C2C-615E-981F-9302-A1205EDED4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9E2D9B44-13D7-BC2A-63A7-902A20D1AC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61765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4D098C22-3983-6343-6C1C-F94EDC011517}"/>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5C00F30E-1D93-5F2C-C0A2-11DC42D221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8F5CA35C-6ECC-6A3B-1893-47CCC144C7E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93406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6949CBE8-C71C-B1C0-97CA-0B11BBD43606}"/>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9B16A567-64B3-C617-DEB8-3F4EFFA103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8287E71C-4EC1-C238-72B5-39B53E442F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99080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1A5A1AD5-2BA8-CCFE-5C6C-17933364DF30}"/>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FB06940F-5690-672E-1594-361966464A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2906ABDB-F2A6-DE7E-B5E4-E03CAAF8CA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78172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585B233F-0268-430F-CFF3-CAD8CFD997CD}"/>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C735917C-853D-55E3-816E-F04F789076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4B20BA7F-3881-2545-8EE9-1A788D4CB71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42325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A14E9BE6-02DF-A93F-8C5F-9F515477F60D}"/>
            </a:ext>
          </a:extLst>
        </p:cNvPr>
        <p:cNvGrpSpPr/>
        <p:nvPr/>
      </p:nvGrpSpPr>
      <p:grpSpPr>
        <a:xfrm>
          <a:off x="0" y="0"/>
          <a:ext cx="0" cy="0"/>
          <a:chOff x="0" y="0"/>
          <a:chExt cx="0" cy="0"/>
        </a:xfrm>
      </p:grpSpPr>
      <p:sp>
        <p:nvSpPr>
          <p:cNvPr id="59" name="Google Shape;59;g34156db3297_0_18:notes">
            <a:extLst>
              <a:ext uri="{FF2B5EF4-FFF2-40B4-BE49-F238E27FC236}">
                <a16:creationId xmlns:a16="http://schemas.microsoft.com/office/drawing/2014/main" id="{9F206694-2F4F-5557-E71A-BFCCFF2445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34156db3297_0_18:notes">
            <a:extLst>
              <a:ext uri="{FF2B5EF4-FFF2-40B4-BE49-F238E27FC236}">
                <a16:creationId xmlns:a16="http://schemas.microsoft.com/office/drawing/2014/main" id="{822B25DD-F6E8-B53C-D5B8-E18CE41BC0F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61209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A8D1E703-8F02-6F6F-13E1-43C92C74A1F3}"/>
            </a:ext>
          </a:extLst>
        </p:cNvPr>
        <p:cNvGrpSpPr/>
        <p:nvPr/>
      </p:nvGrpSpPr>
      <p:grpSpPr>
        <a:xfrm>
          <a:off x="0" y="0"/>
          <a:ext cx="0" cy="0"/>
          <a:chOff x="0" y="0"/>
          <a:chExt cx="0" cy="0"/>
        </a:xfrm>
      </p:grpSpPr>
      <p:pic>
        <p:nvPicPr>
          <p:cNvPr id="54" name="Google Shape;54;p1">
            <a:extLst>
              <a:ext uri="{FF2B5EF4-FFF2-40B4-BE49-F238E27FC236}">
                <a16:creationId xmlns:a16="http://schemas.microsoft.com/office/drawing/2014/main" id="{5E82514A-054D-EEC3-25AB-8E514000DBBE}"/>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a:extLst>
              <a:ext uri="{FF2B5EF4-FFF2-40B4-BE49-F238E27FC236}">
                <a16:creationId xmlns:a16="http://schemas.microsoft.com/office/drawing/2014/main" id="{BEF249DC-C6D1-C435-B09B-A1C7ADEC351B}"/>
              </a:ext>
            </a:extLst>
          </p:cNvPr>
          <p:cNvGraphicFramePr/>
          <p:nvPr>
            <p:extLst>
              <p:ext uri="{D42A27DB-BD31-4B8C-83A1-F6EECF244321}">
                <p14:modId xmlns:p14="http://schemas.microsoft.com/office/powerpoint/2010/main" val="4164264077"/>
              </p:ext>
            </p:extLst>
          </p:nvPr>
        </p:nvGraphicFramePr>
        <p:xfrm>
          <a:off x="5328200" y="970025"/>
          <a:ext cx="3690575" cy="798516"/>
        </p:xfrm>
        <a:graphic>
          <a:graphicData uri="http://schemas.openxmlformats.org/drawingml/2006/table">
            <a:tbl>
              <a:tblPr>
                <a:noFill/>
                <a:tableStyleId>{151BA02C-6A80-4BA0-BD01-5099423E3828}</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Martes, 7/10/2025</a:t>
                      </a:r>
                      <a:endParaRPr sz="1400" u="none" strike="noStrike" cap="none" dirty="0"/>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dirty="0"/>
                        <a:t>17:20</a:t>
                      </a:r>
                      <a:endParaRPr sz="1400" u="none" strike="noStrike" cap="none" dirty="0"/>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a:extLst>
              <a:ext uri="{FF2B5EF4-FFF2-40B4-BE49-F238E27FC236}">
                <a16:creationId xmlns:a16="http://schemas.microsoft.com/office/drawing/2014/main" id="{B7C12853-941F-6382-7500-0DBB3A0C5B64}"/>
              </a:ext>
            </a:extLst>
          </p:cNvPr>
          <p:cNvSpPr txBox="1"/>
          <p:nvPr/>
        </p:nvSpPr>
        <p:spPr>
          <a:xfrm>
            <a:off x="3992650" y="2132750"/>
            <a:ext cx="51429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dirty="0">
                <a:solidFill>
                  <a:srgbClr val="000000"/>
                </a:solidFill>
                <a:latin typeface="Arial"/>
                <a:ea typeface="Arial"/>
                <a:cs typeface="Arial"/>
                <a:sym typeface="Arial"/>
              </a:rPr>
              <a:t>SISTEMAS ORGANIZACIONALES Y GERENCIALES 2 Sección P</a:t>
            </a:r>
            <a:endParaRPr sz="2500" b="0" i="0" u="none" strike="noStrike" cap="none" dirty="0">
              <a:solidFill>
                <a:srgbClr val="000000"/>
              </a:solidFill>
              <a:latin typeface="Arial"/>
              <a:ea typeface="Arial"/>
              <a:cs typeface="Arial"/>
              <a:sym typeface="Arial"/>
            </a:endParaRPr>
          </a:p>
        </p:txBody>
      </p:sp>
      <p:sp>
        <p:nvSpPr>
          <p:cNvPr id="57" name="Google Shape;57;p1">
            <a:extLst>
              <a:ext uri="{FF2B5EF4-FFF2-40B4-BE49-F238E27FC236}">
                <a16:creationId xmlns:a16="http://schemas.microsoft.com/office/drawing/2014/main" id="{DD24CAFF-04EF-275A-56E9-40018C8F8B74}"/>
              </a:ext>
            </a:extLst>
          </p:cNvPr>
          <p:cNvSpPr txBox="1"/>
          <p:nvPr/>
        </p:nvSpPr>
        <p:spPr>
          <a:xfrm>
            <a:off x="107100" y="4595250"/>
            <a:ext cx="4290600" cy="492600"/>
          </a:xfrm>
          <a:prstGeom prst="rect">
            <a:avLst/>
          </a:prstGeom>
          <a:noFill/>
          <a:ln>
            <a:noFill/>
          </a:ln>
        </p:spPr>
        <p:txBody>
          <a:bodyPr spcFirstLastPara="1" wrap="square" lIns="91425" tIns="91425" rIns="91425" bIns="91425" anchor="t" anchorCtr="0">
            <a:spAutoFit/>
          </a:bodyPr>
          <a:lstStyle/>
          <a:p>
            <a:pPr lvl="0">
              <a:buSzPts val="2000"/>
            </a:pPr>
            <a:r>
              <a:rPr lang="es-GT" sz="2000" dirty="0"/>
              <a:t>Mynor Israel Miranda López</a:t>
            </a:r>
          </a:p>
        </p:txBody>
      </p:sp>
    </p:spTree>
    <p:extLst>
      <p:ext uri="{BB962C8B-B14F-4D97-AF65-F5344CB8AC3E}">
        <p14:creationId xmlns:p14="http://schemas.microsoft.com/office/powerpoint/2010/main" val="2085788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9E9C14C7-9952-15FE-FB8B-4E4BC9503552}"/>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A414A63A-2D72-BFA3-3E47-4C7DB9CFD0A9}"/>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1A8F12F7-894C-C8D1-647E-42C41271DCDC}"/>
              </a:ext>
            </a:extLst>
          </p:cNvPr>
          <p:cNvSpPr>
            <a:spLocks noGrp="1"/>
          </p:cNvSpPr>
          <p:nvPr>
            <p:ph type="title"/>
          </p:nvPr>
        </p:nvSpPr>
        <p:spPr>
          <a:xfrm>
            <a:off x="367580" y="0"/>
            <a:ext cx="8520600" cy="572700"/>
          </a:xfrm>
        </p:spPr>
        <p:txBody>
          <a:bodyPr>
            <a:normAutofit fontScale="90000"/>
          </a:bodyPr>
          <a:lstStyle/>
          <a:p>
            <a:pPr algn="ctr"/>
            <a:r>
              <a:rPr lang="es-MX" dirty="0"/>
              <a:t>Comportamiento </a:t>
            </a:r>
            <a:br>
              <a:rPr lang="es-MX" dirty="0"/>
            </a:br>
            <a:r>
              <a:rPr lang="es-MX" dirty="0"/>
              <a:t>del análisis de tráfico</a:t>
            </a:r>
            <a:endParaRPr lang="es-GT" dirty="0"/>
          </a:p>
        </p:txBody>
      </p:sp>
      <p:sp>
        <p:nvSpPr>
          <p:cNvPr id="3" name="Marcador de texto 2">
            <a:extLst>
              <a:ext uri="{FF2B5EF4-FFF2-40B4-BE49-F238E27FC236}">
                <a16:creationId xmlns:a16="http://schemas.microsoft.com/office/drawing/2014/main" id="{8271C3A5-71C5-41E5-B79B-4E23EBB588A4}"/>
              </a:ext>
            </a:extLst>
          </p:cNvPr>
          <p:cNvSpPr>
            <a:spLocks noGrp="1"/>
          </p:cNvSpPr>
          <p:nvPr>
            <p:ph type="body" idx="1"/>
          </p:nvPr>
        </p:nvSpPr>
        <p:spPr>
          <a:xfrm>
            <a:off x="311700" y="777240"/>
            <a:ext cx="8520600" cy="4236195"/>
          </a:xfrm>
        </p:spPr>
        <p:txBody>
          <a:bodyPr>
            <a:normAutofit fontScale="92500"/>
          </a:bodyPr>
          <a:lstStyle/>
          <a:p>
            <a:pPr marL="114300" indent="0">
              <a:buNone/>
            </a:pPr>
            <a:r>
              <a:rPr lang="es-MX" sz="1600" b="1" dirty="0">
                <a:solidFill>
                  <a:schemeClr val="tx1"/>
                </a:solidFill>
              </a:rPr>
              <a:t>Fuentes de tráfico digital: orgánico, de pago, directo, referido y redes sociales</a:t>
            </a:r>
          </a:p>
          <a:p>
            <a:pPr marL="114300" indent="0">
              <a:buNone/>
            </a:pPr>
            <a:endParaRPr lang="es-MX" sz="1600" dirty="0">
              <a:solidFill>
                <a:schemeClr val="tx1"/>
              </a:solidFill>
            </a:endParaRPr>
          </a:p>
          <a:p>
            <a:pPr marL="114300" indent="0">
              <a:buNone/>
            </a:pPr>
            <a:r>
              <a:rPr lang="es-MX" sz="1600" dirty="0">
                <a:solidFill>
                  <a:schemeClr val="tx1"/>
                </a:solidFill>
              </a:rPr>
              <a:t>El análisis de tráfico digital comienza por identificar de dónde provienen los visitantes de un sitio web. Las principales fuentes son diversas y cada una aporta un valor distinto al negocio. </a:t>
            </a:r>
          </a:p>
          <a:p>
            <a:pPr marL="114300" indent="0">
              <a:buNone/>
            </a:pPr>
            <a:endParaRPr lang="es-MX" sz="1600" dirty="0">
              <a:solidFill>
                <a:schemeClr val="tx1"/>
              </a:solidFill>
            </a:endParaRPr>
          </a:p>
          <a:p>
            <a:pPr marL="114300" indent="0">
              <a:buNone/>
            </a:pPr>
            <a:r>
              <a:rPr lang="es-MX" sz="1600" dirty="0">
                <a:solidFill>
                  <a:schemeClr val="tx1"/>
                </a:solidFill>
              </a:rPr>
              <a:t>El </a:t>
            </a:r>
            <a:r>
              <a:rPr lang="es-MX" sz="1600" b="1" dirty="0">
                <a:solidFill>
                  <a:schemeClr val="tx1"/>
                </a:solidFill>
              </a:rPr>
              <a:t>tráfico orgánico</a:t>
            </a:r>
            <a:r>
              <a:rPr lang="es-MX" sz="1600" dirty="0">
                <a:solidFill>
                  <a:schemeClr val="tx1"/>
                </a:solidFill>
              </a:rPr>
              <a:t> proviene de motores de búsqueda como Google, gracias a la optimización SEO. </a:t>
            </a:r>
          </a:p>
          <a:p>
            <a:pPr marL="114300" indent="0">
              <a:buNone/>
            </a:pPr>
            <a:r>
              <a:rPr lang="es-MX" sz="1600" dirty="0">
                <a:solidFill>
                  <a:schemeClr val="tx1"/>
                </a:solidFill>
              </a:rPr>
              <a:t>El </a:t>
            </a:r>
            <a:r>
              <a:rPr lang="es-MX" sz="1600" b="1" dirty="0">
                <a:solidFill>
                  <a:schemeClr val="tx1"/>
                </a:solidFill>
              </a:rPr>
              <a:t>tráfico de pago</a:t>
            </a:r>
            <a:r>
              <a:rPr lang="es-MX" sz="1600" dirty="0">
                <a:solidFill>
                  <a:schemeClr val="tx1"/>
                </a:solidFill>
              </a:rPr>
              <a:t> se genera a través de campañas publicitarias en buscadores o redes sociales. </a:t>
            </a:r>
          </a:p>
          <a:p>
            <a:pPr marL="114300" indent="0">
              <a:buNone/>
            </a:pPr>
            <a:r>
              <a:rPr lang="es-MX" sz="1600" dirty="0">
                <a:solidFill>
                  <a:schemeClr val="tx1"/>
                </a:solidFill>
              </a:rPr>
              <a:t>El </a:t>
            </a:r>
            <a:r>
              <a:rPr lang="es-MX" sz="1600" b="1" dirty="0">
                <a:solidFill>
                  <a:schemeClr val="tx1"/>
                </a:solidFill>
              </a:rPr>
              <a:t>tráfico directo</a:t>
            </a:r>
            <a:r>
              <a:rPr lang="es-MX" sz="1600" dirty="0">
                <a:solidFill>
                  <a:schemeClr val="tx1"/>
                </a:solidFill>
              </a:rPr>
              <a:t> ocurre cuando los usuarios escriben directamente la URL en su navegador. </a:t>
            </a:r>
          </a:p>
          <a:p>
            <a:pPr marL="114300" indent="0">
              <a:buNone/>
            </a:pPr>
            <a:r>
              <a:rPr lang="es-MX" sz="1600" dirty="0">
                <a:solidFill>
                  <a:schemeClr val="tx1"/>
                </a:solidFill>
              </a:rPr>
              <a:t>El </a:t>
            </a:r>
            <a:r>
              <a:rPr lang="es-MX" sz="1600" b="1" dirty="0">
                <a:solidFill>
                  <a:schemeClr val="tx1"/>
                </a:solidFill>
              </a:rPr>
              <a:t>tráfico referido</a:t>
            </a:r>
            <a:r>
              <a:rPr lang="es-MX" sz="1600" dirty="0">
                <a:solidFill>
                  <a:schemeClr val="tx1"/>
                </a:solidFill>
              </a:rPr>
              <a:t> llega desde otros sitios web que incluyen enlaces hacia la página analizada. </a:t>
            </a:r>
          </a:p>
          <a:p>
            <a:pPr marL="114300" indent="0">
              <a:buNone/>
            </a:pPr>
            <a:r>
              <a:rPr lang="es-MX" sz="1600" dirty="0">
                <a:solidFill>
                  <a:schemeClr val="tx1"/>
                </a:solidFill>
              </a:rPr>
              <a:t>Finalmente, el </a:t>
            </a:r>
            <a:r>
              <a:rPr lang="es-MX" sz="1600" b="1" dirty="0">
                <a:solidFill>
                  <a:schemeClr val="tx1"/>
                </a:solidFill>
              </a:rPr>
              <a:t>tráfico de redes sociales</a:t>
            </a:r>
            <a:r>
              <a:rPr lang="es-MX" sz="1600" dirty="0">
                <a:solidFill>
                  <a:schemeClr val="tx1"/>
                </a:solidFill>
              </a:rPr>
              <a:t> corresponde a las visitas que provienen de plataformas como Facebook, Instagram o LinkedIn. </a:t>
            </a:r>
          </a:p>
          <a:p>
            <a:pPr marL="114300" indent="0">
              <a:buNone/>
            </a:pPr>
            <a:endParaRPr lang="es-MX" sz="1600" dirty="0">
              <a:solidFill>
                <a:schemeClr val="tx1"/>
              </a:solidFill>
            </a:endParaRPr>
          </a:p>
          <a:p>
            <a:pPr marL="114300" indent="0">
              <a:buNone/>
            </a:pPr>
            <a:r>
              <a:rPr lang="es-MX" sz="1600" dirty="0">
                <a:solidFill>
                  <a:schemeClr val="tx1"/>
                </a:solidFill>
              </a:rPr>
              <a:t>Conocer estas fuentes permite optimizar estrategias y distribuir mejor los recursos de marketing.</a:t>
            </a:r>
            <a:endParaRPr lang="es-GT" sz="1400" dirty="0">
              <a:solidFill>
                <a:schemeClr val="tx1"/>
              </a:solidFill>
            </a:endParaRPr>
          </a:p>
        </p:txBody>
      </p:sp>
    </p:spTree>
    <p:extLst>
      <p:ext uri="{BB962C8B-B14F-4D97-AF65-F5344CB8AC3E}">
        <p14:creationId xmlns:p14="http://schemas.microsoft.com/office/powerpoint/2010/main" val="2460037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A0818E6F-CA01-3620-C74B-90DB042A6C94}"/>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1C124E2D-2634-AE78-5079-525EDC3E259D}"/>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05168751-222D-D169-1AB1-A4C47DC524CF}"/>
              </a:ext>
            </a:extLst>
          </p:cNvPr>
          <p:cNvSpPr>
            <a:spLocks noGrp="1"/>
          </p:cNvSpPr>
          <p:nvPr>
            <p:ph type="title"/>
          </p:nvPr>
        </p:nvSpPr>
        <p:spPr>
          <a:xfrm>
            <a:off x="367580" y="0"/>
            <a:ext cx="8520600" cy="572700"/>
          </a:xfrm>
        </p:spPr>
        <p:txBody>
          <a:bodyPr>
            <a:normAutofit fontScale="90000"/>
          </a:bodyPr>
          <a:lstStyle/>
          <a:p>
            <a:pPr algn="ctr"/>
            <a:r>
              <a:rPr lang="es-MX" dirty="0"/>
              <a:t>Comportamiento </a:t>
            </a:r>
            <a:br>
              <a:rPr lang="es-MX" dirty="0"/>
            </a:br>
            <a:r>
              <a:rPr lang="es-MX" dirty="0"/>
              <a:t>del análisis de tráfico</a:t>
            </a:r>
            <a:endParaRPr lang="es-GT" dirty="0"/>
          </a:p>
        </p:txBody>
      </p:sp>
      <p:sp>
        <p:nvSpPr>
          <p:cNvPr id="3" name="Marcador de texto 2">
            <a:extLst>
              <a:ext uri="{FF2B5EF4-FFF2-40B4-BE49-F238E27FC236}">
                <a16:creationId xmlns:a16="http://schemas.microsoft.com/office/drawing/2014/main" id="{C456D433-8E54-09BB-56A8-E0D1C46CF23A}"/>
              </a:ext>
            </a:extLst>
          </p:cNvPr>
          <p:cNvSpPr>
            <a:spLocks noGrp="1"/>
          </p:cNvSpPr>
          <p:nvPr>
            <p:ph type="body" idx="1"/>
          </p:nvPr>
        </p:nvSpPr>
        <p:spPr>
          <a:xfrm>
            <a:off x="311700" y="777240"/>
            <a:ext cx="8520600" cy="4236195"/>
          </a:xfrm>
        </p:spPr>
        <p:txBody>
          <a:bodyPr>
            <a:normAutofit fontScale="92500" lnSpcReduction="10000"/>
          </a:bodyPr>
          <a:lstStyle/>
          <a:p>
            <a:pPr marL="114300" indent="0">
              <a:buNone/>
            </a:pPr>
            <a:r>
              <a:rPr lang="es-MX" sz="1600" b="1" dirty="0">
                <a:solidFill>
                  <a:schemeClr val="tx1"/>
                </a:solidFill>
              </a:rPr>
              <a:t>Análisis del comportamiento del usuario: páginas vistas, tiempo en el sitio, tasa de rebote y recorridos de navegación</a:t>
            </a:r>
          </a:p>
          <a:p>
            <a:pPr marL="114300" indent="0">
              <a:buNone/>
            </a:pPr>
            <a:r>
              <a:rPr lang="es-MX" sz="1600" dirty="0">
                <a:solidFill>
                  <a:schemeClr val="tx1"/>
                </a:solidFill>
              </a:rPr>
              <a:t>Además de saber de dónde viene el tráfico, es crucial comprender cómo interactúan los usuarios dentro del sitio. Para ello, se analizan métricas que revelan su nivel de interés. Entre las más relevantes están:</a:t>
            </a:r>
          </a:p>
          <a:p>
            <a:pPr marL="114300" indent="0">
              <a:buNone/>
            </a:pPr>
            <a:endParaRPr lang="es-MX" sz="1600" dirty="0">
              <a:solidFill>
                <a:schemeClr val="tx1"/>
              </a:solidFill>
            </a:endParaRPr>
          </a:p>
          <a:p>
            <a:r>
              <a:rPr lang="es-MX" sz="1600" b="1" dirty="0">
                <a:solidFill>
                  <a:schemeClr val="tx1"/>
                </a:solidFill>
              </a:rPr>
              <a:t>Páginas vistas</a:t>
            </a:r>
            <a:r>
              <a:rPr lang="es-MX" sz="1600" dirty="0">
                <a:solidFill>
                  <a:schemeClr val="tx1"/>
                </a:solidFill>
              </a:rPr>
              <a:t>: número total de páginas consultadas por los visitantes.</a:t>
            </a:r>
          </a:p>
          <a:p>
            <a:r>
              <a:rPr lang="es-MX" sz="1600" b="1" dirty="0">
                <a:solidFill>
                  <a:schemeClr val="tx1"/>
                </a:solidFill>
              </a:rPr>
              <a:t>Tiempo en el sitio</a:t>
            </a:r>
            <a:r>
              <a:rPr lang="es-MX" sz="1600" dirty="0">
                <a:solidFill>
                  <a:schemeClr val="tx1"/>
                </a:solidFill>
              </a:rPr>
              <a:t>: duración promedio de la sesión, útil para evaluar si el contenido resulta atractivo.</a:t>
            </a:r>
          </a:p>
          <a:p>
            <a:r>
              <a:rPr lang="es-MX" sz="1600" b="1" dirty="0">
                <a:solidFill>
                  <a:schemeClr val="tx1"/>
                </a:solidFill>
              </a:rPr>
              <a:t>Tasa de rebote</a:t>
            </a:r>
            <a:r>
              <a:rPr lang="es-MX" sz="1600" dirty="0">
                <a:solidFill>
                  <a:schemeClr val="tx1"/>
                </a:solidFill>
              </a:rPr>
              <a:t>: porcentaje de usuarios que entran y salen sin interactuar, lo cual puede indicar problemas de usabilidad o contenido poco relevante.</a:t>
            </a:r>
          </a:p>
          <a:p>
            <a:r>
              <a:rPr lang="es-MX" sz="1600" b="1" dirty="0">
                <a:solidFill>
                  <a:schemeClr val="tx1"/>
                </a:solidFill>
              </a:rPr>
              <a:t>Recorridos de navegación</a:t>
            </a:r>
            <a:r>
              <a:rPr lang="es-MX" sz="1600" dirty="0">
                <a:solidFill>
                  <a:schemeClr val="tx1"/>
                </a:solidFill>
              </a:rPr>
              <a:t>: rutas que siguen los usuarios dentro del sitio, mostrando qué páginas visitan antes de realizar una acción.</a:t>
            </a:r>
          </a:p>
          <a:p>
            <a:endParaRPr lang="es-MX" sz="1600" dirty="0">
              <a:solidFill>
                <a:schemeClr val="tx1"/>
              </a:solidFill>
            </a:endParaRPr>
          </a:p>
          <a:p>
            <a:pPr marL="114300" indent="0">
              <a:buNone/>
            </a:pPr>
            <a:r>
              <a:rPr lang="es-MX" sz="1600" dirty="0">
                <a:solidFill>
                  <a:schemeClr val="tx1"/>
                </a:solidFill>
              </a:rPr>
              <a:t>Estos datos permiten mejorar la experiencia del usuario y aumentar la probabilidad de conversión.</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164482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45DBD934-6316-1A61-C40B-79DB3F2A944A}"/>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9BEB1CB2-EEA9-7F6C-CD73-E01B476514DF}"/>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658BF54D-28FA-D5C3-06D8-439717158FC5}"/>
              </a:ext>
            </a:extLst>
          </p:cNvPr>
          <p:cNvSpPr>
            <a:spLocks noGrp="1"/>
          </p:cNvSpPr>
          <p:nvPr>
            <p:ph type="title"/>
          </p:nvPr>
        </p:nvSpPr>
        <p:spPr>
          <a:xfrm>
            <a:off x="367580" y="0"/>
            <a:ext cx="8520600" cy="572700"/>
          </a:xfrm>
        </p:spPr>
        <p:txBody>
          <a:bodyPr>
            <a:normAutofit fontScale="90000"/>
          </a:bodyPr>
          <a:lstStyle/>
          <a:p>
            <a:pPr algn="ctr"/>
            <a:r>
              <a:rPr lang="es-MX" dirty="0"/>
              <a:t>Comportamiento </a:t>
            </a:r>
            <a:br>
              <a:rPr lang="es-MX" dirty="0"/>
            </a:br>
            <a:r>
              <a:rPr lang="es-MX" dirty="0"/>
              <a:t>del análisis de tráfico</a:t>
            </a:r>
            <a:endParaRPr lang="es-GT" dirty="0"/>
          </a:p>
        </p:txBody>
      </p:sp>
      <p:sp>
        <p:nvSpPr>
          <p:cNvPr id="3" name="Marcador de texto 2">
            <a:extLst>
              <a:ext uri="{FF2B5EF4-FFF2-40B4-BE49-F238E27FC236}">
                <a16:creationId xmlns:a16="http://schemas.microsoft.com/office/drawing/2014/main" id="{61D1792B-F4AA-9969-74AA-E3B8A48B663E}"/>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600" b="1" dirty="0">
                <a:solidFill>
                  <a:schemeClr val="tx1"/>
                </a:solidFill>
              </a:rPr>
              <a:t>Segmentación del tráfico: por ubicación geográfica, dispositivo, horario y demografía</a:t>
            </a:r>
          </a:p>
          <a:p>
            <a:pPr marL="114300" indent="0">
              <a:buNone/>
            </a:pPr>
            <a:r>
              <a:rPr lang="es-MX" sz="1600" dirty="0">
                <a:solidFill>
                  <a:schemeClr val="tx1"/>
                </a:solidFill>
              </a:rPr>
              <a:t>El análisis de tráfico también implica dividir y comprender a la audiencia según diferentes variables.</a:t>
            </a:r>
          </a:p>
          <a:p>
            <a:pPr marL="114300" indent="0">
              <a:buNone/>
            </a:pPr>
            <a:r>
              <a:rPr lang="es-MX" sz="1600" dirty="0">
                <a:solidFill>
                  <a:schemeClr val="tx1"/>
                </a:solidFill>
              </a:rPr>
              <a:t>La </a:t>
            </a:r>
            <a:r>
              <a:rPr lang="es-MX" sz="1600" b="1" dirty="0">
                <a:solidFill>
                  <a:schemeClr val="tx1"/>
                </a:solidFill>
              </a:rPr>
              <a:t>segmentación por ubicación geográfica</a:t>
            </a:r>
            <a:r>
              <a:rPr lang="es-MX" sz="1600" dirty="0">
                <a:solidFill>
                  <a:schemeClr val="tx1"/>
                </a:solidFill>
              </a:rPr>
              <a:t> revela desde qué países, regiones o ciudades acceden los usuarios, lo que ayuda a adaptar estrategias locales. </a:t>
            </a:r>
          </a:p>
          <a:p>
            <a:pPr marL="114300" indent="0">
              <a:buNone/>
            </a:pPr>
            <a:r>
              <a:rPr lang="es-MX" sz="1600" dirty="0">
                <a:solidFill>
                  <a:schemeClr val="tx1"/>
                </a:solidFill>
              </a:rPr>
              <a:t>La </a:t>
            </a:r>
            <a:r>
              <a:rPr lang="es-MX" sz="1600" b="1" dirty="0">
                <a:solidFill>
                  <a:schemeClr val="tx1"/>
                </a:solidFill>
              </a:rPr>
              <a:t>segmentación por dispositivo</a:t>
            </a:r>
            <a:r>
              <a:rPr lang="es-MX" sz="1600" dirty="0">
                <a:solidFill>
                  <a:schemeClr val="tx1"/>
                </a:solidFill>
              </a:rPr>
              <a:t> distingue si el acceso se realiza desde computadora, </a:t>
            </a:r>
            <a:r>
              <a:rPr lang="es-MX" sz="1600" dirty="0" err="1">
                <a:solidFill>
                  <a:schemeClr val="tx1"/>
                </a:solidFill>
              </a:rPr>
              <a:t>tablet</a:t>
            </a:r>
            <a:r>
              <a:rPr lang="es-MX" sz="1600" dirty="0">
                <a:solidFill>
                  <a:schemeClr val="tx1"/>
                </a:solidFill>
              </a:rPr>
              <a:t> o smartphone, optimizando así la experiencia en cada formato. </a:t>
            </a:r>
          </a:p>
          <a:p>
            <a:pPr marL="114300" indent="0">
              <a:buNone/>
            </a:pPr>
            <a:r>
              <a:rPr lang="es-MX" sz="1600" dirty="0">
                <a:solidFill>
                  <a:schemeClr val="tx1"/>
                </a:solidFill>
              </a:rPr>
              <a:t>El </a:t>
            </a:r>
            <a:r>
              <a:rPr lang="es-MX" sz="1600" b="1" dirty="0">
                <a:solidFill>
                  <a:schemeClr val="tx1"/>
                </a:solidFill>
              </a:rPr>
              <a:t>análisis por horario</a:t>
            </a:r>
            <a:r>
              <a:rPr lang="es-MX" sz="1600" dirty="0">
                <a:solidFill>
                  <a:schemeClr val="tx1"/>
                </a:solidFill>
              </a:rPr>
              <a:t> permite identificar los momentos del día o días de la semana con mayor actividad. </a:t>
            </a:r>
          </a:p>
          <a:p>
            <a:pPr marL="114300" indent="0">
              <a:buNone/>
            </a:pPr>
            <a:r>
              <a:rPr lang="es-MX" sz="1600" dirty="0">
                <a:solidFill>
                  <a:schemeClr val="tx1"/>
                </a:solidFill>
              </a:rPr>
              <a:t>La </a:t>
            </a:r>
            <a:r>
              <a:rPr lang="es-MX" sz="1600" b="1" dirty="0">
                <a:solidFill>
                  <a:schemeClr val="tx1"/>
                </a:solidFill>
              </a:rPr>
              <a:t>segmentación demográfica</a:t>
            </a:r>
            <a:r>
              <a:rPr lang="es-MX" sz="1600" dirty="0">
                <a:solidFill>
                  <a:schemeClr val="tx1"/>
                </a:solidFill>
              </a:rPr>
              <a:t> considera factores como edad, género e intereses, útiles para crear campañas personalizadas. </a:t>
            </a:r>
          </a:p>
          <a:p>
            <a:pPr marL="114300" indent="0">
              <a:buNone/>
            </a:pPr>
            <a:endParaRPr lang="es-MX" sz="1600" dirty="0">
              <a:solidFill>
                <a:schemeClr val="tx1"/>
              </a:solidFill>
            </a:endParaRPr>
          </a:p>
          <a:p>
            <a:pPr marL="114300" indent="0">
              <a:buNone/>
            </a:pPr>
            <a:r>
              <a:rPr lang="es-MX" sz="1600" dirty="0">
                <a:solidFill>
                  <a:schemeClr val="tx1"/>
                </a:solidFill>
              </a:rPr>
              <a:t>Esta segmentación da una visión más precisa del público y facilita la toma de decisiones estratégicas.</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224218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2704CD05-B7F2-0397-75FF-AEDCA8B7DC6D}"/>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0F1B7A74-B9B4-797C-C47B-159BEB1AD76E}"/>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9203CA85-3B61-6202-DAFB-7A035C841D14}"/>
              </a:ext>
            </a:extLst>
          </p:cNvPr>
          <p:cNvSpPr>
            <a:spLocks noGrp="1"/>
          </p:cNvSpPr>
          <p:nvPr>
            <p:ph type="title"/>
          </p:nvPr>
        </p:nvSpPr>
        <p:spPr>
          <a:xfrm>
            <a:off x="367580" y="0"/>
            <a:ext cx="8520600" cy="572700"/>
          </a:xfrm>
        </p:spPr>
        <p:txBody>
          <a:bodyPr>
            <a:normAutofit fontScale="90000"/>
          </a:bodyPr>
          <a:lstStyle/>
          <a:p>
            <a:pPr algn="ctr"/>
            <a:r>
              <a:rPr lang="es-MX" dirty="0"/>
              <a:t>Comportamiento </a:t>
            </a:r>
            <a:br>
              <a:rPr lang="es-MX" dirty="0"/>
            </a:br>
            <a:r>
              <a:rPr lang="es-MX" dirty="0"/>
              <a:t>del análisis de tráfico</a:t>
            </a:r>
            <a:endParaRPr lang="es-GT" dirty="0"/>
          </a:p>
        </p:txBody>
      </p:sp>
      <p:sp>
        <p:nvSpPr>
          <p:cNvPr id="3" name="Marcador de texto 2">
            <a:extLst>
              <a:ext uri="{FF2B5EF4-FFF2-40B4-BE49-F238E27FC236}">
                <a16:creationId xmlns:a16="http://schemas.microsoft.com/office/drawing/2014/main" id="{F2CC0DDC-B099-5DE1-84CA-3FE236865059}"/>
              </a:ext>
            </a:extLst>
          </p:cNvPr>
          <p:cNvSpPr>
            <a:spLocks noGrp="1"/>
          </p:cNvSpPr>
          <p:nvPr>
            <p:ph type="body" idx="1"/>
          </p:nvPr>
        </p:nvSpPr>
        <p:spPr>
          <a:xfrm>
            <a:off x="311700" y="777240"/>
            <a:ext cx="8520600" cy="4236195"/>
          </a:xfrm>
        </p:spPr>
        <p:txBody>
          <a:bodyPr>
            <a:normAutofit/>
          </a:bodyPr>
          <a:lstStyle/>
          <a:p>
            <a:pPr marL="114300" indent="0">
              <a:buNone/>
            </a:pPr>
            <a:r>
              <a:rPr lang="es-MX" sz="1600" b="1" dirty="0">
                <a:solidFill>
                  <a:schemeClr val="tx1"/>
                </a:solidFill>
              </a:rPr>
              <a:t>Herramientas de análisis de tráfico: Google </a:t>
            </a:r>
            <a:r>
              <a:rPr lang="es-MX" sz="1600" b="1" dirty="0" err="1">
                <a:solidFill>
                  <a:schemeClr val="tx1"/>
                </a:solidFill>
              </a:rPr>
              <a:t>Analytics</a:t>
            </a:r>
            <a:r>
              <a:rPr lang="es-MX" sz="1600" b="1" dirty="0">
                <a:solidFill>
                  <a:schemeClr val="tx1"/>
                </a:solidFill>
              </a:rPr>
              <a:t>, </a:t>
            </a:r>
            <a:r>
              <a:rPr lang="es-MX" sz="1600" b="1" dirty="0" err="1">
                <a:solidFill>
                  <a:schemeClr val="tx1"/>
                </a:solidFill>
              </a:rPr>
              <a:t>Search</a:t>
            </a:r>
            <a:r>
              <a:rPr lang="es-MX" sz="1600" b="1" dirty="0">
                <a:solidFill>
                  <a:schemeClr val="tx1"/>
                </a:solidFill>
              </a:rPr>
              <a:t> </a:t>
            </a:r>
            <a:r>
              <a:rPr lang="es-MX" sz="1600" b="1" dirty="0" err="1">
                <a:solidFill>
                  <a:schemeClr val="tx1"/>
                </a:solidFill>
              </a:rPr>
              <a:t>Console</a:t>
            </a:r>
            <a:r>
              <a:rPr lang="es-MX" sz="1600" b="1" dirty="0">
                <a:solidFill>
                  <a:schemeClr val="tx1"/>
                </a:solidFill>
              </a:rPr>
              <a:t> y otras plataformas</a:t>
            </a:r>
          </a:p>
          <a:p>
            <a:pPr marL="114300" indent="0">
              <a:buNone/>
            </a:pPr>
            <a:r>
              <a:rPr lang="es-MX" sz="1600" dirty="0">
                <a:solidFill>
                  <a:schemeClr val="tx1"/>
                </a:solidFill>
              </a:rPr>
              <a:t>Para realizar un análisis de tráfico eficiente se necesitan herramientas digitales que recolecten y procesen los datos. </a:t>
            </a:r>
            <a:r>
              <a:rPr lang="es-MX" sz="1600" b="1" dirty="0">
                <a:solidFill>
                  <a:schemeClr val="tx1"/>
                </a:solidFill>
              </a:rPr>
              <a:t>Google </a:t>
            </a:r>
            <a:r>
              <a:rPr lang="es-MX" sz="1600" b="1" dirty="0" err="1">
                <a:solidFill>
                  <a:schemeClr val="tx1"/>
                </a:solidFill>
              </a:rPr>
              <a:t>Analytics</a:t>
            </a:r>
            <a:r>
              <a:rPr lang="es-MX" sz="1600" dirty="0">
                <a:solidFill>
                  <a:schemeClr val="tx1"/>
                </a:solidFill>
              </a:rPr>
              <a:t> es la más utilizada, ya que ofrece información detallada sobre visitas, comportamiento de los usuarios y conversiones. </a:t>
            </a:r>
            <a:r>
              <a:rPr lang="es-MX" sz="1600" b="1" dirty="0">
                <a:solidFill>
                  <a:schemeClr val="tx1"/>
                </a:solidFill>
              </a:rPr>
              <a:t>Google </a:t>
            </a:r>
            <a:r>
              <a:rPr lang="es-MX" sz="1600" b="1" dirty="0" err="1">
                <a:solidFill>
                  <a:schemeClr val="tx1"/>
                </a:solidFill>
              </a:rPr>
              <a:t>Search</a:t>
            </a:r>
            <a:r>
              <a:rPr lang="es-MX" sz="1600" b="1" dirty="0">
                <a:solidFill>
                  <a:schemeClr val="tx1"/>
                </a:solidFill>
              </a:rPr>
              <a:t> </a:t>
            </a:r>
            <a:r>
              <a:rPr lang="es-MX" sz="1600" b="1" dirty="0" err="1">
                <a:solidFill>
                  <a:schemeClr val="tx1"/>
                </a:solidFill>
              </a:rPr>
              <a:t>Console</a:t>
            </a:r>
            <a:r>
              <a:rPr lang="es-MX" sz="1600" dirty="0">
                <a:solidFill>
                  <a:schemeClr val="tx1"/>
                </a:solidFill>
              </a:rPr>
              <a:t> complementa este análisis al mostrar el rendimiento de un sitio en los resultados de búsqueda, incluyendo palabras clave y errores de indexación.</a:t>
            </a:r>
          </a:p>
          <a:p>
            <a:pPr marL="114300" indent="0">
              <a:buNone/>
            </a:pPr>
            <a:endParaRPr lang="es-MX" sz="1600" dirty="0">
              <a:solidFill>
                <a:schemeClr val="tx1"/>
              </a:solidFill>
            </a:endParaRPr>
          </a:p>
          <a:p>
            <a:pPr marL="114300" indent="0">
              <a:buNone/>
            </a:pPr>
            <a:r>
              <a:rPr lang="es-MX" sz="1600" dirty="0">
                <a:solidFill>
                  <a:schemeClr val="tx1"/>
                </a:solidFill>
              </a:rPr>
              <a:t>Además, existen otras plataformas como </a:t>
            </a:r>
            <a:r>
              <a:rPr lang="es-MX" sz="1600" b="1" dirty="0" err="1">
                <a:solidFill>
                  <a:schemeClr val="tx1"/>
                </a:solidFill>
              </a:rPr>
              <a:t>Semrush</a:t>
            </a:r>
            <a:r>
              <a:rPr lang="es-MX" sz="1600" b="1" dirty="0">
                <a:solidFill>
                  <a:schemeClr val="tx1"/>
                </a:solidFill>
              </a:rPr>
              <a:t>, </a:t>
            </a:r>
            <a:r>
              <a:rPr lang="es-MX" sz="1600" b="1" dirty="0" err="1">
                <a:solidFill>
                  <a:schemeClr val="tx1"/>
                </a:solidFill>
              </a:rPr>
              <a:t>Ahrefs</a:t>
            </a:r>
            <a:r>
              <a:rPr lang="es-MX" sz="1600" b="1" dirty="0">
                <a:solidFill>
                  <a:schemeClr val="tx1"/>
                </a:solidFill>
              </a:rPr>
              <a:t> o </a:t>
            </a:r>
            <a:r>
              <a:rPr lang="es-MX" sz="1600" b="1" dirty="0" err="1">
                <a:solidFill>
                  <a:schemeClr val="tx1"/>
                </a:solidFill>
              </a:rPr>
              <a:t>Hotjar</a:t>
            </a:r>
            <a:r>
              <a:rPr lang="es-MX" sz="1600" dirty="0">
                <a:solidFill>
                  <a:schemeClr val="tx1"/>
                </a:solidFill>
              </a:rPr>
              <a:t>, que proporcionan datos sobre SEO, análisis de la competencia y mapas de calor para visualizar cómo interactúan los usuarios con la web. El uso combinado de estas herramientas facilita una visión integral del rendimiento digital.</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814389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7CDEA58B-5E67-0472-8F50-E04E85D8A043}"/>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30447C05-35C3-2CFE-9F1B-742813AD272F}"/>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4D014A02-D8FD-9F46-9E0C-543FC19809E9}"/>
              </a:ext>
            </a:extLst>
          </p:cNvPr>
          <p:cNvSpPr>
            <a:spLocks noGrp="1"/>
          </p:cNvSpPr>
          <p:nvPr>
            <p:ph type="title"/>
          </p:nvPr>
        </p:nvSpPr>
        <p:spPr>
          <a:xfrm>
            <a:off x="367580" y="0"/>
            <a:ext cx="8520600" cy="572700"/>
          </a:xfrm>
        </p:spPr>
        <p:txBody>
          <a:bodyPr>
            <a:normAutofit fontScale="90000"/>
          </a:bodyPr>
          <a:lstStyle/>
          <a:p>
            <a:pPr algn="ctr"/>
            <a:r>
              <a:rPr lang="es-MX" dirty="0"/>
              <a:t>Comportamiento </a:t>
            </a:r>
            <a:br>
              <a:rPr lang="es-MX" dirty="0"/>
            </a:br>
            <a:r>
              <a:rPr lang="es-MX" dirty="0"/>
              <a:t>del análisis de tráfico</a:t>
            </a:r>
            <a:endParaRPr lang="es-GT" dirty="0"/>
          </a:p>
        </p:txBody>
      </p:sp>
      <p:sp>
        <p:nvSpPr>
          <p:cNvPr id="3" name="Marcador de texto 2">
            <a:extLst>
              <a:ext uri="{FF2B5EF4-FFF2-40B4-BE49-F238E27FC236}">
                <a16:creationId xmlns:a16="http://schemas.microsoft.com/office/drawing/2014/main" id="{E0BA18EF-4FB7-525E-D70D-D21004EE4632}"/>
              </a:ext>
            </a:extLst>
          </p:cNvPr>
          <p:cNvSpPr>
            <a:spLocks noGrp="1"/>
          </p:cNvSpPr>
          <p:nvPr>
            <p:ph type="body" idx="1"/>
          </p:nvPr>
        </p:nvSpPr>
        <p:spPr>
          <a:xfrm>
            <a:off x="311700" y="777240"/>
            <a:ext cx="8520600" cy="4236195"/>
          </a:xfrm>
        </p:spPr>
        <p:txBody>
          <a:bodyPr>
            <a:normAutofit fontScale="92500"/>
          </a:bodyPr>
          <a:lstStyle/>
          <a:p>
            <a:pPr marL="114300" indent="0">
              <a:buNone/>
            </a:pPr>
            <a:r>
              <a:rPr lang="es-MX" sz="1600" b="1" dirty="0">
                <a:solidFill>
                  <a:schemeClr val="tx1"/>
                </a:solidFill>
              </a:rPr>
              <a:t>Indicadores clave de rendimiento (</a:t>
            </a:r>
            <a:r>
              <a:rPr lang="es-MX" sz="1600" b="1" dirty="0" err="1">
                <a:solidFill>
                  <a:schemeClr val="tx1"/>
                </a:solidFill>
              </a:rPr>
              <a:t>KPIs</a:t>
            </a:r>
            <a:r>
              <a:rPr lang="es-MX" sz="1600" b="1" dirty="0">
                <a:solidFill>
                  <a:schemeClr val="tx1"/>
                </a:solidFill>
              </a:rPr>
              <a:t>) en el análisis de tráfico: conversiones, CTR, tasa de retención</a:t>
            </a:r>
          </a:p>
          <a:p>
            <a:pPr marL="114300" indent="0">
              <a:buNone/>
            </a:pPr>
            <a:r>
              <a:rPr lang="es-MX" sz="1600" dirty="0">
                <a:solidFill>
                  <a:schemeClr val="tx1"/>
                </a:solidFill>
              </a:rPr>
              <a:t>Los </a:t>
            </a:r>
            <a:r>
              <a:rPr lang="es-MX" sz="1600" b="1" dirty="0" err="1">
                <a:solidFill>
                  <a:schemeClr val="tx1"/>
                </a:solidFill>
              </a:rPr>
              <a:t>KPIs</a:t>
            </a:r>
            <a:r>
              <a:rPr lang="es-MX" sz="1600" b="1" dirty="0">
                <a:solidFill>
                  <a:schemeClr val="tx1"/>
                </a:solidFill>
              </a:rPr>
              <a:t> (Key Performance </a:t>
            </a:r>
            <a:r>
              <a:rPr lang="es-MX" sz="1600" b="1" dirty="0" err="1">
                <a:solidFill>
                  <a:schemeClr val="tx1"/>
                </a:solidFill>
              </a:rPr>
              <a:t>Indicators</a:t>
            </a:r>
            <a:r>
              <a:rPr lang="es-MX" sz="1600" b="1" dirty="0">
                <a:solidFill>
                  <a:schemeClr val="tx1"/>
                </a:solidFill>
              </a:rPr>
              <a:t>)</a:t>
            </a:r>
            <a:r>
              <a:rPr lang="es-MX" sz="1600" dirty="0">
                <a:solidFill>
                  <a:schemeClr val="tx1"/>
                </a:solidFill>
              </a:rPr>
              <a:t> permiten medir si las estrategias de marketing digital están alcanzando los objetivos propuestos. Algunos de los más importantes en el análisis de tráfico son:</a:t>
            </a:r>
          </a:p>
          <a:p>
            <a:pPr marL="114300" indent="0">
              <a:buNone/>
            </a:pPr>
            <a:endParaRPr lang="es-MX" sz="1600" dirty="0">
              <a:solidFill>
                <a:schemeClr val="tx1"/>
              </a:solidFill>
            </a:endParaRPr>
          </a:p>
          <a:p>
            <a:r>
              <a:rPr lang="es-MX" sz="1600" b="1" dirty="0">
                <a:solidFill>
                  <a:schemeClr val="tx1"/>
                </a:solidFill>
              </a:rPr>
              <a:t>Conversiones</a:t>
            </a:r>
            <a:r>
              <a:rPr lang="es-MX" sz="1600" dirty="0">
                <a:solidFill>
                  <a:schemeClr val="tx1"/>
                </a:solidFill>
              </a:rPr>
              <a:t>: acciones concretas realizadas por los usuarios, como compras, registros o descargas.</a:t>
            </a:r>
          </a:p>
          <a:p>
            <a:r>
              <a:rPr lang="es-MX" sz="1600" b="1" dirty="0">
                <a:solidFill>
                  <a:schemeClr val="tx1"/>
                </a:solidFill>
              </a:rPr>
              <a:t>CTR (</a:t>
            </a:r>
            <a:r>
              <a:rPr lang="es-MX" sz="1600" b="1" dirty="0" err="1">
                <a:solidFill>
                  <a:schemeClr val="tx1"/>
                </a:solidFill>
              </a:rPr>
              <a:t>Click</a:t>
            </a:r>
            <a:r>
              <a:rPr lang="es-MX" sz="1600" b="1" dirty="0">
                <a:solidFill>
                  <a:schemeClr val="tx1"/>
                </a:solidFill>
              </a:rPr>
              <a:t> </a:t>
            </a:r>
            <a:r>
              <a:rPr lang="es-MX" sz="1600" b="1" dirty="0" err="1">
                <a:solidFill>
                  <a:schemeClr val="tx1"/>
                </a:solidFill>
              </a:rPr>
              <a:t>Through</a:t>
            </a:r>
            <a:r>
              <a:rPr lang="es-MX" sz="1600" b="1" dirty="0">
                <a:solidFill>
                  <a:schemeClr val="tx1"/>
                </a:solidFill>
              </a:rPr>
              <a:t> </a:t>
            </a:r>
            <a:r>
              <a:rPr lang="es-MX" sz="1600" b="1" dirty="0" err="1">
                <a:solidFill>
                  <a:schemeClr val="tx1"/>
                </a:solidFill>
              </a:rPr>
              <a:t>Rate</a:t>
            </a:r>
            <a:r>
              <a:rPr lang="es-MX" sz="1600" b="1" dirty="0">
                <a:solidFill>
                  <a:schemeClr val="tx1"/>
                </a:solidFill>
              </a:rPr>
              <a:t>)</a:t>
            </a:r>
            <a:r>
              <a:rPr lang="es-MX" sz="1600" dirty="0">
                <a:solidFill>
                  <a:schemeClr val="tx1"/>
                </a:solidFill>
              </a:rPr>
              <a:t>: porcentaje de clics en relación con las impresiones, útil para evaluar la efectividad de anuncios y enlaces.</a:t>
            </a:r>
          </a:p>
          <a:p>
            <a:r>
              <a:rPr lang="es-MX" sz="1600" b="1" dirty="0">
                <a:solidFill>
                  <a:schemeClr val="tx1"/>
                </a:solidFill>
              </a:rPr>
              <a:t>Tasa de retención</a:t>
            </a:r>
            <a:r>
              <a:rPr lang="es-MX" sz="1600" dirty="0">
                <a:solidFill>
                  <a:schemeClr val="tx1"/>
                </a:solidFill>
              </a:rPr>
              <a:t>: mide la capacidad de un sitio o plataforma para mantener a los usuarios activos a lo largo del tiempo.</a:t>
            </a:r>
          </a:p>
          <a:p>
            <a:endParaRPr lang="es-MX" sz="1600" dirty="0">
              <a:solidFill>
                <a:schemeClr val="tx1"/>
              </a:solidFill>
            </a:endParaRPr>
          </a:p>
          <a:p>
            <a:pPr marL="114300" indent="0">
              <a:buNone/>
            </a:pPr>
            <a:r>
              <a:rPr lang="es-MX" sz="1600" dirty="0">
                <a:solidFill>
                  <a:schemeClr val="tx1"/>
                </a:solidFill>
              </a:rPr>
              <a:t>El seguimiento de estos indicadores ofrece información valiosa para optimizar campañas, mejorar la experiencia del cliente y garantizar un crecimiento sostenible en el entorno digital.</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12686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FDC784A5-2FB7-3112-27B9-8507D90B854A}"/>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BEEDC717-58D6-F290-11BF-32026336F16C}"/>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3D383DDD-E741-F652-E39D-739963B48EAF}"/>
              </a:ext>
            </a:extLst>
          </p:cNvPr>
          <p:cNvSpPr>
            <a:spLocks noGrp="1"/>
          </p:cNvSpPr>
          <p:nvPr>
            <p:ph type="title"/>
          </p:nvPr>
        </p:nvSpPr>
        <p:spPr>
          <a:xfrm>
            <a:off x="367580" y="0"/>
            <a:ext cx="8520600" cy="572700"/>
          </a:xfrm>
        </p:spPr>
        <p:txBody>
          <a:bodyPr>
            <a:normAutofit fontScale="90000"/>
          </a:bodyPr>
          <a:lstStyle/>
          <a:p>
            <a:pPr algn="ctr"/>
            <a:r>
              <a:rPr lang="es-MX" b="1" dirty="0"/>
              <a:t>Monitoreo y rendimiento de búsquedas (</a:t>
            </a:r>
            <a:r>
              <a:rPr lang="es-MX" b="1" dirty="0" err="1"/>
              <a:t>Search</a:t>
            </a:r>
            <a:r>
              <a:rPr lang="es-MX" b="1" dirty="0"/>
              <a:t> Performance </a:t>
            </a:r>
            <a:r>
              <a:rPr lang="es-MX" b="1" dirty="0" err="1"/>
              <a:t>Monitoring</a:t>
            </a:r>
            <a:r>
              <a:rPr lang="es-MX" b="1" dirty="0"/>
              <a:t>)</a:t>
            </a:r>
            <a:endParaRPr lang="es-GT" b="1" dirty="0"/>
          </a:p>
        </p:txBody>
      </p:sp>
      <p:sp>
        <p:nvSpPr>
          <p:cNvPr id="3" name="Marcador de texto 2">
            <a:extLst>
              <a:ext uri="{FF2B5EF4-FFF2-40B4-BE49-F238E27FC236}">
                <a16:creationId xmlns:a16="http://schemas.microsoft.com/office/drawing/2014/main" id="{19811488-566F-77EA-D196-E499AF980B6D}"/>
              </a:ext>
            </a:extLst>
          </p:cNvPr>
          <p:cNvSpPr>
            <a:spLocks noGrp="1"/>
          </p:cNvSpPr>
          <p:nvPr>
            <p:ph type="body" idx="1"/>
          </p:nvPr>
        </p:nvSpPr>
        <p:spPr>
          <a:xfrm>
            <a:off x="311700" y="777240"/>
            <a:ext cx="8520600" cy="4236195"/>
          </a:xfrm>
        </p:spPr>
        <p:txBody>
          <a:bodyPr>
            <a:normAutofit/>
          </a:bodyPr>
          <a:lstStyle/>
          <a:p>
            <a:pPr marL="114300" indent="0">
              <a:buNone/>
            </a:pPr>
            <a:r>
              <a:rPr lang="es-MX" sz="1600" b="1" dirty="0">
                <a:solidFill>
                  <a:schemeClr val="tx1"/>
                </a:solidFill>
              </a:rPr>
              <a:t>Optimización de la visibilidad de marca en buscadores</a:t>
            </a:r>
          </a:p>
          <a:p>
            <a:pPr marL="114300" indent="0">
              <a:buNone/>
            </a:pPr>
            <a:r>
              <a:rPr lang="es-MX" sz="1600" dirty="0">
                <a:solidFill>
                  <a:schemeClr val="tx1"/>
                </a:solidFill>
              </a:rPr>
              <a:t>En marketing digital, la </a:t>
            </a:r>
            <a:r>
              <a:rPr lang="es-MX" sz="1600" b="1" dirty="0">
                <a:solidFill>
                  <a:schemeClr val="tx1"/>
                </a:solidFill>
              </a:rPr>
              <a:t>visibilidad de marca en buscadores</a:t>
            </a:r>
            <a:r>
              <a:rPr lang="es-MX" sz="1600" dirty="0">
                <a:solidFill>
                  <a:schemeClr val="tx1"/>
                </a:solidFill>
              </a:rPr>
              <a:t> es un factor clave para atraer tráfico y generar oportunidades de negocio. Optimizar esta visibilidad significa aplicar estrategias que permitan que una marca aparezca entre los primeros resultados cuando los usuarios realizan búsquedas relacionadas con sus productos o servicios. Para lograrlo, se combinan acciones de </a:t>
            </a:r>
            <a:r>
              <a:rPr lang="es-MX" sz="1600" b="1" dirty="0">
                <a:solidFill>
                  <a:schemeClr val="tx1"/>
                </a:solidFill>
              </a:rPr>
              <a:t>SEO (</a:t>
            </a:r>
            <a:r>
              <a:rPr lang="es-MX" sz="1600" b="1" dirty="0" err="1">
                <a:solidFill>
                  <a:schemeClr val="tx1"/>
                </a:solidFill>
              </a:rPr>
              <a:t>Search</a:t>
            </a:r>
            <a:r>
              <a:rPr lang="es-MX" sz="1600" b="1" dirty="0">
                <a:solidFill>
                  <a:schemeClr val="tx1"/>
                </a:solidFill>
              </a:rPr>
              <a:t> </a:t>
            </a:r>
            <a:r>
              <a:rPr lang="es-MX" sz="1600" b="1" dirty="0" err="1">
                <a:solidFill>
                  <a:schemeClr val="tx1"/>
                </a:solidFill>
              </a:rPr>
              <a:t>Engine</a:t>
            </a:r>
            <a:r>
              <a:rPr lang="es-MX" sz="1600" b="1" dirty="0">
                <a:solidFill>
                  <a:schemeClr val="tx1"/>
                </a:solidFill>
              </a:rPr>
              <a:t> </a:t>
            </a:r>
            <a:r>
              <a:rPr lang="es-MX" sz="1600" b="1" dirty="0" err="1">
                <a:solidFill>
                  <a:schemeClr val="tx1"/>
                </a:solidFill>
              </a:rPr>
              <a:t>Optimization</a:t>
            </a:r>
            <a:r>
              <a:rPr lang="es-MX" sz="1600" b="1" dirty="0">
                <a:solidFill>
                  <a:schemeClr val="tx1"/>
                </a:solidFill>
              </a:rPr>
              <a:t>)</a:t>
            </a:r>
            <a:r>
              <a:rPr lang="es-MX" sz="1600" dirty="0">
                <a:solidFill>
                  <a:schemeClr val="tx1"/>
                </a:solidFill>
              </a:rPr>
              <a:t> y </a:t>
            </a:r>
            <a:r>
              <a:rPr lang="es-MX" sz="1600" b="1" dirty="0">
                <a:solidFill>
                  <a:schemeClr val="tx1"/>
                </a:solidFill>
              </a:rPr>
              <a:t>SEM (</a:t>
            </a:r>
            <a:r>
              <a:rPr lang="es-MX" sz="1600" b="1" dirty="0" err="1">
                <a:solidFill>
                  <a:schemeClr val="tx1"/>
                </a:solidFill>
              </a:rPr>
              <a:t>Search</a:t>
            </a:r>
            <a:r>
              <a:rPr lang="es-MX" sz="1600" b="1" dirty="0">
                <a:solidFill>
                  <a:schemeClr val="tx1"/>
                </a:solidFill>
              </a:rPr>
              <a:t> </a:t>
            </a:r>
            <a:r>
              <a:rPr lang="es-MX" sz="1600" b="1" dirty="0" err="1">
                <a:solidFill>
                  <a:schemeClr val="tx1"/>
                </a:solidFill>
              </a:rPr>
              <a:t>Engine</a:t>
            </a:r>
            <a:r>
              <a:rPr lang="es-MX" sz="1600" b="1" dirty="0">
                <a:solidFill>
                  <a:schemeClr val="tx1"/>
                </a:solidFill>
              </a:rPr>
              <a:t> Marketing)</a:t>
            </a:r>
            <a:r>
              <a:rPr lang="es-MX" sz="1600" dirty="0">
                <a:solidFill>
                  <a:schemeClr val="tx1"/>
                </a:solidFill>
              </a:rPr>
              <a:t>.</a:t>
            </a:r>
          </a:p>
          <a:p>
            <a:r>
              <a:rPr lang="es-MX" sz="1600" dirty="0">
                <a:solidFill>
                  <a:schemeClr val="tx1"/>
                </a:solidFill>
              </a:rPr>
              <a:t>El </a:t>
            </a:r>
            <a:r>
              <a:rPr lang="es-MX" sz="1600" b="1" dirty="0">
                <a:solidFill>
                  <a:schemeClr val="tx1"/>
                </a:solidFill>
              </a:rPr>
              <a:t>SEO</a:t>
            </a:r>
            <a:r>
              <a:rPr lang="es-MX" sz="1600" dirty="0">
                <a:solidFill>
                  <a:schemeClr val="tx1"/>
                </a:solidFill>
              </a:rPr>
              <a:t> busca mejorar la posición orgánica mediante la creación de contenido relevante, el uso de palabras clave adecuadas, enlaces de calidad y una buena estructura web.</a:t>
            </a:r>
          </a:p>
          <a:p>
            <a:r>
              <a:rPr lang="es-MX" sz="1600" dirty="0">
                <a:solidFill>
                  <a:schemeClr val="tx1"/>
                </a:solidFill>
              </a:rPr>
              <a:t>El </a:t>
            </a:r>
            <a:r>
              <a:rPr lang="es-MX" sz="1600" b="1" dirty="0">
                <a:solidFill>
                  <a:schemeClr val="tx1"/>
                </a:solidFill>
              </a:rPr>
              <a:t>SEM</a:t>
            </a:r>
            <a:r>
              <a:rPr lang="es-MX" sz="1600" dirty="0">
                <a:solidFill>
                  <a:schemeClr val="tx1"/>
                </a:solidFill>
              </a:rPr>
              <a:t>, en cambio, utiliza campañas pagadas, como los anuncios de Google </a:t>
            </a:r>
            <a:r>
              <a:rPr lang="es-MX" sz="1600" dirty="0" err="1">
                <a:solidFill>
                  <a:schemeClr val="tx1"/>
                </a:solidFill>
              </a:rPr>
              <a:t>Ads</a:t>
            </a:r>
            <a:r>
              <a:rPr lang="es-MX" sz="1600" dirty="0">
                <a:solidFill>
                  <a:schemeClr val="tx1"/>
                </a:solidFill>
              </a:rPr>
              <a:t>, para ganar visibilidad inmediata.</a:t>
            </a:r>
            <a:br>
              <a:rPr lang="es-MX" sz="1600" dirty="0">
                <a:solidFill>
                  <a:schemeClr val="tx1"/>
                </a:solidFill>
              </a:rPr>
            </a:br>
            <a:r>
              <a:rPr lang="es-MX" sz="1600" dirty="0">
                <a:solidFill>
                  <a:schemeClr val="tx1"/>
                </a:solidFill>
              </a:rPr>
              <a:t>Ambas estrategias, trabajadas en conjunto, fortalecen la presencia digital, aumentan la credibilidad de la marca y mejoran las probabilidades de conversión.</a:t>
            </a:r>
          </a:p>
          <a:p>
            <a:pPr marL="114300" indent="0">
              <a:buNone/>
            </a:pPr>
            <a:endParaRPr lang="es-MX" sz="1600" dirty="0">
              <a:solidFill>
                <a:schemeClr val="tx1"/>
              </a:solidFill>
            </a:endParaRPr>
          </a:p>
          <a:p>
            <a:pPr marL="114300" indent="0">
              <a:buNone/>
            </a:pPr>
            <a:endParaRPr lang="es-GT" sz="1400" dirty="0">
              <a:solidFill>
                <a:schemeClr val="tx1"/>
              </a:solidFill>
            </a:endParaRPr>
          </a:p>
        </p:txBody>
      </p:sp>
    </p:spTree>
    <p:extLst>
      <p:ext uri="{BB962C8B-B14F-4D97-AF65-F5344CB8AC3E}">
        <p14:creationId xmlns:p14="http://schemas.microsoft.com/office/powerpoint/2010/main" val="1306473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E6009B1C-FE3E-1D4A-B3C3-713794B5FC9C}"/>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C9ED41C8-38CE-60E7-5982-1473F4E9BCA1}"/>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86BB0F27-C50A-A04B-1ED8-3F2E0867EF2B}"/>
              </a:ext>
            </a:extLst>
          </p:cNvPr>
          <p:cNvSpPr>
            <a:spLocks noGrp="1"/>
          </p:cNvSpPr>
          <p:nvPr>
            <p:ph type="title"/>
          </p:nvPr>
        </p:nvSpPr>
        <p:spPr>
          <a:xfrm>
            <a:off x="367580" y="0"/>
            <a:ext cx="8520600" cy="572700"/>
          </a:xfrm>
        </p:spPr>
        <p:txBody>
          <a:bodyPr>
            <a:normAutofit fontScale="90000"/>
          </a:bodyPr>
          <a:lstStyle/>
          <a:p>
            <a:pPr algn="ctr"/>
            <a:r>
              <a:rPr lang="es-MX" b="1" dirty="0"/>
              <a:t>Monitoreo y rendimiento de búsquedas (</a:t>
            </a:r>
            <a:r>
              <a:rPr lang="es-MX" b="1" dirty="0" err="1"/>
              <a:t>Search</a:t>
            </a:r>
            <a:r>
              <a:rPr lang="es-MX" b="1" dirty="0"/>
              <a:t> Performance </a:t>
            </a:r>
            <a:r>
              <a:rPr lang="es-MX" b="1" dirty="0" err="1"/>
              <a:t>Monitoring</a:t>
            </a:r>
            <a:r>
              <a:rPr lang="es-MX" b="1" dirty="0"/>
              <a:t>)</a:t>
            </a:r>
            <a:endParaRPr lang="es-GT" b="1" dirty="0"/>
          </a:p>
        </p:txBody>
      </p:sp>
      <p:sp>
        <p:nvSpPr>
          <p:cNvPr id="3" name="Marcador de texto 2">
            <a:extLst>
              <a:ext uri="{FF2B5EF4-FFF2-40B4-BE49-F238E27FC236}">
                <a16:creationId xmlns:a16="http://schemas.microsoft.com/office/drawing/2014/main" id="{FE76F5E3-9874-5077-62CE-9CCD401E7204}"/>
              </a:ext>
            </a:extLst>
          </p:cNvPr>
          <p:cNvSpPr>
            <a:spLocks noGrp="1"/>
          </p:cNvSpPr>
          <p:nvPr>
            <p:ph type="body" idx="1"/>
          </p:nvPr>
        </p:nvSpPr>
        <p:spPr>
          <a:xfrm>
            <a:off x="311700" y="777240"/>
            <a:ext cx="8520600" cy="4236195"/>
          </a:xfrm>
        </p:spPr>
        <p:txBody>
          <a:bodyPr>
            <a:normAutofit fontScale="92500"/>
          </a:bodyPr>
          <a:lstStyle/>
          <a:p>
            <a:pPr marL="114300" indent="0">
              <a:buNone/>
            </a:pPr>
            <a:r>
              <a:rPr lang="es-MX" sz="1600" b="1" dirty="0">
                <a:solidFill>
                  <a:schemeClr val="tx1"/>
                </a:solidFill>
              </a:rPr>
              <a:t>Evaluación del comportamiento del consumidor en búsquedas</a:t>
            </a:r>
          </a:p>
          <a:p>
            <a:pPr marL="114300" indent="0">
              <a:buNone/>
            </a:pPr>
            <a:r>
              <a:rPr lang="es-MX" sz="1600" dirty="0">
                <a:solidFill>
                  <a:schemeClr val="tx1"/>
                </a:solidFill>
              </a:rPr>
              <a:t>Desde el marketing, analizar el </a:t>
            </a:r>
            <a:r>
              <a:rPr lang="es-MX" sz="1600" b="1" dirty="0">
                <a:solidFill>
                  <a:schemeClr val="tx1"/>
                </a:solidFill>
              </a:rPr>
              <a:t>comportamiento del consumidor en las búsquedas</a:t>
            </a:r>
            <a:r>
              <a:rPr lang="es-MX" sz="1600" dirty="0">
                <a:solidFill>
                  <a:schemeClr val="tx1"/>
                </a:solidFill>
              </a:rPr>
              <a:t> permite entender cómo los usuarios interactúan con los motores de búsqueda y qué intención tienen al realizar una consulta. Este análisis ayuda a las marcas a crear estrategias más efectivas y centradas en el cliente. Algunos aspectos que se estudian son:</a:t>
            </a:r>
          </a:p>
          <a:p>
            <a:r>
              <a:rPr lang="es-MX" sz="1600" b="1" dirty="0">
                <a:solidFill>
                  <a:schemeClr val="tx1"/>
                </a:solidFill>
              </a:rPr>
              <a:t>Palabras clave utilizadas</a:t>
            </a:r>
            <a:r>
              <a:rPr lang="es-MX" sz="1600" dirty="0">
                <a:solidFill>
                  <a:schemeClr val="tx1"/>
                </a:solidFill>
              </a:rPr>
              <a:t>, que reflejan las necesidades o intereses del público objetivo.</a:t>
            </a:r>
          </a:p>
          <a:p>
            <a:r>
              <a:rPr lang="es-MX" sz="1600" b="1" dirty="0">
                <a:solidFill>
                  <a:schemeClr val="tx1"/>
                </a:solidFill>
              </a:rPr>
              <a:t>Tasa de clics (CTR)</a:t>
            </a:r>
            <a:r>
              <a:rPr lang="es-MX" sz="1600" dirty="0">
                <a:solidFill>
                  <a:schemeClr val="tx1"/>
                </a:solidFill>
              </a:rPr>
              <a:t>, que muestra qué tan atractivos son los títulos y descripciones en los resultados de búsqueda.</a:t>
            </a:r>
          </a:p>
          <a:p>
            <a:r>
              <a:rPr lang="es-MX" sz="1600" b="1" dirty="0">
                <a:solidFill>
                  <a:schemeClr val="tx1"/>
                </a:solidFill>
              </a:rPr>
              <a:t>Páginas más visitadas y tiempo de permanencia</a:t>
            </a:r>
            <a:r>
              <a:rPr lang="es-MX" sz="1600" dirty="0">
                <a:solidFill>
                  <a:schemeClr val="tx1"/>
                </a:solidFill>
              </a:rPr>
              <a:t>, que indican la relevancia del contenido.</a:t>
            </a:r>
          </a:p>
          <a:p>
            <a:r>
              <a:rPr lang="es-MX" sz="1600" b="1" dirty="0">
                <a:solidFill>
                  <a:schemeClr val="tx1"/>
                </a:solidFill>
              </a:rPr>
              <a:t>Etapa del proceso de compra</a:t>
            </a:r>
            <a:r>
              <a:rPr lang="es-MX" sz="1600" dirty="0">
                <a:solidFill>
                  <a:schemeClr val="tx1"/>
                </a:solidFill>
              </a:rPr>
              <a:t>, ya que las búsquedas pueden responder a una intención informativa, comparativa o de compra directa.</a:t>
            </a:r>
            <a:br>
              <a:rPr lang="es-MX" sz="1600" dirty="0">
                <a:solidFill>
                  <a:schemeClr val="tx1"/>
                </a:solidFill>
              </a:rPr>
            </a:br>
            <a:r>
              <a:rPr lang="es-MX" sz="1600" dirty="0">
                <a:solidFill>
                  <a:schemeClr val="tx1"/>
                </a:solidFill>
              </a:rPr>
              <a:t>Comprender este comportamiento permite adaptar los mensajes, mejorar la experiencia del usuario y aumentar la probabilidad de conversión en cada punto del recorrido digital.</a:t>
            </a:r>
          </a:p>
          <a:p>
            <a:pPr marL="114300" indent="0">
              <a:buNone/>
            </a:pPr>
            <a:endParaRPr lang="es-MX" sz="1600" dirty="0">
              <a:solidFill>
                <a:schemeClr val="tx1"/>
              </a:solidFill>
            </a:endParaRPr>
          </a:p>
          <a:p>
            <a:pPr marL="114300" indent="0">
              <a:buNone/>
            </a:pPr>
            <a:endParaRPr lang="es-GT" sz="1400" dirty="0">
              <a:solidFill>
                <a:schemeClr val="tx1"/>
              </a:solidFill>
            </a:endParaRPr>
          </a:p>
        </p:txBody>
      </p:sp>
    </p:spTree>
    <p:extLst>
      <p:ext uri="{BB962C8B-B14F-4D97-AF65-F5344CB8AC3E}">
        <p14:creationId xmlns:p14="http://schemas.microsoft.com/office/powerpoint/2010/main" val="3513978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3CCA7531-A754-D71F-5D45-465EF1985FFF}"/>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B614ACA9-B095-F98A-538A-3C98132D4FA9}"/>
              </a:ext>
            </a:extLst>
          </p:cNvPr>
          <p:cNvPicPr preferRelativeResize="0"/>
          <p:nvPr/>
        </p:nvPicPr>
        <p:blipFill rotWithShape="1">
          <a:blip r:embed="rId3">
            <a:alphaModFix amt="62000"/>
          </a:blip>
          <a:srcRect/>
          <a:stretch/>
        </p:blipFill>
        <p:spPr>
          <a:xfrm>
            <a:off x="0" y="0"/>
            <a:ext cx="9127099" cy="5143501"/>
          </a:xfrm>
          <a:prstGeom prst="rect">
            <a:avLst/>
          </a:prstGeom>
          <a:noFill/>
          <a:ln>
            <a:noFill/>
          </a:ln>
        </p:spPr>
      </p:pic>
      <p:sp>
        <p:nvSpPr>
          <p:cNvPr id="2" name="Título 1">
            <a:extLst>
              <a:ext uri="{FF2B5EF4-FFF2-40B4-BE49-F238E27FC236}">
                <a16:creationId xmlns:a16="http://schemas.microsoft.com/office/drawing/2014/main" id="{AD6D226E-FC6D-7090-D697-C6C011CF5899}"/>
              </a:ext>
            </a:extLst>
          </p:cNvPr>
          <p:cNvSpPr>
            <a:spLocks noGrp="1"/>
          </p:cNvSpPr>
          <p:nvPr>
            <p:ph type="title"/>
          </p:nvPr>
        </p:nvSpPr>
        <p:spPr>
          <a:xfrm>
            <a:off x="367580" y="0"/>
            <a:ext cx="8520600" cy="572700"/>
          </a:xfrm>
        </p:spPr>
        <p:txBody>
          <a:bodyPr>
            <a:normAutofit fontScale="90000"/>
          </a:bodyPr>
          <a:lstStyle/>
          <a:p>
            <a:pPr algn="ctr"/>
            <a:r>
              <a:rPr lang="es-MX" b="1" dirty="0"/>
              <a:t>Monitoreo y rendimiento de búsquedas (</a:t>
            </a:r>
            <a:r>
              <a:rPr lang="es-MX" b="1" dirty="0" err="1"/>
              <a:t>Search</a:t>
            </a:r>
            <a:r>
              <a:rPr lang="es-MX" b="1" dirty="0"/>
              <a:t> Performance </a:t>
            </a:r>
            <a:r>
              <a:rPr lang="es-MX" b="1" dirty="0" err="1"/>
              <a:t>Monitoring</a:t>
            </a:r>
            <a:r>
              <a:rPr lang="es-MX" b="1" dirty="0"/>
              <a:t>)</a:t>
            </a:r>
            <a:endParaRPr lang="es-GT" b="1" dirty="0"/>
          </a:p>
        </p:txBody>
      </p:sp>
      <p:sp>
        <p:nvSpPr>
          <p:cNvPr id="3" name="Marcador de texto 2">
            <a:extLst>
              <a:ext uri="{FF2B5EF4-FFF2-40B4-BE49-F238E27FC236}">
                <a16:creationId xmlns:a16="http://schemas.microsoft.com/office/drawing/2014/main" id="{672CA0F7-E101-C078-DB9D-8EE369104386}"/>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600" b="1" dirty="0">
                <a:solidFill>
                  <a:schemeClr val="tx1"/>
                </a:solidFill>
              </a:rPr>
              <a:t>Medición del retorno de inversión (ROI) en SEO y SEM</a:t>
            </a:r>
          </a:p>
          <a:p>
            <a:pPr marL="114300" indent="0">
              <a:buNone/>
            </a:pPr>
            <a:r>
              <a:rPr lang="es-MX" sz="1600" dirty="0">
                <a:solidFill>
                  <a:schemeClr val="tx1"/>
                </a:solidFill>
              </a:rPr>
              <a:t>En toda estrategia de marketing digital, medir el </a:t>
            </a:r>
            <a:r>
              <a:rPr lang="es-MX" sz="1600" b="1" dirty="0">
                <a:solidFill>
                  <a:schemeClr val="tx1"/>
                </a:solidFill>
              </a:rPr>
              <a:t>retorno de inversión (ROI)</a:t>
            </a:r>
            <a:r>
              <a:rPr lang="es-MX" sz="1600" dirty="0">
                <a:solidFill>
                  <a:schemeClr val="tx1"/>
                </a:solidFill>
              </a:rPr>
              <a:t> es fundamental para conocer la rentabilidad de las acciones realizadas. En el caso de </a:t>
            </a:r>
            <a:r>
              <a:rPr lang="es-MX" sz="1600" b="1" dirty="0">
                <a:solidFill>
                  <a:schemeClr val="tx1"/>
                </a:solidFill>
              </a:rPr>
              <a:t>SEO y SEM</a:t>
            </a:r>
            <a:r>
              <a:rPr lang="es-MX" sz="1600" dirty="0">
                <a:solidFill>
                  <a:schemeClr val="tx1"/>
                </a:solidFill>
              </a:rPr>
              <a:t>, el ROI se calcula comparando el costo invertido en optimización o publicidad con los beneficios obtenidos (ventas, registros o conversiones). Desde el punto de vista del marketing, esta medición ayuda a identificar qué tácticas generan mejores resultados y dónde conviene invertir más recursos. Algunos indicadores esenciales para evaluar el ROI son:</a:t>
            </a:r>
          </a:p>
          <a:p>
            <a:r>
              <a:rPr lang="es-MX" sz="1600" b="1" dirty="0">
                <a:solidFill>
                  <a:schemeClr val="tx1"/>
                </a:solidFill>
              </a:rPr>
              <a:t>Costo por clic (CPC)</a:t>
            </a:r>
            <a:r>
              <a:rPr lang="es-MX" sz="1600" dirty="0">
                <a:solidFill>
                  <a:schemeClr val="tx1"/>
                </a:solidFill>
              </a:rPr>
              <a:t> y </a:t>
            </a:r>
            <a:r>
              <a:rPr lang="es-MX" sz="1600" b="1" dirty="0">
                <a:solidFill>
                  <a:schemeClr val="tx1"/>
                </a:solidFill>
              </a:rPr>
              <a:t>costo por adquisición (CPA)</a:t>
            </a:r>
            <a:r>
              <a:rPr lang="es-MX" sz="1600" dirty="0">
                <a:solidFill>
                  <a:schemeClr val="tx1"/>
                </a:solidFill>
              </a:rPr>
              <a:t> en campañas pagadas.</a:t>
            </a:r>
          </a:p>
          <a:p>
            <a:r>
              <a:rPr lang="es-MX" sz="1600" b="1" dirty="0">
                <a:solidFill>
                  <a:schemeClr val="tx1"/>
                </a:solidFill>
              </a:rPr>
              <a:t>Tráfico orgánico y tasa de conversión</a:t>
            </a:r>
            <a:r>
              <a:rPr lang="es-MX" sz="1600" dirty="0">
                <a:solidFill>
                  <a:schemeClr val="tx1"/>
                </a:solidFill>
              </a:rPr>
              <a:t> en estrategias SEO.</a:t>
            </a:r>
          </a:p>
          <a:p>
            <a:r>
              <a:rPr lang="es-MX" sz="1600" b="1" dirty="0">
                <a:solidFill>
                  <a:schemeClr val="tx1"/>
                </a:solidFill>
              </a:rPr>
              <a:t>Valor del cliente (CLV)</a:t>
            </a:r>
            <a:r>
              <a:rPr lang="es-MX" sz="1600" dirty="0">
                <a:solidFill>
                  <a:schemeClr val="tx1"/>
                </a:solidFill>
              </a:rPr>
              <a:t> frente a los costos de captación.</a:t>
            </a:r>
          </a:p>
          <a:p>
            <a:r>
              <a:rPr lang="es-MX" sz="1600" b="1" dirty="0">
                <a:solidFill>
                  <a:schemeClr val="tx1"/>
                </a:solidFill>
              </a:rPr>
              <a:t>Ingresos generados</a:t>
            </a:r>
            <a:r>
              <a:rPr lang="es-MX" sz="1600" dirty="0">
                <a:solidFill>
                  <a:schemeClr val="tx1"/>
                </a:solidFill>
              </a:rPr>
              <a:t> por las campañas o el contenido posicionado.</a:t>
            </a:r>
            <a:br>
              <a:rPr lang="es-MX" sz="1600" dirty="0">
                <a:solidFill>
                  <a:schemeClr val="tx1"/>
                </a:solidFill>
              </a:rPr>
            </a:br>
            <a:r>
              <a:rPr lang="es-MX" sz="1600" dirty="0">
                <a:solidFill>
                  <a:schemeClr val="tx1"/>
                </a:solidFill>
              </a:rPr>
              <a:t>Un análisis constante del ROI permite optimizar las estrategias, reducir gastos innecesarios y enfocar los esfuerzos en los canales que generan mayor impacto para la marca.</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2618484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31C03FE7-810F-6FD0-312D-F807E7A03D56}"/>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F83D6FCC-C8ED-C2CC-9615-136CDAB3C9A6}"/>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652EAC95-3068-9F6C-1E4E-4E1A57E61FA1}"/>
              </a:ext>
            </a:extLst>
          </p:cNvPr>
          <p:cNvSpPr>
            <a:spLocks noGrp="1"/>
          </p:cNvSpPr>
          <p:nvPr>
            <p:ph type="title"/>
          </p:nvPr>
        </p:nvSpPr>
        <p:spPr>
          <a:xfrm>
            <a:off x="367580" y="0"/>
            <a:ext cx="8520600" cy="572700"/>
          </a:xfrm>
        </p:spPr>
        <p:txBody>
          <a:bodyPr>
            <a:normAutofit fontScale="90000"/>
          </a:bodyPr>
          <a:lstStyle/>
          <a:p>
            <a:pPr algn="ctr"/>
            <a:br>
              <a:rPr lang="es-MX" b="1" dirty="0"/>
            </a:br>
            <a:r>
              <a:rPr lang="es-MX" b="1" dirty="0"/>
              <a:t>Análisis de competencias</a:t>
            </a:r>
            <a:endParaRPr lang="es-GT" b="1" dirty="0"/>
          </a:p>
        </p:txBody>
      </p:sp>
      <p:sp>
        <p:nvSpPr>
          <p:cNvPr id="3" name="Marcador de texto 2">
            <a:extLst>
              <a:ext uri="{FF2B5EF4-FFF2-40B4-BE49-F238E27FC236}">
                <a16:creationId xmlns:a16="http://schemas.microsoft.com/office/drawing/2014/main" id="{8EC98766-FC0A-A502-3904-25979C4ABEF4}"/>
              </a:ext>
            </a:extLst>
          </p:cNvPr>
          <p:cNvSpPr>
            <a:spLocks noGrp="1"/>
          </p:cNvSpPr>
          <p:nvPr>
            <p:ph type="body" idx="1"/>
          </p:nvPr>
        </p:nvSpPr>
        <p:spPr>
          <a:xfrm>
            <a:off x="311700" y="777240"/>
            <a:ext cx="8520600" cy="4236195"/>
          </a:xfrm>
        </p:spPr>
        <p:txBody>
          <a:bodyPr>
            <a:normAutofit fontScale="92500" lnSpcReduction="10000"/>
          </a:bodyPr>
          <a:lstStyle/>
          <a:p>
            <a:pPr marL="114300" indent="0">
              <a:buNone/>
            </a:pPr>
            <a:r>
              <a:rPr lang="es-MX" sz="1600" b="1" dirty="0">
                <a:solidFill>
                  <a:schemeClr val="tx1"/>
                </a:solidFill>
              </a:rPr>
              <a:t>Identificación de estrategias digitales exitosas de competidores</a:t>
            </a:r>
          </a:p>
          <a:p>
            <a:pPr marL="114300" indent="0">
              <a:buNone/>
            </a:pPr>
            <a:r>
              <a:rPr lang="es-MX" sz="1600" dirty="0">
                <a:solidFill>
                  <a:schemeClr val="tx1"/>
                </a:solidFill>
              </a:rPr>
              <a:t>En marketing digital, analizar a la competencia es una práctica esencial para comprender qué estrategias están generando mejores resultados en el mercado. La </a:t>
            </a:r>
            <a:r>
              <a:rPr lang="es-MX" sz="1600" b="1" dirty="0">
                <a:solidFill>
                  <a:schemeClr val="tx1"/>
                </a:solidFill>
              </a:rPr>
              <a:t>identificación de estrategias digitales exitosas</a:t>
            </a:r>
            <a:r>
              <a:rPr lang="es-MX" sz="1600" dirty="0">
                <a:solidFill>
                  <a:schemeClr val="tx1"/>
                </a:solidFill>
              </a:rPr>
              <a:t> permite conocer cómo otras marcas logran captar la atención del público, posicionarse en buscadores o fidelizar clientes. Este análisis se centra en observar elementos como:</a:t>
            </a:r>
          </a:p>
          <a:p>
            <a:r>
              <a:rPr lang="es-MX" sz="1600" b="1" dirty="0">
                <a:solidFill>
                  <a:schemeClr val="tx1"/>
                </a:solidFill>
              </a:rPr>
              <a:t>Presencia en redes sociales</a:t>
            </a:r>
            <a:r>
              <a:rPr lang="es-MX" sz="1600" dirty="0">
                <a:solidFill>
                  <a:schemeClr val="tx1"/>
                </a:solidFill>
              </a:rPr>
              <a:t>: tipo de contenido, frecuencia de publicación y nivel de interacción con los seguidores.</a:t>
            </a:r>
          </a:p>
          <a:p>
            <a:r>
              <a:rPr lang="es-MX" sz="1600" b="1" dirty="0">
                <a:solidFill>
                  <a:schemeClr val="tx1"/>
                </a:solidFill>
              </a:rPr>
              <a:t>Posicionamiento SEO</a:t>
            </a:r>
            <a:r>
              <a:rPr lang="es-MX" sz="1600" dirty="0">
                <a:solidFill>
                  <a:schemeClr val="tx1"/>
                </a:solidFill>
              </a:rPr>
              <a:t>: palabras clave utilizadas, estructura del sitio y volumen de tráfico orgánico.</a:t>
            </a:r>
          </a:p>
          <a:p>
            <a:r>
              <a:rPr lang="es-MX" sz="1600" b="1" dirty="0">
                <a:solidFill>
                  <a:schemeClr val="tx1"/>
                </a:solidFill>
              </a:rPr>
              <a:t>Estrategias de publicidad digital (SEM y redes sociales)</a:t>
            </a:r>
            <a:r>
              <a:rPr lang="es-MX" sz="1600" dirty="0">
                <a:solidFill>
                  <a:schemeClr val="tx1"/>
                </a:solidFill>
              </a:rPr>
              <a:t>: anuncios más eficaces, formatos y segmentación.</a:t>
            </a:r>
          </a:p>
          <a:p>
            <a:r>
              <a:rPr lang="es-MX" sz="1600" b="1" dirty="0">
                <a:solidFill>
                  <a:schemeClr val="tx1"/>
                </a:solidFill>
              </a:rPr>
              <a:t>Propuestas de valor y experiencia del usuario</a:t>
            </a:r>
            <a:r>
              <a:rPr lang="es-MX" sz="1600" dirty="0">
                <a:solidFill>
                  <a:schemeClr val="tx1"/>
                </a:solidFill>
              </a:rPr>
              <a:t>: cómo presentan sus productos, atención al cliente y reputación online.</a:t>
            </a:r>
            <a:br>
              <a:rPr lang="es-MX" sz="1600" dirty="0">
                <a:solidFill>
                  <a:schemeClr val="tx1"/>
                </a:solidFill>
              </a:rPr>
            </a:br>
            <a:r>
              <a:rPr lang="es-MX" sz="1600" dirty="0">
                <a:solidFill>
                  <a:schemeClr val="tx1"/>
                </a:solidFill>
              </a:rPr>
              <a:t>Estudiar estos factores ayuda a identificar qué tácticas funcionan mejor en el sector y cómo adaptarlas o mejorarlas para fortalecer la posición de la propia marca.</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517469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A4E6842B-6EF2-08C9-8D4A-C7E51B5A4ED5}"/>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4CE39D41-6264-7658-2916-F2E3F10CB762}"/>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4E88FE87-E6E1-DE55-BDD1-4B56DE7DDC7F}"/>
              </a:ext>
            </a:extLst>
          </p:cNvPr>
          <p:cNvSpPr>
            <a:spLocks noGrp="1"/>
          </p:cNvSpPr>
          <p:nvPr>
            <p:ph type="title"/>
          </p:nvPr>
        </p:nvSpPr>
        <p:spPr>
          <a:xfrm>
            <a:off x="367580" y="0"/>
            <a:ext cx="8520600" cy="572700"/>
          </a:xfrm>
        </p:spPr>
        <p:txBody>
          <a:bodyPr>
            <a:normAutofit fontScale="90000"/>
          </a:bodyPr>
          <a:lstStyle/>
          <a:p>
            <a:pPr algn="ctr"/>
            <a:br>
              <a:rPr lang="es-MX" b="1" dirty="0"/>
            </a:br>
            <a:r>
              <a:rPr lang="es-MX" b="1" dirty="0"/>
              <a:t>Análisis de competencias</a:t>
            </a:r>
            <a:endParaRPr lang="es-GT" b="1" dirty="0"/>
          </a:p>
        </p:txBody>
      </p:sp>
      <p:sp>
        <p:nvSpPr>
          <p:cNvPr id="3" name="Marcador de texto 2">
            <a:extLst>
              <a:ext uri="{FF2B5EF4-FFF2-40B4-BE49-F238E27FC236}">
                <a16:creationId xmlns:a16="http://schemas.microsoft.com/office/drawing/2014/main" id="{076A0A0B-32BE-141B-AF8D-44A24AE38D95}"/>
              </a:ext>
            </a:extLst>
          </p:cNvPr>
          <p:cNvSpPr>
            <a:spLocks noGrp="1"/>
          </p:cNvSpPr>
          <p:nvPr>
            <p:ph type="body" idx="1"/>
          </p:nvPr>
        </p:nvSpPr>
        <p:spPr>
          <a:xfrm>
            <a:off x="311700" y="777240"/>
            <a:ext cx="8520600" cy="4236195"/>
          </a:xfrm>
        </p:spPr>
        <p:txBody>
          <a:bodyPr>
            <a:normAutofit fontScale="92500"/>
          </a:bodyPr>
          <a:lstStyle/>
          <a:p>
            <a:pPr marL="114300" indent="0">
              <a:buNone/>
            </a:pPr>
            <a:r>
              <a:rPr lang="es-MX" sz="1600" b="1" dirty="0">
                <a:solidFill>
                  <a:schemeClr val="tx1"/>
                </a:solidFill>
              </a:rPr>
              <a:t>Benchmarking de posicionamiento de marca</a:t>
            </a:r>
          </a:p>
          <a:p>
            <a:pPr marL="114300" indent="0">
              <a:buNone/>
            </a:pPr>
            <a:r>
              <a:rPr lang="es-MX" sz="1600" dirty="0">
                <a:solidFill>
                  <a:schemeClr val="tx1"/>
                </a:solidFill>
              </a:rPr>
              <a:t>El </a:t>
            </a:r>
            <a:r>
              <a:rPr lang="es-MX" sz="1600" b="1" dirty="0">
                <a:solidFill>
                  <a:schemeClr val="tx1"/>
                </a:solidFill>
              </a:rPr>
              <a:t>benchmarking</a:t>
            </a:r>
            <a:r>
              <a:rPr lang="es-MX" sz="1600" dirty="0">
                <a:solidFill>
                  <a:schemeClr val="tx1"/>
                </a:solidFill>
              </a:rPr>
              <a:t> es una herramienta clave del marketing que consiste en comparar el desempeño de una marca con el de sus competidores más destacados. En el entorno digital, este proceso se enfoca en evaluar el </a:t>
            </a:r>
            <a:r>
              <a:rPr lang="es-MX" sz="1600" b="1" dirty="0">
                <a:solidFill>
                  <a:schemeClr val="tx1"/>
                </a:solidFill>
              </a:rPr>
              <a:t>posicionamiento de marca</a:t>
            </a:r>
            <a:r>
              <a:rPr lang="es-MX" sz="1600" dirty="0">
                <a:solidFill>
                  <a:schemeClr val="tx1"/>
                </a:solidFill>
              </a:rPr>
              <a:t>, es decir, cómo perciben los consumidores a cada empresa dentro de su sector. Para ello se analizan aspectos como:</a:t>
            </a:r>
          </a:p>
          <a:p>
            <a:r>
              <a:rPr lang="es-MX" sz="1600" b="1" dirty="0">
                <a:solidFill>
                  <a:schemeClr val="tx1"/>
                </a:solidFill>
              </a:rPr>
              <a:t>Reconocimiento y reputación online</a:t>
            </a:r>
            <a:r>
              <a:rPr lang="es-MX" sz="1600" dirty="0">
                <a:solidFill>
                  <a:schemeClr val="tx1"/>
                </a:solidFill>
              </a:rPr>
              <a:t>, a través de menciones, reseñas y presencia en medios digitales.</a:t>
            </a:r>
          </a:p>
          <a:p>
            <a:r>
              <a:rPr lang="es-MX" sz="1600" b="1" dirty="0">
                <a:solidFill>
                  <a:schemeClr val="tx1"/>
                </a:solidFill>
              </a:rPr>
              <a:t>Consistencia visual y comunicacional</a:t>
            </a:r>
            <a:r>
              <a:rPr lang="es-MX" sz="1600" dirty="0">
                <a:solidFill>
                  <a:schemeClr val="tx1"/>
                </a:solidFill>
              </a:rPr>
              <a:t>, incluyendo logotipo, mensajes clave y tono de comunicación.</a:t>
            </a:r>
          </a:p>
          <a:p>
            <a:r>
              <a:rPr lang="es-MX" sz="1600" b="1" dirty="0">
                <a:solidFill>
                  <a:schemeClr val="tx1"/>
                </a:solidFill>
              </a:rPr>
              <a:t>Nivel de </a:t>
            </a:r>
            <a:r>
              <a:rPr lang="es-MX" sz="1600" b="1" dirty="0" err="1">
                <a:solidFill>
                  <a:schemeClr val="tx1"/>
                </a:solidFill>
              </a:rPr>
              <a:t>engagement</a:t>
            </a:r>
            <a:r>
              <a:rPr lang="es-MX" sz="1600" dirty="0">
                <a:solidFill>
                  <a:schemeClr val="tx1"/>
                </a:solidFill>
              </a:rPr>
              <a:t> en redes sociales, que refleja el grado de conexión emocional con el público.</a:t>
            </a:r>
          </a:p>
          <a:p>
            <a:r>
              <a:rPr lang="es-MX" sz="1600" b="1" dirty="0">
                <a:solidFill>
                  <a:schemeClr val="tx1"/>
                </a:solidFill>
              </a:rPr>
              <a:t>Autoridad del dominio y tráfico web</a:t>
            </a:r>
            <a:r>
              <a:rPr lang="es-MX" sz="1600" dirty="0">
                <a:solidFill>
                  <a:schemeClr val="tx1"/>
                </a:solidFill>
              </a:rPr>
              <a:t>, indicadores del impacto y relevancia digital de la marca.</a:t>
            </a:r>
            <a:br>
              <a:rPr lang="es-MX" sz="1600" dirty="0">
                <a:solidFill>
                  <a:schemeClr val="tx1"/>
                </a:solidFill>
              </a:rPr>
            </a:br>
            <a:r>
              <a:rPr lang="es-MX" sz="1600" dirty="0">
                <a:solidFill>
                  <a:schemeClr val="tx1"/>
                </a:solidFill>
              </a:rPr>
              <a:t>El benchmarking permite descubrir ventajas competitivas, detectar debilidades y establecer objetivos realistas para mejorar la posición de la marca frente a sus rivales.</a:t>
            </a:r>
          </a:p>
          <a:p>
            <a:pPr marL="114300" indent="0">
              <a:buNone/>
            </a:pPr>
            <a:endParaRPr lang="es-MX" sz="1600" dirty="0">
              <a:solidFill>
                <a:schemeClr val="tx1"/>
              </a:solidFill>
            </a:endParaRPr>
          </a:p>
          <a:p>
            <a:pPr marL="114300" indent="0">
              <a:buNone/>
            </a:pPr>
            <a:endParaRPr lang="es-GT" sz="1400" dirty="0">
              <a:solidFill>
                <a:schemeClr val="tx1"/>
              </a:solidFill>
            </a:endParaRPr>
          </a:p>
        </p:txBody>
      </p:sp>
    </p:spTree>
    <p:extLst>
      <p:ext uri="{BB962C8B-B14F-4D97-AF65-F5344CB8AC3E}">
        <p14:creationId xmlns:p14="http://schemas.microsoft.com/office/powerpoint/2010/main" val="3496741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676CCBD0-08A1-E320-2354-94D534052667}"/>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D90C44AB-0C0D-DB45-EA43-36CED467D1D4}"/>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D3494DB4-AB06-1F6A-1B50-3D916768DB80}"/>
              </a:ext>
            </a:extLst>
          </p:cNvPr>
          <p:cNvSpPr>
            <a:spLocks noGrp="1"/>
          </p:cNvSpPr>
          <p:nvPr>
            <p:ph type="title"/>
          </p:nvPr>
        </p:nvSpPr>
        <p:spPr>
          <a:xfrm>
            <a:off x="367580" y="0"/>
            <a:ext cx="8520600" cy="572700"/>
          </a:xfrm>
        </p:spPr>
        <p:txBody>
          <a:bodyPr>
            <a:normAutofit fontScale="90000"/>
          </a:bodyPr>
          <a:lstStyle/>
          <a:p>
            <a:pPr algn="ctr"/>
            <a:br>
              <a:rPr lang="es-MX" b="1" dirty="0"/>
            </a:br>
            <a:r>
              <a:rPr lang="es-MX" b="1" dirty="0"/>
              <a:t>Análisis de competencias</a:t>
            </a:r>
            <a:endParaRPr lang="es-GT" b="1" dirty="0"/>
          </a:p>
        </p:txBody>
      </p:sp>
      <p:sp>
        <p:nvSpPr>
          <p:cNvPr id="3" name="Marcador de texto 2">
            <a:extLst>
              <a:ext uri="{FF2B5EF4-FFF2-40B4-BE49-F238E27FC236}">
                <a16:creationId xmlns:a16="http://schemas.microsoft.com/office/drawing/2014/main" id="{111098FB-7E48-58EF-0483-A47C9AB5B508}"/>
              </a:ext>
            </a:extLst>
          </p:cNvPr>
          <p:cNvSpPr>
            <a:spLocks noGrp="1"/>
          </p:cNvSpPr>
          <p:nvPr>
            <p:ph type="body" idx="1"/>
          </p:nvPr>
        </p:nvSpPr>
        <p:spPr>
          <a:xfrm>
            <a:off x="311700" y="777240"/>
            <a:ext cx="8520600" cy="4236195"/>
          </a:xfrm>
        </p:spPr>
        <p:txBody>
          <a:bodyPr>
            <a:normAutofit lnSpcReduction="10000"/>
          </a:bodyPr>
          <a:lstStyle/>
          <a:p>
            <a:pPr marL="114300" indent="0">
              <a:buNone/>
            </a:pPr>
            <a:r>
              <a:rPr lang="es-MX" sz="1600" b="1" dirty="0">
                <a:solidFill>
                  <a:schemeClr val="tx1"/>
                </a:solidFill>
              </a:rPr>
              <a:t>Detección de oportunidades de mercado</a:t>
            </a:r>
          </a:p>
          <a:p>
            <a:pPr marL="114300" indent="0">
              <a:buNone/>
            </a:pPr>
            <a:r>
              <a:rPr lang="es-MX" sz="1600" dirty="0">
                <a:solidFill>
                  <a:schemeClr val="tx1"/>
                </a:solidFill>
              </a:rPr>
              <a:t>El análisis de la competencia no solo sirve para observar lo que otros hacen bien, sino también para detectar </a:t>
            </a:r>
            <a:r>
              <a:rPr lang="es-MX" sz="1600" b="1" dirty="0">
                <a:solidFill>
                  <a:schemeClr val="tx1"/>
                </a:solidFill>
              </a:rPr>
              <a:t>oportunidades de mercado</a:t>
            </a:r>
            <a:r>
              <a:rPr lang="es-MX" sz="1600" dirty="0">
                <a:solidFill>
                  <a:schemeClr val="tx1"/>
                </a:solidFill>
              </a:rPr>
              <a:t> aún no explotadas. Desde el punto de vista del marketing, este proceso implica identificar necesidades insatisfechas, nichos emergentes o segmentos de consumidores que los competidores no están atendiendo adecuadamente. Algunas formas de detectar oportunidades incluyen:</a:t>
            </a:r>
          </a:p>
          <a:p>
            <a:r>
              <a:rPr lang="es-MX" sz="1600" b="1" dirty="0">
                <a:solidFill>
                  <a:schemeClr val="tx1"/>
                </a:solidFill>
              </a:rPr>
              <a:t>Evaluar vacíos en la oferta actual</a:t>
            </a:r>
            <a:r>
              <a:rPr lang="es-MX" sz="1600" dirty="0">
                <a:solidFill>
                  <a:schemeClr val="tx1"/>
                </a:solidFill>
              </a:rPr>
              <a:t>, como productos o servicios que podrían mejorarse.</a:t>
            </a:r>
          </a:p>
          <a:p>
            <a:r>
              <a:rPr lang="es-MX" sz="1600" b="1" dirty="0">
                <a:solidFill>
                  <a:schemeClr val="tx1"/>
                </a:solidFill>
              </a:rPr>
              <a:t>Analizar tendencias de consumo y comportamiento digital</a:t>
            </a:r>
            <a:r>
              <a:rPr lang="es-MX" sz="1600" dirty="0">
                <a:solidFill>
                  <a:schemeClr val="tx1"/>
                </a:solidFill>
              </a:rPr>
              <a:t>, para anticiparse a cambios en las preferencias del público.</a:t>
            </a:r>
          </a:p>
          <a:p>
            <a:r>
              <a:rPr lang="es-MX" sz="1600" b="1" dirty="0">
                <a:solidFill>
                  <a:schemeClr val="tx1"/>
                </a:solidFill>
              </a:rPr>
              <a:t>Revisar opiniones y comentarios de usuarios</a:t>
            </a:r>
            <a:r>
              <a:rPr lang="es-MX" sz="1600" dirty="0">
                <a:solidFill>
                  <a:schemeClr val="tx1"/>
                </a:solidFill>
              </a:rPr>
              <a:t> en redes o foros, donde suelen revelarse expectativas no cubiertas.</a:t>
            </a:r>
          </a:p>
          <a:p>
            <a:r>
              <a:rPr lang="es-MX" sz="1600" b="1" dirty="0">
                <a:solidFill>
                  <a:schemeClr val="tx1"/>
                </a:solidFill>
              </a:rPr>
              <a:t>Observar debilidades de la competencia</a:t>
            </a:r>
            <a:r>
              <a:rPr lang="es-MX" sz="1600" dirty="0">
                <a:solidFill>
                  <a:schemeClr val="tx1"/>
                </a:solidFill>
              </a:rPr>
              <a:t>, como falta de innovación o mala atención al </a:t>
            </a:r>
            <a:r>
              <a:rPr lang="es-MX" sz="1600" dirty="0" err="1">
                <a:solidFill>
                  <a:schemeClr val="tx1"/>
                </a:solidFill>
              </a:rPr>
              <a:t>cliente.Aprovechar</a:t>
            </a:r>
            <a:r>
              <a:rPr lang="es-MX" sz="1600" dirty="0">
                <a:solidFill>
                  <a:schemeClr val="tx1"/>
                </a:solidFill>
              </a:rPr>
              <a:t> estas oportunidades permite a las empresas diferenciarse, innovar y generar propuestas de valor más atractivas para su público objetivo.</a:t>
            </a:r>
          </a:p>
          <a:p>
            <a:pPr marL="114300" indent="0">
              <a:buNone/>
            </a:pPr>
            <a:endParaRPr lang="es-MX" sz="1600" dirty="0">
              <a:solidFill>
                <a:schemeClr val="tx1"/>
              </a:solidFill>
            </a:endParaRPr>
          </a:p>
          <a:p>
            <a:pPr marL="114300" indent="0">
              <a:buNone/>
            </a:pPr>
            <a:endParaRPr lang="es-GT" sz="1400" dirty="0">
              <a:solidFill>
                <a:schemeClr val="tx1"/>
              </a:solidFill>
            </a:endParaRPr>
          </a:p>
        </p:txBody>
      </p:sp>
    </p:spTree>
    <p:extLst>
      <p:ext uri="{BB962C8B-B14F-4D97-AF65-F5344CB8AC3E}">
        <p14:creationId xmlns:p14="http://schemas.microsoft.com/office/powerpoint/2010/main" val="1279992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8D00856D-D327-CDE8-59E1-28842A196A03}"/>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0B8C8A91-FDCB-89DE-B5AA-9F3EB2D2C0F7}"/>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6ABF0BD6-85DC-A4DD-2956-39B85C05E58C}"/>
              </a:ext>
            </a:extLst>
          </p:cNvPr>
          <p:cNvSpPr>
            <a:spLocks noGrp="1"/>
          </p:cNvSpPr>
          <p:nvPr>
            <p:ph type="title"/>
          </p:nvPr>
        </p:nvSpPr>
        <p:spPr>
          <a:xfrm>
            <a:off x="367580" y="0"/>
            <a:ext cx="8520600" cy="572700"/>
          </a:xfrm>
        </p:spPr>
        <p:txBody>
          <a:bodyPr>
            <a:normAutofit fontScale="90000"/>
          </a:bodyPr>
          <a:lstStyle/>
          <a:p>
            <a:pPr algn="ctr"/>
            <a:r>
              <a:rPr lang="es-MX" b="1" dirty="0"/>
              <a:t>Creación y gestión de campañas por correo electrónico (Email Marketing)</a:t>
            </a:r>
            <a:endParaRPr lang="es-GT" b="1" dirty="0"/>
          </a:p>
        </p:txBody>
      </p:sp>
      <p:sp>
        <p:nvSpPr>
          <p:cNvPr id="3" name="Marcador de texto 2">
            <a:extLst>
              <a:ext uri="{FF2B5EF4-FFF2-40B4-BE49-F238E27FC236}">
                <a16:creationId xmlns:a16="http://schemas.microsoft.com/office/drawing/2014/main" id="{13A3AF8E-E990-16C1-01A3-3826052FF3B0}"/>
              </a:ext>
            </a:extLst>
          </p:cNvPr>
          <p:cNvSpPr>
            <a:spLocks noGrp="1"/>
          </p:cNvSpPr>
          <p:nvPr>
            <p:ph type="body" idx="1"/>
          </p:nvPr>
        </p:nvSpPr>
        <p:spPr>
          <a:xfrm>
            <a:off x="311700" y="777240"/>
            <a:ext cx="8520600" cy="4236195"/>
          </a:xfrm>
        </p:spPr>
        <p:txBody>
          <a:bodyPr>
            <a:normAutofit/>
          </a:bodyPr>
          <a:lstStyle/>
          <a:p>
            <a:pPr marL="114300" indent="0">
              <a:buNone/>
            </a:pPr>
            <a:r>
              <a:rPr lang="es-MX" sz="1600" b="1" dirty="0">
                <a:solidFill>
                  <a:schemeClr val="tx1"/>
                </a:solidFill>
              </a:rPr>
              <a:t>Diseño de estrategias de fidelización y </a:t>
            </a:r>
            <a:r>
              <a:rPr lang="es-MX" sz="1600" b="1" dirty="0" err="1">
                <a:solidFill>
                  <a:schemeClr val="tx1"/>
                </a:solidFill>
              </a:rPr>
              <a:t>remarketing</a:t>
            </a:r>
            <a:endParaRPr lang="es-MX" sz="1600" b="1" dirty="0">
              <a:solidFill>
                <a:schemeClr val="tx1"/>
              </a:solidFill>
            </a:endParaRPr>
          </a:p>
          <a:p>
            <a:pPr marL="114300" indent="0">
              <a:buNone/>
            </a:pPr>
            <a:r>
              <a:rPr lang="es-MX" sz="1600" dirty="0">
                <a:solidFill>
                  <a:schemeClr val="tx1"/>
                </a:solidFill>
              </a:rPr>
              <a:t>En marketing digital, el </a:t>
            </a:r>
            <a:r>
              <a:rPr lang="es-MX" sz="1600" b="1" dirty="0">
                <a:solidFill>
                  <a:schemeClr val="tx1"/>
                </a:solidFill>
              </a:rPr>
              <a:t>diseño de estrategias de fidelización y </a:t>
            </a:r>
            <a:r>
              <a:rPr lang="es-MX" sz="1600" b="1" dirty="0" err="1">
                <a:solidFill>
                  <a:schemeClr val="tx1"/>
                </a:solidFill>
              </a:rPr>
              <a:t>remarketing</a:t>
            </a:r>
            <a:r>
              <a:rPr lang="es-MX" sz="1600" dirty="0">
                <a:solidFill>
                  <a:schemeClr val="tx1"/>
                </a:solidFill>
              </a:rPr>
              <a:t> es fundamental para mantener la relación con los clientes y aumentar el valor de cada interacción. La fidelización busca que los consumidores repitan compras y se conviertan en embajadores de la marca, mientras que el </a:t>
            </a:r>
            <a:r>
              <a:rPr lang="es-MX" sz="1600" dirty="0" err="1">
                <a:solidFill>
                  <a:schemeClr val="tx1"/>
                </a:solidFill>
              </a:rPr>
              <a:t>remarketing</a:t>
            </a:r>
            <a:r>
              <a:rPr lang="es-MX" sz="1600" dirty="0">
                <a:solidFill>
                  <a:schemeClr val="tx1"/>
                </a:solidFill>
              </a:rPr>
              <a:t> se enfoca en recuperar a aquellos que mostraron interés pero no completaron una acción (como una compra o registro). Algunas estrategias clave incluyen:</a:t>
            </a:r>
          </a:p>
          <a:p>
            <a:r>
              <a:rPr lang="es-MX" sz="1600" b="1" dirty="0">
                <a:solidFill>
                  <a:schemeClr val="tx1"/>
                </a:solidFill>
              </a:rPr>
              <a:t>Programas de lealtad</a:t>
            </a:r>
            <a:r>
              <a:rPr lang="es-MX" sz="1600" dirty="0">
                <a:solidFill>
                  <a:schemeClr val="tx1"/>
                </a:solidFill>
              </a:rPr>
              <a:t> con puntos, recompensas o descuentos exclusivos.</a:t>
            </a:r>
          </a:p>
          <a:p>
            <a:r>
              <a:rPr lang="es-MX" sz="1600" b="1" dirty="0">
                <a:solidFill>
                  <a:schemeClr val="tx1"/>
                </a:solidFill>
              </a:rPr>
              <a:t>Campañas de </a:t>
            </a:r>
            <a:r>
              <a:rPr lang="es-MX" sz="1600" b="1" dirty="0" err="1">
                <a:solidFill>
                  <a:schemeClr val="tx1"/>
                </a:solidFill>
              </a:rPr>
              <a:t>remarketing</a:t>
            </a:r>
            <a:r>
              <a:rPr lang="es-MX" sz="1600" dirty="0">
                <a:solidFill>
                  <a:schemeClr val="tx1"/>
                </a:solidFill>
              </a:rPr>
              <a:t> mediante anuncios personalizados que recuerdan al usuario el producto que vio.</a:t>
            </a:r>
          </a:p>
          <a:p>
            <a:r>
              <a:rPr lang="es-MX" sz="1600" b="1" dirty="0">
                <a:solidFill>
                  <a:schemeClr val="tx1"/>
                </a:solidFill>
              </a:rPr>
              <a:t>Contenido de valor </a:t>
            </a:r>
            <a:r>
              <a:rPr lang="es-MX" sz="1600" b="1" dirty="0" err="1">
                <a:solidFill>
                  <a:schemeClr val="tx1"/>
                </a:solidFill>
              </a:rPr>
              <a:t>postcompra</a:t>
            </a:r>
            <a:r>
              <a:rPr lang="es-MX" sz="1600" dirty="0">
                <a:solidFill>
                  <a:schemeClr val="tx1"/>
                </a:solidFill>
              </a:rPr>
              <a:t>, como correos con consejos de uso o actualizaciones de productos.</a:t>
            </a:r>
          </a:p>
          <a:p>
            <a:r>
              <a:rPr lang="es-MX" sz="1600" b="1" dirty="0">
                <a:solidFill>
                  <a:schemeClr val="tx1"/>
                </a:solidFill>
              </a:rPr>
              <a:t>Comunicación emocional y servicio personalizado</a:t>
            </a:r>
            <a:r>
              <a:rPr lang="es-MX" sz="1600" dirty="0">
                <a:solidFill>
                  <a:schemeClr val="tx1"/>
                </a:solidFill>
              </a:rPr>
              <a:t>, que refuerzan la conexión con la marca.</a:t>
            </a:r>
          </a:p>
          <a:p>
            <a:pPr marL="114300" indent="0">
              <a:buNone/>
            </a:pPr>
            <a:endParaRPr lang="es-GT" sz="1400" dirty="0">
              <a:solidFill>
                <a:schemeClr val="tx1"/>
              </a:solidFill>
            </a:endParaRPr>
          </a:p>
        </p:txBody>
      </p:sp>
    </p:spTree>
    <p:extLst>
      <p:ext uri="{BB962C8B-B14F-4D97-AF65-F5344CB8AC3E}">
        <p14:creationId xmlns:p14="http://schemas.microsoft.com/office/powerpoint/2010/main" val="3321829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6FBDCDF8-B525-1C1B-1F81-22F9A7CE7436}"/>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13FD0F9F-3D4D-F778-8ACB-1E8919979EC4}"/>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7BC6E44B-6BF5-720A-9790-03B7467455E5}"/>
              </a:ext>
            </a:extLst>
          </p:cNvPr>
          <p:cNvSpPr>
            <a:spLocks noGrp="1"/>
          </p:cNvSpPr>
          <p:nvPr>
            <p:ph type="title"/>
          </p:nvPr>
        </p:nvSpPr>
        <p:spPr>
          <a:xfrm>
            <a:off x="367580" y="0"/>
            <a:ext cx="8520600" cy="572700"/>
          </a:xfrm>
        </p:spPr>
        <p:txBody>
          <a:bodyPr>
            <a:normAutofit fontScale="90000"/>
          </a:bodyPr>
          <a:lstStyle/>
          <a:p>
            <a:pPr algn="ctr"/>
            <a:r>
              <a:rPr lang="es-MX" b="1" dirty="0"/>
              <a:t>Creación y gestión de campañas por correo electrónico (Email Marketing)</a:t>
            </a:r>
            <a:endParaRPr lang="es-GT" b="1" dirty="0"/>
          </a:p>
        </p:txBody>
      </p:sp>
      <p:sp>
        <p:nvSpPr>
          <p:cNvPr id="3" name="Marcador de texto 2">
            <a:extLst>
              <a:ext uri="{FF2B5EF4-FFF2-40B4-BE49-F238E27FC236}">
                <a16:creationId xmlns:a16="http://schemas.microsoft.com/office/drawing/2014/main" id="{706C76F6-4CEC-8BA1-9AEC-3FEE34F21769}"/>
              </a:ext>
            </a:extLst>
          </p:cNvPr>
          <p:cNvSpPr>
            <a:spLocks noGrp="1"/>
          </p:cNvSpPr>
          <p:nvPr>
            <p:ph type="body" idx="1"/>
          </p:nvPr>
        </p:nvSpPr>
        <p:spPr>
          <a:xfrm>
            <a:off x="311700" y="777240"/>
            <a:ext cx="8520600" cy="4236195"/>
          </a:xfrm>
        </p:spPr>
        <p:txBody>
          <a:bodyPr>
            <a:normAutofit/>
          </a:bodyPr>
          <a:lstStyle/>
          <a:p>
            <a:pPr marL="114300" indent="0">
              <a:buNone/>
            </a:pPr>
            <a:r>
              <a:rPr lang="es-MX" sz="1600" dirty="0">
                <a:solidFill>
                  <a:schemeClr val="tx1"/>
                </a:solidFill>
              </a:rPr>
              <a:t>La </a:t>
            </a:r>
            <a:r>
              <a:rPr lang="es-MX" sz="1600" b="1" dirty="0">
                <a:solidFill>
                  <a:schemeClr val="tx1"/>
                </a:solidFill>
              </a:rPr>
              <a:t>automatización del marketing</a:t>
            </a:r>
            <a:r>
              <a:rPr lang="es-MX" sz="1600" dirty="0">
                <a:solidFill>
                  <a:schemeClr val="tx1"/>
                </a:solidFill>
              </a:rPr>
              <a:t> permite optimizar los procesos de comunicación y hacer más eficiente la gestión de campañas digitales. A través de herramientas tecnológicas, las marcas pueden enviar mensajes personalizados en el momento adecuado, basados en el comportamiento o preferencias del usuario. Desde el punto de vista del marketing, esta práctica incrementa la relevancia del mensaje y mejora la experiencia del cliente. Algunas aplicaciones comunes son:</a:t>
            </a:r>
          </a:p>
          <a:p>
            <a:r>
              <a:rPr lang="es-MX" sz="1600" b="1" dirty="0">
                <a:solidFill>
                  <a:schemeClr val="tx1"/>
                </a:solidFill>
              </a:rPr>
              <a:t>Emails automáticos</a:t>
            </a:r>
            <a:r>
              <a:rPr lang="es-MX" sz="1600" dirty="0">
                <a:solidFill>
                  <a:schemeClr val="tx1"/>
                </a:solidFill>
              </a:rPr>
              <a:t> según acciones del usuario (bienvenida, carrito abandonado, agradecimiento por compra).</a:t>
            </a:r>
          </a:p>
          <a:p>
            <a:r>
              <a:rPr lang="es-MX" sz="1600" b="1" dirty="0">
                <a:solidFill>
                  <a:schemeClr val="tx1"/>
                </a:solidFill>
              </a:rPr>
              <a:t>Segmentación dinámica</a:t>
            </a:r>
            <a:r>
              <a:rPr lang="es-MX" sz="1600" dirty="0">
                <a:solidFill>
                  <a:schemeClr val="tx1"/>
                </a:solidFill>
              </a:rPr>
              <a:t> de bases de datos para enviar contenido adaptado a intereses específicos.</a:t>
            </a:r>
          </a:p>
          <a:p>
            <a:r>
              <a:rPr lang="es-MX" sz="1600" b="1" dirty="0">
                <a:solidFill>
                  <a:schemeClr val="tx1"/>
                </a:solidFill>
              </a:rPr>
              <a:t>Flujos automatizados en redes sociales y </a:t>
            </a:r>
            <a:r>
              <a:rPr lang="es-MX" sz="1600" b="1" dirty="0" err="1">
                <a:solidFill>
                  <a:schemeClr val="tx1"/>
                </a:solidFill>
              </a:rPr>
              <a:t>chatbots</a:t>
            </a:r>
            <a:r>
              <a:rPr lang="es-MX" sz="1600" dirty="0">
                <a:solidFill>
                  <a:schemeClr val="tx1"/>
                </a:solidFill>
              </a:rPr>
              <a:t>, que brindan atención inmediata y personalizada.</a:t>
            </a:r>
          </a:p>
          <a:p>
            <a:r>
              <a:rPr lang="es-MX" sz="1600" b="1" dirty="0">
                <a:solidFill>
                  <a:schemeClr val="tx1"/>
                </a:solidFill>
              </a:rPr>
              <a:t>Campañas multicanal coordinadas</a:t>
            </a:r>
            <a:r>
              <a:rPr lang="es-MX" sz="1600" dirty="0">
                <a:solidFill>
                  <a:schemeClr val="tx1"/>
                </a:solidFill>
              </a:rPr>
              <a:t>, donde el mensaje mantiene coherencia en todos los puntos de contacto.</a:t>
            </a:r>
          </a:p>
          <a:p>
            <a:pPr marL="114300" indent="0">
              <a:buNone/>
            </a:pPr>
            <a:endParaRPr lang="es-MX" sz="1600" dirty="0">
              <a:solidFill>
                <a:schemeClr val="tx1"/>
              </a:solidFill>
            </a:endParaRPr>
          </a:p>
          <a:p>
            <a:pPr marL="114300" indent="0">
              <a:buNone/>
            </a:pPr>
            <a:endParaRPr lang="es-GT" sz="1400" dirty="0">
              <a:solidFill>
                <a:schemeClr val="tx1"/>
              </a:solidFill>
            </a:endParaRPr>
          </a:p>
        </p:txBody>
      </p:sp>
    </p:spTree>
    <p:extLst>
      <p:ext uri="{BB962C8B-B14F-4D97-AF65-F5344CB8AC3E}">
        <p14:creationId xmlns:p14="http://schemas.microsoft.com/office/powerpoint/2010/main" val="3312848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FB9BDC91-6AEB-817E-6E5B-34F138EF6052}"/>
            </a:ext>
          </a:extLst>
        </p:cNvPr>
        <p:cNvGrpSpPr/>
        <p:nvPr/>
      </p:nvGrpSpPr>
      <p:grpSpPr>
        <a:xfrm>
          <a:off x="0" y="0"/>
          <a:ext cx="0" cy="0"/>
          <a:chOff x="0" y="0"/>
          <a:chExt cx="0" cy="0"/>
        </a:xfrm>
      </p:grpSpPr>
      <p:pic>
        <p:nvPicPr>
          <p:cNvPr id="62" name="Google Shape;62;g34156db3297_0_18">
            <a:extLst>
              <a:ext uri="{FF2B5EF4-FFF2-40B4-BE49-F238E27FC236}">
                <a16:creationId xmlns:a16="http://schemas.microsoft.com/office/drawing/2014/main" id="{5F421BBA-BB99-33BE-AC12-AE647C97FADB}"/>
              </a:ext>
            </a:extLst>
          </p:cNvPr>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2" name="Título 1">
            <a:extLst>
              <a:ext uri="{FF2B5EF4-FFF2-40B4-BE49-F238E27FC236}">
                <a16:creationId xmlns:a16="http://schemas.microsoft.com/office/drawing/2014/main" id="{27D85CCF-D245-744F-EC35-2BD48A0B25EE}"/>
              </a:ext>
            </a:extLst>
          </p:cNvPr>
          <p:cNvSpPr>
            <a:spLocks noGrp="1"/>
          </p:cNvSpPr>
          <p:nvPr>
            <p:ph type="title"/>
          </p:nvPr>
        </p:nvSpPr>
        <p:spPr>
          <a:xfrm>
            <a:off x="367580" y="0"/>
            <a:ext cx="8520600" cy="572700"/>
          </a:xfrm>
        </p:spPr>
        <p:txBody>
          <a:bodyPr>
            <a:normAutofit fontScale="90000"/>
          </a:bodyPr>
          <a:lstStyle/>
          <a:p>
            <a:pPr algn="ctr"/>
            <a:r>
              <a:rPr lang="es-MX" b="1" dirty="0"/>
              <a:t>Creación y gestión de campañas por correo electrónico (Email Marketing)</a:t>
            </a:r>
            <a:endParaRPr lang="es-GT" b="1" dirty="0"/>
          </a:p>
        </p:txBody>
      </p:sp>
      <p:sp>
        <p:nvSpPr>
          <p:cNvPr id="3" name="Marcador de texto 2">
            <a:extLst>
              <a:ext uri="{FF2B5EF4-FFF2-40B4-BE49-F238E27FC236}">
                <a16:creationId xmlns:a16="http://schemas.microsoft.com/office/drawing/2014/main" id="{96A7F360-8192-3A9E-8E48-41EAA1A798E2}"/>
              </a:ext>
            </a:extLst>
          </p:cNvPr>
          <p:cNvSpPr>
            <a:spLocks noGrp="1"/>
          </p:cNvSpPr>
          <p:nvPr>
            <p:ph type="body" idx="1"/>
          </p:nvPr>
        </p:nvSpPr>
        <p:spPr>
          <a:xfrm>
            <a:off x="311700" y="777240"/>
            <a:ext cx="8520600" cy="4236195"/>
          </a:xfrm>
        </p:spPr>
        <p:txBody>
          <a:bodyPr>
            <a:normAutofit/>
          </a:bodyPr>
          <a:lstStyle/>
          <a:p>
            <a:pPr marL="114300" indent="0">
              <a:buNone/>
            </a:pPr>
            <a:r>
              <a:rPr lang="es-MX" sz="1600" b="1" dirty="0">
                <a:solidFill>
                  <a:schemeClr val="tx1"/>
                </a:solidFill>
              </a:rPr>
              <a:t>Análisis de métricas de conversión y </a:t>
            </a:r>
            <a:r>
              <a:rPr lang="es-MX" sz="1600" b="1" dirty="0" err="1">
                <a:solidFill>
                  <a:schemeClr val="tx1"/>
                </a:solidFill>
              </a:rPr>
              <a:t>engagement</a:t>
            </a:r>
            <a:endParaRPr lang="es-MX" sz="1600" b="1" dirty="0">
              <a:solidFill>
                <a:schemeClr val="tx1"/>
              </a:solidFill>
            </a:endParaRPr>
          </a:p>
          <a:p>
            <a:pPr marL="114300" indent="0">
              <a:buNone/>
            </a:pPr>
            <a:r>
              <a:rPr lang="es-MX" sz="1600" dirty="0">
                <a:solidFill>
                  <a:schemeClr val="tx1"/>
                </a:solidFill>
              </a:rPr>
              <a:t>En el entorno digital, medir resultados es esencial para tomar decisiones estratégicas. El </a:t>
            </a:r>
            <a:r>
              <a:rPr lang="es-MX" sz="1600" b="1" dirty="0">
                <a:solidFill>
                  <a:schemeClr val="tx1"/>
                </a:solidFill>
              </a:rPr>
              <a:t>análisis de métricas de conversión y </a:t>
            </a:r>
            <a:r>
              <a:rPr lang="es-MX" sz="1600" b="1" dirty="0" err="1">
                <a:solidFill>
                  <a:schemeClr val="tx1"/>
                </a:solidFill>
              </a:rPr>
              <a:t>engagement</a:t>
            </a:r>
            <a:r>
              <a:rPr lang="es-MX" sz="1600" dirty="0">
                <a:solidFill>
                  <a:schemeClr val="tx1"/>
                </a:solidFill>
              </a:rPr>
              <a:t> permite evaluar el rendimiento de las campañas y el grado de conexión del público con la marca. Desde el punto de vista del marketing, las métricas más relevantes incluyen:</a:t>
            </a:r>
          </a:p>
          <a:p>
            <a:r>
              <a:rPr lang="es-MX" sz="1600" b="1" dirty="0">
                <a:solidFill>
                  <a:schemeClr val="tx1"/>
                </a:solidFill>
              </a:rPr>
              <a:t>Tasa de conversión</a:t>
            </a:r>
            <a:r>
              <a:rPr lang="es-MX" sz="1600" dirty="0">
                <a:solidFill>
                  <a:schemeClr val="tx1"/>
                </a:solidFill>
              </a:rPr>
              <a:t>, que muestra qué porcentaje de usuarios realiza una acción deseada (compra, registro, descarga).</a:t>
            </a:r>
          </a:p>
          <a:p>
            <a:r>
              <a:rPr lang="es-MX" sz="1600" b="1" dirty="0">
                <a:solidFill>
                  <a:schemeClr val="tx1"/>
                </a:solidFill>
              </a:rPr>
              <a:t>CTR (</a:t>
            </a:r>
            <a:r>
              <a:rPr lang="es-MX" sz="1600" b="1" dirty="0" err="1">
                <a:solidFill>
                  <a:schemeClr val="tx1"/>
                </a:solidFill>
              </a:rPr>
              <a:t>Click</a:t>
            </a:r>
            <a:r>
              <a:rPr lang="es-MX" sz="1600" b="1" dirty="0">
                <a:solidFill>
                  <a:schemeClr val="tx1"/>
                </a:solidFill>
              </a:rPr>
              <a:t> </a:t>
            </a:r>
            <a:r>
              <a:rPr lang="es-MX" sz="1600" b="1" dirty="0" err="1">
                <a:solidFill>
                  <a:schemeClr val="tx1"/>
                </a:solidFill>
              </a:rPr>
              <a:t>Through</a:t>
            </a:r>
            <a:r>
              <a:rPr lang="es-MX" sz="1600" b="1" dirty="0">
                <a:solidFill>
                  <a:schemeClr val="tx1"/>
                </a:solidFill>
              </a:rPr>
              <a:t> </a:t>
            </a:r>
            <a:r>
              <a:rPr lang="es-MX" sz="1600" b="1" dirty="0" err="1">
                <a:solidFill>
                  <a:schemeClr val="tx1"/>
                </a:solidFill>
              </a:rPr>
              <a:t>Rate</a:t>
            </a:r>
            <a:r>
              <a:rPr lang="es-MX" sz="1600" b="1" dirty="0">
                <a:solidFill>
                  <a:schemeClr val="tx1"/>
                </a:solidFill>
              </a:rPr>
              <a:t>)</a:t>
            </a:r>
            <a:r>
              <a:rPr lang="es-MX" sz="1600" dirty="0">
                <a:solidFill>
                  <a:schemeClr val="tx1"/>
                </a:solidFill>
              </a:rPr>
              <a:t>, que mide la eficacia de los anuncios o enlaces.</a:t>
            </a:r>
          </a:p>
          <a:p>
            <a:r>
              <a:rPr lang="es-MX" sz="1600" b="1" dirty="0">
                <a:solidFill>
                  <a:schemeClr val="tx1"/>
                </a:solidFill>
              </a:rPr>
              <a:t>Tasa de rebote y tiempo de permanencia</a:t>
            </a:r>
            <a:r>
              <a:rPr lang="es-MX" sz="1600" dirty="0">
                <a:solidFill>
                  <a:schemeClr val="tx1"/>
                </a:solidFill>
              </a:rPr>
              <a:t>, que reflejan el interés del visitante por el contenido.</a:t>
            </a:r>
          </a:p>
          <a:p>
            <a:r>
              <a:rPr lang="es-MX" sz="1600" b="1" dirty="0" err="1">
                <a:solidFill>
                  <a:schemeClr val="tx1"/>
                </a:solidFill>
              </a:rPr>
              <a:t>Engagement</a:t>
            </a:r>
            <a:r>
              <a:rPr lang="es-MX" sz="1600" b="1" dirty="0">
                <a:solidFill>
                  <a:schemeClr val="tx1"/>
                </a:solidFill>
              </a:rPr>
              <a:t> en redes sociales</a:t>
            </a:r>
            <a:r>
              <a:rPr lang="es-MX" sz="1600" dirty="0">
                <a:solidFill>
                  <a:schemeClr val="tx1"/>
                </a:solidFill>
              </a:rPr>
              <a:t>, medido por interacciones como </a:t>
            </a:r>
            <a:r>
              <a:rPr lang="es-MX" sz="1600" dirty="0" err="1">
                <a:solidFill>
                  <a:schemeClr val="tx1"/>
                </a:solidFill>
              </a:rPr>
              <a:t>likes</a:t>
            </a:r>
            <a:r>
              <a:rPr lang="es-MX" sz="1600" dirty="0">
                <a:solidFill>
                  <a:schemeClr val="tx1"/>
                </a:solidFill>
              </a:rPr>
              <a:t>, comentarios, compartidos o menciones.</a:t>
            </a:r>
            <a:br>
              <a:rPr lang="es-MX" sz="1600" dirty="0">
                <a:solidFill>
                  <a:schemeClr val="tx1"/>
                </a:solidFill>
              </a:rPr>
            </a:br>
            <a:endParaRPr lang="es-GT" sz="1400" dirty="0">
              <a:solidFill>
                <a:schemeClr val="tx1"/>
              </a:solidFill>
            </a:endParaRPr>
          </a:p>
        </p:txBody>
      </p:sp>
    </p:spTree>
    <p:extLst>
      <p:ext uri="{BB962C8B-B14F-4D97-AF65-F5344CB8AC3E}">
        <p14:creationId xmlns:p14="http://schemas.microsoft.com/office/powerpoint/2010/main" val="289503832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TotalTime>
  <Words>2241</Words>
  <Application>Microsoft Office PowerPoint</Application>
  <PresentationFormat>Presentación en pantalla (16:9)</PresentationFormat>
  <Paragraphs>111</Paragraphs>
  <Slides>15</Slides>
  <Notes>15</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15</vt:i4>
      </vt:variant>
    </vt:vector>
  </HeadingPairs>
  <TitlesOfParts>
    <vt:vector size="17" baseType="lpstr">
      <vt:lpstr>Arial</vt:lpstr>
      <vt:lpstr>Simple Light</vt:lpstr>
      <vt:lpstr>Presentación de PowerPoint</vt:lpstr>
      <vt:lpstr>Comportamiento  del análisis de tráfico</vt:lpstr>
      <vt:lpstr>Comportamiento  del análisis de tráfico</vt:lpstr>
      <vt:lpstr>Comportamiento  del análisis de tráfico</vt:lpstr>
      <vt:lpstr>Comportamiento  del análisis de tráfico</vt:lpstr>
      <vt:lpstr>Comportamiento  del análisis de tráfico</vt:lpstr>
      <vt:lpstr>Monitoreo y rendimiento de búsquedas (Search Performance Monitoring)</vt:lpstr>
      <vt:lpstr>Monitoreo y rendimiento de búsquedas (Search Performance Monitoring)</vt:lpstr>
      <vt:lpstr>Monitoreo y rendimiento de búsquedas (Search Performance Monitoring)</vt:lpstr>
      <vt:lpstr> Análisis de competencias</vt:lpstr>
      <vt:lpstr> Análisis de competencias</vt:lpstr>
      <vt:lpstr> Análisis de competencias</vt:lpstr>
      <vt:lpstr>Creación y gestión de campañas por correo electrónico (Email Marketing)</vt:lpstr>
      <vt:lpstr>Creación y gestión de campañas por correo electrónico (Email Marketing)</vt:lpstr>
      <vt:lpstr>Creación y gestión de campañas por correo electrónico (Email Marketing)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mynor israel miranda lopez</cp:lastModifiedBy>
  <cp:revision>6</cp:revision>
  <dcterms:modified xsi:type="dcterms:W3CDTF">2025-10-07T06:06:22Z</dcterms:modified>
</cp:coreProperties>
</file>