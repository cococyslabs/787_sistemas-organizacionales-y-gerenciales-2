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6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62" r:id="rId22"/>
    <p:sldId id="263" r:id="rId23"/>
    <p:sldId id="264" r:id="rId24"/>
    <p:sldId id="286" r:id="rId25"/>
    <p:sldId id="285" r:id="rId26"/>
    <p:sldId id="287"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aokR1tr3jo/odoJz8obEEgE2N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1BA02C-6A80-4BA0-BD01-5099423E3828}">
  <a:tblStyle styleId="{151BA02C-6A80-4BA0-BD01-5099423E382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84" y="32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FC345E4-8094-B605-D5D2-A29C935161EA}"/>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A1DF8664-28D0-4A3A-8A89-CDA2BE5D92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4BDFE665-6F27-ECEF-3555-5C460C9C09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93825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8BDA33F0-8A6D-5420-D159-63EA8639168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847C3FA1-92E6-C116-5C79-9F03D157C2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1E936F36-C65A-9B82-6B8F-4293E7DC18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19679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20D6B95E-9C14-D7D3-1297-C99A99F7A634}"/>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568F6F88-B81F-AC74-BD3E-1291ADCE20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20C04CD9-FA37-6F81-FE67-2283936011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7447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994B59D9-3B4D-446C-2D40-B71BCD86D9AB}"/>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E19D3550-5495-F86F-640E-C4F5A69845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EB66A5CF-47FA-1183-C115-83AACBCCBE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4338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9F60BC6-796E-7837-80CA-AD075240BC88}"/>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6E6A1DE0-B98D-5868-56B2-9CECB1A51C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635834F-F7BC-0A81-8861-88306C2166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20469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BE116EA-EF29-B4B2-E37B-3DC6C6C7E59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F572E708-679A-D470-41C1-B3297DBDFF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F1323491-5E38-14BA-850C-D01545C3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68295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F03133CC-2C1C-E81C-359D-025599BF43B6}"/>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4BF925B0-1876-D09A-500E-58BC8AA870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E7162F7C-E37E-2C18-C2BB-E0658E98D1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8227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19BBD97E-8D16-8EA4-60B2-8DAC3B6B0A4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A3FBA909-FD1B-6303-424A-C73CDE357A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01A69240-362F-95EF-E8F3-C3E85D7735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39097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8F639BB-0E2B-0BEF-82B8-CF70ED2B5622}"/>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F021B88B-5EA0-1A67-EF67-6B3DE2C5F6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5F0C7117-8E9F-4F78-460E-0D334825DD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19887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6AABC5C-B887-B56E-C695-D43C2E229FB2}"/>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6F7092DD-DF5B-F75D-A65E-DE9DF38518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81E24E51-2B79-BE06-4A40-930B632698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90995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A8C8316-5827-B3FA-9D38-390EF5F615F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60DE8845-6ED5-962D-5135-E57F6E30D6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D44499F2-56BF-102E-A5E0-F32C9E7E27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206164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DC1A0D42-D224-7874-47DB-4F11FCB001FB}"/>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28E03BE8-180A-C8C4-FB32-B660740A5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344FA896-EB6B-F472-FDE1-DC959B9DD7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1705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1CB5C51C-6B17-E8A6-3983-AEC0B9F331DA}"/>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9784E165-142A-582C-4299-18AFF574B1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D72FDAA6-D90A-D778-44EB-D73DC53370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15620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B804A096-4EF8-A11B-47FE-0286A031E07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C1BB7775-370B-2E17-A5B9-E2DA09F133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521C024D-E38C-4B19-27B4-EB514450D15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12430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8D4BE7B-D2B2-2D47-F8E4-3F163A8AEE5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4468D8A1-D0FB-4368-3A56-11A42F1786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3846372B-16D5-14EB-F46F-30CFDE5556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36682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C52D53EF-5912-F33A-FE21-62E83995012C}"/>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205B377C-E07A-5600-97E1-97A70D3783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67F7F14A-7B36-01C0-2CF4-6CBE307AF9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05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D16878A7-3113-F4E1-3694-D92511393A03}"/>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EDE4B510-0D36-46B9-8720-CF40960A55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7980E39-5CB2-F77B-2B1A-2F235FE156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65641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F77F08E1-4CD1-375E-A6C9-9E761783837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EB350384-A476-576B-DDD5-35596E041A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5073D4EE-6337-A6EF-6F6B-07FB5C27B2C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63854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CFE473E3-3ACC-ECB4-6BF1-57B5E91080E5}"/>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4179A06E-7429-5A01-1C5B-B297C1AC26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FCDE97F8-6DEC-F83C-EE64-119DBBA8D8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46264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04ea77380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304ea773802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4ea77380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g304ea773802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04ea773802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304ea773802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DB15596F-7FC7-B227-AAA6-F94BBCD802E7}"/>
            </a:ext>
          </a:extLst>
        </p:cNvPr>
        <p:cNvGrpSpPr/>
        <p:nvPr/>
      </p:nvGrpSpPr>
      <p:grpSpPr>
        <a:xfrm>
          <a:off x="0" y="0"/>
          <a:ext cx="0" cy="0"/>
          <a:chOff x="0" y="0"/>
          <a:chExt cx="0" cy="0"/>
        </a:xfrm>
      </p:grpSpPr>
      <p:sp>
        <p:nvSpPr>
          <p:cNvPr id="110" name="Google Shape;110;g304ea773802_0_24:notes">
            <a:extLst>
              <a:ext uri="{FF2B5EF4-FFF2-40B4-BE49-F238E27FC236}">
                <a16:creationId xmlns:a16="http://schemas.microsoft.com/office/drawing/2014/main" id="{B6C2047B-8EB0-F4E0-F84B-4004BC2C33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304ea773802_0_24:notes">
            <a:extLst>
              <a:ext uri="{FF2B5EF4-FFF2-40B4-BE49-F238E27FC236}">
                <a16:creationId xmlns:a16="http://schemas.microsoft.com/office/drawing/2014/main" id="{0953D4DB-6952-C1FB-7D5B-4AB43AEC96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62392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8D4F77FA-5722-8EB6-F45F-552ABD57C20A}"/>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E4ACD075-AF42-6A34-BAA5-8D6F194153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31B053C5-FB49-9170-0BCD-9D7DC00CFB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167860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4754F03-1C4E-5903-D059-651C8599F902}"/>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3A0A12F6-2972-4147-F4F3-47E925B280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FEE71798-9EFB-C3E2-4BE0-4F77BDFE62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65618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2360904288"/>
              </p:ext>
            </p:extLst>
          </p:nvPr>
        </p:nvGraphicFramePr>
        <p:xfrm>
          <a:off x="5328200" y="970025"/>
          <a:ext cx="3690575" cy="798516"/>
        </p:xfrm>
        <a:graphic>
          <a:graphicData uri="http://schemas.openxmlformats.org/drawingml/2006/table">
            <a:tbl>
              <a:tblPr>
                <a:noFill/>
                <a:tableStyleId>{151BA02C-6A80-4BA0-BD01-5099423E3828}</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Martes</a:t>
                      </a:r>
                      <a:r>
                        <a:rPr lang="es" sz="1400" u="none" strike="noStrike" cap="none" dirty="0"/>
                        <a:t>, 16/09/2025</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3992650" y="2132750"/>
            <a:ext cx="5142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SISTEMAS ORGANIZACIONALES Y GERENCIALES 2 Sección P</a:t>
            </a:r>
            <a:endParaRPr sz="2500" b="0" i="0" u="none" strike="noStrike" cap="none" dirty="0">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lvl="0">
              <a:buSzPts val="2000"/>
            </a:pPr>
            <a:r>
              <a:rPr lang="es-GT" sz="2000" dirty="0"/>
              <a:t>Mynor Israel Miranda López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BAC9BC6D-7869-8D66-CF29-F1E7015150F8}"/>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EF99C74-5D45-EF3C-2403-4FD3843A4B2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66B2401C-61BD-404A-3527-06F0F788120C}"/>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Introducción a la automatización de procesos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5E869196-6491-E18B-8AD4-70D8D75AA058}"/>
              </a:ext>
            </a:extLst>
          </p:cNvPr>
          <p:cNvSpPr txBox="1"/>
          <p:nvPr/>
        </p:nvSpPr>
        <p:spPr>
          <a:xfrm>
            <a:off x="77700" y="776975"/>
            <a:ext cx="9020700" cy="971100"/>
          </a:xfrm>
          <a:prstGeom prst="rect">
            <a:avLst/>
          </a:prstGeom>
          <a:noFill/>
          <a:ln>
            <a:noFill/>
          </a:ln>
        </p:spPr>
        <p:txBody>
          <a:bodyPr spcFirstLastPara="1" wrap="square" lIns="91425" tIns="91425" rIns="91425" bIns="91425" anchor="t" anchorCtr="0">
            <a:noAutofit/>
          </a:bodyPr>
          <a:lstStyle/>
          <a:p>
            <a:r>
              <a:rPr lang="es-MX" sz="1800" b="1" dirty="0"/>
              <a:t>Definición y origen del concepto de RPA</a:t>
            </a:r>
            <a:br>
              <a:rPr lang="es-MX" sz="1800" b="1" dirty="0"/>
            </a:br>
            <a:endParaRPr lang="es-MX" sz="1800" b="1" dirty="0"/>
          </a:p>
          <a:p>
            <a:r>
              <a:rPr lang="es-MX" sz="1800" dirty="0"/>
              <a:t>La </a:t>
            </a:r>
            <a:r>
              <a:rPr lang="es-MX" sz="1800" b="1" dirty="0"/>
              <a:t>Automatización Robótica de Procesos (RPA, por sus siglas en inglés: </a:t>
            </a:r>
            <a:r>
              <a:rPr lang="es-MX" sz="1800" b="1" dirty="0" err="1"/>
              <a:t>Robotic</a:t>
            </a:r>
            <a:r>
              <a:rPr lang="es-MX" sz="1800" b="1" dirty="0"/>
              <a:t> </a:t>
            </a:r>
            <a:r>
              <a:rPr lang="es-MX" sz="1800" b="1" dirty="0" err="1"/>
              <a:t>Process</a:t>
            </a:r>
            <a:r>
              <a:rPr lang="es-MX" sz="1800" b="1" dirty="0"/>
              <a:t> </a:t>
            </a:r>
            <a:r>
              <a:rPr lang="es-MX" sz="1800" b="1" dirty="0" err="1"/>
              <a:t>Automation</a:t>
            </a:r>
            <a:r>
              <a:rPr lang="es-MX" sz="1800" b="1" dirty="0"/>
              <a:t>)</a:t>
            </a:r>
            <a:r>
              <a:rPr lang="es-MX" sz="1800" dirty="0"/>
              <a:t> se define como una tecnología que permite a las organizaciones configurar </a:t>
            </a:r>
            <a:r>
              <a:rPr lang="es-MX" sz="1800" b="1" dirty="0"/>
              <a:t>“robots de software”</a:t>
            </a:r>
            <a:r>
              <a:rPr lang="es-MX" sz="1800" dirty="0"/>
              <a:t> o programas informáticos capaces de imitar las acciones humanas en la interacción con sistemas digitales. Estos robots pueden ejecutar tareas repetitivas, estructuradas y basadas en reglas, tales como: introducir datos, procesar transacciones, generar reportes o comunicarse con otras aplicaciones.</a:t>
            </a:r>
          </a:p>
          <a:p>
            <a:r>
              <a:rPr lang="es-MX" sz="1800" dirty="0"/>
              <a:t>A diferencia de la automatización tradicional, que requiere cambios profundos en el código fuente de los sistemas, RPA trabaja sobre la </a:t>
            </a:r>
            <a:r>
              <a:rPr lang="es-MX" sz="1800" b="1" dirty="0"/>
              <a:t>interfaz de usuario</a:t>
            </a:r>
            <a:r>
              <a:rPr lang="es-MX" sz="1800" dirty="0"/>
              <a:t>, replicando lo que haría una persona frente a la computadora. Esto permite implementar soluciones de manera más rápida, menos invasiva y con menor costo de integración.</a:t>
            </a:r>
          </a:p>
        </p:txBody>
      </p:sp>
    </p:spTree>
    <p:extLst>
      <p:ext uri="{BB962C8B-B14F-4D97-AF65-F5344CB8AC3E}">
        <p14:creationId xmlns:p14="http://schemas.microsoft.com/office/powerpoint/2010/main" val="3356850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89F5B77-912D-91F8-465F-DB4675BAEF91}"/>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68328C09-1B93-DF23-6926-81EE150B9BA5}"/>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AE50216E-ABF6-068B-FD5F-BBB9A33C44E2}"/>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Introducción a la automatización de procesos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56A8448E-4D4A-F4E1-BD56-279811145AE9}"/>
              </a:ext>
            </a:extLst>
          </p:cNvPr>
          <p:cNvSpPr txBox="1"/>
          <p:nvPr/>
        </p:nvSpPr>
        <p:spPr>
          <a:xfrm>
            <a:off x="77700" y="776975"/>
            <a:ext cx="9020700" cy="971100"/>
          </a:xfrm>
          <a:prstGeom prst="rect">
            <a:avLst/>
          </a:prstGeom>
          <a:noFill/>
          <a:ln>
            <a:noFill/>
          </a:ln>
        </p:spPr>
        <p:txBody>
          <a:bodyPr spcFirstLastPara="1" wrap="square" lIns="91425" tIns="91425" rIns="91425" bIns="91425" anchor="t" anchorCtr="0">
            <a:noAutofit/>
          </a:bodyPr>
          <a:lstStyle/>
          <a:p>
            <a:r>
              <a:rPr lang="es-MX" sz="1800" b="1" dirty="0"/>
              <a:t>Evolución histórica de la automatización empresarial</a:t>
            </a:r>
            <a:br>
              <a:rPr lang="es-MX" sz="1800" b="1" dirty="0"/>
            </a:br>
            <a:endParaRPr lang="es-MX" sz="1800" b="1" dirty="0"/>
          </a:p>
          <a:p>
            <a:r>
              <a:rPr lang="es-MX" sz="1800" dirty="0"/>
              <a:t>En las décadas de 1970 y 1980, surgieron los </a:t>
            </a:r>
            <a:r>
              <a:rPr lang="es-MX" sz="1800" b="1" dirty="0"/>
              <a:t>sistemas ERP (Enterprise </a:t>
            </a:r>
            <a:r>
              <a:rPr lang="es-MX" sz="1800" b="1" dirty="0" err="1"/>
              <a:t>Resource</a:t>
            </a:r>
            <a:r>
              <a:rPr lang="es-MX" sz="1800" b="1" dirty="0"/>
              <a:t> </a:t>
            </a:r>
            <a:r>
              <a:rPr lang="es-MX" sz="1800" b="1" dirty="0" err="1"/>
              <a:t>Planning</a:t>
            </a:r>
            <a:r>
              <a:rPr lang="es-MX" sz="1800" b="1" dirty="0"/>
              <a:t>)</a:t>
            </a:r>
            <a:r>
              <a:rPr lang="es-MX" sz="1800" dirty="0"/>
              <a:t> y los </a:t>
            </a:r>
            <a:r>
              <a:rPr lang="es-MX" sz="1800" b="1" dirty="0"/>
              <a:t>CRM (</a:t>
            </a:r>
            <a:r>
              <a:rPr lang="es-MX" sz="1800" b="1" dirty="0" err="1"/>
              <a:t>Customer</a:t>
            </a:r>
            <a:r>
              <a:rPr lang="es-MX" sz="1800" b="1" dirty="0"/>
              <a:t> </a:t>
            </a:r>
            <a:r>
              <a:rPr lang="es-MX" sz="1800" b="1" dirty="0" err="1"/>
              <a:t>Relationship</a:t>
            </a:r>
            <a:r>
              <a:rPr lang="es-MX" sz="1800" b="1" dirty="0"/>
              <a:t> Management)</a:t>
            </a:r>
            <a:r>
              <a:rPr lang="es-MX" sz="1800" dirty="0"/>
              <a:t>, que marcaron el inicio de la integración de procesos empresariales en plataformas digitales. Durante los años 1990 y 2000, el </a:t>
            </a:r>
            <a:r>
              <a:rPr lang="es-MX" sz="1800" b="1" dirty="0"/>
              <a:t>Business </a:t>
            </a:r>
            <a:r>
              <a:rPr lang="es-MX" sz="1800" b="1" dirty="0" err="1"/>
              <a:t>Process</a:t>
            </a:r>
            <a:r>
              <a:rPr lang="es-MX" sz="1800" b="1" dirty="0"/>
              <a:t> Management (BPM)</a:t>
            </a:r>
            <a:r>
              <a:rPr lang="es-MX" sz="1800" dirty="0"/>
              <a:t> y los flujos de trabajo (</a:t>
            </a:r>
            <a:r>
              <a:rPr lang="es-MX" sz="1800" dirty="0" err="1"/>
              <a:t>workflow</a:t>
            </a:r>
            <a:r>
              <a:rPr lang="es-MX" sz="1800" dirty="0"/>
              <a:t>) permitieron optimizar y estandarizar procesos complejos en las organizaciones.</a:t>
            </a:r>
          </a:p>
          <a:p>
            <a:r>
              <a:rPr lang="es-MX" sz="1800" dirty="0"/>
              <a:t>Finalmente, a partir de 2010, la </a:t>
            </a:r>
            <a:r>
              <a:rPr lang="es-MX" sz="1800" b="1" dirty="0"/>
              <a:t>Automatización Robótica de Procesos (RPA)</a:t>
            </a:r>
            <a:r>
              <a:rPr lang="es-MX" sz="1800" dirty="0"/>
              <a:t> emergió como una evolución natural de estas tendencias, ofreciendo la capacidad de automatizar tareas repetitivas sin necesidad de modificar la infraestructura tecnológica de fondo. Actualmente, la automatización se encuentra en un punto de convergencia con la </a:t>
            </a:r>
            <a:r>
              <a:rPr lang="es-MX" sz="1800" b="1" dirty="0"/>
              <a:t>Inteligencia Artificial (IA)</a:t>
            </a:r>
            <a:r>
              <a:rPr lang="es-MX" sz="1800" dirty="0"/>
              <a:t>, dando lugar a la llamada </a:t>
            </a:r>
            <a:r>
              <a:rPr lang="es-MX" sz="1800" b="1" dirty="0" err="1"/>
              <a:t>Hiperautomatización</a:t>
            </a:r>
            <a:r>
              <a:rPr lang="es-MX" sz="1800" dirty="0"/>
              <a:t>, que busca integrar robots, analítica avanzada e inteligencia cognitiva para transformar completamente la operación empresarial.</a:t>
            </a:r>
          </a:p>
        </p:txBody>
      </p:sp>
    </p:spTree>
    <p:extLst>
      <p:ext uri="{BB962C8B-B14F-4D97-AF65-F5344CB8AC3E}">
        <p14:creationId xmlns:p14="http://schemas.microsoft.com/office/powerpoint/2010/main" val="3176041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78841427-23C4-0214-9A62-78832827BBA8}"/>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012CA603-B5DA-2272-ACB2-F44007487D4D}"/>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60D8B57D-5704-986E-8412-6ADAF9BDD5FF}"/>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Introducción a la automatización de procesos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94D936DE-13A3-874C-6E9E-E63E1535987E}"/>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Diferencias entre RPA, BPM y AI</a:t>
            </a:r>
          </a:p>
          <a:p>
            <a:r>
              <a:rPr lang="es-MX" sz="1800" dirty="0"/>
              <a:t>Aunque las tres tecnologías están relacionadas con la optimización de procesos, sus enfoques y alcances son distintos:</a:t>
            </a:r>
          </a:p>
          <a:p>
            <a:r>
              <a:rPr lang="es-MX" sz="1800" b="1" dirty="0"/>
              <a:t>RPA (</a:t>
            </a:r>
            <a:r>
              <a:rPr lang="es-MX" sz="1800" b="1" dirty="0" err="1"/>
              <a:t>Robotic</a:t>
            </a:r>
            <a:r>
              <a:rPr lang="es-MX" sz="1800" b="1" dirty="0"/>
              <a:t> </a:t>
            </a:r>
            <a:r>
              <a:rPr lang="es-MX" sz="1800" b="1" dirty="0" err="1"/>
              <a:t>Process</a:t>
            </a:r>
            <a:r>
              <a:rPr lang="es-MX" sz="1800" b="1" dirty="0"/>
              <a:t> </a:t>
            </a:r>
            <a:r>
              <a:rPr lang="es-MX" sz="1800" b="1" dirty="0" err="1"/>
              <a:t>Automation</a:t>
            </a:r>
            <a:r>
              <a:rPr lang="es-MX" sz="1800" b="1" dirty="0"/>
              <a:t>):</a:t>
            </a:r>
            <a:r>
              <a:rPr lang="es-MX" sz="1800" dirty="0"/>
              <a:t> se centra en la ejecución de tareas repetitivas y basadas en reglas a través de robots de software. No transforma el proceso en sí, sino que lo </a:t>
            </a:r>
            <a:r>
              <a:rPr lang="es-MX" sz="1800" b="1" dirty="0"/>
              <a:t>automatiza tal como existe</a:t>
            </a:r>
            <a:r>
              <a:rPr lang="es-MX" sz="1800" dirty="0"/>
              <a:t>, imitando la interacción humana con sistemas digitales.</a:t>
            </a:r>
          </a:p>
          <a:p>
            <a:r>
              <a:rPr lang="es-MX" sz="1800" b="1" dirty="0"/>
              <a:t>BPM (Business </a:t>
            </a:r>
            <a:r>
              <a:rPr lang="es-MX" sz="1800" b="1" dirty="0" err="1"/>
              <a:t>Process</a:t>
            </a:r>
            <a:r>
              <a:rPr lang="es-MX" sz="1800" b="1" dirty="0"/>
              <a:t> Management):</a:t>
            </a:r>
            <a:r>
              <a:rPr lang="es-MX" sz="1800" dirty="0"/>
              <a:t> es una disciplina más amplia que busca </a:t>
            </a:r>
            <a:r>
              <a:rPr lang="es-MX" sz="1800" b="1" dirty="0"/>
              <a:t>rediseñar, mejorar y optimizar procesos de negocio</a:t>
            </a:r>
            <a:r>
              <a:rPr lang="es-MX" sz="1800" dirty="0"/>
              <a:t>. El BPM plantea </a:t>
            </a:r>
            <a:r>
              <a:rPr lang="es-MX" sz="1800" b="1" dirty="0"/>
              <a:t>cambiar la forma en que los procesos están diseñados y gestionados</a:t>
            </a:r>
            <a:r>
              <a:rPr lang="es-MX" sz="1800" dirty="0"/>
              <a:t>.</a:t>
            </a:r>
          </a:p>
          <a:p>
            <a:r>
              <a:rPr lang="es-MX" sz="1800" b="1" dirty="0"/>
              <a:t>AI (Artificial </a:t>
            </a:r>
            <a:r>
              <a:rPr lang="es-MX" sz="1800" b="1" dirty="0" err="1"/>
              <a:t>Intelligence</a:t>
            </a:r>
            <a:r>
              <a:rPr lang="es-MX" sz="1800" b="1" dirty="0"/>
              <a:t>):</a:t>
            </a:r>
            <a:r>
              <a:rPr lang="es-MX" sz="1800" dirty="0"/>
              <a:t> se refiere a tecnologías que permiten a las máquinas </a:t>
            </a:r>
            <a:r>
              <a:rPr lang="es-MX" sz="1800" b="1" dirty="0"/>
              <a:t>aprender, razonar y tomar decisiones</a:t>
            </a:r>
            <a:r>
              <a:rPr lang="es-MX" sz="1800" dirty="0"/>
              <a:t>, incluso en entornos inciertos. A diferencia del RPA, que se limita a reglas predefinidas, la IA puede analizar datos, reconocer patrones y predecir resultados, lo que la hace útil en tareas complejas y no estructuradas.</a:t>
            </a:r>
          </a:p>
        </p:txBody>
      </p:sp>
    </p:spTree>
    <p:extLst>
      <p:ext uri="{BB962C8B-B14F-4D97-AF65-F5344CB8AC3E}">
        <p14:creationId xmlns:p14="http://schemas.microsoft.com/office/powerpoint/2010/main" val="1794399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D536EB22-C173-88FD-5625-FC53A174E48E}"/>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B7270740-FCD3-D587-E306-6717B7C0B9BB}"/>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8AB2E36B-ABE7-515F-46ED-42AF5B4E9E70}"/>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Introducción a la automatización de procesos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98210274-F8A9-88D8-8F13-C7BB1BB286A1}"/>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Principales áreas de aplicación de RPA en las organizaciones</a:t>
            </a:r>
          </a:p>
          <a:p>
            <a:r>
              <a:rPr lang="es-MX" sz="1800" dirty="0"/>
              <a:t>El RPA tiene un amplio campo de aplicación en diferentes sectores empresariales. Algunas de las áreas más relevantes son:</a:t>
            </a:r>
          </a:p>
          <a:p>
            <a:endParaRPr lang="es-MX" sz="1600" b="1" dirty="0"/>
          </a:p>
          <a:p>
            <a:r>
              <a:rPr lang="es-MX" sz="1600" b="1" dirty="0"/>
              <a:t>Finanzas y contabilidad:</a:t>
            </a:r>
            <a:r>
              <a:rPr lang="es-MX" sz="1600" dirty="0"/>
              <a:t> conciliación bancaria, generación de reportes, procesamiento de facturas.</a:t>
            </a:r>
          </a:p>
          <a:p>
            <a:r>
              <a:rPr lang="es-MX" sz="1600" b="1" dirty="0"/>
              <a:t>Recursos Humanos:</a:t>
            </a:r>
            <a:r>
              <a:rPr lang="es-MX" sz="1600" dirty="0"/>
              <a:t> gestión de nóminas, reclutamiento, incorporación de personal y administración de beneficios.</a:t>
            </a:r>
          </a:p>
          <a:p>
            <a:r>
              <a:rPr lang="es-MX" sz="1600" b="1" dirty="0"/>
              <a:t>Atención al cliente:</a:t>
            </a:r>
            <a:r>
              <a:rPr lang="es-MX" sz="1600" dirty="0"/>
              <a:t> respuestas automáticas en canales digitales, procesamiento de solicitudes y gestión de tickets.</a:t>
            </a:r>
          </a:p>
          <a:p>
            <a:r>
              <a:rPr lang="es-MX" sz="1600" b="1" dirty="0"/>
              <a:t>Cadena de suministro y logística:</a:t>
            </a:r>
            <a:r>
              <a:rPr lang="es-MX" sz="1600" dirty="0"/>
              <a:t> seguimiento de pedidos, control de inventarios y actualización de bases de datos.</a:t>
            </a:r>
          </a:p>
          <a:p>
            <a:r>
              <a:rPr lang="es-MX" sz="1600" b="1" dirty="0"/>
              <a:t>Sector salud:</a:t>
            </a:r>
            <a:r>
              <a:rPr lang="es-MX" sz="1600" dirty="0"/>
              <a:t> procesamiento de historiales clínicos, gestión de citas médicas y validación de seguros.</a:t>
            </a:r>
          </a:p>
          <a:p>
            <a:r>
              <a:rPr lang="es-MX" sz="1600" b="1" dirty="0"/>
              <a:t>TI y soporte técnico:</a:t>
            </a:r>
            <a:r>
              <a:rPr lang="es-MX" sz="1600" dirty="0"/>
              <a:t> automatización de tareas de mantenimiento, generación de credenciales y monitoreo de sistemas.</a:t>
            </a:r>
          </a:p>
          <a:p>
            <a:r>
              <a:rPr lang="es-MX" sz="1600" b="1" dirty="0" err="1"/>
              <a:t>Compliance</a:t>
            </a:r>
            <a:r>
              <a:rPr lang="es-MX" sz="1600" b="1" dirty="0"/>
              <a:t> y auditoría:</a:t>
            </a:r>
            <a:r>
              <a:rPr lang="es-MX" sz="1600" dirty="0"/>
              <a:t> verificación de datos, control de riesgos y cumplimiento normativo.</a:t>
            </a:r>
          </a:p>
          <a:p>
            <a:endParaRPr lang="es-MX" sz="1800" dirty="0"/>
          </a:p>
        </p:txBody>
      </p:sp>
    </p:spTree>
    <p:extLst>
      <p:ext uri="{BB962C8B-B14F-4D97-AF65-F5344CB8AC3E}">
        <p14:creationId xmlns:p14="http://schemas.microsoft.com/office/powerpoint/2010/main" val="1752741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2AEC6BA-22BF-B7AF-8160-C4357A3B2C2C}"/>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E2EC1E89-343C-72F2-E8CB-56245E4D427D}"/>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D9344BF6-6702-DC75-95D6-15A87ED93E13}"/>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Introducción a la automatización de procesos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5A1B27CE-E503-5476-80E3-6AC265D330B0}"/>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Procesos candidatos ideales para la automatización</a:t>
            </a:r>
          </a:p>
          <a:p>
            <a:r>
              <a:rPr lang="es-MX" sz="1800" dirty="0"/>
              <a:t>No todos los procesos son aptos para ser automatizados. Aquellos que se consideran ideales para implementar RPA presentan ciertas características:</a:t>
            </a:r>
          </a:p>
          <a:p>
            <a:endParaRPr lang="es-MX" sz="1800" dirty="0"/>
          </a:p>
          <a:p>
            <a:pPr marL="342900" indent="-342900">
              <a:buFont typeface="+mj-lt"/>
              <a:buAutoNum type="arabicPeriod"/>
            </a:pPr>
            <a:r>
              <a:rPr lang="es-MX" sz="1700" b="1" dirty="0"/>
              <a:t>Alta repetitividad:</a:t>
            </a:r>
            <a:r>
              <a:rPr lang="es-MX" sz="1700" dirty="0"/>
              <a:t> tareas que siguen siempre los mismos pasos.</a:t>
            </a:r>
          </a:p>
          <a:p>
            <a:pPr marL="342900" indent="-342900">
              <a:buFont typeface="+mj-lt"/>
              <a:buAutoNum type="arabicPeriod"/>
            </a:pPr>
            <a:r>
              <a:rPr lang="es-MX" sz="1700" b="1" dirty="0"/>
              <a:t>Basados en reglas:</a:t>
            </a:r>
            <a:r>
              <a:rPr lang="es-MX" sz="1700" dirty="0"/>
              <a:t> procesos que no requieren juicio humano o decisiones complejas.</a:t>
            </a:r>
          </a:p>
          <a:p>
            <a:pPr marL="342900" indent="-342900">
              <a:buFont typeface="+mj-lt"/>
              <a:buAutoNum type="arabicPeriod"/>
            </a:pPr>
            <a:r>
              <a:rPr lang="es-MX" sz="1700" b="1" dirty="0"/>
              <a:t>Alto volumen de datos:</a:t>
            </a:r>
            <a:r>
              <a:rPr lang="es-MX" sz="1700" dirty="0"/>
              <a:t> actividades que involucran grandes cantidades de información.</a:t>
            </a:r>
          </a:p>
          <a:p>
            <a:pPr marL="342900" indent="-342900">
              <a:buFont typeface="+mj-lt"/>
              <a:buAutoNum type="arabicPeriod"/>
            </a:pPr>
            <a:r>
              <a:rPr lang="es-MX" sz="1700" b="1" dirty="0"/>
              <a:t>Estructura digital clara:</a:t>
            </a:r>
            <a:r>
              <a:rPr lang="es-MX" sz="1700" dirty="0"/>
              <a:t> uso de sistemas, formularios o bases de datos que siguen un formato definido.</a:t>
            </a:r>
          </a:p>
          <a:p>
            <a:pPr marL="342900" indent="-342900">
              <a:buFont typeface="+mj-lt"/>
              <a:buAutoNum type="arabicPeriod"/>
            </a:pPr>
            <a:r>
              <a:rPr lang="es-MX" sz="1700" b="1" dirty="0"/>
              <a:t>Propensos a errores humanos:</a:t>
            </a:r>
            <a:r>
              <a:rPr lang="es-MX" sz="1700" dirty="0"/>
              <a:t> procesos donde la automatización reduce fallos y mejora la calidad.</a:t>
            </a:r>
          </a:p>
          <a:p>
            <a:pPr marL="342900" indent="-342900">
              <a:buFont typeface="+mj-lt"/>
              <a:buAutoNum type="arabicPeriod"/>
            </a:pPr>
            <a:r>
              <a:rPr lang="es-MX" sz="1700" b="1" dirty="0"/>
              <a:t>Gran demanda de tiempo:</a:t>
            </a:r>
            <a:r>
              <a:rPr lang="es-MX" sz="1700" dirty="0"/>
              <a:t> actividades que consumen muchas horas de trabajo manual.</a:t>
            </a:r>
          </a:p>
          <a:p>
            <a:pPr marL="342900" indent="-342900">
              <a:buFont typeface="+mj-lt"/>
              <a:buAutoNum type="arabicPeriod"/>
            </a:pPr>
            <a:r>
              <a:rPr lang="es-MX" sz="1700" b="1" dirty="0"/>
              <a:t>Relevancia operativa:</a:t>
            </a:r>
            <a:r>
              <a:rPr lang="es-MX" sz="1700" dirty="0"/>
              <a:t> procesos que, al automatizarse, generan un impacto significativo en la eficiencia y productividad.</a:t>
            </a:r>
          </a:p>
          <a:p>
            <a:endParaRPr lang="es-MX" sz="1800" dirty="0"/>
          </a:p>
        </p:txBody>
      </p:sp>
    </p:spTree>
    <p:extLst>
      <p:ext uri="{BB962C8B-B14F-4D97-AF65-F5344CB8AC3E}">
        <p14:creationId xmlns:p14="http://schemas.microsoft.com/office/powerpoint/2010/main" val="1305762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45DDBC85-054F-4242-2150-B8C5248F7528}"/>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E04B22E9-D559-A40F-92CB-588ED9B8C71F}"/>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D810B1D6-261A-C322-C79C-9E614D639EB2}"/>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Ventajas y desafíos de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49958934-34C5-3846-6411-BFB479E47F7C}"/>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Ahorro de costos operativos y aumento de eficiencia</a:t>
            </a:r>
          </a:p>
          <a:p>
            <a:endParaRPr lang="es-MX" sz="1800" b="1" dirty="0"/>
          </a:p>
          <a:p>
            <a:r>
              <a:rPr lang="es-MX" sz="1800" dirty="0"/>
              <a:t>Uno de los principales beneficios de la Automatización Robótica de Procesos (RPA) es su capacidad de </a:t>
            </a:r>
            <a:r>
              <a:rPr lang="es-MX" sz="1800" b="1" dirty="0"/>
              <a:t>reducir costos operativos</a:t>
            </a:r>
            <a:r>
              <a:rPr lang="es-MX" sz="1800" dirty="0"/>
              <a:t> al sustituir tareas manuales repetitivas por robots de software. Estos pueden trabajar de forma continua, las 24 horas del día, sin necesidad de descansos ni supervisión constante. De esta manera, se disminuyen los gastos relacionados con horas extras, errores que generan reprocesos y tiempos muertos en los flujos de trabajo.</a:t>
            </a:r>
          </a:p>
          <a:p>
            <a:endParaRPr lang="es-MX" sz="1800" dirty="0"/>
          </a:p>
          <a:p>
            <a:r>
              <a:rPr lang="es-MX" sz="1800" dirty="0"/>
              <a:t>La eficiencia también se incrementa debido a la </a:t>
            </a:r>
            <a:r>
              <a:rPr lang="es-MX" sz="1800" b="1" dirty="0"/>
              <a:t>rapidez de ejecución de los robots</a:t>
            </a:r>
            <a:r>
              <a:rPr lang="es-MX" sz="1800" dirty="0"/>
              <a:t>, que superan ampliamente a los humanos en tareas de captura de datos, verificación de información o procesamiento de transacciones. Este ahorro no solo impacta en el presupuesto, sino que también </a:t>
            </a:r>
            <a:r>
              <a:rPr lang="es-MX" sz="1800" b="1" dirty="0"/>
              <a:t>libera recursos humanos</a:t>
            </a:r>
            <a:r>
              <a:rPr lang="es-MX" sz="1800" dirty="0"/>
              <a:t> para enfocarse en actividades estratégicas de mayor valor agregado.</a:t>
            </a:r>
          </a:p>
          <a:p>
            <a:endParaRPr lang="es-MX" sz="1800" dirty="0"/>
          </a:p>
        </p:txBody>
      </p:sp>
    </p:spTree>
    <p:extLst>
      <p:ext uri="{BB962C8B-B14F-4D97-AF65-F5344CB8AC3E}">
        <p14:creationId xmlns:p14="http://schemas.microsoft.com/office/powerpoint/2010/main" val="2350146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363CBE99-3ADE-66D9-F37E-C519A3F47EC6}"/>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6047D9D6-55A5-E559-B196-AA41A4E37087}"/>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921934E6-7A34-AD1A-E5C8-D1B011B8D63C}"/>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Ventajas y desafíos de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A901D6EA-2949-15D7-49DF-9E71C67A8811}"/>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Incremento en la precisión y reducción de errores humanos</a:t>
            </a:r>
          </a:p>
          <a:p>
            <a:endParaRPr lang="es-MX" sz="1800" b="1" dirty="0"/>
          </a:p>
          <a:p>
            <a:r>
              <a:rPr lang="es-MX" sz="1800" dirty="0"/>
              <a:t>Los procesos manuales están expuestos a </a:t>
            </a:r>
            <a:r>
              <a:rPr lang="es-MX" sz="1800" b="1" dirty="0"/>
              <a:t>fallos derivados de la fatiga, distracciones o desconocimiento</a:t>
            </a:r>
            <a:r>
              <a:rPr lang="es-MX" sz="1800" dirty="0"/>
              <a:t>, lo que puede derivar en pérdidas financieras o incumplimientos regulatorios. El RPA mitiga estos riesgos al ejecutar instrucciones basadas en reglas predefinidas con una </a:t>
            </a:r>
            <a:r>
              <a:rPr lang="es-MX" sz="1800" b="1" dirty="0"/>
              <a:t>precisión cercana al 100%</a:t>
            </a:r>
            <a:r>
              <a:rPr lang="es-MX" sz="1800" dirty="0"/>
              <a:t>.</a:t>
            </a:r>
          </a:p>
          <a:p>
            <a:r>
              <a:rPr lang="es-MX" sz="1800" dirty="0"/>
              <a:t>Por ejemplo, en áreas como la facturación electrónica o la conciliación bancaria, un error humano puede tener consecuencias significativas. En cambio, los robots garantizan uniformidad, estandarización y consistencia en cada operación, generando </a:t>
            </a:r>
            <a:r>
              <a:rPr lang="es-MX" sz="1800" b="1" dirty="0"/>
              <a:t>datos más confiables</a:t>
            </a:r>
            <a:r>
              <a:rPr lang="es-MX" sz="1800" dirty="0"/>
              <a:t> para la toma de decisiones empresariales.</a:t>
            </a:r>
          </a:p>
          <a:p>
            <a:endParaRPr lang="es-MX" sz="1800" dirty="0"/>
          </a:p>
        </p:txBody>
      </p:sp>
    </p:spTree>
    <p:extLst>
      <p:ext uri="{BB962C8B-B14F-4D97-AF65-F5344CB8AC3E}">
        <p14:creationId xmlns:p14="http://schemas.microsoft.com/office/powerpoint/2010/main" val="3621712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DAF6420E-CDD1-34A6-168C-055CCC711606}"/>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2CBB454D-EAAF-D2D0-791A-8463FBA4EB45}"/>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C0EE952F-D919-ABA7-3589-7009C8F57E00}"/>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Ventajas y desafíos de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6E105110-E397-59A6-9EB4-F8C3BBA96922}"/>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Escalabilidad y flexibilidad de los procesos automatizados</a:t>
            </a:r>
          </a:p>
          <a:p>
            <a:endParaRPr lang="es-MX" sz="1800" b="1" dirty="0"/>
          </a:p>
          <a:p>
            <a:r>
              <a:rPr lang="es-MX" sz="1800" dirty="0"/>
              <a:t>El RPA se caracteriza por su </a:t>
            </a:r>
            <a:r>
              <a:rPr lang="es-MX" sz="1800" b="1" dirty="0"/>
              <a:t>escalabilidad</a:t>
            </a:r>
            <a:r>
              <a:rPr lang="es-MX" sz="1800" dirty="0"/>
              <a:t>, ya que las organizaciones pueden aumentar o reducir la cantidad de robots según la demanda del negocio. En épocas de alta carga de trabajo, como cierres fiscales o temporadas de ventas, los </a:t>
            </a:r>
            <a:r>
              <a:rPr lang="es-MX" sz="1800" dirty="0" err="1"/>
              <a:t>bots</a:t>
            </a:r>
            <a:r>
              <a:rPr lang="es-MX" sz="1800" dirty="0"/>
              <a:t> pueden multiplicarse para responder a la demanda sin necesidad de contratar personal adicional.</a:t>
            </a:r>
          </a:p>
          <a:p>
            <a:endParaRPr lang="es-MX" sz="1800" dirty="0"/>
          </a:p>
          <a:p>
            <a:r>
              <a:rPr lang="es-MX" sz="1800" dirty="0"/>
              <a:t>Además, los sistemas de RPA ofrecen </a:t>
            </a:r>
            <a:r>
              <a:rPr lang="es-MX" sz="1800" b="1" dirty="0"/>
              <a:t>flexibilidad</a:t>
            </a:r>
            <a:r>
              <a:rPr lang="es-MX" sz="1800" dirty="0"/>
              <a:t>, porque se pueden reconfigurar para adaptarse a cambios en los procesos internos o a nuevas normativas. Esto convierte al RPA en una herramienta ágil que responde a la dinámica de los mercados actuales y favorece la continuidad operativa frente a contingencias.</a:t>
            </a:r>
          </a:p>
          <a:p>
            <a:endParaRPr lang="es-MX" sz="1800" dirty="0"/>
          </a:p>
        </p:txBody>
      </p:sp>
    </p:spTree>
    <p:extLst>
      <p:ext uri="{BB962C8B-B14F-4D97-AF65-F5344CB8AC3E}">
        <p14:creationId xmlns:p14="http://schemas.microsoft.com/office/powerpoint/2010/main" val="1553556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2F5EAB5B-CE28-09D4-3D76-421E99E31241}"/>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F03DB08A-C31C-72B3-F7C6-4188D5F068B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EBDAC0C3-59B1-8F7D-A067-A106F24BCAA8}"/>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Ventajas y desafíos de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B2B31AD3-4C1F-B27E-CC7E-789DA500E9EA}"/>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Posibles afectaciones en el empleo y reconversión laboral</a:t>
            </a:r>
          </a:p>
          <a:p>
            <a:endParaRPr lang="es-MX" sz="1800" b="1" dirty="0"/>
          </a:p>
          <a:p>
            <a:r>
              <a:rPr lang="es-MX" sz="1800" dirty="0"/>
              <a:t>Uno de los desafíos más debatidos de la implementación de RPA es su </a:t>
            </a:r>
            <a:r>
              <a:rPr lang="es-MX" sz="1800" b="1" dirty="0"/>
              <a:t>impacto en el empleo</a:t>
            </a:r>
            <a:r>
              <a:rPr lang="es-MX" sz="1800" dirty="0"/>
              <a:t>. La sustitución de tareas manuales y rutinarias puede generar preocupación entre los trabajadores, quienes temen perder su puesto frente a la automatización. Sin embargo, los estudios muestran que el RPA no necesariamente elimina empleos, sino que </a:t>
            </a:r>
            <a:r>
              <a:rPr lang="es-MX" sz="1800" b="1" dirty="0"/>
              <a:t>transforma los perfiles laborales</a:t>
            </a:r>
            <a:r>
              <a:rPr lang="es-MX" sz="1800" dirty="0"/>
              <a:t>.</a:t>
            </a:r>
          </a:p>
          <a:p>
            <a:endParaRPr lang="es-MX" sz="1800" dirty="0"/>
          </a:p>
          <a:p>
            <a:r>
              <a:rPr lang="es-MX" sz="1800" dirty="0"/>
              <a:t>En este sentido, surge la necesidad de </a:t>
            </a:r>
            <a:r>
              <a:rPr lang="es-MX" sz="1800" b="1" dirty="0"/>
              <a:t>reconversión laboral</a:t>
            </a:r>
            <a:r>
              <a:rPr lang="es-MX" sz="1800" dirty="0"/>
              <a:t>: capacitar a los empleados en nuevas competencias relacionadas con la gestión, supervisión y optimización de procesos automatizados. Así, la mano de obra se desplaza desde tareas operativas hacia actividades más estratégicas, creativas y de análisis, incrementando el valor del talento humano dentro de la organización.</a:t>
            </a:r>
          </a:p>
          <a:p>
            <a:endParaRPr lang="es-MX" sz="1800" dirty="0"/>
          </a:p>
        </p:txBody>
      </p:sp>
    </p:spTree>
    <p:extLst>
      <p:ext uri="{BB962C8B-B14F-4D97-AF65-F5344CB8AC3E}">
        <p14:creationId xmlns:p14="http://schemas.microsoft.com/office/powerpoint/2010/main" val="3157606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BCE58CC-A326-ADA8-DD25-57B3A7882134}"/>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3B82BB5B-B1CF-9D4F-1D33-A0D74D6F3165}"/>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4F506039-5FEE-F5A0-4887-365E5BE0AAFD}"/>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Ventajas y desafíos de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9CF0FFEC-65A5-7023-BFA8-90291910FC3D}"/>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Problemas de integración con sistemas heredados (</a:t>
            </a:r>
            <a:r>
              <a:rPr lang="es-MX" sz="1800" b="1" dirty="0" err="1"/>
              <a:t>legacy</a:t>
            </a:r>
            <a:r>
              <a:rPr lang="es-MX" sz="1800" b="1" dirty="0"/>
              <a:t> </a:t>
            </a:r>
            <a:r>
              <a:rPr lang="es-MX" sz="1800" b="1" dirty="0" err="1"/>
              <a:t>systems</a:t>
            </a:r>
            <a:r>
              <a:rPr lang="es-MX" sz="1800" b="1" dirty="0"/>
              <a:t>)</a:t>
            </a:r>
          </a:p>
          <a:p>
            <a:endParaRPr lang="es-MX" sz="1800" b="1" dirty="0"/>
          </a:p>
          <a:p>
            <a:r>
              <a:rPr lang="es-MX" sz="1800" dirty="0"/>
              <a:t>Uno de los obstáculos más frecuentes en proyectos de RPA es la </a:t>
            </a:r>
            <a:r>
              <a:rPr lang="es-MX" sz="1800" b="1" dirty="0"/>
              <a:t>integración con sistemas heredados</a:t>
            </a:r>
            <a:r>
              <a:rPr lang="es-MX" sz="1800" dirty="0"/>
              <a:t>, es decir, plataformas antiguas que aún operan en muchas empresas. Estos sistemas suelen carecer de interfaces modernas o </a:t>
            </a:r>
            <a:r>
              <a:rPr lang="es-MX" sz="1800" dirty="0" err="1"/>
              <a:t>APIs</a:t>
            </a:r>
            <a:r>
              <a:rPr lang="es-MX" sz="1800" dirty="0"/>
              <a:t> que faciliten la comunicación con otras aplicaciones, lo que dificulta la automatización.</a:t>
            </a:r>
          </a:p>
          <a:p>
            <a:endParaRPr lang="es-MX" sz="1800" dirty="0"/>
          </a:p>
          <a:p>
            <a:r>
              <a:rPr lang="es-MX" sz="1800" dirty="0"/>
              <a:t>Aunque los robots pueden interactuar directamente con las pantallas de estos sistemas mediante técnicas como el </a:t>
            </a:r>
            <a:r>
              <a:rPr lang="es-MX" sz="1800" i="1" dirty="0" err="1"/>
              <a:t>screen</a:t>
            </a:r>
            <a:r>
              <a:rPr lang="es-MX" sz="1800" i="1" dirty="0"/>
              <a:t> </a:t>
            </a:r>
            <a:r>
              <a:rPr lang="es-MX" sz="1800" i="1" dirty="0" err="1"/>
              <a:t>scraping</a:t>
            </a:r>
            <a:r>
              <a:rPr lang="es-MX" sz="1800" dirty="0"/>
              <a:t>, este enfoque puede ser frágil, ya que pequeños cambios en la interfaz pueden interrumpir el flujo automatizado. En consecuencia, las organizaciones deben evaluar cuidadosamente la compatibilidad tecnológica y, en algunos casos, </a:t>
            </a:r>
            <a:r>
              <a:rPr lang="es-MX" sz="1800" b="1" dirty="0"/>
              <a:t>invertir en la modernización de su infraestructura digital</a:t>
            </a:r>
            <a:r>
              <a:rPr lang="es-MX" sz="1800" dirty="0"/>
              <a:t> antes de implementar RPA de manera masiva.</a:t>
            </a:r>
          </a:p>
        </p:txBody>
      </p:sp>
    </p:spTree>
    <p:extLst>
      <p:ext uri="{BB962C8B-B14F-4D97-AF65-F5344CB8AC3E}">
        <p14:creationId xmlns:p14="http://schemas.microsoft.com/office/powerpoint/2010/main" val="831315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C56A832-FD08-FAA4-2A58-5FACEAE5461E}"/>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892BE40E-4995-6C69-25CF-42CE7F845E7C}"/>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1D3B4B64-59D5-88EB-6FF6-E820C25E43D8}"/>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(ROI) Retorno de inversión en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719F141E-8F82-5F28-3FF0-EB4EBB2915D6}"/>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Concepto de ROI aplicado a proyectos de automatización</a:t>
            </a:r>
          </a:p>
          <a:p>
            <a:r>
              <a:rPr lang="es-MX" sz="1800" dirty="0"/>
              <a:t>El </a:t>
            </a:r>
            <a:r>
              <a:rPr lang="es-MX" sz="1800" b="1" dirty="0"/>
              <a:t>ROI (</a:t>
            </a:r>
            <a:r>
              <a:rPr lang="es-MX" sz="1800" b="1" dirty="0" err="1"/>
              <a:t>Return</a:t>
            </a:r>
            <a:r>
              <a:rPr lang="es-MX" sz="1800" b="1" dirty="0"/>
              <a:t> </a:t>
            </a:r>
            <a:r>
              <a:rPr lang="es-MX" sz="1800" b="1" dirty="0" err="1"/>
              <a:t>on</a:t>
            </a:r>
            <a:r>
              <a:rPr lang="es-MX" sz="1800" b="1" dirty="0"/>
              <a:t> </a:t>
            </a:r>
            <a:r>
              <a:rPr lang="es-MX" sz="1800" b="1" dirty="0" err="1"/>
              <a:t>Investment</a:t>
            </a:r>
            <a:r>
              <a:rPr lang="es-MX" sz="1800" b="1" dirty="0"/>
              <a:t>)</a:t>
            </a:r>
            <a:r>
              <a:rPr lang="es-MX" sz="1800" dirty="0"/>
              <a:t> en RPA mide el rendimiento económico obtenido por una organización tras invertir en automatización. Es una métrica que compara el </a:t>
            </a:r>
            <a:r>
              <a:rPr lang="es-MX" sz="1800" b="1" dirty="0"/>
              <a:t>beneficio neto</a:t>
            </a:r>
            <a:r>
              <a:rPr lang="es-MX" sz="1800" dirty="0"/>
              <a:t> generado por los </a:t>
            </a:r>
            <a:r>
              <a:rPr lang="es-MX" sz="1800" dirty="0" err="1"/>
              <a:t>bots</a:t>
            </a:r>
            <a:r>
              <a:rPr lang="es-MX" sz="1800" dirty="0"/>
              <a:t> frente al </a:t>
            </a:r>
            <a:r>
              <a:rPr lang="es-MX" sz="1800" b="1" dirty="0"/>
              <a:t>coste total</a:t>
            </a:r>
            <a:r>
              <a:rPr lang="es-MX" sz="1800" dirty="0"/>
              <a:t> del proyecto. En RPA, el ROI no solo contempla ahorro directo en salarios, sino también mejoras en calidad, velocidad, cumplimiento y capacidad operativa.</a:t>
            </a:r>
          </a:p>
          <a:p>
            <a:endParaRPr lang="es-MX" sz="1800" dirty="0"/>
          </a:p>
          <a:p>
            <a:r>
              <a:rPr lang="es-MX" sz="1800" dirty="0"/>
              <a:t>ROI (%) = (Beneficio neto / Inversión total) × 100</a:t>
            </a:r>
          </a:p>
          <a:p>
            <a:r>
              <a:rPr lang="es-MX" sz="1800" dirty="0"/>
              <a:t>Beneficio neto = Ahorros anuales + Beneficios intangibles estimados - Costes recurrentes</a:t>
            </a:r>
          </a:p>
          <a:p>
            <a:endParaRPr lang="es-MX" sz="1800" dirty="0"/>
          </a:p>
          <a:p>
            <a:endParaRPr lang="es-MX" sz="1800" dirty="0"/>
          </a:p>
        </p:txBody>
      </p:sp>
    </p:spTree>
    <p:extLst>
      <p:ext uri="{BB962C8B-B14F-4D97-AF65-F5344CB8AC3E}">
        <p14:creationId xmlns:p14="http://schemas.microsoft.com/office/powerpoint/2010/main" val="3307228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CC77252E-0D97-0A6C-7A94-507D767C640B}"/>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B62C1873-72D5-4D16-CBAA-75347F54523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29FCBA0E-1F4A-CADC-08CA-9D2B2A208EDF}"/>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(ROI) Retorno de inversión en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31B389C2-779E-61A7-EA5E-865C36D287FD}"/>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Factores que determinan la rentabilidad de un proyecto RPA</a:t>
            </a:r>
          </a:p>
          <a:p>
            <a:pPr marL="285750" indent="-285750">
              <a:buFont typeface="Arial" panose="020B0604020202020204" pitchFamily="34" charset="0"/>
              <a:buChar char="•"/>
            </a:pPr>
            <a:r>
              <a:rPr lang="es-MX" sz="1800" b="1" dirty="0"/>
              <a:t>Volumen de transacciones</a:t>
            </a:r>
            <a:r>
              <a:rPr lang="es-MX" sz="1800" dirty="0"/>
              <a:t>: mayor volumen incrementa el ahorro unitario.</a:t>
            </a:r>
          </a:p>
          <a:p>
            <a:pPr marL="285750" indent="-285750">
              <a:buFont typeface="Arial" panose="020B0604020202020204" pitchFamily="34" charset="0"/>
              <a:buChar char="•"/>
            </a:pPr>
            <a:r>
              <a:rPr lang="es-MX" sz="1800" b="1" dirty="0"/>
              <a:t>Complejidad del proceso</a:t>
            </a:r>
            <a:r>
              <a:rPr lang="es-MX" sz="1800" dirty="0"/>
              <a:t>: procesos simples y basados en reglas suelen dar ROI más rápido.</a:t>
            </a:r>
          </a:p>
          <a:p>
            <a:pPr marL="285750" indent="-285750">
              <a:buFont typeface="Arial" panose="020B0604020202020204" pitchFamily="34" charset="0"/>
              <a:buChar char="•"/>
            </a:pPr>
            <a:r>
              <a:rPr lang="es-MX" sz="1800" b="1" dirty="0"/>
              <a:t>Frecuencia y estacionalidad</a:t>
            </a:r>
            <a:r>
              <a:rPr lang="es-MX" sz="1800" dirty="0"/>
              <a:t>: tareas periódicas (diarias/mensuales) generan más valor.</a:t>
            </a:r>
          </a:p>
          <a:p>
            <a:pPr marL="285750" indent="-285750">
              <a:buFont typeface="Arial" panose="020B0604020202020204" pitchFamily="34" charset="0"/>
              <a:buChar char="•"/>
            </a:pPr>
            <a:r>
              <a:rPr lang="es-MX" sz="1800" b="1" dirty="0"/>
              <a:t>Costo de mano de obra</a:t>
            </a:r>
            <a:r>
              <a:rPr lang="es-MX" sz="1800" dirty="0"/>
              <a:t>: salarios altos aumentan el retorno comparativo.</a:t>
            </a:r>
          </a:p>
          <a:p>
            <a:pPr marL="285750" indent="-285750">
              <a:buFont typeface="Arial" panose="020B0604020202020204" pitchFamily="34" charset="0"/>
              <a:buChar char="•"/>
            </a:pPr>
            <a:r>
              <a:rPr lang="es-MX" sz="1800" b="1" dirty="0"/>
              <a:t>Tasa de error humana</a:t>
            </a:r>
            <a:r>
              <a:rPr lang="es-MX" sz="1800" dirty="0"/>
              <a:t>: procesos con muchos errores manuales producen ahorro mayor.</a:t>
            </a:r>
          </a:p>
          <a:p>
            <a:pPr marL="285750" indent="-285750">
              <a:buFont typeface="Arial" panose="020B0604020202020204" pitchFamily="34" charset="0"/>
              <a:buChar char="•"/>
            </a:pPr>
            <a:r>
              <a:rPr lang="es-MX" sz="1800" b="1" dirty="0"/>
              <a:t>Costo de licencia y mantenimiento de la plataforma</a:t>
            </a:r>
            <a:r>
              <a:rPr lang="es-MX" sz="1800" dirty="0"/>
              <a:t>.</a:t>
            </a:r>
          </a:p>
          <a:p>
            <a:pPr marL="285750" indent="-285750">
              <a:buFont typeface="Arial" panose="020B0604020202020204" pitchFamily="34" charset="0"/>
              <a:buChar char="•"/>
            </a:pPr>
            <a:r>
              <a:rPr lang="es-MX" sz="1800" b="1" dirty="0"/>
              <a:t>Capacidad interna para gestionar el cambio</a:t>
            </a:r>
            <a:r>
              <a:rPr lang="es-MX" sz="1800" dirty="0"/>
              <a:t>: adopción, gobernanza y soporte técnico.</a:t>
            </a:r>
          </a:p>
          <a:p>
            <a:pPr marL="285750" indent="-285750">
              <a:buFont typeface="Arial" panose="020B0604020202020204" pitchFamily="34" charset="0"/>
              <a:buChar char="•"/>
            </a:pPr>
            <a:r>
              <a:rPr lang="es-MX" sz="1800" b="1" dirty="0"/>
              <a:t>Integración con sistemas existentes</a:t>
            </a:r>
            <a:r>
              <a:rPr lang="es-MX" sz="1800" dirty="0"/>
              <a:t>: mayor dificultad técnica puede aumentar costos iniciales.</a:t>
            </a:r>
          </a:p>
          <a:p>
            <a:endParaRPr lang="es-MX" sz="1800" dirty="0"/>
          </a:p>
        </p:txBody>
      </p:sp>
    </p:spTree>
    <p:extLst>
      <p:ext uri="{BB962C8B-B14F-4D97-AF65-F5344CB8AC3E}">
        <p14:creationId xmlns:p14="http://schemas.microsoft.com/office/powerpoint/2010/main" val="3101438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9142A357-5C11-3C63-D37F-719311212D46}"/>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0F7DDFF7-06EC-9746-06FD-B07A78C6B613}"/>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5ECC210D-7FB6-0333-CC7A-58D324F6FC13}"/>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(ROI) Retorno de inversión en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D59FE11C-A923-64F2-9B17-A9669C37FF32}"/>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Costos directos e indirectos de implementación</a:t>
            </a:r>
          </a:p>
          <a:p>
            <a:endParaRPr lang="es-MX" sz="1800" b="1" dirty="0"/>
          </a:p>
          <a:p>
            <a:r>
              <a:rPr lang="es-MX" sz="1800" b="1" dirty="0"/>
              <a:t>Costos directos</a:t>
            </a:r>
            <a:endParaRPr lang="es-MX" sz="1800" dirty="0"/>
          </a:p>
          <a:p>
            <a:pPr marL="285750" indent="-285750">
              <a:buFont typeface="Arial" panose="020B0604020202020204" pitchFamily="34" charset="0"/>
              <a:buChar char="•"/>
            </a:pPr>
            <a:r>
              <a:rPr lang="es-MX" sz="1800" dirty="0"/>
              <a:t>Licencias de software (robots, orquestador).</a:t>
            </a:r>
          </a:p>
          <a:p>
            <a:pPr marL="285750" indent="-285750">
              <a:buFont typeface="Arial" panose="020B0604020202020204" pitchFamily="34" charset="0"/>
              <a:buChar char="•"/>
            </a:pPr>
            <a:r>
              <a:rPr lang="es-MX" sz="1800" dirty="0"/>
              <a:t>Desarrollo e implementación (consultoría, integradores).</a:t>
            </a:r>
          </a:p>
          <a:p>
            <a:pPr marL="285750" indent="-285750">
              <a:buFont typeface="Arial" panose="020B0604020202020204" pitchFamily="34" charset="0"/>
              <a:buChar char="•"/>
            </a:pPr>
            <a:r>
              <a:rPr lang="es-MX" sz="1800" dirty="0"/>
              <a:t>Infraestructura (servidores, nube, </a:t>
            </a:r>
            <a:r>
              <a:rPr lang="es-MX" sz="1800" dirty="0" err="1"/>
              <a:t>VMs</a:t>
            </a:r>
            <a:r>
              <a:rPr lang="es-MX" sz="1800" dirty="0"/>
              <a:t>).</a:t>
            </a:r>
          </a:p>
          <a:p>
            <a:pPr marL="285750" indent="-285750">
              <a:buFont typeface="Arial" panose="020B0604020202020204" pitchFamily="34" charset="0"/>
              <a:buChar char="•"/>
            </a:pPr>
            <a:r>
              <a:rPr lang="es-MX" sz="1800" dirty="0"/>
              <a:t>Pruebas y puesta en producción.</a:t>
            </a:r>
          </a:p>
          <a:p>
            <a:pPr marL="285750" indent="-285750">
              <a:buFont typeface="Arial" panose="020B0604020202020204" pitchFamily="34" charset="0"/>
              <a:buChar char="•"/>
            </a:pPr>
            <a:endParaRPr lang="es-MX" sz="1800" dirty="0"/>
          </a:p>
          <a:p>
            <a:r>
              <a:rPr lang="es-MX" sz="1800" b="1" dirty="0"/>
              <a:t>Costos indirectos</a:t>
            </a:r>
            <a:endParaRPr lang="es-MX" sz="1800" dirty="0"/>
          </a:p>
          <a:p>
            <a:pPr marL="285750" indent="-285750">
              <a:buFont typeface="Arial" panose="020B0604020202020204" pitchFamily="34" charset="0"/>
              <a:buChar char="•"/>
            </a:pPr>
            <a:r>
              <a:rPr lang="es-MX" sz="1800" dirty="0"/>
              <a:t>Formación y capacitación del personal.</a:t>
            </a:r>
          </a:p>
          <a:p>
            <a:pPr marL="285750" indent="-285750">
              <a:buFont typeface="Arial" panose="020B0604020202020204" pitchFamily="34" charset="0"/>
              <a:buChar char="•"/>
            </a:pPr>
            <a:r>
              <a:rPr lang="es-MX" sz="1800" dirty="0"/>
              <a:t>Gestión del cambio y comunicación interna.</a:t>
            </a:r>
          </a:p>
          <a:p>
            <a:pPr marL="285750" indent="-285750">
              <a:buFont typeface="Arial" panose="020B0604020202020204" pitchFamily="34" charset="0"/>
              <a:buChar char="•"/>
            </a:pPr>
            <a:r>
              <a:rPr lang="es-MX" sz="1800" dirty="0"/>
              <a:t>Soporte y mantenimiento continuo.</a:t>
            </a:r>
          </a:p>
          <a:p>
            <a:pPr marL="285750" indent="-285750">
              <a:buFont typeface="Arial" panose="020B0604020202020204" pitchFamily="34" charset="0"/>
              <a:buChar char="•"/>
            </a:pPr>
            <a:r>
              <a:rPr lang="es-MX" sz="1800" dirty="0"/>
              <a:t>Monitoreo, gobernanza y actualización de </a:t>
            </a:r>
            <a:r>
              <a:rPr lang="es-MX" sz="1800" dirty="0" err="1"/>
              <a:t>bots</a:t>
            </a:r>
            <a:r>
              <a:rPr lang="es-MX" sz="1800" dirty="0"/>
              <a:t>.</a:t>
            </a:r>
          </a:p>
          <a:p>
            <a:pPr marL="285750" indent="-285750">
              <a:buFont typeface="Arial" panose="020B0604020202020204" pitchFamily="34" charset="0"/>
              <a:buChar char="•"/>
            </a:pPr>
            <a:r>
              <a:rPr lang="es-MX" sz="1800" dirty="0"/>
              <a:t>Costes por interrupciones/transiciones temporales.</a:t>
            </a:r>
          </a:p>
          <a:p>
            <a:endParaRPr lang="es-MX" sz="1800" dirty="0"/>
          </a:p>
        </p:txBody>
      </p:sp>
    </p:spTree>
    <p:extLst>
      <p:ext uri="{BB962C8B-B14F-4D97-AF65-F5344CB8AC3E}">
        <p14:creationId xmlns:p14="http://schemas.microsoft.com/office/powerpoint/2010/main" val="3020949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CAB956C3-8F0A-8E47-799F-63BB223DF9DE}"/>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8E745980-9D0A-A5F1-F76A-9EDDC89EF200}"/>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89E4B10B-D44E-114B-997D-3D3BC0445357}"/>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(ROI) Retorno de inversión en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A0B9F2BD-8561-EAA9-F31E-F8CA7649BEBF}"/>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Indicadores clave de desempeño (</a:t>
            </a:r>
            <a:r>
              <a:rPr lang="es-MX" sz="1800" b="1" dirty="0" err="1"/>
              <a:t>KPIs</a:t>
            </a:r>
            <a:r>
              <a:rPr lang="es-MX" sz="1800" b="1" dirty="0"/>
              <a:t>) para medir éxito</a:t>
            </a:r>
          </a:p>
          <a:p>
            <a:endParaRPr lang="es-MX" sz="1800" b="1" dirty="0"/>
          </a:p>
          <a:p>
            <a:pPr marL="342900" indent="-342900">
              <a:buFont typeface="+mj-lt"/>
              <a:buAutoNum type="arabicPeriod"/>
            </a:pPr>
            <a:r>
              <a:rPr lang="es-MX" sz="1800" b="1" dirty="0"/>
              <a:t>Tiempo medio de procesamiento (TTP)</a:t>
            </a:r>
            <a:r>
              <a:rPr lang="es-MX" sz="1800" dirty="0"/>
              <a:t> por transacción.</a:t>
            </a:r>
          </a:p>
          <a:p>
            <a:pPr marL="342900" indent="-342900">
              <a:buFont typeface="+mj-lt"/>
              <a:buAutoNum type="arabicPeriod"/>
            </a:pPr>
            <a:r>
              <a:rPr lang="es-MX" sz="1800" b="1" dirty="0"/>
              <a:t>Porcentaje de procesos automatizados</a:t>
            </a:r>
            <a:r>
              <a:rPr lang="es-MX" sz="1800" dirty="0"/>
              <a:t> respecto al total elegible.</a:t>
            </a:r>
          </a:p>
          <a:p>
            <a:pPr marL="342900" indent="-342900">
              <a:buFont typeface="+mj-lt"/>
              <a:buAutoNum type="arabicPeriod"/>
            </a:pPr>
            <a:r>
              <a:rPr lang="es-MX" sz="1800" b="1" dirty="0"/>
              <a:t>Tasa de error</a:t>
            </a:r>
            <a:r>
              <a:rPr lang="es-MX" sz="1800" dirty="0"/>
              <a:t> (pre/post automatización).</a:t>
            </a:r>
          </a:p>
          <a:p>
            <a:pPr marL="342900" indent="-342900">
              <a:buFont typeface="+mj-lt"/>
              <a:buAutoNum type="arabicPeriod"/>
            </a:pPr>
            <a:r>
              <a:rPr lang="es-MX" sz="1800" b="1" dirty="0"/>
              <a:t>Ahorro de horas hombre</a:t>
            </a:r>
            <a:r>
              <a:rPr lang="es-MX" sz="1800" dirty="0"/>
              <a:t> (</a:t>
            </a:r>
            <a:r>
              <a:rPr lang="es-MX" sz="1800" dirty="0" err="1"/>
              <a:t>FTEs</a:t>
            </a:r>
            <a:r>
              <a:rPr lang="es-MX" sz="1800" dirty="0"/>
              <a:t> equivalentes).</a:t>
            </a:r>
          </a:p>
          <a:p>
            <a:pPr marL="342900" indent="-342900">
              <a:buFont typeface="+mj-lt"/>
              <a:buAutoNum type="arabicPeriod"/>
            </a:pPr>
            <a:r>
              <a:rPr lang="es-MX" sz="1800" b="1" dirty="0"/>
              <a:t>Costo por transacción</a:t>
            </a:r>
            <a:r>
              <a:rPr lang="es-MX" sz="1800" dirty="0"/>
              <a:t> antes vs después.</a:t>
            </a:r>
          </a:p>
          <a:p>
            <a:pPr marL="342900" indent="-342900">
              <a:buFont typeface="+mj-lt"/>
              <a:buAutoNum type="arabicPeriod"/>
            </a:pPr>
            <a:r>
              <a:rPr lang="es-MX" sz="1800" b="1" dirty="0"/>
              <a:t>Tiempo de recuperación de la inversión (</a:t>
            </a:r>
            <a:r>
              <a:rPr lang="es-MX" sz="1800" b="1" dirty="0" err="1"/>
              <a:t>Payback</a:t>
            </a:r>
            <a:r>
              <a:rPr lang="es-MX" sz="1800" b="1" dirty="0"/>
              <a:t> </a:t>
            </a:r>
            <a:r>
              <a:rPr lang="es-MX" sz="1800" b="1" dirty="0" err="1"/>
              <a:t>period</a:t>
            </a:r>
            <a:r>
              <a:rPr lang="es-MX" sz="1800" b="1" dirty="0"/>
              <a:t>)</a:t>
            </a:r>
            <a:r>
              <a:rPr lang="es-MX" sz="1800" dirty="0"/>
              <a:t>.</a:t>
            </a:r>
          </a:p>
          <a:p>
            <a:pPr marL="342900" indent="-342900">
              <a:buFont typeface="+mj-lt"/>
              <a:buAutoNum type="arabicPeriod"/>
            </a:pPr>
            <a:r>
              <a:rPr lang="es-MX" sz="1800" b="1" dirty="0"/>
              <a:t>Disponibilidad y tiempo de inactividad del </a:t>
            </a:r>
            <a:r>
              <a:rPr lang="es-MX" sz="1800" b="1" dirty="0" err="1"/>
              <a:t>bot</a:t>
            </a:r>
            <a:r>
              <a:rPr lang="es-MX" sz="1800" dirty="0"/>
              <a:t>.</a:t>
            </a:r>
          </a:p>
          <a:p>
            <a:pPr marL="342900" indent="-342900">
              <a:buFont typeface="+mj-lt"/>
              <a:buAutoNum type="arabicPeriod"/>
            </a:pPr>
            <a:r>
              <a:rPr lang="es-MX" sz="1800" b="1" dirty="0"/>
              <a:t>SLA de procesos</a:t>
            </a:r>
            <a:r>
              <a:rPr lang="es-MX" sz="1800" dirty="0"/>
              <a:t> (cumplimiento de plazos).</a:t>
            </a:r>
          </a:p>
          <a:p>
            <a:pPr marL="342900" indent="-342900">
              <a:buFont typeface="+mj-lt"/>
              <a:buAutoNum type="arabicPeriod"/>
            </a:pPr>
            <a:r>
              <a:rPr lang="es-MX" sz="1800" b="1" dirty="0"/>
              <a:t>Satisfacción del cliente/usuario</a:t>
            </a:r>
            <a:r>
              <a:rPr lang="es-MX" sz="1800" dirty="0"/>
              <a:t> (NPS, encuestas internas).</a:t>
            </a:r>
          </a:p>
        </p:txBody>
      </p:sp>
    </p:spTree>
    <p:extLst>
      <p:ext uri="{BB962C8B-B14F-4D97-AF65-F5344CB8AC3E}">
        <p14:creationId xmlns:p14="http://schemas.microsoft.com/office/powerpoint/2010/main" val="2720678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CD6A22C2-5C7D-52E9-6424-43555E657EAB}"/>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D1FFF58D-7A83-7120-1001-6735A2D209E2}"/>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EBFB3725-5FDD-1829-A0B5-47DDE305FAD5}"/>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(ROI) Retorno de inversión en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C112D32F-0EB7-14BE-A5D2-FBC6DB761F13}"/>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Riesgos financieros y tiempos de recuperación de inversión</a:t>
            </a:r>
          </a:p>
          <a:p>
            <a:r>
              <a:rPr lang="es-MX" sz="1800" b="1" dirty="0"/>
              <a:t>Riesgos</a:t>
            </a:r>
            <a:endParaRPr lang="es-MX" sz="1800" dirty="0"/>
          </a:p>
          <a:p>
            <a:pPr marL="285750" lvl="3" indent="-285750">
              <a:buFont typeface="Arial" panose="020B0604020202020204" pitchFamily="34" charset="0"/>
              <a:buChar char="•"/>
            </a:pPr>
            <a:r>
              <a:rPr lang="es-MX" sz="1800" dirty="0"/>
              <a:t>Subestimación de costos de integración y mantenimiento.</a:t>
            </a:r>
          </a:p>
          <a:p>
            <a:pPr marL="285750" lvl="3" indent="-285750">
              <a:buFont typeface="Arial" panose="020B0604020202020204" pitchFamily="34" charset="0"/>
              <a:buChar char="•"/>
            </a:pPr>
            <a:r>
              <a:rPr lang="es-MX" sz="1800" dirty="0"/>
              <a:t>Cambios frecuentes en las interfaces que rompen los </a:t>
            </a:r>
            <a:r>
              <a:rPr lang="es-MX" sz="1800" dirty="0" err="1"/>
              <a:t>bots</a:t>
            </a:r>
            <a:r>
              <a:rPr lang="es-MX" sz="1800" dirty="0"/>
              <a:t> (mantenimiento elevado).</a:t>
            </a:r>
          </a:p>
          <a:p>
            <a:pPr marL="285750" lvl="3" indent="-285750">
              <a:buFont typeface="Arial" panose="020B0604020202020204" pitchFamily="34" charset="0"/>
              <a:buChar char="•"/>
            </a:pPr>
            <a:r>
              <a:rPr lang="es-MX" sz="1800" dirty="0"/>
              <a:t>Falta de adopción o resistencia interna que reduce los beneficios esperados.</a:t>
            </a:r>
          </a:p>
          <a:p>
            <a:pPr marL="285750" lvl="3" indent="-285750">
              <a:buFont typeface="Arial" panose="020B0604020202020204" pitchFamily="34" charset="0"/>
              <a:buChar char="•"/>
            </a:pPr>
            <a:r>
              <a:rPr lang="es-MX" sz="1800" dirty="0"/>
              <a:t>Dependencia de proveedores y cambios de licenciamiento.</a:t>
            </a:r>
          </a:p>
          <a:p>
            <a:pPr marL="285750" lvl="3" indent="-285750">
              <a:buFont typeface="Arial" panose="020B0604020202020204" pitchFamily="34" charset="0"/>
              <a:buChar char="•"/>
            </a:pPr>
            <a:r>
              <a:rPr lang="es-MX" sz="1800" dirty="0"/>
              <a:t>Proyectos piloto que no escalan a producción.</a:t>
            </a:r>
          </a:p>
          <a:p>
            <a:pPr marL="285750" lvl="3" indent="-285750">
              <a:buFont typeface="Arial" panose="020B0604020202020204" pitchFamily="34" charset="0"/>
              <a:buChar char="•"/>
            </a:pPr>
            <a:endParaRPr lang="es-MX" sz="1800" dirty="0"/>
          </a:p>
          <a:p>
            <a:r>
              <a:rPr lang="es-MX" sz="1800" b="1" dirty="0"/>
              <a:t>Tiempos de recuperación (ejemplo conceptual)</a:t>
            </a:r>
            <a:endParaRPr lang="es-MX" sz="1800" dirty="0"/>
          </a:p>
          <a:p>
            <a:pPr marL="285750" indent="-285750">
              <a:buFont typeface="Arial" panose="020B0604020202020204" pitchFamily="34" charset="0"/>
              <a:buChar char="•"/>
            </a:pPr>
            <a:r>
              <a:rPr lang="es-MX" sz="1800" dirty="0"/>
              <a:t>Proyectos simples y de alto volumen: </a:t>
            </a:r>
            <a:r>
              <a:rPr lang="es-MX" sz="1800" b="1" dirty="0"/>
              <a:t>3–9 meses</a:t>
            </a:r>
            <a:r>
              <a:rPr lang="es-MX" sz="1800" dirty="0"/>
              <a:t>.</a:t>
            </a:r>
          </a:p>
          <a:p>
            <a:pPr marL="285750" indent="-285750">
              <a:buFont typeface="Arial" panose="020B0604020202020204" pitchFamily="34" charset="0"/>
              <a:buChar char="•"/>
            </a:pPr>
            <a:r>
              <a:rPr lang="es-MX" sz="1800" dirty="0"/>
              <a:t>Proyectos medianos con integraciones: </a:t>
            </a:r>
            <a:r>
              <a:rPr lang="es-MX" sz="1800" b="1" dirty="0"/>
              <a:t>9–18 meses</a:t>
            </a:r>
            <a:r>
              <a:rPr lang="es-MX" sz="1800" dirty="0"/>
              <a:t>.</a:t>
            </a:r>
          </a:p>
          <a:p>
            <a:pPr marL="285750" indent="-285750">
              <a:buFont typeface="Arial" panose="020B0604020202020204" pitchFamily="34" charset="0"/>
              <a:buChar char="•"/>
            </a:pPr>
            <a:r>
              <a:rPr lang="es-MX" sz="1800" dirty="0"/>
              <a:t>Proyectos complejos o de baja repetitividad: </a:t>
            </a:r>
            <a:r>
              <a:rPr lang="es-MX" sz="1800" b="1" dirty="0"/>
              <a:t>&gt;18 meses</a:t>
            </a:r>
            <a:r>
              <a:rPr lang="es-MX" sz="1800" dirty="0"/>
              <a:t>. proceso.)</a:t>
            </a:r>
          </a:p>
          <a:p>
            <a:endParaRPr lang="es-MX" sz="1800" dirty="0"/>
          </a:p>
        </p:txBody>
      </p:sp>
    </p:spTree>
    <p:extLst>
      <p:ext uri="{BB962C8B-B14F-4D97-AF65-F5344CB8AC3E}">
        <p14:creationId xmlns:p14="http://schemas.microsoft.com/office/powerpoint/2010/main" val="747798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4639E2FF-92A8-20D8-A5D1-E0506324C7AC}"/>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5A69E91F-7237-4B95-1D33-19FE1C07769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997A0204-578E-D855-09B0-E7686974A28C}"/>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Herramientas y tecnologías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ADF2A83D-3069-6C66-2CF9-1337C81D012F}"/>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Principales plataformas de RPA (descripción general)</a:t>
            </a:r>
          </a:p>
          <a:p>
            <a:endParaRPr lang="es-MX" sz="1800" b="1" dirty="0"/>
          </a:p>
          <a:p>
            <a:r>
              <a:rPr lang="es-MX" sz="1800" b="1" dirty="0" err="1"/>
              <a:t>UiPath</a:t>
            </a:r>
            <a:r>
              <a:rPr lang="es-MX" sz="1800" dirty="0"/>
              <a:t> — plataforma enfocada en usabilidad para desarrolladores y </a:t>
            </a:r>
            <a:r>
              <a:rPr lang="es-MX" sz="1800" dirty="0" err="1"/>
              <a:t>citizen</a:t>
            </a:r>
            <a:r>
              <a:rPr lang="es-MX" sz="1800" dirty="0"/>
              <a:t> </a:t>
            </a:r>
            <a:r>
              <a:rPr lang="es-MX" sz="1800" dirty="0" err="1"/>
              <a:t>developers</a:t>
            </a:r>
            <a:r>
              <a:rPr lang="es-MX" sz="1800" dirty="0"/>
              <a:t>; fuerte </a:t>
            </a:r>
            <a:r>
              <a:rPr lang="es-MX" sz="1800" dirty="0" err="1"/>
              <a:t>marketplace</a:t>
            </a:r>
            <a:r>
              <a:rPr lang="es-MX" sz="1800" dirty="0"/>
              <a:t> y orquestación.</a:t>
            </a:r>
          </a:p>
          <a:p>
            <a:r>
              <a:rPr lang="es-MX" sz="1800" b="1" dirty="0"/>
              <a:t>Blue </a:t>
            </a:r>
            <a:r>
              <a:rPr lang="es-MX" sz="1800" b="1" dirty="0" err="1"/>
              <a:t>Prism</a:t>
            </a:r>
            <a:r>
              <a:rPr lang="es-MX" sz="1800" dirty="0"/>
              <a:t> — enfoque empresarial, arquitectura gobernada, orientada a grandes organizaciones con énfasis en control.</a:t>
            </a:r>
          </a:p>
          <a:p>
            <a:r>
              <a:rPr lang="es-MX" sz="1800" b="1" dirty="0" err="1"/>
              <a:t>Automation</a:t>
            </a:r>
            <a:r>
              <a:rPr lang="es-MX" sz="1800" b="1" dirty="0"/>
              <a:t> </a:t>
            </a:r>
            <a:r>
              <a:rPr lang="es-MX" sz="1800" b="1" dirty="0" err="1"/>
              <a:t>Anywhere</a:t>
            </a:r>
            <a:r>
              <a:rPr lang="es-MX" sz="1800" dirty="0"/>
              <a:t> — combina RPA con capacidades analíticas y asistentes basados en la nube; flexible para distintos casos.</a:t>
            </a:r>
          </a:p>
          <a:p>
            <a:r>
              <a:rPr lang="es-MX" sz="1800" b="1" dirty="0"/>
              <a:t>Microsoft </a:t>
            </a:r>
            <a:r>
              <a:rPr lang="es-MX" sz="1800" b="1" dirty="0" err="1"/>
              <a:t>Power</a:t>
            </a:r>
            <a:r>
              <a:rPr lang="es-MX" sz="1800" b="1" dirty="0"/>
              <a:t> </a:t>
            </a:r>
            <a:r>
              <a:rPr lang="es-MX" sz="1800" b="1" dirty="0" err="1"/>
              <a:t>Automate</a:t>
            </a:r>
            <a:r>
              <a:rPr lang="es-MX" sz="1800" dirty="0"/>
              <a:t> — integrada con el ecosistema Microsoft (</a:t>
            </a:r>
            <a:r>
              <a:rPr lang="es-MX" sz="1800" dirty="0" err="1"/>
              <a:t>Teams</a:t>
            </a:r>
            <a:r>
              <a:rPr lang="es-MX" sz="1800" dirty="0"/>
              <a:t>, Office 365, Azure); buena para organizaciones ya en MS.</a:t>
            </a:r>
          </a:p>
          <a:p>
            <a:r>
              <a:rPr lang="es-MX" sz="1800" b="1" dirty="0" err="1"/>
              <a:t>WorkFusion</a:t>
            </a:r>
            <a:r>
              <a:rPr lang="es-MX" sz="1800" b="1" dirty="0"/>
              <a:t> / Pega / otros</a:t>
            </a:r>
            <a:r>
              <a:rPr lang="es-MX" sz="1800" dirty="0"/>
              <a:t> — ofrecen RPA integrado con BPM y capacidades de IA en distintos grados; útiles en entornos específicos.</a:t>
            </a:r>
          </a:p>
        </p:txBody>
      </p:sp>
    </p:spTree>
    <p:extLst>
      <p:ext uri="{BB962C8B-B14F-4D97-AF65-F5344CB8AC3E}">
        <p14:creationId xmlns:p14="http://schemas.microsoft.com/office/powerpoint/2010/main" val="3614528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773C0594-5B95-BD89-BCFA-5C766F7A2EBC}"/>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A8B7A5CF-7778-0BD5-ED0A-BB2AE887F370}"/>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BE1D64B4-A017-8CCE-3278-8375187EA9C8}"/>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Herramientas y tecnologías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9DE0723B-03DD-B237-B390-3B3E7E3D0FBE}"/>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b="1" dirty="0"/>
              <a:t>Lenguajes de programación y entornos utilizados en RPA</a:t>
            </a:r>
          </a:p>
          <a:p>
            <a:r>
              <a:rPr lang="es-MX" dirty="0"/>
              <a:t>La mayoría de las plataformas de RPA están diseñadas para ser </a:t>
            </a:r>
            <a:r>
              <a:rPr lang="es-MX" b="1" dirty="0" err="1"/>
              <a:t>low-code</a:t>
            </a:r>
            <a:r>
              <a:rPr lang="es-MX" b="1" dirty="0"/>
              <a:t> o no-</a:t>
            </a:r>
            <a:r>
              <a:rPr lang="es-MX" b="1" dirty="0" err="1"/>
              <a:t>code</a:t>
            </a:r>
            <a:r>
              <a:rPr lang="es-MX" dirty="0"/>
              <a:t>, es decir, que los usuarios pueden crear robots sin necesidad de conocimientos avanzados en programación. Sin embargo, los </a:t>
            </a:r>
            <a:r>
              <a:rPr lang="es-MX" b="1" dirty="0"/>
              <a:t>lenguajes de programación</a:t>
            </a:r>
            <a:r>
              <a:rPr lang="es-MX" dirty="0"/>
              <a:t> siguen siendo relevantes para extender funcionalidades, desarrollar scripts complejos o integrar sistemas específicos.</a:t>
            </a:r>
          </a:p>
          <a:p>
            <a:r>
              <a:rPr lang="es-MX" b="1" dirty="0"/>
              <a:t>Lenguajes más comunes:</a:t>
            </a:r>
            <a:endParaRPr lang="es-MX" dirty="0"/>
          </a:p>
          <a:p>
            <a:pPr marL="171450" lvl="1" indent="-171450">
              <a:buFont typeface="Arial" panose="020B0604020202020204" pitchFamily="34" charset="0"/>
              <a:buChar char="•"/>
            </a:pPr>
            <a:r>
              <a:rPr lang="es-MX" sz="1200" b="1" dirty="0"/>
              <a:t>Python:</a:t>
            </a:r>
            <a:r>
              <a:rPr lang="es-MX" sz="1200" dirty="0"/>
              <a:t> ampliamente usado para automatización de datos, integración con machine </a:t>
            </a:r>
            <a:r>
              <a:rPr lang="es-MX" sz="1200" dirty="0" err="1"/>
              <a:t>learning</a:t>
            </a:r>
            <a:r>
              <a:rPr lang="es-MX" sz="1200" dirty="0"/>
              <a:t> y manipulación de archivos.</a:t>
            </a:r>
          </a:p>
          <a:p>
            <a:pPr marL="171450" lvl="1" indent="-171450">
              <a:buFont typeface="Arial" panose="020B0604020202020204" pitchFamily="34" charset="0"/>
              <a:buChar char="•"/>
            </a:pPr>
            <a:r>
              <a:rPr lang="es-MX" sz="1200" b="1" dirty="0"/>
              <a:t>C# y .NET:</a:t>
            </a:r>
            <a:r>
              <a:rPr lang="es-MX" sz="1200" dirty="0"/>
              <a:t> utilizados en plataformas como </a:t>
            </a:r>
            <a:r>
              <a:rPr lang="es-MX" sz="1200" dirty="0" err="1"/>
              <a:t>UiPath</a:t>
            </a:r>
            <a:r>
              <a:rPr lang="es-MX" sz="1200" dirty="0"/>
              <a:t> y Blue </a:t>
            </a:r>
            <a:r>
              <a:rPr lang="es-MX" sz="1200" dirty="0" err="1"/>
              <a:t>Prism</a:t>
            </a:r>
            <a:r>
              <a:rPr lang="es-MX" sz="1200" dirty="0"/>
              <a:t> para crear actividades personalizadas.</a:t>
            </a:r>
          </a:p>
          <a:p>
            <a:pPr marL="171450" lvl="1" indent="-171450">
              <a:buFont typeface="Arial" panose="020B0604020202020204" pitchFamily="34" charset="0"/>
              <a:buChar char="•"/>
            </a:pPr>
            <a:r>
              <a:rPr lang="es-MX" sz="1200" b="1" dirty="0"/>
              <a:t>JavaScript y VBScript:</a:t>
            </a:r>
            <a:r>
              <a:rPr lang="es-MX" sz="1200" dirty="0"/>
              <a:t> empleados para scripts rápidos de interacción con sistemas.</a:t>
            </a:r>
          </a:p>
          <a:p>
            <a:pPr marL="171450" lvl="1" indent="-171450">
              <a:buFont typeface="Arial" panose="020B0604020202020204" pitchFamily="34" charset="0"/>
              <a:buChar char="•"/>
            </a:pPr>
            <a:r>
              <a:rPr lang="es-MX" sz="1200" b="1" dirty="0"/>
              <a:t>Java:</a:t>
            </a:r>
            <a:r>
              <a:rPr lang="es-MX" sz="1200" dirty="0"/>
              <a:t> útil en entornos corporativos y en integraciones multiplataforma.</a:t>
            </a:r>
          </a:p>
          <a:p>
            <a:r>
              <a:rPr lang="es-MX" b="1" dirty="0"/>
              <a:t>Entornos de desarrollo:</a:t>
            </a:r>
            <a:endParaRPr lang="es-MX" dirty="0"/>
          </a:p>
          <a:p>
            <a:pPr marL="285750" lvl="1" indent="-285750">
              <a:buFont typeface="Arial" panose="020B0604020202020204" pitchFamily="34" charset="0"/>
              <a:buChar char="•"/>
            </a:pPr>
            <a:r>
              <a:rPr lang="es-MX" b="1" dirty="0" err="1"/>
              <a:t>UiPath</a:t>
            </a:r>
            <a:r>
              <a:rPr lang="es-MX" b="1" dirty="0"/>
              <a:t> Studio, Blue </a:t>
            </a:r>
            <a:r>
              <a:rPr lang="es-MX" b="1" dirty="0" err="1"/>
              <a:t>Prism</a:t>
            </a:r>
            <a:r>
              <a:rPr lang="es-MX" b="1" dirty="0"/>
              <a:t> </a:t>
            </a:r>
            <a:r>
              <a:rPr lang="es-MX" b="1" dirty="0" err="1"/>
              <a:t>Designer</a:t>
            </a:r>
            <a:r>
              <a:rPr lang="es-MX" b="1" dirty="0"/>
              <a:t>, </a:t>
            </a:r>
            <a:r>
              <a:rPr lang="es-MX" b="1" dirty="0" err="1"/>
              <a:t>Automation</a:t>
            </a:r>
            <a:r>
              <a:rPr lang="es-MX" b="1" dirty="0"/>
              <a:t> </a:t>
            </a:r>
            <a:r>
              <a:rPr lang="es-MX" b="1" dirty="0" err="1"/>
              <a:t>Anywhere</a:t>
            </a:r>
            <a:r>
              <a:rPr lang="es-MX" b="1" dirty="0"/>
              <a:t> A2019</a:t>
            </a:r>
            <a:r>
              <a:rPr lang="es-MX" dirty="0"/>
              <a:t>: entornos gráficos donde se construyen los flujos de trabajo.</a:t>
            </a:r>
          </a:p>
          <a:p>
            <a:pPr marL="285750" lvl="1" indent="-285750">
              <a:buFont typeface="Arial" panose="020B0604020202020204" pitchFamily="34" charset="0"/>
              <a:buChar char="•"/>
            </a:pPr>
            <a:r>
              <a:rPr lang="es-MX" b="1" dirty="0"/>
              <a:t>IDE externos (Visual Studio, </a:t>
            </a:r>
            <a:r>
              <a:rPr lang="es-MX" b="1" dirty="0" err="1"/>
              <a:t>PyCharm</a:t>
            </a:r>
            <a:r>
              <a:rPr lang="es-MX" b="1" dirty="0"/>
              <a:t>, Eclipse):</a:t>
            </a:r>
            <a:r>
              <a:rPr lang="es-MX" dirty="0"/>
              <a:t> usados cuando se requieren librerías avanzadas o código personalizado.</a:t>
            </a:r>
          </a:p>
          <a:p>
            <a:pPr marL="285750" lvl="1" indent="-285750">
              <a:buFont typeface="Arial" panose="020B0604020202020204" pitchFamily="34" charset="0"/>
              <a:buChar char="•"/>
            </a:pPr>
            <a:r>
              <a:rPr lang="es-MX" b="1" dirty="0"/>
              <a:t>Entornos en la nube (Microsoft </a:t>
            </a:r>
            <a:r>
              <a:rPr lang="es-MX" b="1" dirty="0" err="1"/>
              <a:t>Power</a:t>
            </a:r>
            <a:r>
              <a:rPr lang="es-MX" b="1" dirty="0"/>
              <a:t> </a:t>
            </a:r>
            <a:r>
              <a:rPr lang="es-MX" b="1" dirty="0" err="1"/>
              <a:t>Automate</a:t>
            </a:r>
            <a:r>
              <a:rPr lang="es-MX" b="1" dirty="0"/>
              <a:t>, </a:t>
            </a:r>
            <a:r>
              <a:rPr lang="es-MX" b="1" dirty="0" err="1"/>
              <a:t>Automation</a:t>
            </a:r>
            <a:r>
              <a:rPr lang="es-MX" b="1" dirty="0"/>
              <a:t> </a:t>
            </a:r>
            <a:r>
              <a:rPr lang="es-MX" b="1" dirty="0" err="1"/>
              <a:t>Anywhere</a:t>
            </a:r>
            <a:r>
              <a:rPr lang="es-MX" b="1" dirty="0"/>
              <a:t> Cloud):</a:t>
            </a:r>
            <a:r>
              <a:rPr lang="es-MX" dirty="0"/>
              <a:t> que permiten crear, desplegar y monitorear robots de manera centralizada sin infraestructura local.</a:t>
            </a:r>
          </a:p>
          <a:p>
            <a:r>
              <a:rPr lang="es-MX" dirty="0"/>
              <a:t>En síntesis, RPA se apoya en entornos visuales accesibles, pero aprovecha el poder de lenguajes tradicionales para dotar de flexibilidad y escalabilidad a los proyectos.</a:t>
            </a:r>
          </a:p>
          <a:p>
            <a:endParaRPr lang="es-MX" sz="1800" dirty="0"/>
          </a:p>
        </p:txBody>
      </p:sp>
    </p:spTree>
    <p:extLst>
      <p:ext uri="{BB962C8B-B14F-4D97-AF65-F5344CB8AC3E}">
        <p14:creationId xmlns:p14="http://schemas.microsoft.com/office/powerpoint/2010/main" val="2936682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CD2E34C0-FFEA-26A4-59ED-B7C5FDFBECD7}"/>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C9209AE4-4379-0931-2AE7-82A1BD190E7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4C1202B5-0BD8-BF50-C1B7-BDED3AB7380A}"/>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Herramientas y tecnologías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3F8E5C38-0CA8-63E6-A941-CB2ADEF5E2CF}"/>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Integración de RPA con Inteligencia Artificial y Machine </a:t>
            </a:r>
            <a:r>
              <a:rPr lang="es-MX" sz="1800" b="1" dirty="0" err="1"/>
              <a:t>Learning</a:t>
            </a:r>
            <a:endParaRPr lang="es-MX" sz="1800" b="1" dirty="0"/>
          </a:p>
          <a:p>
            <a:r>
              <a:rPr lang="es-MX" sz="1800" dirty="0"/>
              <a:t>Aunque el RPA tradicional se limita a tareas </a:t>
            </a:r>
            <a:r>
              <a:rPr lang="es-MX" sz="1800" b="1" dirty="0"/>
              <a:t>estructuradas y basadas en reglas</a:t>
            </a:r>
            <a:r>
              <a:rPr lang="es-MX" sz="1800" dirty="0"/>
              <a:t>, su verdadero potencial emerge al integrarse con </a:t>
            </a:r>
            <a:r>
              <a:rPr lang="es-MX" sz="1800" b="1" dirty="0"/>
              <a:t>Inteligencia Artificial (IA) y Machine </a:t>
            </a:r>
            <a:r>
              <a:rPr lang="es-MX" sz="1800" b="1" dirty="0" err="1"/>
              <a:t>Learning</a:t>
            </a:r>
            <a:r>
              <a:rPr lang="es-MX" sz="1800" b="1" dirty="0"/>
              <a:t> (ML)</a:t>
            </a:r>
            <a:r>
              <a:rPr lang="es-MX" sz="1800" dirty="0"/>
              <a:t>.</a:t>
            </a:r>
          </a:p>
          <a:p>
            <a:pPr marL="285750" indent="-285750">
              <a:buFont typeface="Arial" panose="020B0604020202020204" pitchFamily="34" charset="0"/>
              <a:buChar char="•"/>
            </a:pPr>
            <a:r>
              <a:rPr lang="es-MX" b="1" dirty="0"/>
              <a:t>Procesamiento de documentos (</a:t>
            </a:r>
            <a:r>
              <a:rPr lang="es-MX" b="1" dirty="0" err="1"/>
              <a:t>Document</a:t>
            </a:r>
            <a:r>
              <a:rPr lang="es-MX" b="1" dirty="0"/>
              <a:t> </a:t>
            </a:r>
            <a:r>
              <a:rPr lang="es-MX" b="1" dirty="0" err="1"/>
              <a:t>Understanding</a:t>
            </a:r>
            <a:r>
              <a:rPr lang="es-MX" b="1" dirty="0"/>
              <a:t>):</a:t>
            </a:r>
            <a:r>
              <a:rPr lang="es-MX" dirty="0"/>
              <a:t> los </a:t>
            </a:r>
            <a:r>
              <a:rPr lang="es-MX" dirty="0" err="1"/>
              <a:t>bots</a:t>
            </a:r>
            <a:r>
              <a:rPr lang="es-MX" dirty="0"/>
              <a:t> utilizan OCR avanzado y ML para extraer datos de facturas, contratos o correos electrónicos.</a:t>
            </a:r>
          </a:p>
          <a:p>
            <a:pPr marL="285750" indent="-285750">
              <a:buFont typeface="Arial" panose="020B0604020202020204" pitchFamily="34" charset="0"/>
              <a:buChar char="•"/>
            </a:pPr>
            <a:r>
              <a:rPr lang="es-MX" b="1" dirty="0"/>
              <a:t>NLP (Natural </a:t>
            </a:r>
            <a:r>
              <a:rPr lang="es-MX" b="1" dirty="0" err="1"/>
              <a:t>Language</a:t>
            </a:r>
            <a:r>
              <a:rPr lang="es-MX" b="1" dirty="0"/>
              <a:t> Processing):</a:t>
            </a:r>
            <a:r>
              <a:rPr lang="es-MX" dirty="0"/>
              <a:t> permite a los robots comprender el lenguaje humano, responder solicitudes y clasificar correos o tickets de soporte.</a:t>
            </a:r>
          </a:p>
          <a:p>
            <a:pPr marL="285750" indent="-285750">
              <a:buFont typeface="Arial" panose="020B0604020202020204" pitchFamily="34" charset="0"/>
              <a:buChar char="•"/>
            </a:pPr>
            <a:r>
              <a:rPr lang="es-MX" b="1" dirty="0" err="1"/>
              <a:t>Computer</a:t>
            </a:r>
            <a:r>
              <a:rPr lang="es-MX" b="1" dirty="0"/>
              <a:t> </a:t>
            </a:r>
            <a:r>
              <a:rPr lang="es-MX" b="1" dirty="0" err="1"/>
              <a:t>Vision</a:t>
            </a:r>
            <a:r>
              <a:rPr lang="es-MX" b="1" dirty="0"/>
              <a:t>:</a:t>
            </a:r>
            <a:r>
              <a:rPr lang="es-MX" dirty="0"/>
              <a:t> integración de visión artificial para reconocer patrones en pantallas complejas, imágenes o documentos no estructurados.</a:t>
            </a:r>
          </a:p>
          <a:p>
            <a:pPr marL="285750" indent="-285750">
              <a:buFont typeface="Arial" panose="020B0604020202020204" pitchFamily="34" charset="0"/>
              <a:buChar char="•"/>
            </a:pPr>
            <a:r>
              <a:rPr lang="es-MX" b="1" dirty="0"/>
              <a:t>Análisis predictivo:</a:t>
            </a:r>
            <a:r>
              <a:rPr lang="es-MX" dirty="0"/>
              <a:t> con modelos de ML, los </a:t>
            </a:r>
            <a:r>
              <a:rPr lang="es-MX" dirty="0" err="1"/>
              <a:t>bots</a:t>
            </a:r>
            <a:r>
              <a:rPr lang="es-MX" dirty="0"/>
              <a:t> no solo ejecutan instrucciones, sino que también pueden predecir tendencias, detectar fraudes o priorizar casos según el riesgo.</a:t>
            </a:r>
          </a:p>
          <a:p>
            <a:pPr marL="285750" indent="-285750">
              <a:buFont typeface="Arial" panose="020B0604020202020204" pitchFamily="34" charset="0"/>
              <a:buChar char="•"/>
            </a:pPr>
            <a:r>
              <a:rPr lang="es-MX" b="1" dirty="0" err="1"/>
              <a:t>Chatbots</a:t>
            </a:r>
            <a:r>
              <a:rPr lang="es-MX" b="1" dirty="0"/>
              <a:t> inteligentes:</a:t>
            </a:r>
            <a:r>
              <a:rPr lang="es-MX" dirty="0"/>
              <a:t> combinación de RPA con asistentes virtuales para automatizar interacciones de servicio al cliente y conectar con sistemas internos.</a:t>
            </a:r>
          </a:p>
          <a:p>
            <a:r>
              <a:rPr lang="es-MX" sz="1800" dirty="0"/>
              <a:t>Esta convergencia entre RPA e IA ha dado origen a la </a:t>
            </a:r>
            <a:r>
              <a:rPr lang="es-MX" sz="1800" b="1" dirty="0" err="1"/>
              <a:t>hiperautomatización</a:t>
            </a:r>
            <a:r>
              <a:rPr lang="es-MX" sz="1800" dirty="0"/>
              <a:t>, donde los robots no solo imitan al humano, sino que además </a:t>
            </a:r>
            <a:r>
              <a:rPr lang="es-MX" sz="1800" b="1" dirty="0"/>
              <a:t>piensan y deciden</a:t>
            </a:r>
            <a:r>
              <a:rPr lang="es-MX" sz="1800" dirty="0"/>
              <a:t> con base en datos.</a:t>
            </a:r>
          </a:p>
          <a:p>
            <a:endParaRPr lang="es-MX" sz="1800" dirty="0"/>
          </a:p>
        </p:txBody>
      </p:sp>
    </p:spTree>
    <p:extLst>
      <p:ext uri="{BB962C8B-B14F-4D97-AF65-F5344CB8AC3E}">
        <p14:creationId xmlns:p14="http://schemas.microsoft.com/office/powerpoint/2010/main" val="512493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9B39B732-92D7-8035-4128-0949CC0C5490}"/>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2DBBCFE-B2DC-10AD-A6E4-AD9977AAADB3}"/>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27D3BE01-2DFE-9FD2-A8EA-AB8AF7DD507F}"/>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t>Herramientas y tecnologías RPA</a:t>
            </a:r>
            <a:endParaRPr sz="1800" b="1" dirty="0">
              <a:solidFill>
                <a:schemeClr val="dk1"/>
              </a:solidFill>
            </a:endParaRPr>
          </a:p>
        </p:txBody>
      </p:sp>
      <p:sp>
        <p:nvSpPr>
          <p:cNvPr id="64" name="Google Shape;64;g34156db3297_0_18">
            <a:extLst>
              <a:ext uri="{FF2B5EF4-FFF2-40B4-BE49-F238E27FC236}">
                <a16:creationId xmlns:a16="http://schemas.microsoft.com/office/drawing/2014/main" id="{0DD8080E-4F5E-B609-A823-93D2F8E0E850}"/>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Tendencias emergentes en el mercado de RPA</a:t>
            </a:r>
          </a:p>
          <a:p>
            <a:r>
              <a:rPr lang="es-MX" sz="1800" dirty="0"/>
              <a:t>El mercado de la automatización está en constante evolución, impulsado por la necesidad de mayor eficiencia y competitividad. Entre las principales tendencias destacan:</a:t>
            </a:r>
          </a:p>
          <a:p>
            <a:r>
              <a:rPr lang="es-MX" b="1" dirty="0"/>
              <a:t>RPA en la nube (Cloud RPA):</a:t>
            </a:r>
            <a:r>
              <a:rPr lang="es-MX" dirty="0"/>
              <a:t> adopción de modelos SaaS que reducen costos de infraestructura y permiten despliegues más rápidos.</a:t>
            </a:r>
          </a:p>
          <a:p>
            <a:r>
              <a:rPr lang="es-MX" b="1" dirty="0" err="1"/>
              <a:t>Hiperautomatización</a:t>
            </a:r>
            <a:r>
              <a:rPr lang="es-MX" b="1" dirty="0"/>
              <a:t>:</a:t>
            </a:r>
            <a:r>
              <a:rPr lang="es-MX" dirty="0"/>
              <a:t> integración de RPA con IA, ML, BPM y minería de procesos (</a:t>
            </a:r>
            <a:r>
              <a:rPr lang="es-MX" i="1" dirty="0" err="1"/>
              <a:t>process</a:t>
            </a:r>
            <a:r>
              <a:rPr lang="es-MX" i="1" dirty="0"/>
              <a:t> </a:t>
            </a:r>
            <a:r>
              <a:rPr lang="es-MX" i="1" dirty="0" err="1"/>
              <a:t>mining</a:t>
            </a:r>
            <a:r>
              <a:rPr lang="es-MX" dirty="0"/>
              <a:t>) para automatizar flujos completos de negocio.</a:t>
            </a:r>
          </a:p>
          <a:p>
            <a:r>
              <a:rPr lang="es-MX" b="1" dirty="0" err="1"/>
              <a:t>Citizen</a:t>
            </a:r>
            <a:r>
              <a:rPr lang="es-MX" b="1" dirty="0"/>
              <a:t> </a:t>
            </a:r>
            <a:r>
              <a:rPr lang="es-MX" b="1" dirty="0" err="1"/>
              <a:t>development</a:t>
            </a:r>
            <a:r>
              <a:rPr lang="es-MX" b="1" dirty="0"/>
              <a:t>:</a:t>
            </a:r>
            <a:r>
              <a:rPr lang="es-MX" dirty="0"/>
              <a:t> democratización de la automatización, donde empleados no técnicos pueden crear </a:t>
            </a:r>
            <a:r>
              <a:rPr lang="es-MX" dirty="0" err="1"/>
              <a:t>bots</a:t>
            </a:r>
            <a:r>
              <a:rPr lang="es-MX" dirty="0"/>
              <a:t> con plataformas de bajo código.</a:t>
            </a:r>
          </a:p>
          <a:p>
            <a:r>
              <a:rPr lang="es-MX" b="1" dirty="0"/>
              <a:t>Automatización resiliente:</a:t>
            </a:r>
            <a:r>
              <a:rPr lang="es-MX" dirty="0"/>
              <a:t> robots con capacidades de </a:t>
            </a:r>
            <a:r>
              <a:rPr lang="es-MX" i="1" dirty="0" err="1"/>
              <a:t>computer</a:t>
            </a:r>
            <a:r>
              <a:rPr lang="es-MX" i="1" dirty="0"/>
              <a:t> </a:t>
            </a:r>
            <a:r>
              <a:rPr lang="es-MX" i="1" dirty="0" err="1"/>
              <a:t>vision</a:t>
            </a:r>
            <a:r>
              <a:rPr lang="es-MX" dirty="0"/>
              <a:t> y aprendizaje, capaces de adaptarse a cambios en interfaces sin necesidad de reprogramación constante.</a:t>
            </a:r>
          </a:p>
          <a:p>
            <a:r>
              <a:rPr lang="es-MX" b="1" dirty="0"/>
              <a:t>RPA inteligente (</a:t>
            </a:r>
            <a:r>
              <a:rPr lang="es-MX" b="1" dirty="0" err="1"/>
              <a:t>Intelligent</a:t>
            </a:r>
            <a:r>
              <a:rPr lang="es-MX" b="1" dirty="0"/>
              <a:t> </a:t>
            </a:r>
            <a:r>
              <a:rPr lang="es-MX" b="1" dirty="0" err="1"/>
              <a:t>Automation</a:t>
            </a:r>
            <a:r>
              <a:rPr lang="es-MX" b="1" dirty="0"/>
              <a:t>):</a:t>
            </a:r>
            <a:r>
              <a:rPr lang="es-MX" dirty="0"/>
              <a:t> combinación de RPA con analítica avanzada y algoritmos cognitivos para procesos de toma de decisiones.</a:t>
            </a:r>
          </a:p>
          <a:p>
            <a:r>
              <a:rPr lang="es-MX" b="1" dirty="0"/>
              <a:t>Gobernanza y </a:t>
            </a:r>
            <a:r>
              <a:rPr lang="es-MX" b="1" dirty="0" err="1"/>
              <a:t>compliance</a:t>
            </a:r>
            <a:r>
              <a:rPr lang="es-MX" b="1" dirty="0"/>
              <a:t> reforzados:</a:t>
            </a:r>
            <a:r>
              <a:rPr lang="es-MX" dirty="0"/>
              <a:t> mayor atención a la seguridad, trazabilidad y regulación en entornos automatizados.</a:t>
            </a:r>
          </a:p>
          <a:p>
            <a:r>
              <a:rPr lang="es-MX" b="1" dirty="0"/>
              <a:t>Integración con DevOps y CI/CD:</a:t>
            </a:r>
            <a:r>
              <a:rPr lang="es-MX" dirty="0"/>
              <a:t> despliegue de robots mediante pipelines de desarrollo continuo, alineando la automatización con prácticas ágiles.</a:t>
            </a:r>
          </a:p>
          <a:p>
            <a:endParaRPr lang="es-MX" sz="1800" dirty="0"/>
          </a:p>
        </p:txBody>
      </p:sp>
    </p:spTree>
    <p:extLst>
      <p:ext uri="{BB962C8B-B14F-4D97-AF65-F5344CB8AC3E}">
        <p14:creationId xmlns:p14="http://schemas.microsoft.com/office/powerpoint/2010/main" val="3234562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g304ea773802_0_1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9" name="Google Shape;99;g304ea773802_0_16"/>
          <p:cNvSpPr txBox="1"/>
          <p:nvPr/>
        </p:nvSpPr>
        <p:spPr>
          <a:xfrm>
            <a:off x="2431900" y="163150"/>
            <a:ext cx="3434100" cy="59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dirty="0">
                <a:solidFill>
                  <a:schemeClr val="dk1"/>
                </a:solidFill>
              </a:rPr>
              <a:t>Conceptos de ética y seguridad en proyectos RPA.</a:t>
            </a:r>
            <a:endParaRPr sz="1800" b="1" dirty="0">
              <a:solidFill>
                <a:schemeClr val="dk1"/>
              </a:solidFill>
            </a:endParaRPr>
          </a:p>
        </p:txBody>
      </p:sp>
      <p:sp>
        <p:nvSpPr>
          <p:cNvPr id="100" name="Google Shape;100;g304ea773802_0_16"/>
          <p:cNvSpPr txBox="1"/>
          <p:nvPr/>
        </p:nvSpPr>
        <p:spPr>
          <a:xfrm>
            <a:off x="8450" y="831325"/>
            <a:ext cx="4413300" cy="38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Conceptos de </a:t>
            </a:r>
            <a:r>
              <a:rPr lang="es" sz="1800" b="1">
                <a:solidFill>
                  <a:schemeClr val="dk1"/>
                </a:solidFill>
              </a:rPr>
              <a:t>Ética</a:t>
            </a:r>
            <a:r>
              <a:rPr lang="es" sz="1800">
                <a:solidFill>
                  <a:schemeClr val="dk1"/>
                </a:solidFill>
              </a:rPr>
              <a:t> en proyectos RPA</a:t>
            </a:r>
            <a:endParaRPr sz="1800">
              <a:solidFill>
                <a:schemeClr val="dk1"/>
              </a:solidFill>
            </a:endParaRPr>
          </a:p>
        </p:txBody>
      </p:sp>
      <p:sp>
        <p:nvSpPr>
          <p:cNvPr id="101" name="Google Shape;101;g304ea773802_0_16"/>
          <p:cNvSpPr txBox="1"/>
          <p:nvPr/>
        </p:nvSpPr>
        <p:spPr>
          <a:xfrm>
            <a:off x="31075" y="1297525"/>
            <a:ext cx="9059400" cy="37917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Char char="●"/>
            </a:pPr>
            <a:r>
              <a:rPr lang="es" sz="1800" b="1">
                <a:solidFill>
                  <a:schemeClr val="dk1"/>
                </a:solidFill>
              </a:rPr>
              <a:t>Transparencia:</a:t>
            </a:r>
            <a:r>
              <a:rPr lang="es" sz="1800">
                <a:solidFill>
                  <a:schemeClr val="dk1"/>
                </a:solidFill>
              </a:rPr>
              <a:t> Informar a los empleados, clientes y stakeholders sobre qué procesos están siendo automatizados, y qué decisiones son tomadas por robots.</a:t>
            </a:r>
            <a:endParaRPr sz="1800">
              <a:solidFill>
                <a:schemeClr val="dk1"/>
              </a:solidFill>
            </a:endParaRPr>
          </a:p>
          <a:p>
            <a:pPr marL="457200" lvl="0" indent="0" algn="just" rtl="0">
              <a:spcBef>
                <a:spcPts val="0"/>
              </a:spcBef>
              <a:spcAft>
                <a:spcPts val="0"/>
              </a:spcAft>
              <a:buNone/>
            </a:pPr>
            <a:endParaRPr sz="1800">
              <a:solidFill>
                <a:schemeClr val="dk1"/>
              </a:solidFill>
            </a:endParaRPr>
          </a:p>
          <a:p>
            <a:pPr marL="457200" lvl="0" indent="-342900" algn="just" rtl="0">
              <a:spcBef>
                <a:spcPts val="0"/>
              </a:spcBef>
              <a:spcAft>
                <a:spcPts val="0"/>
              </a:spcAft>
              <a:buClr>
                <a:schemeClr val="dk1"/>
              </a:buClr>
              <a:buSzPts val="1800"/>
              <a:buChar char="●"/>
            </a:pPr>
            <a:r>
              <a:rPr lang="es" sz="1800" b="1">
                <a:solidFill>
                  <a:schemeClr val="dk1"/>
                </a:solidFill>
              </a:rPr>
              <a:t>Impacto laboral:</a:t>
            </a:r>
            <a:r>
              <a:rPr lang="es" sz="1800">
                <a:solidFill>
                  <a:schemeClr val="dk1"/>
                </a:solidFill>
              </a:rPr>
              <a:t> Evaluar cómo afectará la automatización a los trabajadores (por ejemplo, ¿se reasignarán a tareas de mayor valor o se eliminarán puestos de trabajo?).</a:t>
            </a:r>
            <a:endParaRPr sz="1800">
              <a:solidFill>
                <a:schemeClr val="dk1"/>
              </a:solidFill>
            </a:endParaRPr>
          </a:p>
          <a:p>
            <a:pPr marL="457200" lvl="0" indent="0" algn="just" rtl="0">
              <a:spcBef>
                <a:spcPts val="0"/>
              </a:spcBef>
              <a:spcAft>
                <a:spcPts val="0"/>
              </a:spcAft>
              <a:buNone/>
            </a:pPr>
            <a:endParaRPr sz="1800">
              <a:solidFill>
                <a:schemeClr val="dk1"/>
              </a:solidFill>
            </a:endParaRPr>
          </a:p>
          <a:p>
            <a:pPr marL="457200" lvl="0" indent="-342900" algn="just" rtl="0">
              <a:spcBef>
                <a:spcPts val="0"/>
              </a:spcBef>
              <a:spcAft>
                <a:spcPts val="0"/>
              </a:spcAft>
              <a:buClr>
                <a:schemeClr val="dk1"/>
              </a:buClr>
              <a:buSzPts val="1800"/>
              <a:buChar char="●"/>
            </a:pPr>
            <a:r>
              <a:rPr lang="es" sz="1800" b="1">
                <a:solidFill>
                  <a:schemeClr val="dk1"/>
                </a:solidFill>
              </a:rPr>
              <a:t>Responsabilidad:</a:t>
            </a:r>
            <a:r>
              <a:rPr lang="es" sz="1800">
                <a:solidFill>
                  <a:schemeClr val="dk1"/>
                </a:solidFill>
              </a:rPr>
              <a:t> Definir claramente quién es responsable si un robot falla o toma una decisión incorrecta.</a:t>
            </a:r>
            <a:endParaRPr sz="1800">
              <a:solidFill>
                <a:schemeClr val="dk1"/>
              </a:solidFill>
            </a:endParaRPr>
          </a:p>
          <a:p>
            <a:pPr marL="457200" lvl="0" indent="0" algn="just" rtl="0">
              <a:spcBef>
                <a:spcPts val="0"/>
              </a:spcBef>
              <a:spcAft>
                <a:spcPts val="0"/>
              </a:spcAft>
              <a:buNone/>
            </a:pPr>
            <a:endParaRPr sz="1800">
              <a:solidFill>
                <a:schemeClr val="dk1"/>
              </a:solidFill>
            </a:endParaRPr>
          </a:p>
          <a:p>
            <a:pPr marL="457200" lvl="0" indent="-342900" algn="just" rtl="0">
              <a:spcBef>
                <a:spcPts val="0"/>
              </a:spcBef>
              <a:spcAft>
                <a:spcPts val="0"/>
              </a:spcAft>
              <a:buClr>
                <a:schemeClr val="dk1"/>
              </a:buClr>
              <a:buSzPts val="1800"/>
              <a:buChar char="●"/>
            </a:pPr>
            <a:r>
              <a:rPr lang="es" sz="1800" b="1">
                <a:solidFill>
                  <a:schemeClr val="dk1"/>
                </a:solidFill>
              </a:rPr>
              <a:t>Justicia y no discriminación</a:t>
            </a:r>
            <a:r>
              <a:rPr lang="es" sz="1800">
                <a:solidFill>
                  <a:schemeClr val="dk1"/>
                </a:solidFill>
              </a:rPr>
              <a:t>: Asegurar que los bots no perpetúen sesgos o traten de manera injusta a los usuarios, especialmente si integran IA.</a:t>
            </a:r>
            <a:endParaRPr sz="1800">
              <a:solidFill>
                <a:schemeClr val="dk1"/>
              </a:solidFill>
            </a:endParaRPr>
          </a:p>
          <a:p>
            <a:pPr marL="0" lvl="0" indent="0" algn="just" rtl="0">
              <a:spcBef>
                <a:spcPts val="0"/>
              </a:spcBef>
              <a:spcAft>
                <a:spcPts val="0"/>
              </a:spcAft>
              <a:buNone/>
            </a:pPr>
            <a:endParaRPr sz="1800">
              <a:solidFill>
                <a:schemeClr val="dk1"/>
              </a:solidFill>
            </a:endParaRPr>
          </a:p>
          <a:p>
            <a:pPr marL="457200" lvl="0" indent="0" algn="just" rtl="0">
              <a:spcBef>
                <a:spcPts val="0"/>
              </a:spcBef>
              <a:spcAft>
                <a:spcPts val="0"/>
              </a:spcAft>
              <a:buNone/>
            </a:pPr>
            <a:endParaRPr sz="1800">
              <a:solidFill>
                <a:schemeClr val="dk1"/>
              </a:solidFill>
            </a:endParaRPr>
          </a:p>
          <a:p>
            <a:pPr marL="457200" lvl="0" indent="0" algn="just" rtl="0">
              <a:spcBef>
                <a:spcPts val="0"/>
              </a:spcBef>
              <a:spcAft>
                <a:spcPts val="0"/>
              </a:spcAft>
              <a:buNone/>
            </a:pP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g304ea773802_0_2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7" name="Google Shape;107;g304ea773802_0_20"/>
          <p:cNvSpPr txBox="1"/>
          <p:nvPr/>
        </p:nvSpPr>
        <p:spPr>
          <a:xfrm>
            <a:off x="31075" y="808050"/>
            <a:ext cx="9075000" cy="14685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s" sz="1800" b="1">
                <a:solidFill>
                  <a:schemeClr val="dk1"/>
                </a:solidFill>
              </a:rPr>
              <a:t>Consentimiento y derechos humanos:</a:t>
            </a:r>
            <a:r>
              <a:rPr lang="es" sz="1800">
                <a:solidFill>
                  <a:schemeClr val="dk1"/>
                </a:solidFill>
              </a:rPr>
              <a:t> Respetar la privacidad de las personas y obtener su consentimiento cuando corresponda (por ejemplo, en el uso de datos personales).</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Sostenibilidad:</a:t>
            </a:r>
            <a:r>
              <a:rPr lang="es" sz="1800">
                <a:solidFill>
                  <a:schemeClr val="dk1"/>
                </a:solidFill>
              </a:rPr>
              <a:t> Analizar el impacto de la automatización en el bienestar a largo plazo de la organización y la sociedad.</a:t>
            </a:r>
            <a:endParaRPr sz="1800">
              <a:solidFill>
                <a:schemeClr val="dk1"/>
              </a:solidFill>
            </a:endParaRPr>
          </a:p>
          <a:p>
            <a:pPr marL="457200" lvl="0" indent="0" algn="l" rtl="0">
              <a:spcBef>
                <a:spcPts val="0"/>
              </a:spcBef>
              <a:spcAft>
                <a:spcPts val="0"/>
              </a:spcAft>
              <a:buNone/>
            </a:pPr>
            <a:endParaRPr sz="1800">
              <a:solidFill>
                <a:schemeClr val="dk1"/>
              </a:solidFill>
            </a:endParaRPr>
          </a:p>
        </p:txBody>
      </p:sp>
      <p:sp>
        <p:nvSpPr>
          <p:cNvPr id="108" name="Google Shape;108;g304ea773802_0_20"/>
          <p:cNvSpPr txBox="1"/>
          <p:nvPr/>
        </p:nvSpPr>
        <p:spPr>
          <a:xfrm>
            <a:off x="46625" y="2408600"/>
            <a:ext cx="8973900" cy="266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a:solidFill>
                  <a:schemeClr val="dk1"/>
                </a:solidFill>
              </a:rPr>
              <a:t>Conceptos de </a:t>
            </a:r>
            <a:r>
              <a:rPr lang="es" sz="1800" b="1">
                <a:solidFill>
                  <a:schemeClr val="dk1"/>
                </a:solidFill>
              </a:rPr>
              <a:t>Seguridad</a:t>
            </a:r>
            <a:r>
              <a:rPr lang="es" sz="1800">
                <a:solidFill>
                  <a:schemeClr val="dk1"/>
                </a:solidFill>
              </a:rPr>
              <a:t> en proyectos RPA</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just" rtl="0">
              <a:spcBef>
                <a:spcPts val="0"/>
              </a:spcBef>
              <a:spcAft>
                <a:spcPts val="0"/>
              </a:spcAft>
              <a:buClr>
                <a:schemeClr val="dk1"/>
              </a:buClr>
              <a:buSzPts val="1800"/>
              <a:buChar char="●"/>
            </a:pPr>
            <a:r>
              <a:rPr lang="es" sz="1800" b="1">
                <a:solidFill>
                  <a:schemeClr val="dk1"/>
                </a:solidFill>
              </a:rPr>
              <a:t>Gestión de credenciales:</a:t>
            </a:r>
            <a:r>
              <a:rPr lang="es" sz="1800">
                <a:solidFill>
                  <a:schemeClr val="dk1"/>
                </a:solidFill>
              </a:rPr>
              <a:t> Usar herramientas seguras (como vaults o bóvedas digitales) para almacenar y gestionar las credenciales que usan los bots, evitando contraseñas duras en el código.</a:t>
            </a:r>
            <a:endParaRPr sz="1800">
              <a:solidFill>
                <a:schemeClr val="dk1"/>
              </a:solidFill>
            </a:endParaRPr>
          </a:p>
          <a:p>
            <a:pPr marL="457200" lvl="0" indent="0" algn="just" rtl="0">
              <a:spcBef>
                <a:spcPts val="0"/>
              </a:spcBef>
              <a:spcAft>
                <a:spcPts val="0"/>
              </a:spcAft>
              <a:buNone/>
            </a:pPr>
            <a:endParaRPr sz="1800">
              <a:solidFill>
                <a:schemeClr val="dk1"/>
              </a:solidFill>
            </a:endParaRPr>
          </a:p>
          <a:p>
            <a:pPr marL="457200" lvl="0" indent="-342900" algn="just" rtl="0">
              <a:spcBef>
                <a:spcPts val="0"/>
              </a:spcBef>
              <a:spcAft>
                <a:spcPts val="0"/>
              </a:spcAft>
              <a:buClr>
                <a:schemeClr val="dk1"/>
              </a:buClr>
              <a:buSzPts val="1800"/>
              <a:buChar char="●"/>
            </a:pPr>
            <a:r>
              <a:rPr lang="es" sz="1800" b="1">
                <a:solidFill>
                  <a:schemeClr val="dk1"/>
                </a:solidFill>
              </a:rPr>
              <a:t>Acceso mínimo necesario ("principle of least privilege"):</a:t>
            </a:r>
            <a:r>
              <a:rPr lang="es" sz="1800">
                <a:solidFill>
                  <a:schemeClr val="dk1"/>
                </a:solidFill>
              </a:rPr>
              <a:t> Configurar los bots para que tengan solo el acceso estrictamente necesario para ejecutar sus tareas.</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sp>
        <p:nvSpPr>
          <p:cNvPr id="2" name="Google Shape;99;g304ea773802_0_16">
            <a:extLst>
              <a:ext uri="{FF2B5EF4-FFF2-40B4-BE49-F238E27FC236}">
                <a16:creationId xmlns:a16="http://schemas.microsoft.com/office/drawing/2014/main" id="{C65C6B74-9AFD-DF07-139E-03EF77CC91DA}"/>
              </a:ext>
            </a:extLst>
          </p:cNvPr>
          <p:cNvSpPr txBox="1"/>
          <p:nvPr/>
        </p:nvSpPr>
        <p:spPr>
          <a:xfrm>
            <a:off x="2431900" y="163150"/>
            <a:ext cx="3434100" cy="59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dirty="0">
                <a:solidFill>
                  <a:schemeClr val="dk1"/>
                </a:solidFill>
              </a:rPr>
              <a:t>Conceptos de ética y seguridad en proyectos RPA.</a:t>
            </a:r>
            <a:endParaRPr sz="1800" b="1" dirty="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g304ea773802_0_2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4" name="Google Shape;114;g304ea773802_0_24"/>
          <p:cNvSpPr txBox="1"/>
          <p:nvPr/>
        </p:nvSpPr>
        <p:spPr>
          <a:xfrm>
            <a:off x="31075" y="598250"/>
            <a:ext cx="9075000" cy="44910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Autenticación y autorización:</a:t>
            </a:r>
            <a:r>
              <a:rPr lang="es" sz="1800">
                <a:solidFill>
                  <a:schemeClr val="dk1"/>
                </a:solidFill>
              </a:rPr>
              <a:t> Implementar mecanismos sólidos de autenticación (por ejemplo, autenticación multifactor) y controles de autorización granulares.</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Auditoría y trazabilidad:</a:t>
            </a:r>
            <a:r>
              <a:rPr lang="es" sz="1800">
                <a:solidFill>
                  <a:schemeClr val="dk1"/>
                </a:solidFill>
              </a:rPr>
              <a:t> Registrar y supervisar todas las acciones de los bots para que cualquier actividad pueda ser auditada posteriormente.</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Protección de datos:</a:t>
            </a:r>
            <a:r>
              <a:rPr lang="es" sz="1800">
                <a:solidFill>
                  <a:schemeClr val="dk1"/>
                </a:solidFill>
              </a:rPr>
              <a:t> Cumplir con normativas de privacidad de datos como GDPR, HIPAA, etc., asegurando que los datos que manejan los bots estén cifrados y protegidos.</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Seguridad en la infraestructura:</a:t>
            </a:r>
            <a:r>
              <a:rPr lang="es" sz="1800">
                <a:solidFill>
                  <a:schemeClr val="dk1"/>
                </a:solidFill>
              </a:rPr>
              <a:t> Garantizar que los servidores, redes y plataformas donde corren los bots estén protegidos contra amenazas externas (como malware, hacking, etc.).</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Planes de contingencia y recuperación:</a:t>
            </a:r>
            <a:r>
              <a:rPr lang="es" sz="1800">
                <a:solidFill>
                  <a:schemeClr val="dk1"/>
                </a:solidFill>
              </a:rPr>
              <a:t> Tener procedimientos para detectar, contener y recuperarse rápidamente de incidentes de seguridad relacionados con bots.</a:t>
            </a:r>
            <a:endParaRPr sz="1800">
              <a:solidFill>
                <a:schemeClr val="dk1"/>
              </a:solidFill>
            </a:endParaRPr>
          </a:p>
          <a:p>
            <a:pPr marL="457200" lvl="0" indent="0" algn="l" rtl="0">
              <a:spcBef>
                <a:spcPts val="0"/>
              </a:spcBef>
              <a:spcAft>
                <a:spcPts val="0"/>
              </a:spcAft>
              <a:buNone/>
            </a:pPr>
            <a:endParaRPr sz="1800">
              <a:solidFill>
                <a:schemeClr val="dk1"/>
              </a:solidFill>
            </a:endParaRPr>
          </a:p>
        </p:txBody>
      </p:sp>
      <p:sp>
        <p:nvSpPr>
          <p:cNvPr id="2" name="Google Shape;99;g304ea773802_0_16">
            <a:extLst>
              <a:ext uri="{FF2B5EF4-FFF2-40B4-BE49-F238E27FC236}">
                <a16:creationId xmlns:a16="http://schemas.microsoft.com/office/drawing/2014/main" id="{7A7D745C-66A9-888A-53CB-79E02E76FAF8}"/>
              </a:ext>
            </a:extLst>
          </p:cNvPr>
          <p:cNvSpPr txBox="1"/>
          <p:nvPr/>
        </p:nvSpPr>
        <p:spPr>
          <a:xfrm>
            <a:off x="2431900" y="163150"/>
            <a:ext cx="3434100" cy="59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dirty="0">
                <a:solidFill>
                  <a:schemeClr val="dk1"/>
                </a:solidFill>
              </a:rPr>
              <a:t>Conceptos de ética y seguridad en proyectos RPA.</a:t>
            </a:r>
            <a:endParaRPr sz="1800" b="1" dirty="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2E610CB8-BFF2-DAB8-266D-18E7D22FF9C3}"/>
            </a:ext>
          </a:extLst>
        </p:cNvPr>
        <p:cNvGrpSpPr/>
        <p:nvPr/>
      </p:nvGrpSpPr>
      <p:grpSpPr>
        <a:xfrm>
          <a:off x="0" y="0"/>
          <a:ext cx="0" cy="0"/>
          <a:chOff x="0" y="0"/>
          <a:chExt cx="0" cy="0"/>
        </a:xfrm>
      </p:grpSpPr>
      <p:pic>
        <p:nvPicPr>
          <p:cNvPr id="113" name="Google Shape;113;g304ea773802_0_24">
            <a:extLst>
              <a:ext uri="{FF2B5EF4-FFF2-40B4-BE49-F238E27FC236}">
                <a16:creationId xmlns:a16="http://schemas.microsoft.com/office/drawing/2014/main" id="{68A176D2-F83E-56A4-6E5C-B326E64B45AD}"/>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4" name="Google Shape;114;g304ea773802_0_24">
            <a:extLst>
              <a:ext uri="{FF2B5EF4-FFF2-40B4-BE49-F238E27FC236}">
                <a16:creationId xmlns:a16="http://schemas.microsoft.com/office/drawing/2014/main" id="{9A5F2583-049F-7D7E-7B9B-88500741CDD6}"/>
              </a:ext>
            </a:extLst>
          </p:cNvPr>
          <p:cNvSpPr txBox="1"/>
          <p:nvPr/>
        </p:nvSpPr>
        <p:spPr>
          <a:xfrm>
            <a:off x="31075" y="598250"/>
            <a:ext cx="9075000" cy="4491000"/>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chemeClr val="dk1"/>
              </a:buClr>
              <a:buSzPts val="1800"/>
            </a:pPr>
            <a:endParaRPr lang="es-MX" sz="1800" dirty="0">
              <a:solidFill>
                <a:schemeClr val="dk1"/>
              </a:solidFill>
            </a:endParaRPr>
          </a:p>
          <a:p>
            <a:pPr marL="114300" lvl="0" algn="l" rtl="0">
              <a:spcBef>
                <a:spcPts val="0"/>
              </a:spcBef>
              <a:spcAft>
                <a:spcPts val="0"/>
              </a:spcAft>
              <a:buClr>
                <a:schemeClr val="dk1"/>
              </a:buClr>
              <a:buSzPts val="1800"/>
            </a:pPr>
            <a:r>
              <a:rPr lang="es-MX" b="1" dirty="0"/>
              <a:t>RPA y cumplimiento de normativas legales (GDPR, ISO, etc.)</a:t>
            </a:r>
          </a:p>
          <a:p>
            <a:r>
              <a:rPr lang="es-MX" dirty="0"/>
              <a:t>La implementación de </a:t>
            </a:r>
            <a:r>
              <a:rPr lang="es-MX" b="1" dirty="0" err="1"/>
              <a:t>Robotic</a:t>
            </a:r>
            <a:r>
              <a:rPr lang="es-MX" b="1" dirty="0"/>
              <a:t> </a:t>
            </a:r>
            <a:r>
              <a:rPr lang="es-MX" b="1" dirty="0" err="1"/>
              <a:t>Process</a:t>
            </a:r>
            <a:r>
              <a:rPr lang="es-MX" b="1" dirty="0"/>
              <a:t> </a:t>
            </a:r>
            <a:r>
              <a:rPr lang="es-MX" b="1" dirty="0" err="1"/>
              <a:t>Automation</a:t>
            </a:r>
            <a:r>
              <a:rPr lang="es-MX" b="1" dirty="0"/>
              <a:t> (RPA)</a:t>
            </a:r>
            <a:r>
              <a:rPr lang="es-MX" dirty="0"/>
              <a:t> debe considerar el </a:t>
            </a:r>
            <a:r>
              <a:rPr lang="es-MX" b="1" dirty="0"/>
              <a:t>cumplimiento normativo</a:t>
            </a:r>
            <a:r>
              <a:rPr lang="es-MX" dirty="0"/>
              <a:t> como un pilar fundamental, especialmente en contextos donde los </a:t>
            </a:r>
            <a:r>
              <a:rPr lang="es-MX" dirty="0" err="1"/>
              <a:t>bots</a:t>
            </a:r>
            <a:r>
              <a:rPr lang="es-MX" dirty="0"/>
              <a:t> manejan </a:t>
            </a:r>
            <a:r>
              <a:rPr lang="es-MX" b="1" dirty="0"/>
              <a:t>datos sensibles</a:t>
            </a:r>
            <a:r>
              <a:rPr lang="es-MX" dirty="0"/>
              <a:t> (personales, financieros, clínicos o laborales).</a:t>
            </a:r>
          </a:p>
          <a:p>
            <a:r>
              <a:rPr lang="es-MX" b="1" dirty="0"/>
              <a:t>GDPR (Reglamento General de Protección de Datos):</a:t>
            </a:r>
            <a:r>
              <a:rPr lang="es-MX" dirty="0"/>
              <a:t> en el contexto europeo, establece obligaciones estrictas sobre la recopilación, almacenamiento y procesamiento de datos personales. Los proyectos de RPA que interactúan con este tipo de información deben garantizar principios como </a:t>
            </a:r>
            <a:r>
              <a:rPr lang="es-MX" b="1" dirty="0"/>
              <a:t>consentimiento informado, minimización de datos, </a:t>
            </a:r>
            <a:r>
              <a:rPr lang="es-MX" b="1" dirty="0" err="1"/>
              <a:t>anonimización</a:t>
            </a:r>
            <a:r>
              <a:rPr lang="es-MX" b="1" dirty="0"/>
              <a:t>, trazabilidad y derecho al olvido</a:t>
            </a:r>
            <a:r>
              <a:rPr lang="es-MX" dirty="0"/>
              <a:t>.</a:t>
            </a:r>
          </a:p>
          <a:p>
            <a:r>
              <a:rPr lang="es-MX" b="1" dirty="0"/>
              <a:t>ISO/IEC 27001 (Seguridad de la información):</a:t>
            </a:r>
            <a:r>
              <a:rPr lang="es-MX" dirty="0"/>
              <a:t> esta norma internacional orienta la creación de sistemas de gestión de seguridad que aseguren </a:t>
            </a:r>
            <a:r>
              <a:rPr lang="es-MX" b="1" dirty="0"/>
              <a:t>confidencialidad, integridad y disponibilidad</a:t>
            </a:r>
            <a:r>
              <a:rPr lang="es-MX" dirty="0"/>
              <a:t> de la información. En RPA, esto implica controles para el manejo seguro de credenciales, registros de actividad de </a:t>
            </a:r>
            <a:r>
              <a:rPr lang="es-MX" dirty="0" err="1"/>
              <a:t>bots</a:t>
            </a:r>
            <a:r>
              <a:rPr lang="es-MX" dirty="0"/>
              <a:t> y auditorías periódicas.</a:t>
            </a:r>
          </a:p>
          <a:p>
            <a:r>
              <a:rPr lang="es-MX" b="1" dirty="0"/>
              <a:t>Otras regulaciones sectoriales:</a:t>
            </a:r>
            <a:endParaRPr lang="es-MX" dirty="0"/>
          </a:p>
          <a:p>
            <a:pPr marL="285750" lvl="1" indent="-285750">
              <a:buFont typeface="Arial" panose="020B0604020202020204" pitchFamily="34" charset="0"/>
              <a:buChar char="•"/>
            </a:pPr>
            <a:r>
              <a:rPr lang="es-MX" b="1" dirty="0"/>
              <a:t>HIPAA</a:t>
            </a:r>
            <a:r>
              <a:rPr lang="es-MX" dirty="0"/>
              <a:t> en salud (EE.UU.), que regula la protección de información médica.</a:t>
            </a:r>
          </a:p>
          <a:p>
            <a:pPr marL="285750" lvl="1" indent="-285750">
              <a:buFont typeface="Arial" panose="020B0604020202020204" pitchFamily="34" charset="0"/>
              <a:buChar char="•"/>
            </a:pPr>
            <a:r>
              <a:rPr lang="es-MX" b="1" dirty="0"/>
              <a:t>SOX (Sarbanes-Oxley </a:t>
            </a:r>
            <a:r>
              <a:rPr lang="es-MX" b="1" dirty="0" err="1"/>
              <a:t>Act</a:t>
            </a:r>
            <a:r>
              <a:rPr lang="es-MX" b="1" dirty="0"/>
              <a:t>)</a:t>
            </a:r>
            <a:r>
              <a:rPr lang="es-MX" dirty="0"/>
              <a:t> en entornos financieros, que exige auditorías precisas y transparencia en la gestión de datos.</a:t>
            </a:r>
          </a:p>
          <a:p>
            <a:pPr marL="285750" lvl="1" indent="-285750">
              <a:buFont typeface="Arial" panose="020B0604020202020204" pitchFamily="34" charset="0"/>
              <a:buChar char="•"/>
            </a:pPr>
            <a:r>
              <a:rPr lang="es-MX" b="1" dirty="0"/>
              <a:t>Normativas locales de protección de datos</a:t>
            </a:r>
            <a:r>
              <a:rPr lang="es-MX" dirty="0"/>
              <a:t> (por ejemplo, en Latinoamérica la Ley de Protección de Datos Personales en Guatemala y similares en otros países).</a:t>
            </a:r>
          </a:p>
          <a:p>
            <a:pPr marL="457200" lvl="0" indent="0" algn="l" rtl="0">
              <a:spcBef>
                <a:spcPts val="0"/>
              </a:spcBef>
              <a:spcAft>
                <a:spcPts val="0"/>
              </a:spcAft>
              <a:buNone/>
            </a:pPr>
            <a:endParaRPr sz="1800" dirty="0">
              <a:solidFill>
                <a:schemeClr val="dk1"/>
              </a:solidFill>
            </a:endParaRPr>
          </a:p>
        </p:txBody>
      </p:sp>
      <p:sp>
        <p:nvSpPr>
          <p:cNvPr id="2" name="Google Shape;99;g304ea773802_0_16">
            <a:extLst>
              <a:ext uri="{FF2B5EF4-FFF2-40B4-BE49-F238E27FC236}">
                <a16:creationId xmlns:a16="http://schemas.microsoft.com/office/drawing/2014/main" id="{D59E41DB-7F30-14E3-469B-344FBC1F94C1}"/>
              </a:ext>
            </a:extLst>
          </p:cNvPr>
          <p:cNvSpPr txBox="1"/>
          <p:nvPr/>
        </p:nvSpPr>
        <p:spPr>
          <a:xfrm>
            <a:off x="2431900" y="163150"/>
            <a:ext cx="3434100" cy="59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dirty="0">
                <a:solidFill>
                  <a:schemeClr val="dk1"/>
                </a:solidFill>
              </a:rPr>
              <a:t>Conceptos de ética y seguridad en proyectos RPA.</a:t>
            </a:r>
            <a:endParaRPr sz="1800" b="1" dirty="0">
              <a:solidFill>
                <a:schemeClr val="dk1"/>
              </a:solidFill>
            </a:endParaRPr>
          </a:p>
        </p:txBody>
      </p:sp>
    </p:spTree>
    <p:extLst>
      <p:ext uri="{BB962C8B-B14F-4D97-AF65-F5344CB8AC3E}">
        <p14:creationId xmlns:p14="http://schemas.microsoft.com/office/powerpoint/2010/main" val="1287349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FB3CDF80-1628-3355-C799-442DB7AA0C8C}"/>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D6762E06-0803-E3FF-37EA-4945A81C77C3}"/>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0F3AEE8D-05D1-6C99-4A82-8FDFC5AFDFA1}"/>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solidFill>
                  <a:schemeClr val="dk1"/>
                </a:solidFill>
              </a:rPr>
              <a:t>Conceptos de ética y seguridad en proyectos RPA.</a:t>
            </a:r>
          </a:p>
        </p:txBody>
      </p:sp>
      <p:sp>
        <p:nvSpPr>
          <p:cNvPr id="64" name="Google Shape;64;g34156db3297_0_18">
            <a:extLst>
              <a:ext uri="{FF2B5EF4-FFF2-40B4-BE49-F238E27FC236}">
                <a16:creationId xmlns:a16="http://schemas.microsoft.com/office/drawing/2014/main" id="{5423F4C8-342B-3D58-DD1C-861D010FEDD7}"/>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Riesgos de ciberseguridad en entornos automatizados</a:t>
            </a:r>
          </a:p>
          <a:p>
            <a:r>
              <a:rPr lang="es-MX" sz="1800" dirty="0"/>
              <a:t>El despliegue de robots de software introduce nuevos desafíos en </a:t>
            </a:r>
            <a:r>
              <a:rPr lang="es-MX" sz="1800" b="1" dirty="0"/>
              <a:t>ciberseguridad</a:t>
            </a:r>
            <a:r>
              <a:rPr lang="es-MX" sz="1800" dirty="0"/>
              <a:t>, ya que los </a:t>
            </a:r>
            <a:r>
              <a:rPr lang="es-MX" sz="1800" dirty="0" err="1"/>
              <a:t>bots</a:t>
            </a:r>
            <a:r>
              <a:rPr lang="es-MX" sz="1800" dirty="0"/>
              <a:t> acceden a sistemas críticos, ejecutan transacciones y manipulan grandes volúmenes de datos. Entre los principales riesgos destacan:</a:t>
            </a:r>
          </a:p>
          <a:p>
            <a:pPr marL="285750" indent="-285750">
              <a:buFont typeface="Arial" panose="020B0604020202020204" pitchFamily="34" charset="0"/>
              <a:buChar char="•"/>
            </a:pPr>
            <a:r>
              <a:rPr lang="es-MX" sz="1800" b="1" dirty="0"/>
              <a:t>Exposición de credenciales:</a:t>
            </a:r>
            <a:r>
              <a:rPr lang="es-MX" sz="1800" dirty="0"/>
              <a:t> si los </a:t>
            </a:r>
            <a:r>
              <a:rPr lang="es-MX" sz="1800" dirty="0" err="1"/>
              <a:t>bots</a:t>
            </a:r>
            <a:r>
              <a:rPr lang="es-MX" sz="1800" dirty="0"/>
              <a:t> almacenan contraseñas sin cifrado o en repositorios inseguros, pueden ser blanco de ataques.</a:t>
            </a:r>
          </a:p>
          <a:p>
            <a:pPr marL="285750" indent="-285750">
              <a:buFont typeface="Arial" panose="020B0604020202020204" pitchFamily="34" charset="0"/>
              <a:buChar char="•"/>
            </a:pPr>
            <a:r>
              <a:rPr lang="es-MX" sz="1800" b="1" dirty="0"/>
              <a:t>Robo de identidad digital:</a:t>
            </a:r>
            <a:r>
              <a:rPr lang="es-MX" sz="1800" dirty="0"/>
              <a:t> un </a:t>
            </a:r>
            <a:r>
              <a:rPr lang="es-MX" sz="1800" dirty="0" err="1"/>
              <a:t>bot</a:t>
            </a:r>
            <a:r>
              <a:rPr lang="es-MX" sz="1800" dirty="0"/>
              <a:t> comprometido puede ejecutar acciones fraudulentas, como transferencias no autorizadas o acceso indebido a información sensible.</a:t>
            </a:r>
          </a:p>
          <a:p>
            <a:pPr marL="285750" indent="-285750">
              <a:buFont typeface="Arial" panose="020B0604020202020204" pitchFamily="34" charset="0"/>
              <a:buChar char="•"/>
            </a:pPr>
            <a:r>
              <a:rPr lang="es-MX" sz="1800" b="1" dirty="0"/>
              <a:t>Vulnerabilidades en integraciones:</a:t>
            </a:r>
            <a:r>
              <a:rPr lang="es-MX" sz="1800" dirty="0"/>
              <a:t> conexiones entre RPA y sistemas heredados (</a:t>
            </a:r>
            <a:r>
              <a:rPr lang="es-MX" sz="1800" dirty="0" err="1"/>
              <a:t>legacy</a:t>
            </a:r>
            <a:r>
              <a:rPr lang="es-MX" sz="1800" dirty="0"/>
              <a:t> </a:t>
            </a:r>
            <a:r>
              <a:rPr lang="es-MX" sz="1800" dirty="0" err="1"/>
              <a:t>systems</a:t>
            </a:r>
            <a:r>
              <a:rPr lang="es-MX" sz="1800" dirty="0"/>
              <a:t>) pueden abrir brechas de seguridad.</a:t>
            </a:r>
          </a:p>
          <a:p>
            <a:pPr marL="285750" indent="-285750">
              <a:buFont typeface="Arial" panose="020B0604020202020204" pitchFamily="34" charset="0"/>
              <a:buChar char="•"/>
            </a:pPr>
            <a:r>
              <a:rPr lang="es-MX" sz="1800" b="1" dirty="0"/>
              <a:t>Escalamiento de privilegios:</a:t>
            </a:r>
            <a:r>
              <a:rPr lang="es-MX" sz="1800" dirty="0"/>
              <a:t> si un </a:t>
            </a:r>
            <a:r>
              <a:rPr lang="es-MX" sz="1800" dirty="0" err="1"/>
              <a:t>bot</a:t>
            </a:r>
            <a:r>
              <a:rPr lang="es-MX" sz="1800" dirty="0"/>
              <a:t> cuenta con permisos excesivos, un atacante podría aprovecharlos para comprometer la red corporativa.</a:t>
            </a:r>
          </a:p>
          <a:p>
            <a:pPr marL="285750" indent="-285750">
              <a:buFont typeface="Arial" panose="020B0604020202020204" pitchFamily="34" charset="0"/>
              <a:buChar char="•"/>
            </a:pPr>
            <a:r>
              <a:rPr lang="es-MX" sz="1800" b="1" dirty="0"/>
              <a:t>Falta de monitoreo:</a:t>
            </a:r>
            <a:r>
              <a:rPr lang="es-MX" sz="1800" dirty="0"/>
              <a:t> sin registros adecuados, es difícil detectar anomalías en la ejecución de procesos automatizados.</a:t>
            </a:r>
          </a:p>
          <a:p>
            <a:endParaRPr lang="es-MX" sz="1800" dirty="0"/>
          </a:p>
        </p:txBody>
      </p:sp>
    </p:spTree>
    <p:extLst>
      <p:ext uri="{BB962C8B-B14F-4D97-AF65-F5344CB8AC3E}">
        <p14:creationId xmlns:p14="http://schemas.microsoft.com/office/powerpoint/2010/main" val="1471624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F61E6E53-5A5D-F743-F417-712DBCED2DB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CC8C3B02-26FF-B8B8-0ED1-44351307229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34156db3297_0_18">
            <a:extLst>
              <a:ext uri="{FF2B5EF4-FFF2-40B4-BE49-F238E27FC236}">
                <a16:creationId xmlns:a16="http://schemas.microsoft.com/office/drawing/2014/main" id="{79BECFDC-1533-FF3C-9603-0837CB1F2C1D}"/>
              </a:ext>
            </a:extLst>
          </p:cNvPr>
          <p:cNvSpPr txBox="1"/>
          <p:nvPr/>
        </p:nvSpPr>
        <p:spPr>
          <a:xfrm>
            <a:off x="2330900" y="132075"/>
            <a:ext cx="3807000" cy="427200"/>
          </a:xfrm>
          <a:prstGeom prst="rect">
            <a:avLst/>
          </a:prstGeom>
          <a:noFill/>
          <a:ln>
            <a:noFill/>
          </a:ln>
        </p:spPr>
        <p:txBody>
          <a:bodyPr spcFirstLastPara="1" wrap="square" lIns="91425" tIns="91425" rIns="91425" bIns="91425" anchor="t" anchorCtr="0">
            <a:noAutofit/>
          </a:bodyPr>
          <a:lstStyle/>
          <a:p>
            <a:pPr lvl="0" algn="ctr"/>
            <a:r>
              <a:rPr lang="es-MX" sz="1800" b="1" dirty="0">
                <a:solidFill>
                  <a:schemeClr val="dk1"/>
                </a:solidFill>
              </a:rPr>
              <a:t>Conceptos de ética y seguridad en proyectos RPA.</a:t>
            </a:r>
          </a:p>
        </p:txBody>
      </p:sp>
      <p:sp>
        <p:nvSpPr>
          <p:cNvPr id="64" name="Google Shape;64;g34156db3297_0_18">
            <a:extLst>
              <a:ext uri="{FF2B5EF4-FFF2-40B4-BE49-F238E27FC236}">
                <a16:creationId xmlns:a16="http://schemas.microsoft.com/office/drawing/2014/main" id="{8CC79781-B555-32C3-0EAC-849F50CAD104}"/>
              </a:ext>
            </a:extLst>
          </p:cNvPr>
          <p:cNvSpPr txBox="1"/>
          <p:nvPr/>
        </p:nvSpPr>
        <p:spPr>
          <a:xfrm>
            <a:off x="77700" y="776975"/>
            <a:ext cx="9020700" cy="4234450"/>
          </a:xfrm>
          <a:prstGeom prst="rect">
            <a:avLst/>
          </a:prstGeom>
          <a:noFill/>
          <a:ln>
            <a:noFill/>
          </a:ln>
        </p:spPr>
        <p:txBody>
          <a:bodyPr spcFirstLastPara="1" wrap="square" lIns="91425" tIns="91425" rIns="91425" bIns="91425" anchor="t" anchorCtr="0">
            <a:noAutofit/>
          </a:bodyPr>
          <a:lstStyle/>
          <a:p>
            <a:r>
              <a:rPr lang="es-MX" sz="1800" b="1" dirty="0"/>
              <a:t>Medidas de mitigación</a:t>
            </a:r>
          </a:p>
          <a:p>
            <a:pPr marL="285750" indent="-285750">
              <a:buFont typeface="Arial" panose="020B0604020202020204" pitchFamily="34" charset="0"/>
              <a:buChar char="•"/>
            </a:pPr>
            <a:endParaRPr lang="es-MX" sz="1800" b="1" dirty="0"/>
          </a:p>
          <a:p>
            <a:pPr marL="285750" indent="-285750">
              <a:buFont typeface="Arial" panose="020B0604020202020204" pitchFamily="34" charset="0"/>
              <a:buChar char="•"/>
            </a:pPr>
            <a:r>
              <a:rPr lang="es-MX" sz="1800" dirty="0"/>
              <a:t>Uso de </a:t>
            </a:r>
            <a:r>
              <a:rPr lang="es-MX" sz="1800" b="1" dirty="0"/>
              <a:t>cofres de contraseñas (</a:t>
            </a:r>
            <a:r>
              <a:rPr lang="es-MX" sz="1800" b="1" dirty="0" err="1"/>
              <a:t>vaults</a:t>
            </a:r>
            <a:r>
              <a:rPr lang="es-MX" sz="1800" b="1" dirty="0"/>
              <a:t>)</a:t>
            </a:r>
            <a:r>
              <a:rPr lang="es-MX" sz="1800" dirty="0"/>
              <a:t> para credenciales de </a:t>
            </a:r>
            <a:r>
              <a:rPr lang="es-MX" sz="1800" dirty="0" err="1"/>
              <a:t>bots</a:t>
            </a:r>
            <a:r>
              <a:rPr lang="es-MX" sz="1800" dirty="0"/>
              <a:t>.</a:t>
            </a:r>
          </a:p>
          <a:p>
            <a:endParaRPr lang="es-MX" sz="1800" dirty="0"/>
          </a:p>
          <a:p>
            <a:pPr marL="285750" indent="-285750">
              <a:buFont typeface="Arial" panose="020B0604020202020204" pitchFamily="34" charset="0"/>
              <a:buChar char="•"/>
            </a:pPr>
            <a:r>
              <a:rPr lang="es-MX" sz="1800" b="1" dirty="0"/>
              <a:t>Cifrado</a:t>
            </a:r>
            <a:r>
              <a:rPr lang="es-MX" sz="1800" dirty="0"/>
              <a:t> de datos en tránsito y en reposo.</a:t>
            </a:r>
          </a:p>
          <a:p>
            <a:pPr marL="285750" indent="-285750">
              <a:buFont typeface="Arial" panose="020B0604020202020204" pitchFamily="34" charset="0"/>
              <a:buChar char="•"/>
            </a:pPr>
            <a:endParaRPr lang="es-MX" sz="1800" dirty="0"/>
          </a:p>
          <a:p>
            <a:pPr marL="285750" indent="-285750">
              <a:buFont typeface="Arial" panose="020B0604020202020204" pitchFamily="34" charset="0"/>
              <a:buChar char="•"/>
            </a:pPr>
            <a:r>
              <a:rPr lang="es-MX" sz="1800" b="1" dirty="0"/>
              <a:t>Segregación de roles y accesos mínimos necesarios</a:t>
            </a:r>
            <a:r>
              <a:rPr lang="es-MX" sz="1800" dirty="0"/>
              <a:t> para </a:t>
            </a:r>
            <a:r>
              <a:rPr lang="es-MX" sz="1800" dirty="0" err="1"/>
              <a:t>bots</a:t>
            </a:r>
            <a:r>
              <a:rPr lang="es-MX" sz="1800" dirty="0"/>
              <a:t> y desarrolladores.</a:t>
            </a:r>
          </a:p>
          <a:p>
            <a:pPr marL="285750" indent="-285750">
              <a:buFont typeface="Arial" panose="020B0604020202020204" pitchFamily="34" charset="0"/>
              <a:buChar char="•"/>
            </a:pPr>
            <a:endParaRPr lang="es-MX" sz="1800" b="1" dirty="0"/>
          </a:p>
          <a:p>
            <a:pPr marL="285750" indent="-285750">
              <a:buFont typeface="Arial" panose="020B0604020202020204" pitchFamily="34" charset="0"/>
              <a:buChar char="•"/>
            </a:pPr>
            <a:r>
              <a:rPr lang="es-MX" sz="1800" b="1" dirty="0"/>
              <a:t>Monitoreo continuo y auditorías</a:t>
            </a:r>
            <a:r>
              <a:rPr lang="es-MX" sz="1800" dirty="0"/>
              <a:t> de la actividad de </a:t>
            </a:r>
            <a:r>
              <a:rPr lang="es-MX" sz="1800" dirty="0" err="1"/>
              <a:t>bots</a:t>
            </a:r>
            <a:r>
              <a:rPr lang="es-MX" sz="1800" dirty="0"/>
              <a:t>.</a:t>
            </a:r>
          </a:p>
          <a:p>
            <a:pPr marL="285750" indent="-285750">
              <a:buFont typeface="Arial" panose="020B0604020202020204" pitchFamily="34" charset="0"/>
              <a:buChar char="•"/>
            </a:pPr>
            <a:r>
              <a:rPr lang="es-MX" sz="1800" dirty="0"/>
              <a:t>Integración de prácticas de </a:t>
            </a:r>
            <a:r>
              <a:rPr lang="es-MX" sz="1800" b="1" dirty="0" err="1"/>
              <a:t>DevSecOps</a:t>
            </a:r>
            <a:r>
              <a:rPr lang="es-MX" sz="1800" dirty="0"/>
              <a:t> para incluir la seguridad desde el diseño de procesos automatizados.</a:t>
            </a:r>
          </a:p>
          <a:p>
            <a:endParaRPr lang="es-MX" sz="1800" dirty="0"/>
          </a:p>
        </p:txBody>
      </p:sp>
    </p:spTree>
    <p:extLst>
      <p:ext uri="{BB962C8B-B14F-4D97-AF65-F5344CB8AC3E}">
        <p14:creationId xmlns:p14="http://schemas.microsoft.com/office/powerpoint/2010/main" val="369446666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3586</Words>
  <Application>Microsoft Office PowerPoint</Application>
  <PresentationFormat>Presentación en pantalla (16:9)</PresentationFormat>
  <Paragraphs>221</Paragraphs>
  <Slides>26</Slides>
  <Notes>26</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26</vt:i4>
      </vt:variant>
    </vt:vector>
  </HeadingPairs>
  <TitlesOfParts>
    <vt:vector size="28" baseType="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mynor israel miranda lopez</cp:lastModifiedBy>
  <cp:revision>2</cp:revision>
  <dcterms:modified xsi:type="dcterms:W3CDTF">2025-09-16T07:23:17Z</dcterms:modified>
</cp:coreProperties>
</file>