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cMhL/c8oHASH0V3kIf4AikB7F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F7BA4A-8F42-4994-B74C-66ACEBA85D24}">
  <a:tblStyle styleId="{57F7BA4A-8F42-4994-B74C-66ACEBA85D2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114" y="3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53e9ab9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853e9ab9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853e9ab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d853e9ab94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2d853e9ab94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d8fa948c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2d8fa948c4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d8fa948c4e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2d8fa948c4e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d8fa948c4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2d8fa948c4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d8fa948c4e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d8fa948c4e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3ef33d4d85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3ef33d4d85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d8fa948c4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2d8fa948c4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d8fa948c4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2d8fa948c4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d8fa948c4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2d8fa948c4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d8fa948c4e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d8fa948c4e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dcf99f76a9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dcf99f76a9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d8fa948c4e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2d8fa948c4e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d8fa948c4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2d8fa948c4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39a09cea5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39a09cea5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39a09cea5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39a09cea5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39a09cea5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39a09cea51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4156db329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4156db329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156db329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4156db329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4156db329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4156db329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156db3297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4156db3297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4156db329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4156db3297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4156db3297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4156db3297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3ef33d4d85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3ef33d4d85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8fa948c4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8fa948c4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d8fa948c4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2d8fa948c4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d8fa948c4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2d8fa948c4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d8fa948c4e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d8fa948c4e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dcf99f76a9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2dcf99f76a9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youtube.com/watch?v=HvzO18fUjq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youtube.com/watch?v=8wcFCAPLQZ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1095550209"/>
              </p:ext>
            </p:extLst>
          </p:nvPr>
        </p:nvGraphicFramePr>
        <p:xfrm>
          <a:off x="5328200" y="970025"/>
          <a:ext cx="3690575" cy="798516"/>
        </p:xfrm>
        <a:graphic>
          <a:graphicData uri="http://schemas.openxmlformats.org/drawingml/2006/table">
            <a:tbl>
              <a:tblPr>
                <a:noFill/>
                <a:tableStyleId>{57F7BA4A-8F42-4994-B74C-66ACEBA85D24}</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Martes</a:t>
                      </a:r>
                      <a:r>
                        <a:rPr lang="es" sz="1400" u="none" strike="noStrike" cap="none" dirty="0"/>
                        <a:t>, 12/08/2025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SISTEMAS ORGANIZACIONALES Y GERENCIALES 2 Sección P</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dirty="0">
                <a:solidFill>
                  <a:srgbClr val="000000"/>
                </a:solidFill>
                <a:latin typeface="Arial"/>
                <a:ea typeface="Arial"/>
                <a:cs typeface="Arial"/>
                <a:sym typeface="Arial"/>
              </a:rPr>
              <a:t>Mynor I</a:t>
            </a:r>
            <a:r>
              <a:rPr lang="es-GT" sz="2000" b="0" i="0" u="none" strike="noStrike" cap="none" dirty="0">
                <a:solidFill>
                  <a:srgbClr val="000000"/>
                </a:solidFill>
                <a:latin typeface="Arial"/>
                <a:ea typeface="Arial"/>
                <a:cs typeface="Arial"/>
                <a:sym typeface="Arial"/>
              </a:rPr>
              <a:t>s</a:t>
            </a:r>
            <a:r>
              <a:rPr lang="es" sz="2000" b="0" i="0" u="none" strike="noStrike" cap="none" dirty="0">
                <a:solidFill>
                  <a:srgbClr val="000000"/>
                </a:solidFill>
                <a:latin typeface="Arial"/>
                <a:ea typeface="Arial"/>
                <a:cs typeface="Arial"/>
                <a:sym typeface="Arial"/>
              </a:rPr>
              <a:t>rael Miranda López</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d853e9ab94_0_26"/>
          <p:cNvSpPr txBox="1"/>
          <p:nvPr/>
        </p:nvSpPr>
        <p:spPr>
          <a:xfrm>
            <a:off x="3177800" y="279700"/>
            <a:ext cx="19347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dirty="0">
                <a:solidFill>
                  <a:schemeClr val="dk1"/>
                </a:solidFill>
              </a:rPr>
              <a:t>Data Warehouse</a:t>
            </a:r>
            <a:endParaRPr sz="1800" dirty="0">
              <a:solidFill>
                <a:schemeClr val="dk1"/>
              </a:solidFill>
            </a:endParaRPr>
          </a:p>
        </p:txBody>
      </p:sp>
      <p:sp>
        <p:nvSpPr>
          <p:cNvPr id="64" name="Google Shape;64;g2d853e9ab94_0_26"/>
          <p:cNvSpPr txBox="1"/>
          <p:nvPr/>
        </p:nvSpPr>
        <p:spPr>
          <a:xfrm>
            <a:off x="93225" y="699275"/>
            <a:ext cx="8966100" cy="4351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Un Data Warehouse (Almacén de Datos) es un sistema diseñado para almacenar, integrar y analizar grandes volúmenes de datos provenientes de múltiples fuentes dentro de una empresa. Su objetivo es facilitar la toma de decisiones estratégicas mediante la consolidación y organización eficiente de la información.</a:t>
            </a:r>
            <a:endParaRPr sz="1800" dirty="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s" sz="1800" b="1" dirty="0">
                <a:solidFill>
                  <a:schemeClr val="dk1"/>
                </a:solidFill>
              </a:rPr>
              <a:t>Características Clave de un Data Warehouse</a:t>
            </a:r>
            <a:endParaRPr sz="1800" b="1" dirty="0">
              <a:solidFill>
                <a:schemeClr val="dk1"/>
              </a:solidFill>
            </a:endParaRPr>
          </a:p>
          <a:p>
            <a:pPr marL="0" lvl="0" indent="0" algn="l" rtl="0">
              <a:lnSpc>
                <a:spcPct val="115000"/>
              </a:lnSpc>
              <a:spcBef>
                <a:spcPts val="1200"/>
              </a:spcBef>
              <a:spcAft>
                <a:spcPts val="1200"/>
              </a:spcAft>
              <a:buNone/>
            </a:pPr>
            <a:r>
              <a:rPr lang="es" sz="1800" dirty="0">
                <a:solidFill>
                  <a:schemeClr val="dk1"/>
                </a:solidFill>
              </a:rPr>
              <a:t>✔ </a:t>
            </a:r>
            <a:r>
              <a:rPr lang="es" sz="1800" b="1" dirty="0">
                <a:solidFill>
                  <a:schemeClr val="dk1"/>
                </a:solidFill>
              </a:rPr>
              <a:t>Integración de Datos:</a:t>
            </a:r>
            <a:r>
              <a:rPr lang="es" sz="1800" dirty="0">
                <a:solidFill>
                  <a:schemeClr val="dk1"/>
                </a:solidFill>
              </a:rPr>
              <a:t> Reúne información de distintos sistemas (ERP, CRM, bases de datos, redes sociales, etc.).</a:t>
            </a:r>
            <a:br>
              <a:rPr lang="es" sz="1800" dirty="0">
                <a:solidFill>
                  <a:schemeClr val="dk1"/>
                </a:solidFill>
              </a:rPr>
            </a:br>
            <a:r>
              <a:rPr lang="es" sz="1800" dirty="0">
                <a:solidFill>
                  <a:schemeClr val="dk1"/>
                </a:solidFill>
              </a:rPr>
              <a:t> ✔ </a:t>
            </a:r>
            <a:r>
              <a:rPr lang="es" sz="1800" b="1" dirty="0">
                <a:solidFill>
                  <a:schemeClr val="dk1"/>
                </a:solidFill>
              </a:rPr>
              <a:t>Optimización para Análisis:</a:t>
            </a:r>
            <a:r>
              <a:rPr lang="es" sz="1800" dirty="0">
                <a:solidFill>
                  <a:schemeClr val="dk1"/>
                </a:solidFill>
              </a:rPr>
              <a:t> Diseñado para consultas rápidas y generación de reportes.</a:t>
            </a:r>
            <a:br>
              <a:rPr lang="es" sz="1800" dirty="0">
                <a:solidFill>
                  <a:schemeClr val="dk1"/>
                </a:solidFill>
              </a:rPr>
            </a:br>
            <a:r>
              <a:rPr lang="es" sz="1800" dirty="0">
                <a:solidFill>
                  <a:schemeClr val="dk1"/>
                </a:solidFill>
              </a:rPr>
              <a:t> ✔ </a:t>
            </a:r>
            <a:r>
              <a:rPr lang="es" sz="1800" b="1" dirty="0">
                <a:solidFill>
                  <a:schemeClr val="dk1"/>
                </a:solidFill>
              </a:rPr>
              <a:t>Histórico de Datos:</a:t>
            </a:r>
            <a:r>
              <a:rPr lang="es" sz="1800" dirty="0">
                <a:solidFill>
                  <a:schemeClr val="dk1"/>
                </a:solidFill>
              </a:rPr>
              <a:t> Permite almacenar información a largo plazo para análisis de tendencias.</a:t>
            </a:r>
            <a:br>
              <a:rPr lang="es" sz="1800" dirty="0">
                <a:solidFill>
                  <a:schemeClr val="dk1"/>
                </a:solidFill>
              </a:rPr>
            </a:br>
            <a:r>
              <a:rPr lang="es" sz="1800" dirty="0">
                <a:solidFill>
                  <a:schemeClr val="dk1"/>
                </a:solidFill>
              </a:rPr>
              <a:t> </a:t>
            </a:r>
            <a:endParaRPr sz="18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853e9ab94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853e9ab94_0_31"/>
          <p:cNvSpPr txBox="1"/>
          <p:nvPr/>
        </p:nvSpPr>
        <p:spPr>
          <a:xfrm>
            <a:off x="0" y="839125"/>
            <a:ext cx="9090600" cy="421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s" sz="1800">
                <a:solidFill>
                  <a:schemeClr val="dk1"/>
                </a:solidFill>
              </a:rPr>
              <a:t>✔ </a:t>
            </a:r>
            <a:r>
              <a:rPr lang="es" sz="1800" b="1">
                <a:solidFill>
                  <a:schemeClr val="dk1"/>
                </a:solidFill>
              </a:rPr>
              <a:t>No Volátil:</a:t>
            </a:r>
            <a:r>
              <a:rPr lang="es" sz="1800">
                <a:solidFill>
                  <a:schemeClr val="dk1"/>
                </a:solidFill>
              </a:rPr>
              <a:t> Los datos no se modifican en tiempo real, lo que garantiza estabilidad en los análisis.</a:t>
            </a:r>
            <a:br>
              <a:rPr lang="es" sz="1800">
                <a:solidFill>
                  <a:schemeClr val="dk1"/>
                </a:solidFill>
              </a:rPr>
            </a:br>
            <a:r>
              <a:rPr lang="es" sz="1800">
                <a:solidFill>
                  <a:schemeClr val="dk1"/>
                </a:solidFill>
              </a:rPr>
              <a:t> ✔ </a:t>
            </a:r>
            <a:r>
              <a:rPr lang="es" sz="1800" b="1">
                <a:solidFill>
                  <a:schemeClr val="dk1"/>
                </a:solidFill>
              </a:rPr>
              <a:t>Estructura Multidimensional:</a:t>
            </a:r>
            <a:r>
              <a:rPr lang="es" sz="1800">
                <a:solidFill>
                  <a:schemeClr val="dk1"/>
                </a:solidFill>
              </a:rPr>
              <a:t> Organiza datos en modelos como esquemas estrella o copo de nieve.</a:t>
            </a:r>
            <a:endParaRPr sz="1800">
              <a:solidFill>
                <a:schemeClr val="dk1"/>
              </a:solidFill>
            </a:endParaRPr>
          </a:p>
          <a:p>
            <a:pPr marL="0" lvl="0" indent="0" algn="ctr" rtl="0">
              <a:lnSpc>
                <a:spcPct val="115000"/>
              </a:lnSpc>
              <a:spcBef>
                <a:spcPts val="1200"/>
              </a:spcBef>
              <a:spcAft>
                <a:spcPts val="0"/>
              </a:spcAft>
              <a:buNone/>
            </a:pPr>
            <a:r>
              <a:rPr lang="es" sz="1700" b="1">
                <a:solidFill>
                  <a:schemeClr val="dk1"/>
                </a:solidFill>
              </a:rPr>
              <a:t>¿Cómo Funciona un Data Warehouse?</a:t>
            </a:r>
            <a:endParaRPr sz="17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s" sz="1700" b="1">
                <a:solidFill>
                  <a:schemeClr val="dk1"/>
                </a:solidFill>
              </a:rPr>
              <a:t>Extracción de Datos:</a:t>
            </a:r>
            <a:r>
              <a:rPr lang="es" sz="1700">
                <a:solidFill>
                  <a:schemeClr val="dk1"/>
                </a:solidFill>
              </a:rPr>
              <a:t> Recopila información de diversas fuentes (ERP, CRM, bases de datos operacionales, archivos, etc.).</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s" sz="1700" b="1">
                <a:solidFill>
                  <a:schemeClr val="dk1"/>
                </a:solidFill>
              </a:rPr>
              <a:t>Transformación</a:t>
            </a:r>
            <a:r>
              <a:rPr lang="es" sz="1700">
                <a:solidFill>
                  <a:schemeClr val="dk1"/>
                </a:solidFill>
              </a:rPr>
              <a:t>: Limpia, normaliza y estructura los datos para su análisis.</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s" sz="1700" b="1">
                <a:solidFill>
                  <a:schemeClr val="dk1"/>
                </a:solidFill>
              </a:rPr>
              <a:t>Carga (ETL - Extract, Transform, Load):</a:t>
            </a:r>
            <a:r>
              <a:rPr lang="es" sz="1700">
                <a:solidFill>
                  <a:schemeClr val="dk1"/>
                </a:solidFill>
              </a:rPr>
              <a:t> Almacena los datos procesados en el Data Warehouse.</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s" sz="1700" b="1">
                <a:solidFill>
                  <a:schemeClr val="dk1"/>
                </a:solidFill>
              </a:rPr>
              <a:t>Consultas y Reportes:</a:t>
            </a:r>
            <a:r>
              <a:rPr lang="es" sz="1700">
                <a:solidFill>
                  <a:schemeClr val="dk1"/>
                </a:solidFill>
              </a:rPr>
              <a:t> Se generan dashboards, análisis de tendencias y reportes para la toma de decisiones.</a:t>
            </a:r>
            <a:endParaRPr sz="17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g2d853e9ab94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6" name="Google Shape;76;g2d853e9ab94_0_41"/>
          <p:cNvSpPr txBox="1"/>
          <p:nvPr/>
        </p:nvSpPr>
        <p:spPr>
          <a:xfrm>
            <a:off x="46625" y="808050"/>
            <a:ext cx="9043800" cy="433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Beneficios de un Data Warehouse</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Mejora en la toma de decisiones:</a:t>
            </a:r>
            <a:r>
              <a:rPr lang="es" sz="1800">
                <a:solidFill>
                  <a:schemeClr val="dk1"/>
                </a:solidFill>
              </a:rPr>
              <a:t> Datos consolidados y organizados para análisis confiables.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Acceso rápido a información histórica:</a:t>
            </a:r>
            <a:r>
              <a:rPr lang="es" sz="1800">
                <a:solidFill>
                  <a:schemeClr val="dk1"/>
                </a:solidFill>
              </a:rPr>
              <a:t> Facilita comparaciones y predicciones.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Optimización de procesos empresariales:</a:t>
            </a:r>
            <a:r>
              <a:rPr lang="es" sz="1800">
                <a:solidFill>
                  <a:schemeClr val="dk1"/>
                </a:solidFill>
              </a:rPr>
              <a:t> Permite detectar oportunidades y riesgos.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Mayor eficiencia en reportes y análisis:</a:t>
            </a:r>
            <a:r>
              <a:rPr lang="es" sz="1800">
                <a:solidFill>
                  <a:schemeClr val="dk1"/>
                </a:solidFill>
              </a:rPr>
              <a:t> Reduce el tiempo de generación de informes.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g2d8fa948c4e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2" name="Google Shape;82;g2d8fa948c4e_0_0"/>
          <p:cNvSpPr txBox="1"/>
          <p:nvPr/>
        </p:nvSpPr>
        <p:spPr>
          <a:xfrm>
            <a:off x="1942425" y="707025"/>
            <a:ext cx="5003700" cy="44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Modelos de Diseño de un Data Warehouse</a:t>
            </a:r>
            <a:endParaRPr sz="1800" b="1">
              <a:solidFill>
                <a:schemeClr val="dk1"/>
              </a:solidFill>
            </a:endParaRPr>
          </a:p>
        </p:txBody>
      </p:sp>
      <p:sp>
        <p:nvSpPr>
          <p:cNvPr id="83" name="Google Shape;83;g2d8fa948c4e_0_0"/>
          <p:cNvSpPr txBox="1"/>
          <p:nvPr/>
        </p:nvSpPr>
        <p:spPr>
          <a:xfrm>
            <a:off x="85050" y="1149825"/>
            <a:ext cx="8973900" cy="9945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s" sz="1800">
                <a:solidFill>
                  <a:schemeClr val="dk1"/>
                </a:solidFill>
              </a:rPr>
              <a:t>El diseño de un Data Warehouse se basa en distintos modelos que estructuran la información de manera eficiente para facilitar el análisis y la toma de decisiones. Existen tres modelos principales</a:t>
            </a:r>
            <a:endParaRPr sz="1800">
              <a:solidFill>
                <a:schemeClr val="dk1"/>
              </a:solidFill>
            </a:endParaRPr>
          </a:p>
          <a:p>
            <a:pPr marL="0" lvl="0" indent="0" algn="just" rtl="0">
              <a:spcBef>
                <a:spcPts val="1200"/>
              </a:spcBef>
              <a:spcAft>
                <a:spcPts val="0"/>
              </a:spcAft>
              <a:buNone/>
            </a:pPr>
            <a:endParaRPr sz="1800">
              <a:solidFill>
                <a:schemeClr val="dk2"/>
              </a:solidFill>
            </a:endParaRPr>
          </a:p>
        </p:txBody>
      </p:sp>
      <p:sp>
        <p:nvSpPr>
          <p:cNvPr id="84" name="Google Shape;84;g2d8fa948c4e_0_0"/>
          <p:cNvSpPr txBox="1"/>
          <p:nvPr/>
        </p:nvSpPr>
        <p:spPr>
          <a:xfrm>
            <a:off x="38850" y="2315350"/>
            <a:ext cx="9036000" cy="282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endParaRPr sz="18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Esquema Estrella (Star Schema) </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Este modelo es el más simple y común. La información se organiza en una </a:t>
            </a:r>
            <a:r>
              <a:rPr lang="es" sz="1800" b="1">
                <a:solidFill>
                  <a:schemeClr val="dk1"/>
                </a:solidFill>
              </a:rPr>
              <a:t>tabla central de hechos</a:t>
            </a:r>
            <a:r>
              <a:rPr lang="es" sz="1800">
                <a:solidFill>
                  <a:schemeClr val="dk1"/>
                </a:solidFill>
              </a:rPr>
              <a:t> que se conecta con </a:t>
            </a:r>
            <a:r>
              <a:rPr lang="es" sz="1800" b="1">
                <a:solidFill>
                  <a:schemeClr val="dk1"/>
                </a:solidFill>
              </a:rPr>
              <a:t>tablas de dimensiones</a:t>
            </a:r>
            <a:r>
              <a:rPr lang="es" sz="1800">
                <a:solidFill>
                  <a:schemeClr val="dk1"/>
                </a:solidFill>
              </a:rPr>
              <a:t>.</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2d8fa948c4e_0_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0" name="Google Shape;90;g2d8fa948c4e_0_9"/>
          <p:cNvSpPr txBox="1"/>
          <p:nvPr/>
        </p:nvSpPr>
        <p:spPr>
          <a:xfrm>
            <a:off x="31075" y="940125"/>
            <a:ext cx="9051600" cy="4009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91" name="Google Shape;91;g2d8fa948c4e_0_9"/>
          <p:cNvSpPr txBox="1"/>
          <p:nvPr/>
        </p:nvSpPr>
        <p:spPr>
          <a:xfrm>
            <a:off x="46625" y="854650"/>
            <a:ext cx="9005100" cy="428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Tabla de hechos:</a:t>
            </a:r>
            <a:r>
              <a:rPr lang="es" sz="1800">
                <a:solidFill>
                  <a:schemeClr val="dk1"/>
                </a:solidFill>
              </a:rPr>
              <a:t> Contiene datos transaccionales (ventas, ingresos, etc.).</a:t>
            </a:r>
            <a:br>
              <a:rPr lang="es" sz="1800">
                <a:solidFill>
                  <a:schemeClr val="dk1"/>
                </a:solidFill>
              </a:rPr>
            </a:br>
            <a:r>
              <a:rPr lang="es" sz="1800">
                <a:solidFill>
                  <a:schemeClr val="dk1"/>
                </a:solidFill>
              </a:rPr>
              <a:t> </a:t>
            </a:r>
            <a:r>
              <a:rPr lang="es" sz="1800" b="1">
                <a:solidFill>
                  <a:schemeClr val="dk1"/>
                </a:solidFill>
              </a:rPr>
              <a:t>Tablas de dimensiones:</a:t>
            </a:r>
            <a:r>
              <a:rPr lang="es" sz="1800">
                <a:solidFill>
                  <a:schemeClr val="dk1"/>
                </a:solidFill>
              </a:rPr>
              <a:t> Contienen detalles descriptivos (cliente, producto, fecha, etc.).</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Ventajas:</a:t>
            </a:r>
            <a:br>
              <a:rPr lang="es" sz="1800" b="1">
                <a:solidFill>
                  <a:schemeClr val="dk1"/>
                </a:solidFill>
              </a:rPr>
            </a:br>
            <a:r>
              <a:rPr lang="es" sz="1800">
                <a:solidFill>
                  <a:schemeClr val="dk1"/>
                </a:solidFill>
              </a:rPr>
              <a:t> ✔ Consultas rápidas y eficientes.</a:t>
            </a:r>
            <a:br>
              <a:rPr lang="es" sz="1800">
                <a:solidFill>
                  <a:schemeClr val="dk1"/>
                </a:solidFill>
              </a:rPr>
            </a:br>
            <a:r>
              <a:rPr lang="es" sz="1800">
                <a:solidFill>
                  <a:schemeClr val="dk1"/>
                </a:solidFill>
              </a:rPr>
              <a:t> ✔ Fácil de entender y administrar.</a:t>
            </a:r>
            <a:br>
              <a:rPr lang="es" sz="1800">
                <a:solidFill>
                  <a:schemeClr val="dk1"/>
                </a:solidFill>
              </a:rPr>
            </a:br>
            <a:r>
              <a:rPr lang="es" sz="1800">
                <a:solidFill>
                  <a:schemeClr val="dk1"/>
                </a:solidFill>
              </a:rPr>
              <a:t> ✔ Compatible con herramientas de BI (Power BI, Tableau).</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Ejemplo:</a:t>
            </a:r>
            <a:br>
              <a:rPr lang="es" sz="1800" b="1">
                <a:solidFill>
                  <a:schemeClr val="dk1"/>
                </a:solidFill>
              </a:rPr>
            </a:br>
            <a:r>
              <a:rPr lang="es" sz="1800" b="1">
                <a:solidFill>
                  <a:schemeClr val="dk1"/>
                </a:solidFill>
              </a:rPr>
              <a:t>Tabla de Hechos:</a:t>
            </a:r>
            <a:r>
              <a:rPr lang="es" sz="1800">
                <a:solidFill>
                  <a:schemeClr val="dk1"/>
                </a:solidFill>
              </a:rPr>
              <a:t> Ventas (monto, cantidad vendida).</a:t>
            </a:r>
            <a:br>
              <a:rPr lang="es" sz="1800">
                <a:solidFill>
                  <a:schemeClr val="dk1"/>
                </a:solidFill>
              </a:rPr>
            </a:br>
            <a:r>
              <a:rPr lang="es" sz="1800" b="1">
                <a:solidFill>
                  <a:schemeClr val="dk1"/>
                </a:solidFill>
              </a:rPr>
              <a:t>Tablas de Dimensiones:</a:t>
            </a:r>
            <a:r>
              <a:rPr lang="es" sz="1800">
                <a:solidFill>
                  <a:schemeClr val="dk1"/>
                </a:solidFill>
              </a:rPr>
              <a:t> Cliente (nombre, ubicación), Producto (categoría, precio), Fecha (día, mes, año).</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
        <p:nvSpPr>
          <p:cNvPr id="92" name="Google Shape;92;g2d8fa948c4e_0_9"/>
          <p:cNvSpPr txBox="1"/>
          <p:nvPr/>
        </p:nvSpPr>
        <p:spPr>
          <a:xfrm>
            <a:off x="2548450" y="248625"/>
            <a:ext cx="3294300" cy="536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400"/>
              </a:spcBef>
              <a:spcAft>
                <a:spcPts val="400"/>
              </a:spcAft>
              <a:buClr>
                <a:schemeClr val="dk1"/>
              </a:buClr>
              <a:buSzPts val="1100"/>
              <a:buFont typeface="Arial"/>
              <a:buNone/>
            </a:pPr>
            <a:r>
              <a:rPr lang="es" sz="1800" b="1">
                <a:solidFill>
                  <a:schemeClr val="dk1"/>
                </a:solidFill>
              </a:rPr>
              <a:t>Esquema Estrella</a:t>
            </a:r>
            <a:endParaRPr sz="1800">
              <a:solidFill>
                <a:schemeClr val="dk2"/>
              </a:solidFill>
            </a:endParaRPr>
          </a:p>
        </p:txBody>
      </p:sp>
      <p:sp>
        <p:nvSpPr>
          <p:cNvPr id="93" name="Google Shape;93;g2d8fa948c4e_0_9"/>
          <p:cNvSpPr txBox="1"/>
          <p:nvPr/>
        </p:nvSpPr>
        <p:spPr>
          <a:xfrm>
            <a:off x="93225" y="4716175"/>
            <a:ext cx="59826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https://www.youtube.com/watch?v=HvzO18fUjqY</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g2d8fa948c4e_0_1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9" name="Google Shape;99;g2d8fa948c4e_0_13"/>
          <p:cNvSpPr txBox="1"/>
          <p:nvPr/>
        </p:nvSpPr>
        <p:spPr>
          <a:xfrm>
            <a:off x="46625" y="256400"/>
            <a:ext cx="9043800" cy="4747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None/>
            </a:pPr>
            <a:endParaRPr sz="1800" b="1">
              <a:solidFill>
                <a:schemeClr val="dk1"/>
              </a:solidFill>
            </a:endParaRPr>
          </a:p>
          <a:p>
            <a:pPr marL="0" lvl="0" indent="0" algn="ctr" rtl="0">
              <a:lnSpc>
                <a:spcPct val="115000"/>
              </a:lnSpc>
              <a:spcBef>
                <a:spcPts val="1400"/>
              </a:spcBef>
              <a:spcAft>
                <a:spcPts val="0"/>
              </a:spcAft>
              <a:buClr>
                <a:schemeClr val="dk1"/>
              </a:buClr>
              <a:buSzPts val="1100"/>
              <a:buFont typeface="Arial"/>
              <a:buNone/>
            </a:pPr>
            <a:r>
              <a:rPr lang="es" sz="1800" b="1">
                <a:solidFill>
                  <a:schemeClr val="dk1"/>
                </a:solidFill>
              </a:rPr>
              <a:t>Esquema Copo de Nieve (Snowflake Schema)</a:t>
            </a:r>
            <a:endParaRPr sz="1800" b="1">
              <a:solidFill>
                <a:schemeClr val="dk1"/>
              </a:solidFill>
            </a:endParaRPr>
          </a:p>
          <a:p>
            <a:pPr marL="0" lvl="0" indent="0" algn="just" rtl="0">
              <a:lnSpc>
                <a:spcPct val="115000"/>
              </a:lnSpc>
              <a:spcBef>
                <a:spcPts val="1200"/>
              </a:spcBef>
              <a:spcAft>
                <a:spcPts val="0"/>
              </a:spcAft>
              <a:buNone/>
            </a:pPr>
            <a:r>
              <a:rPr lang="es" sz="1800">
                <a:solidFill>
                  <a:schemeClr val="dk1"/>
                </a:solidFill>
              </a:rPr>
              <a:t>Es una extensión del esquema estrella donde las </a:t>
            </a:r>
            <a:r>
              <a:rPr lang="es" sz="1800" b="1">
                <a:solidFill>
                  <a:schemeClr val="dk1"/>
                </a:solidFill>
              </a:rPr>
              <a:t>tablas de dimensiones están normalizadas</a:t>
            </a:r>
            <a:r>
              <a:rPr lang="es" sz="1800">
                <a:solidFill>
                  <a:schemeClr val="dk1"/>
                </a:solidFill>
              </a:rPr>
              <a:t>, es decir, divididas en subtablas para reducir redundancia.</a:t>
            </a:r>
            <a:endParaRPr sz="1800">
              <a:solidFill>
                <a:schemeClr val="dk1"/>
              </a:solidFill>
            </a:endParaRPr>
          </a:p>
          <a:p>
            <a:pPr marL="0" lvl="0" indent="0" algn="l" rtl="0">
              <a:lnSpc>
                <a:spcPct val="115000"/>
              </a:lnSpc>
              <a:spcBef>
                <a:spcPts val="1200"/>
              </a:spcBef>
              <a:spcAft>
                <a:spcPts val="0"/>
              </a:spcAft>
              <a:buNone/>
            </a:pPr>
            <a:r>
              <a:rPr lang="es" sz="1800" b="1">
                <a:solidFill>
                  <a:schemeClr val="dk1"/>
                </a:solidFill>
              </a:rPr>
              <a:t>Ventajas:</a:t>
            </a:r>
            <a:br>
              <a:rPr lang="es" sz="1800" b="1">
                <a:solidFill>
                  <a:schemeClr val="dk1"/>
                </a:solidFill>
              </a:rPr>
            </a:br>
            <a:r>
              <a:rPr lang="es" sz="1800">
                <a:solidFill>
                  <a:schemeClr val="dk1"/>
                </a:solidFill>
              </a:rPr>
              <a:t> ✔ Ahorro de espacio y reducción de redundancia.</a:t>
            </a:r>
            <a:br>
              <a:rPr lang="es" sz="1800">
                <a:solidFill>
                  <a:schemeClr val="dk1"/>
                </a:solidFill>
              </a:rPr>
            </a:br>
            <a:r>
              <a:rPr lang="es" sz="1800">
                <a:solidFill>
                  <a:schemeClr val="dk1"/>
                </a:solidFill>
              </a:rPr>
              <a:t> ✔ Útil cuando hay muchas dimensiones con datos repetitivos.</a:t>
            </a:r>
            <a:endParaRPr sz="1800">
              <a:solidFill>
                <a:schemeClr val="dk1"/>
              </a:solidFill>
            </a:endParaRPr>
          </a:p>
          <a:p>
            <a:pPr marL="0" lvl="0" indent="0" algn="l" rtl="0">
              <a:lnSpc>
                <a:spcPct val="115000"/>
              </a:lnSpc>
              <a:spcBef>
                <a:spcPts val="1200"/>
              </a:spcBef>
              <a:spcAft>
                <a:spcPts val="0"/>
              </a:spcAft>
              <a:buNone/>
            </a:pPr>
            <a:r>
              <a:rPr lang="es" sz="1800" b="1">
                <a:solidFill>
                  <a:schemeClr val="dk1"/>
                </a:solidFill>
              </a:rPr>
              <a:t>Desventajas:</a:t>
            </a:r>
            <a:br>
              <a:rPr lang="es" sz="1800" b="1">
                <a:solidFill>
                  <a:schemeClr val="dk1"/>
                </a:solidFill>
              </a:rPr>
            </a:br>
            <a:r>
              <a:rPr lang="es" sz="1800">
                <a:solidFill>
                  <a:schemeClr val="dk1"/>
                </a:solidFill>
              </a:rPr>
              <a:t> ✔ Consultas más complejas y lentas debido a múltiples uniones de tablas.</a:t>
            </a:r>
            <a:endParaRPr sz="1800">
              <a:solidFill>
                <a:schemeClr val="dk1"/>
              </a:solidFill>
            </a:endParaRPr>
          </a:p>
          <a:p>
            <a:pPr marL="0" lvl="0" indent="0" algn="just" rtl="0">
              <a:lnSpc>
                <a:spcPct val="115000"/>
              </a:lnSpc>
              <a:spcBef>
                <a:spcPts val="1200"/>
              </a:spcBef>
              <a:spcAft>
                <a:spcPts val="0"/>
              </a:spcAft>
              <a:buClr>
                <a:schemeClr val="dk1"/>
              </a:buClr>
              <a:buSzPts val="1100"/>
              <a:buFont typeface="Arial"/>
              <a:buNone/>
            </a:pPr>
            <a:endParaRPr sz="1800">
              <a:solidFill>
                <a:schemeClr val="dk1"/>
              </a:solidFill>
            </a:endParaRPr>
          </a:p>
          <a:p>
            <a:pPr marL="0" lvl="0" indent="0" algn="just" rtl="0">
              <a:spcBef>
                <a:spcPts val="1200"/>
              </a:spcBef>
              <a:spcAft>
                <a:spcPts val="0"/>
              </a:spcAft>
              <a:buNone/>
            </a:pPr>
            <a:endParaRPr sz="1800">
              <a:solidFill>
                <a:schemeClr val="dk2"/>
              </a:solidFill>
            </a:endParaRPr>
          </a:p>
        </p:txBody>
      </p:sp>
      <p:sp>
        <p:nvSpPr>
          <p:cNvPr id="100" name="Google Shape;100;g2d8fa948c4e_0_13"/>
          <p:cNvSpPr txBox="1"/>
          <p:nvPr/>
        </p:nvSpPr>
        <p:spPr>
          <a:xfrm>
            <a:off x="38850" y="4622925"/>
            <a:ext cx="6044700" cy="45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https://www.youtube.com/watch?v=8wcFCAPLQZg</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g2d8fa948c4e_0_2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6" name="Google Shape;106;g2d8fa948c4e_0_21"/>
          <p:cNvSpPr txBox="1"/>
          <p:nvPr/>
        </p:nvSpPr>
        <p:spPr>
          <a:xfrm>
            <a:off x="38850" y="792500"/>
            <a:ext cx="9059400" cy="385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400"/>
              </a:spcBef>
              <a:spcAft>
                <a:spcPts val="0"/>
              </a:spcAft>
              <a:buClr>
                <a:schemeClr val="dk1"/>
              </a:buClr>
              <a:buSzPts val="1100"/>
              <a:buFont typeface="Arial"/>
              <a:buNone/>
            </a:pPr>
            <a:r>
              <a:rPr lang="es" sz="1800" b="1">
                <a:solidFill>
                  <a:schemeClr val="dk1"/>
                </a:solidFill>
              </a:rPr>
              <a:t>Esquema Constelación de Hechos (Fact Constellation Schema)</a:t>
            </a:r>
            <a:endParaRPr sz="18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 sz="1800">
                <a:solidFill>
                  <a:schemeClr val="dk1"/>
                </a:solidFill>
              </a:rPr>
              <a:t>Este modelo es una combinación de varios esquemas estrella y permite que múltiples tablas de hechos compartan dimensiones comunes.</a:t>
            </a:r>
            <a:endParaRPr sz="1800">
              <a:solidFill>
                <a:schemeClr val="dk1"/>
              </a:solidFill>
            </a:endParaRPr>
          </a:p>
          <a:p>
            <a:pPr marL="0" lvl="0" indent="0" algn="l" rtl="0">
              <a:lnSpc>
                <a:spcPct val="115000"/>
              </a:lnSpc>
              <a:spcBef>
                <a:spcPts val="1200"/>
              </a:spcBef>
              <a:spcAft>
                <a:spcPts val="0"/>
              </a:spcAft>
              <a:buNone/>
            </a:pPr>
            <a:r>
              <a:rPr lang="es" sz="1800" b="1">
                <a:solidFill>
                  <a:schemeClr val="dk1"/>
                </a:solidFill>
              </a:rPr>
              <a:t>Ventajas:</a:t>
            </a:r>
            <a:br>
              <a:rPr lang="es" sz="1800" b="1">
                <a:solidFill>
                  <a:schemeClr val="dk1"/>
                </a:solidFill>
              </a:rPr>
            </a:br>
            <a:r>
              <a:rPr lang="es" sz="1800">
                <a:solidFill>
                  <a:schemeClr val="dk1"/>
                </a:solidFill>
              </a:rPr>
              <a:t> ✔ Permite modelar escenarios empresariales más complejos.</a:t>
            </a:r>
            <a:br>
              <a:rPr lang="es" sz="1800">
                <a:solidFill>
                  <a:schemeClr val="dk1"/>
                </a:solidFill>
              </a:rPr>
            </a:br>
            <a:r>
              <a:rPr lang="es" sz="1800">
                <a:solidFill>
                  <a:schemeClr val="dk1"/>
                </a:solidFill>
              </a:rPr>
              <a:t> ✔ Más flexible para análisis de múltiples procesos de negocio.</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Desventajas:</a:t>
            </a:r>
            <a:br>
              <a:rPr lang="es" sz="1800" b="1">
                <a:solidFill>
                  <a:schemeClr val="dk1"/>
                </a:solidFill>
              </a:rPr>
            </a:br>
            <a:r>
              <a:rPr lang="es" sz="1800">
                <a:solidFill>
                  <a:schemeClr val="dk1"/>
                </a:solidFill>
              </a:rPr>
              <a:t>  ✔ Mayor complejidad en el diseño y consultas más pesadas.</a:t>
            </a:r>
            <a:endParaRPr sz="1800">
              <a:solidFill>
                <a:schemeClr val="dk1"/>
              </a:solidFill>
            </a:endParaRPr>
          </a:p>
          <a:p>
            <a:pPr marL="0" lvl="0" indent="0" algn="l" rtl="0">
              <a:spcBef>
                <a:spcPts val="1200"/>
              </a:spcBef>
              <a:spcAft>
                <a:spcPts val="0"/>
              </a:spcAft>
              <a:buNone/>
            </a:pPr>
            <a:endParaRPr sz="1800" b="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g33ef33d4d85_0_6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2" name="Google Shape;112;g33ef33d4d85_0_64"/>
          <p:cNvSpPr txBox="1"/>
          <p:nvPr/>
        </p:nvSpPr>
        <p:spPr>
          <a:xfrm>
            <a:off x="42300" y="683725"/>
            <a:ext cx="9059400" cy="4172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s" sz="1800" b="1">
                <a:solidFill>
                  <a:schemeClr val="dk1"/>
                </a:solidFill>
              </a:rPr>
              <a:t>Herramientas Populares para Data Warehousing</a:t>
            </a:r>
            <a:endParaRPr sz="1800" b="1">
              <a:solidFill>
                <a:schemeClr val="dk1"/>
              </a:solidFill>
            </a:endParaRPr>
          </a:p>
          <a:p>
            <a:pPr marL="0" lvl="0" indent="0" algn="l" rtl="0">
              <a:lnSpc>
                <a:spcPct val="115000"/>
              </a:lnSpc>
              <a:spcBef>
                <a:spcPts val="1800"/>
              </a:spcBef>
              <a:spcAft>
                <a:spcPts val="0"/>
              </a:spcAft>
              <a:buNone/>
            </a:pPr>
            <a:endParaRPr sz="1800" b="1">
              <a:solidFill>
                <a:schemeClr val="dk1"/>
              </a:solidFill>
            </a:endParaRPr>
          </a:p>
          <a:p>
            <a:pPr marL="457200" lvl="0" indent="-342900" algn="l" rtl="0">
              <a:lnSpc>
                <a:spcPct val="115000"/>
              </a:lnSpc>
              <a:spcBef>
                <a:spcPts val="1800"/>
              </a:spcBef>
              <a:spcAft>
                <a:spcPts val="0"/>
              </a:spcAft>
              <a:buClr>
                <a:schemeClr val="dk1"/>
              </a:buClr>
              <a:buSzPts val="1800"/>
              <a:buChar char="●"/>
            </a:pPr>
            <a:r>
              <a:rPr lang="es" sz="1800" b="1">
                <a:solidFill>
                  <a:schemeClr val="dk1"/>
                </a:solidFill>
              </a:rPr>
              <a:t>Amazon Redshift – </a:t>
            </a:r>
            <a:r>
              <a:rPr lang="es" sz="1800">
                <a:solidFill>
                  <a:schemeClr val="dk1"/>
                </a:solidFill>
              </a:rPr>
              <a:t>Solución escalable en la nube.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Google BigQuery – </a:t>
            </a:r>
            <a:r>
              <a:rPr lang="es" sz="1800">
                <a:solidFill>
                  <a:schemeClr val="dk1"/>
                </a:solidFill>
              </a:rPr>
              <a:t>Análisis rápido y eficiente con Big Data.</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Microsoft Azure Synapse Analytics – </a:t>
            </a:r>
            <a:r>
              <a:rPr lang="es" sz="1800">
                <a:solidFill>
                  <a:schemeClr val="dk1"/>
                </a:solidFill>
              </a:rPr>
              <a:t>Integración con herramientas de BI.</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Snowflake – </a:t>
            </a:r>
            <a:r>
              <a:rPr lang="es" sz="1800">
                <a:solidFill>
                  <a:schemeClr val="dk1"/>
                </a:solidFill>
              </a:rPr>
              <a:t>Plataforma en la nube con alta disponibilidad.</a:t>
            </a:r>
            <a:endParaRPr sz="1800">
              <a:solidFill>
                <a:schemeClr val="dk1"/>
              </a:solidFill>
            </a:endParaRPr>
          </a:p>
          <a:p>
            <a:pPr marL="0" lvl="0" indent="0" algn="l" rtl="0">
              <a:lnSpc>
                <a:spcPct val="115000"/>
              </a:lnSpc>
              <a:spcBef>
                <a:spcPts val="1800"/>
              </a:spcBef>
              <a:spcAft>
                <a:spcPts val="0"/>
              </a:spcAft>
              <a:buNone/>
            </a:pPr>
            <a:endParaRPr sz="1800" b="1">
              <a:solidFill>
                <a:schemeClr val="dk1"/>
              </a:solidFill>
            </a:endParaRPr>
          </a:p>
          <a:p>
            <a:pPr marL="0" lvl="0" indent="0" algn="l" rtl="0">
              <a:lnSpc>
                <a:spcPct val="115000"/>
              </a:lnSpc>
              <a:spcBef>
                <a:spcPts val="1200"/>
              </a:spcBef>
              <a:spcAft>
                <a:spcPts val="0"/>
              </a:spcAft>
              <a:buNone/>
            </a:pPr>
            <a:endParaRPr sz="1800">
              <a:solidFill>
                <a:schemeClr val="dk1"/>
              </a:solidFill>
            </a:endParaRPr>
          </a:p>
          <a:p>
            <a:pPr marL="0" lvl="0" indent="0" algn="l" rtl="0">
              <a:spcBef>
                <a:spcPts val="1200"/>
              </a:spcBef>
              <a:spcAft>
                <a:spcPts val="0"/>
              </a:spcAft>
              <a:buNone/>
            </a:pPr>
            <a:endParaRPr sz="1800"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g2d8fa948c4e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8" name="Google Shape;118;g2d8fa948c4e_0_25"/>
          <p:cNvSpPr txBox="1"/>
          <p:nvPr/>
        </p:nvSpPr>
        <p:spPr>
          <a:xfrm>
            <a:off x="2237650" y="240850"/>
            <a:ext cx="4079100" cy="6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Tipos de Datos de Data Warehouse</a:t>
            </a:r>
            <a:endParaRPr sz="1800" b="1">
              <a:solidFill>
                <a:schemeClr val="dk1"/>
              </a:solidFill>
            </a:endParaRPr>
          </a:p>
        </p:txBody>
      </p:sp>
      <p:sp>
        <p:nvSpPr>
          <p:cNvPr id="119" name="Google Shape;119;g2d8fa948c4e_0_25"/>
          <p:cNvSpPr txBox="1"/>
          <p:nvPr/>
        </p:nvSpPr>
        <p:spPr>
          <a:xfrm>
            <a:off x="42300" y="683725"/>
            <a:ext cx="9059400" cy="417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800" b="1" dirty="0">
              <a:solidFill>
                <a:schemeClr val="dk1"/>
              </a:solidFill>
            </a:endParaRPr>
          </a:p>
          <a:p>
            <a:pPr marL="0" lvl="0" indent="0" algn="ctr" rtl="0">
              <a:spcBef>
                <a:spcPts val="0"/>
              </a:spcBef>
              <a:spcAft>
                <a:spcPts val="0"/>
              </a:spcAft>
              <a:buNone/>
            </a:pPr>
            <a:r>
              <a:rPr lang="es" sz="1800" b="1" dirty="0">
                <a:solidFill>
                  <a:schemeClr val="dk1"/>
                </a:solidFill>
              </a:rPr>
              <a:t>Enterprise Data Warehouse</a:t>
            </a:r>
            <a:r>
              <a:rPr lang="es" sz="1800" dirty="0">
                <a:solidFill>
                  <a:schemeClr val="dk1"/>
                </a:solidFill>
              </a:rPr>
              <a:t> </a:t>
            </a:r>
            <a:endParaRPr sz="1800" dirty="0">
              <a:solidFill>
                <a:schemeClr val="dk1"/>
              </a:solidFill>
            </a:endParaRPr>
          </a:p>
          <a:p>
            <a:pPr marL="0" lvl="0" indent="0" algn="ctr" rtl="0">
              <a:spcBef>
                <a:spcPts val="0"/>
              </a:spcBef>
              <a:spcAft>
                <a:spcPts val="0"/>
              </a:spcAft>
              <a:buNone/>
            </a:pPr>
            <a:endParaRPr sz="1800" dirty="0">
              <a:solidFill>
                <a:schemeClr val="dk1"/>
              </a:solidFill>
            </a:endParaRPr>
          </a:p>
          <a:p>
            <a:pPr marL="0" lvl="0" indent="0" algn="ctr" rtl="0">
              <a:spcBef>
                <a:spcPts val="0"/>
              </a:spcBef>
              <a:spcAft>
                <a:spcPts val="0"/>
              </a:spcAft>
              <a:buClr>
                <a:schemeClr val="dk1"/>
              </a:buClr>
              <a:buSzPts val="1100"/>
              <a:buFont typeface="Arial"/>
              <a:buNone/>
            </a:pPr>
            <a:endParaRPr sz="1800" dirty="0">
              <a:solidFill>
                <a:schemeClr val="dk1"/>
              </a:solidFill>
            </a:endParaRPr>
          </a:p>
          <a:p>
            <a:pPr marL="0" lvl="0" indent="0" algn="just" rtl="0">
              <a:spcBef>
                <a:spcPts val="0"/>
              </a:spcBef>
              <a:spcAft>
                <a:spcPts val="0"/>
              </a:spcAft>
              <a:buClr>
                <a:schemeClr val="dk1"/>
              </a:buClr>
              <a:buSzPts val="1100"/>
              <a:buFont typeface="Arial"/>
              <a:buNone/>
            </a:pPr>
            <a:r>
              <a:rPr lang="es" sz="1800" dirty="0">
                <a:solidFill>
                  <a:schemeClr val="dk1"/>
                </a:solidFill>
              </a:rPr>
              <a:t>Es un almacenamiento de datos centralizado, unifica toda la información de una organización para que toda la empresa pueda tener acceso. Ofrece un servicio en el que apoya la toma de decisiones en la empresa. Se enfoca principalmente en organizar y representar los datos, también se obtiene la capacidad de clasificar los datos según el usuario y dar acceso de acuerdo a las restricciones internas.</a:t>
            </a:r>
            <a:endParaRPr sz="1800" dirty="0">
              <a:solidFill>
                <a:schemeClr val="dk1"/>
              </a:solidFill>
            </a:endParaRPr>
          </a:p>
          <a:p>
            <a:pPr marL="0" lvl="0" indent="0" algn="l" rtl="0">
              <a:spcBef>
                <a:spcPts val="0"/>
              </a:spcBef>
              <a:spcAft>
                <a:spcPts val="0"/>
              </a:spcAft>
              <a:buNone/>
            </a:pPr>
            <a:endParaRPr sz="18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g2d8fa948c4e_0_29"/>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25" name="Google Shape;125;g2d8fa948c4e_0_29"/>
          <p:cNvPicPr preferRelativeResize="0"/>
          <p:nvPr/>
        </p:nvPicPr>
        <p:blipFill>
          <a:blip r:embed="rId4">
            <a:alphaModFix/>
          </a:blip>
          <a:stretch>
            <a:fillRect/>
          </a:stretch>
        </p:blipFill>
        <p:spPr>
          <a:xfrm>
            <a:off x="77700" y="745875"/>
            <a:ext cx="8973926" cy="4397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g2d8fa948c4e_0_1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1" name="Google Shape;131;g2d8fa948c4e_0_17"/>
          <p:cNvSpPr txBox="1"/>
          <p:nvPr/>
        </p:nvSpPr>
        <p:spPr>
          <a:xfrm>
            <a:off x="46625" y="776975"/>
            <a:ext cx="9012900" cy="376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Operational Data Store (ODS)</a:t>
            </a: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l" rtl="0">
              <a:spcBef>
                <a:spcPts val="0"/>
              </a:spcBef>
              <a:spcAft>
                <a:spcPts val="0"/>
              </a:spcAft>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También conocido como ODS, es un almacén de datos, que cuando el almacenamiento de datos y los sistemas OLTP no admiten las necesidades de los informes de las organizaciones. En ODS, todo el almacenamiento de datos se actualiza en tiempo real y/o con baja latencia de actualización, y por eso mismo se utiliza habitualmente para actividades rutinarias, como es el almacenamiento de registros de la operación de la empresa y transacciones de venta. En pocas palabras, es un tipo de base de datos que se utiliza habitualmente como un área lógica provisional para un almacén de datos.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g2d8fa948c4e_0_33"/>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37" name="Google Shape;137;g2d8fa948c4e_0_33"/>
          <p:cNvPicPr preferRelativeResize="0"/>
          <p:nvPr/>
        </p:nvPicPr>
        <p:blipFill>
          <a:blip r:embed="rId4">
            <a:alphaModFix/>
          </a:blip>
          <a:stretch>
            <a:fillRect/>
          </a:stretch>
        </p:blipFill>
        <p:spPr>
          <a:xfrm>
            <a:off x="8450" y="742925"/>
            <a:ext cx="9127100" cy="4400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dcf99f76a9_0_3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3" name="Google Shape;143;g2dcf99f76a9_0_39"/>
          <p:cNvSpPr txBox="1"/>
          <p:nvPr/>
        </p:nvSpPr>
        <p:spPr>
          <a:xfrm>
            <a:off x="7775" y="745875"/>
            <a:ext cx="9082800" cy="418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Data Mart</a:t>
            </a: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Un Data Mart es un subconjunto del almacenamiento de datos orientado a un área específica, también conocido como base de información departamental. Está especialmente diseñado para una línea de negocio particular, como ventas o finanzas. En un Data Mart independiente, los datos pueden recopilarse directamente de las fuentes. Tiene diversas funciones como organizar la información para posteriormente analizarla, realizar indicadores (KPI), evaluar los objetivos del sector que se está analizando, etc. El objetivo es realizar un análisis detallado sobre lo que ocurre en un negocio.</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g2d8fa948c4e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9" name="Google Shape;149;g2d8fa948c4e_0_41"/>
          <p:cNvSpPr txBox="1"/>
          <p:nvPr/>
        </p:nvSpPr>
        <p:spPr>
          <a:xfrm>
            <a:off x="15550" y="730350"/>
            <a:ext cx="9043800" cy="4366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150" name="Google Shape;150;g2d8fa948c4e_0_41"/>
          <p:cNvPicPr preferRelativeResize="0"/>
          <p:nvPr/>
        </p:nvPicPr>
        <p:blipFill>
          <a:blip r:embed="rId4">
            <a:alphaModFix/>
          </a:blip>
          <a:stretch>
            <a:fillRect/>
          </a:stretch>
        </p:blipFill>
        <p:spPr>
          <a:xfrm>
            <a:off x="62150" y="1133475"/>
            <a:ext cx="8997200" cy="3792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g2d8fa948c4e_0_3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6" name="Google Shape;156;g2d8fa948c4e_0_37"/>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7" name="Google Shape;157;g2d8fa948c4e_0_37"/>
          <p:cNvSpPr txBox="1"/>
          <p:nvPr/>
        </p:nvSpPr>
        <p:spPr>
          <a:xfrm>
            <a:off x="46625" y="800275"/>
            <a:ext cx="9043800" cy="411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r>
              <a:rPr lang="es" sz="1800" b="1">
                <a:solidFill>
                  <a:schemeClr val="dk1"/>
                </a:solidFill>
              </a:rPr>
              <a:t>Data Lake</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Es un repositorio centrado en almacenar gran cantidad de datos estructurados y sin estructurar sin importar su escala. Permite almacenar los datos tal cual vienen sin necesidad de ser estructurados. Ejecuta diferentes tipos de análisis, dashboards y visualizaciones, además de generar procesos de big data, análisis en tiempo real y de Machine Learning que facilitan la toma de decisiones.</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g339a09cea51_0_0"/>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63" name="Google Shape;163;g339a09cea51_0_0"/>
          <p:cNvPicPr preferRelativeResize="0"/>
          <p:nvPr/>
        </p:nvPicPr>
        <p:blipFill>
          <a:blip r:embed="rId4">
            <a:alphaModFix/>
          </a:blip>
          <a:stretch>
            <a:fillRect/>
          </a:stretch>
        </p:blipFill>
        <p:spPr>
          <a:xfrm>
            <a:off x="8450" y="761425"/>
            <a:ext cx="9127100" cy="425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g339a09cea51_0_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9" name="Google Shape;169;g339a09cea51_0_5"/>
          <p:cNvSpPr txBox="1"/>
          <p:nvPr/>
        </p:nvSpPr>
        <p:spPr>
          <a:xfrm>
            <a:off x="2470750" y="178700"/>
            <a:ext cx="3605100" cy="41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2"/>
                </a:solidFill>
              </a:rPr>
              <a:t>Flujo de Integración Data Warehouse</a:t>
            </a:r>
            <a:endParaRPr sz="1800" b="1">
              <a:solidFill>
                <a:schemeClr val="dk2"/>
              </a:solidFill>
            </a:endParaRPr>
          </a:p>
        </p:txBody>
      </p:sp>
      <p:sp>
        <p:nvSpPr>
          <p:cNvPr id="170" name="Google Shape;170;g339a09cea51_0_5"/>
          <p:cNvSpPr txBox="1"/>
          <p:nvPr/>
        </p:nvSpPr>
        <p:spPr>
          <a:xfrm>
            <a:off x="7775" y="901275"/>
            <a:ext cx="9075000" cy="4133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Todas las estructuras de datos son importantes y cuentan con una gran funcionalidad según sus respectivos propósitos y perfiles de usuario. Por lo que es necesario comprender las diferencias y similitudes de cada una, para así poder identificar cual se adapta mejor a las necesidades de cada empresa o bien si se requiere de una estructura de Data Warehouse íntegra para satisfacer los requerimientos.</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La implementación de un Data Warehouse en las empresas es de suma importancia, ya que permite a los usuarios acceder de una manera fácil a una gran cantidad de datos, analizarlos y proporcionar información importante sobre las diversas actividades de la organización.</a:t>
            </a:r>
            <a:endParaRPr sz="1800">
              <a:solidFill>
                <a:schemeClr val="dk1"/>
              </a:solidFill>
            </a:endParaRPr>
          </a:p>
          <a:p>
            <a:pPr marL="0" lvl="0" indent="0" algn="just" rtl="0">
              <a:spcBef>
                <a:spcPts val="0"/>
              </a:spcBef>
              <a:spcAft>
                <a:spcPts val="0"/>
              </a:spcAft>
              <a:buNone/>
            </a:pP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g339a09cea51_0_1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6" name="Google Shape;176;g339a09cea51_0_1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77" name="Google Shape;177;g339a09cea51_0_10"/>
          <p:cNvPicPr preferRelativeResize="0"/>
          <p:nvPr/>
        </p:nvPicPr>
        <p:blipFill>
          <a:blip r:embed="rId4">
            <a:alphaModFix/>
          </a:blip>
          <a:stretch>
            <a:fillRect/>
          </a:stretch>
        </p:blipFill>
        <p:spPr>
          <a:xfrm>
            <a:off x="8450" y="411800"/>
            <a:ext cx="9089799" cy="4731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34156db3297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5" name="Google Shape;135;g34156db3297_0_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endParaRPr sz="1800">
              <a:solidFill>
                <a:schemeClr val="dk1"/>
              </a:solidFill>
            </a:endParaRPr>
          </a:p>
          <a:p>
            <a:pPr marL="0" marR="0" lvl="0" indent="0" algn="just" rtl="0">
              <a:lnSpc>
                <a:spcPct val="115000"/>
              </a:lnSpc>
              <a:spcBef>
                <a:spcPts val="0"/>
              </a:spcBef>
              <a:spcAft>
                <a:spcPts val="0"/>
              </a:spcAft>
              <a:buClr>
                <a:srgbClr val="000000"/>
              </a:buClr>
              <a:buSzPts val="1800"/>
              <a:buFont typeface="Arial"/>
              <a:buNone/>
            </a:pPr>
            <a:endParaRPr sz="1800">
              <a:solidFill>
                <a:schemeClr val="dk1"/>
              </a:solidFill>
            </a:endParaRPr>
          </a:p>
          <a:p>
            <a:pPr marL="0" marR="0" lvl="0" indent="0" algn="just" rtl="0">
              <a:lnSpc>
                <a:spcPct val="115000"/>
              </a:lnSpc>
              <a:spcBef>
                <a:spcPts val="0"/>
              </a:spcBef>
              <a:spcAft>
                <a:spcPts val="0"/>
              </a:spcAft>
              <a:buClr>
                <a:srgbClr val="000000"/>
              </a:buClr>
              <a:buSzPts val="1800"/>
              <a:buFont typeface="Arial"/>
              <a:buNone/>
            </a:pPr>
            <a:r>
              <a:rPr lang="es" sz="1800">
                <a:solidFill>
                  <a:schemeClr val="dk1"/>
                </a:solidFill>
              </a:rPr>
              <a:t>El </a:t>
            </a:r>
            <a:r>
              <a:rPr lang="es" sz="1800" b="1">
                <a:solidFill>
                  <a:schemeClr val="dk1"/>
                </a:solidFill>
              </a:rPr>
              <a:t>Data Mining</a:t>
            </a:r>
            <a:r>
              <a:rPr lang="es" sz="1800">
                <a:solidFill>
                  <a:schemeClr val="dk1"/>
                </a:solidFill>
              </a:rPr>
              <a:t> o </a:t>
            </a:r>
            <a:r>
              <a:rPr lang="es" sz="1800" b="1">
                <a:solidFill>
                  <a:schemeClr val="dk1"/>
                </a:solidFill>
              </a:rPr>
              <a:t>Minería de Datos</a:t>
            </a:r>
            <a:r>
              <a:rPr lang="es" sz="1800">
                <a:solidFill>
                  <a:schemeClr val="dk1"/>
                </a:solidFill>
              </a:rPr>
              <a:t> es el proceso de </a:t>
            </a:r>
            <a:r>
              <a:rPr lang="es" sz="1800" b="1">
                <a:solidFill>
                  <a:schemeClr val="dk1"/>
                </a:solidFill>
              </a:rPr>
              <a:t>descubrir patrones, relaciones y tendencias ocultas</a:t>
            </a:r>
            <a:r>
              <a:rPr lang="es" sz="1800">
                <a:solidFill>
                  <a:schemeClr val="dk1"/>
                </a:solidFill>
              </a:rPr>
              <a:t> en grandes volúmenes de datos mediante técnicas de estadística, inteligencia artificial y machine learning. Su objetivo es transformar datos en información útil para la </a:t>
            </a:r>
            <a:r>
              <a:rPr lang="es" sz="1800" b="1">
                <a:solidFill>
                  <a:schemeClr val="dk1"/>
                </a:solidFill>
              </a:rPr>
              <a:t>toma de decisiones estratégicas</a:t>
            </a:r>
            <a:r>
              <a:rPr lang="es" sz="1800">
                <a:solidFill>
                  <a:schemeClr val="dk1"/>
                </a:solidFill>
              </a:rPr>
              <a:t> en las empresas.</a:t>
            </a:r>
            <a:endParaRPr sz="1800" b="0" i="0" u="none" strike="noStrike" cap="none">
              <a:solidFill>
                <a:schemeClr val="dk1"/>
              </a:solidFill>
              <a:latin typeface="Arial"/>
              <a:ea typeface="Arial"/>
              <a:cs typeface="Arial"/>
              <a:sym typeface="Arial"/>
            </a:endParaRPr>
          </a:p>
        </p:txBody>
      </p:sp>
      <p:sp>
        <p:nvSpPr>
          <p:cNvPr id="136" name="Google Shape;136;g34156db3297_0_0"/>
          <p:cNvSpPr txBox="1"/>
          <p:nvPr/>
        </p:nvSpPr>
        <p:spPr>
          <a:xfrm>
            <a:off x="2672750" y="279700"/>
            <a:ext cx="2789400" cy="35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Datamining</a:t>
            </a:r>
            <a:endParaRPr sz="1800" b="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g34156db3297_0_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2" name="Google Shape;142;g34156db3297_0_6"/>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s" sz="1800" b="1">
                <a:solidFill>
                  <a:schemeClr val="dk1"/>
                </a:solidFill>
              </a:rPr>
              <a:t>Características Clave de Data Mining.</a:t>
            </a:r>
            <a:endParaRPr sz="1800" b="1">
              <a:solidFill>
                <a:schemeClr val="dk1"/>
              </a:solidFill>
            </a:endParaRPr>
          </a:p>
          <a:p>
            <a:pPr marL="0" lvl="0" indent="0" algn="l" rtl="0">
              <a:lnSpc>
                <a:spcPct val="115000"/>
              </a:lnSpc>
              <a:spcBef>
                <a:spcPts val="1800"/>
              </a:spcBef>
              <a:spcAft>
                <a:spcPts val="0"/>
              </a:spcAft>
              <a:buClr>
                <a:schemeClr val="dk1"/>
              </a:buClr>
              <a:buSzPts val="1100"/>
              <a:buFont typeface="Arial"/>
              <a:buNone/>
            </a:pPr>
            <a:endParaRPr sz="180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s" sz="1800">
                <a:solidFill>
                  <a:schemeClr val="dk1"/>
                </a:solidFill>
              </a:rPr>
              <a:t>✔ Identificación de patrones y correlaciones en grandes conjuntos de datos.</a:t>
            </a:r>
            <a:br>
              <a:rPr lang="es" sz="1800">
                <a:solidFill>
                  <a:schemeClr val="dk1"/>
                </a:solidFill>
              </a:rPr>
            </a:br>
            <a:r>
              <a:rPr lang="es" sz="1800">
                <a:solidFill>
                  <a:schemeClr val="dk1"/>
                </a:solidFill>
              </a:rPr>
              <a:t> ✔ Predicción de comportamientos y tendencias futuras.</a:t>
            </a:r>
            <a:br>
              <a:rPr lang="es" sz="1800">
                <a:solidFill>
                  <a:schemeClr val="dk1"/>
                </a:solidFill>
              </a:rPr>
            </a:br>
            <a:r>
              <a:rPr lang="es" sz="1800">
                <a:solidFill>
                  <a:schemeClr val="dk1"/>
                </a:solidFill>
              </a:rPr>
              <a:t> ✔ Segmentación y clasificación de clientes o productos.</a:t>
            </a:r>
            <a:br>
              <a:rPr lang="es" sz="1800">
                <a:solidFill>
                  <a:schemeClr val="dk1"/>
                </a:solidFill>
              </a:rPr>
            </a:br>
            <a:r>
              <a:rPr lang="es" sz="1800">
                <a:solidFill>
                  <a:schemeClr val="dk1"/>
                </a:solidFill>
              </a:rPr>
              <a:t> ✔ Detección de anomalías y fraudes.</a:t>
            </a:r>
            <a:br>
              <a:rPr lang="es" sz="1800">
                <a:solidFill>
                  <a:schemeClr val="dk1"/>
                </a:solidFill>
              </a:rPr>
            </a:br>
            <a:r>
              <a:rPr lang="es" sz="1800">
                <a:solidFill>
                  <a:schemeClr val="dk1"/>
                </a:solidFill>
              </a:rPr>
              <a:t> ✔ Automatización del análisis de datos mediante algoritmos de IA.</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4156db3297_0_12"/>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8" name="Google Shape;148;g34156db3297_0_12"/>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Recolección de Datos:</a:t>
            </a:r>
            <a:r>
              <a:rPr lang="es" sz="1800">
                <a:solidFill>
                  <a:schemeClr val="dk1"/>
                </a:solidFill>
              </a:rPr>
              <a:t> Se obtiene información de bases de datos, Data Warehouses, redes sociales, sensores IoT, etc.</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Limpieza y Preparación:</a:t>
            </a:r>
            <a:r>
              <a:rPr lang="es" sz="1800">
                <a:solidFill>
                  <a:schemeClr val="dk1"/>
                </a:solidFill>
              </a:rPr>
              <a:t> Se eliminan datos duplicados, erróneos o inconsistentes.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Selección y Transformación:</a:t>
            </a:r>
            <a:r>
              <a:rPr lang="es" sz="1800">
                <a:solidFill>
                  <a:schemeClr val="dk1"/>
                </a:solidFill>
              </a:rPr>
              <a:t> Se eligen las variables relevantes y se convierten en un formato adecuado.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Aplicación de Algoritmos:</a:t>
            </a:r>
            <a:r>
              <a:rPr lang="es" sz="1800">
                <a:solidFill>
                  <a:schemeClr val="dk1"/>
                </a:solidFill>
              </a:rPr>
              <a:t> Se utilizan técnicas de Machine Learning y estadísticas para descubrir patrones.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Interpretación de Resultados:</a:t>
            </a:r>
            <a:r>
              <a:rPr lang="es" sz="1800">
                <a:solidFill>
                  <a:schemeClr val="dk1"/>
                </a:solidFill>
              </a:rPr>
              <a:t> Se generan reportes, gráficos y dashboards para la toma de decisiones.</a:t>
            </a:r>
            <a:endParaRPr sz="1800">
              <a:solidFill>
                <a:schemeClr val="dk1"/>
              </a:solidFill>
            </a:endParaRPr>
          </a:p>
        </p:txBody>
      </p:sp>
      <p:sp>
        <p:nvSpPr>
          <p:cNvPr id="149" name="Google Shape;149;g34156db3297_0_12"/>
          <p:cNvSpPr txBox="1"/>
          <p:nvPr/>
        </p:nvSpPr>
        <p:spPr>
          <a:xfrm>
            <a:off x="2548450" y="264175"/>
            <a:ext cx="3138900" cy="47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Etapas del Proceso de Data Mining</a:t>
            </a:r>
            <a:endParaRPr sz="1800" b="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34156db3297_0_1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5" name="Google Shape;155;g34156db3297_0_18"/>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s" sz="1800" b="1">
                <a:solidFill>
                  <a:schemeClr val="dk1"/>
                </a:solidFill>
              </a:rPr>
              <a:t>Clasificación:</a:t>
            </a:r>
            <a:r>
              <a:rPr lang="es" sz="1800">
                <a:solidFill>
                  <a:schemeClr val="dk1"/>
                </a:solidFill>
              </a:rPr>
              <a:t> Asigna categorías a los datos (Ej: Clasificación de clientes según riesgo crediticio).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Regresión:</a:t>
            </a:r>
            <a:r>
              <a:rPr lang="es" sz="1800">
                <a:solidFill>
                  <a:schemeClr val="dk1"/>
                </a:solidFill>
              </a:rPr>
              <a:t> Predice valores futuros con base en datos históricos (Ej: Predicción de ventas).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Agrupamiento (Clustering):</a:t>
            </a:r>
            <a:r>
              <a:rPr lang="es" sz="1800">
                <a:solidFill>
                  <a:schemeClr val="dk1"/>
                </a:solidFill>
              </a:rPr>
              <a:t> Identifica grupos con características similares (Ej: Segmentación de mercado).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Reglas de Asociación:</a:t>
            </a:r>
            <a:r>
              <a:rPr lang="es" sz="1800">
                <a:solidFill>
                  <a:schemeClr val="dk1"/>
                </a:solidFill>
              </a:rPr>
              <a:t> Encuentra relaciones entre variables (Ej: Análisis de canasta de compras).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Detección de Anomalías:</a:t>
            </a:r>
            <a:r>
              <a:rPr lang="es" sz="1800">
                <a:solidFill>
                  <a:schemeClr val="dk1"/>
                </a:solidFill>
              </a:rPr>
              <a:t> Identifica datos inusuales (Ej: Fraude en transacciones bancarias).</a:t>
            </a:r>
            <a:endParaRPr sz="1800">
              <a:solidFill>
                <a:schemeClr val="dk1"/>
              </a:solidFill>
            </a:endParaRPr>
          </a:p>
        </p:txBody>
      </p:sp>
      <p:sp>
        <p:nvSpPr>
          <p:cNvPr id="156" name="Google Shape;156;g34156db3297_0_18"/>
          <p:cNvSpPr txBox="1"/>
          <p:nvPr/>
        </p:nvSpPr>
        <p:spPr>
          <a:xfrm>
            <a:off x="2455200" y="194250"/>
            <a:ext cx="3589500" cy="49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Técnicas y Algoritmos de Data Mining</a:t>
            </a:r>
            <a:endParaRPr sz="1800" b="1">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g34156db3297_0_2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2" name="Google Shape;162;g34156db3297_0_24"/>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Python (Pandas, Scikit-learn, TensorFlow)</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RapidMiner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IBM SPSS Modeler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Weka</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Microsoft SQL Server Analysis Services (SSAS)</a:t>
            </a:r>
            <a:endParaRPr sz="1800">
              <a:solidFill>
                <a:schemeClr val="dk1"/>
              </a:solidFill>
            </a:endParaRPr>
          </a:p>
        </p:txBody>
      </p:sp>
      <p:sp>
        <p:nvSpPr>
          <p:cNvPr id="163" name="Google Shape;163;g34156db3297_0_24"/>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Herramientas Populares de Data Mining</a:t>
            </a:r>
            <a:endParaRPr sz="1800" b="1">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g34156db3297_0_3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9" name="Google Shape;169;g34156db3297_0_3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s" sz="1800">
                <a:solidFill>
                  <a:schemeClr val="dk1"/>
                </a:solidFill>
              </a:rPr>
              <a:t>Beneficios del Data Mining</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Mejor toma de decisiones basada en datos.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Automatización del análisis de grandes volúmenes de datos.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Optimización de estrategias de marketing y ventas.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Reducción de costos mediante la detección temprana de riesgos.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Mayor personalización en productos y servicios.</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33ef33d4d85_0_6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3ef33d4d85_0_64"/>
          <p:cNvSpPr txBox="1"/>
          <p:nvPr/>
        </p:nvSpPr>
        <p:spPr>
          <a:xfrm>
            <a:off x="42300" y="683725"/>
            <a:ext cx="9059400" cy="4312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400"/>
              </a:spcBef>
              <a:spcAft>
                <a:spcPts val="0"/>
              </a:spcAft>
              <a:buClr>
                <a:schemeClr val="dk1"/>
              </a:buClr>
              <a:buSzPts val="1100"/>
              <a:buFont typeface="Arial"/>
              <a:buNone/>
            </a:pPr>
            <a:r>
              <a:rPr lang="es" sz="1800" b="1" dirty="0">
                <a:solidFill>
                  <a:schemeClr val="dk1"/>
                </a:solidFill>
              </a:rPr>
              <a:t>¿Qué es Machine Learning?</a:t>
            </a:r>
            <a:endParaRPr sz="1800" b="1" dirty="0">
              <a:solidFill>
                <a:schemeClr val="dk1"/>
              </a:solidFill>
            </a:endParaRPr>
          </a:p>
          <a:p>
            <a:pPr marL="0" lvl="0" indent="0" algn="just" rtl="0">
              <a:lnSpc>
                <a:spcPct val="115000"/>
              </a:lnSpc>
              <a:spcBef>
                <a:spcPts val="1200"/>
              </a:spcBef>
              <a:spcAft>
                <a:spcPts val="1200"/>
              </a:spcAft>
              <a:buClr>
                <a:schemeClr val="dk1"/>
              </a:buClr>
              <a:buSzPts val="1100"/>
              <a:buFont typeface="Arial"/>
              <a:buNone/>
            </a:pPr>
            <a:r>
              <a:rPr lang="es" sz="1800" b="1" dirty="0">
                <a:solidFill>
                  <a:schemeClr val="dk1"/>
                </a:solidFill>
              </a:rPr>
              <a:t>Machine Learning (ML)</a:t>
            </a:r>
            <a:r>
              <a:rPr lang="es" sz="1800" dirty="0">
                <a:solidFill>
                  <a:schemeClr val="dk1"/>
                </a:solidFill>
              </a:rPr>
              <a:t> o </a:t>
            </a:r>
            <a:r>
              <a:rPr lang="es" sz="1800" b="1" dirty="0">
                <a:solidFill>
                  <a:schemeClr val="dk1"/>
                </a:solidFill>
              </a:rPr>
              <a:t>Aprendizaje Automático</a:t>
            </a:r>
            <a:r>
              <a:rPr lang="es" sz="1800" dirty="0">
                <a:solidFill>
                  <a:schemeClr val="dk1"/>
                </a:solidFill>
              </a:rPr>
              <a:t> es una rama de la inteligencia artificial (IA) que permite a las computadoras aprender de los datos sin necesidad de ser programadas explícitamente. Se basa en algoritmos que </a:t>
            </a:r>
            <a:r>
              <a:rPr lang="es" sz="1800" b="1" dirty="0">
                <a:solidFill>
                  <a:schemeClr val="dk1"/>
                </a:solidFill>
              </a:rPr>
              <a:t>identifican patrones, hacen predicciones y mejoran su desempeño con el tiempo</a:t>
            </a:r>
            <a:r>
              <a:rPr lang="es" sz="1800" dirty="0">
                <a:solidFill>
                  <a:schemeClr val="dk1"/>
                </a:solidFill>
              </a:rPr>
              <a:t>.</a:t>
            </a:r>
            <a:endParaRPr sz="1800" dirty="0">
              <a:solidFill>
                <a:schemeClr val="dk1"/>
              </a:solidFill>
            </a:endParaRPr>
          </a:p>
        </p:txBody>
      </p:sp>
      <p:sp>
        <p:nvSpPr>
          <p:cNvPr id="64" name="Google Shape;64;g33ef33d4d85_0_64"/>
          <p:cNvSpPr txBox="1"/>
          <p:nvPr/>
        </p:nvSpPr>
        <p:spPr>
          <a:xfrm>
            <a:off x="2828150" y="155400"/>
            <a:ext cx="2610600" cy="42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Machine</a:t>
            </a:r>
            <a:endParaRPr sz="1800" b="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8fa948c4e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8fa948c4e_0_25"/>
          <p:cNvSpPr txBox="1"/>
          <p:nvPr/>
        </p:nvSpPr>
        <p:spPr>
          <a:xfrm>
            <a:off x="42300" y="683725"/>
            <a:ext cx="9059400" cy="438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sz="1800" b="1">
                <a:solidFill>
                  <a:schemeClr val="dk1"/>
                </a:solidFill>
              </a:rPr>
              <a:t>¿Cómo funciona el Machine Learning?</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Recolección de datos:</a:t>
            </a:r>
            <a:r>
              <a:rPr lang="es" sz="1800">
                <a:solidFill>
                  <a:schemeClr val="dk1"/>
                </a:solidFill>
              </a:rPr>
              <a:t> Se obtiene información de bases de datos, sensores, imágenes, texto, etc.</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Preprocesamiento:</a:t>
            </a:r>
            <a:r>
              <a:rPr lang="es" sz="1800">
                <a:solidFill>
                  <a:schemeClr val="dk1"/>
                </a:solidFill>
              </a:rPr>
              <a:t> Se limpia y organiza la información para eliminar datos irrelevantes o inconsistentes.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Selección de modelo:</a:t>
            </a:r>
            <a:r>
              <a:rPr lang="es" sz="1800">
                <a:solidFill>
                  <a:schemeClr val="dk1"/>
                </a:solidFill>
              </a:rPr>
              <a:t> Se elige el algoritmo adecuado según el problema.</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Entrenamiento del modelo:</a:t>
            </a:r>
            <a:r>
              <a:rPr lang="es" sz="1800">
                <a:solidFill>
                  <a:schemeClr val="dk1"/>
                </a:solidFill>
              </a:rPr>
              <a:t> Se alimenta con datos históricos para que aprenda.</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Evaluación y ajuste: </a:t>
            </a:r>
            <a:r>
              <a:rPr lang="es" sz="1800">
                <a:solidFill>
                  <a:schemeClr val="dk1"/>
                </a:solidFill>
              </a:rPr>
              <a:t>Se prueban los resultados y se ajustan los parámetros para mejorar la precisión.</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Implementación y uso:</a:t>
            </a:r>
            <a:r>
              <a:rPr lang="es" sz="1800">
                <a:solidFill>
                  <a:schemeClr val="dk1"/>
                </a:solidFill>
              </a:rPr>
              <a:t> El modelo se usa en la vida real para hacer predicciones o automatizar tareas.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g2d8fa948c4e_0_2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6" name="Google Shape;76;g2d8fa948c4e_0_29"/>
          <p:cNvSpPr txBox="1"/>
          <p:nvPr/>
        </p:nvSpPr>
        <p:spPr>
          <a:xfrm>
            <a:off x="46625" y="256400"/>
            <a:ext cx="9043800" cy="4778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sz="1800" b="1">
                <a:solidFill>
                  <a:schemeClr val="dk1"/>
                </a:solidFill>
              </a:rPr>
              <a:t>Tipos de Machine Learning</a:t>
            </a:r>
            <a:endParaRPr sz="1800" b="1">
              <a:solidFill>
                <a:schemeClr val="dk1"/>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just" rtl="0">
              <a:spcBef>
                <a:spcPts val="0"/>
              </a:spcBef>
              <a:spcAft>
                <a:spcPts val="0"/>
              </a:spcAft>
              <a:buNone/>
            </a:pPr>
            <a:r>
              <a:rPr lang="es" sz="1800" b="1">
                <a:solidFill>
                  <a:schemeClr val="dk1"/>
                </a:solidFill>
              </a:rPr>
              <a:t>Aprendizaje Supervisado:</a:t>
            </a:r>
            <a:r>
              <a:rPr lang="es" sz="1800">
                <a:solidFill>
                  <a:schemeClr val="dk1"/>
                </a:solidFill>
              </a:rPr>
              <a:t> Se entrena con datos etiquetados (Ejemplo: Predecir si un correo es spam o no).Es decir, el algoritmo recibe ejemplos con entradas y salidas correctas, permitiéndole </a:t>
            </a:r>
            <a:r>
              <a:rPr lang="es" sz="1800" b="1">
                <a:solidFill>
                  <a:schemeClr val="dk1"/>
                </a:solidFill>
              </a:rPr>
              <a:t>aprender patrones y hacer predicciones</a:t>
            </a:r>
            <a:r>
              <a:rPr lang="es" sz="1800">
                <a:solidFill>
                  <a:schemeClr val="dk1"/>
                </a:solidFill>
              </a:rPr>
              <a:t> en nuevos datos. Algoritmos: Regresión Lineal y Logística, Árboles de Decisión y Random Forest..etc.</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l" rtl="0">
              <a:spcBef>
                <a:spcPts val="0"/>
              </a:spcBef>
              <a:spcAft>
                <a:spcPts val="0"/>
              </a:spcAft>
              <a:buNone/>
            </a:pPr>
            <a:r>
              <a:rPr lang="es" sz="1800" b="1">
                <a:solidFill>
                  <a:schemeClr val="dk1"/>
                </a:solidFill>
              </a:rPr>
              <a:t>Aprendizaje No Supervisado:</a:t>
            </a:r>
            <a:r>
              <a:rPr lang="es" sz="1800">
                <a:solidFill>
                  <a:schemeClr val="dk1"/>
                </a:solidFill>
              </a:rPr>
              <a:t> Descubre patrones sin etiquetas previas, En </a:t>
            </a:r>
            <a:r>
              <a:rPr lang="es" sz="1100">
                <a:solidFill>
                  <a:schemeClr val="dk1"/>
                </a:solidFill>
              </a:rPr>
              <a:t> </a:t>
            </a:r>
            <a:r>
              <a:rPr lang="es" sz="1800">
                <a:solidFill>
                  <a:schemeClr val="dk1"/>
                </a:solidFill>
              </a:rPr>
              <a:t>este caso, el sistema analiza los datos y </a:t>
            </a:r>
            <a:r>
              <a:rPr lang="es" sz="1800" b="1">
                <a:solidFill>
                  <a:schemeClr val="dk1"/>
                </a:solidFill>
              </a:rPr>
              <a:t>descubre estructuras, agrupaciones o asociaciones por sí mismo</a:t>
            </a:r>
            <a:r>
              <a:rPr lang="es" sz="1800">
                <a:solidFill>
                  <a:schemeClr val="dk1"/>
                </a:solidFill>
              </a:rPr>
              <a:t>. (Ejemplo: Agrupación de clientes por comportamiento).</a:t>
            </a:r>
            <a:endParaRPr sz="1800">
              <a:solidFill>
                <a:schemeClr val="dk1"/>
              </a:solidFill>
            </a:endParaRPr>
          </a:p>
          <a:p>
            <a:pPr marL="0" lvl="0" indent="0" algn="l" rtl="0">
              <a:spcBef>
                <a:spcPts val="0"/>
              </a:spcBef>
              <a:spcAft>
                <a:spcPts val="0"/>
              </a:spcAft>
              <a:buNone/>
            </a:pPr>
            <a:r>
              <a:rPr lang="es" sz="1800">
                <a:solidFill>
                  <a:schemeClr val="dk1"/>
                </a:solidFill>
              </a:rPr>
              <a:t>Algoritmos: K-Means, DBSCAN, Autoencoders.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g2d8fa948c4e_0_1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2" name="Google Shape;82;g2d8fa948c4e_0_17"/>
          <p:cNvSpPr txBox="1"/>
          <p:nvPr/>
        </p:nvSpPr>
        <p:spPr>
          <a:xfrm>
            <a:off x="46625" y="776975"/>
            <a:ext cx="9012900" cy="4296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b="1">
                <a:solidFill>
                  <a:schemeClr val="dk1"/>
                </a:solidFill>
              </a:rPr>
              <a:t>Aprendizaje por Refuerzo:</a:t>
            </a:r>
            <a:r>
              <a:rPr lang="es" sz="1800">
                <a:solidFill>
                  <a:schemeClr val="dk1"/>
                </a:solidFill>
              </a:rPr>
              <a:t> Aprende a tomar decisiones mediante prueba y error, optimizando sus acciones para </a:t>
            </a:r>
            <a:r>
              <a:rPr lang="es" sz="1800" b="1">
                <a:solidFill>
                  <a:schemeClr val="dk1"/>
                </a:solidFill>
              </a:rPr>
              <a:t>maximizar una recompensa acumulada</a:t>
            </a:r>
            <a:r>
              <a:rPr lang="es" sz="1800">
                <a:solidFill>
                  <a:schemeClr val="dk1"/>
                </a:solidFill>
              </a:rPr>
              <a:t> a largo plazo. (Ejemplo: Un robot aprendiendo a caminar).</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b="1">
                <a:solidFill>
                  <a:schemeClr val="dk1"/>
                </a:solidFill>
              </a:rPr>
              <a:t>Componentes del Aprendizaje por Refuerzo.</a:t>
            </a:r>
            <a:endParaRPr sz="1800" b="1">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1. Agente: El sistema que aprende y toma decisiones.</a:t>
            </a: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2. Entorno: El contexto en el que opera el agente.</a:t>
            </a: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3. Acciones: Opciones que el agente puede tomar.</a:t>
            </a: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4. Recompensa: Puntos positivos o negativos según la acción tomada.</a:t>
            </a: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5. Política: Estrategia que el agente usa para elegir acciones.</a:t>
            </a: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6. Valor de Estado: Evaluación del beneficio esperado de cada estado.</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g2d8fa948c4e_0_3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8" name="Google Shape;88;g2d8fa948c4e_0_33"/>
          <p:cNvSpPr txBox="1"/>
          <p:nvPr/>
        </p:nvSpPr>
        <p:spPr>
          <a:xfrm>
            <a:off x="54375" y="909050"/>
            <a:ext cx="8997300" cy="41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chemeClr val="dk1"/>
              </a:solidFill>
            </a:endParaRPr>
          </a:p>
          <a:p>
            <a:pPr marL="0" lvl="0" indent="457200" algn="l" rtl="0">
              <a:spcBef>
                <a:spcPts val="0"/>
              </a:spcBef>
              <a:spcAft>
                <a:spcPts val="0"/>
              </a:spcAft>
              <a:buNone/>
            </a:pPr>
            <a:r>
              <a:rPr lang="es" sz="1800" b="1">
                <a:solidFill>
                  <a:schemeClr val="dk1"/>
                </a:solidFill>
              </a:rPr>
              <a:t>Aplicaciones del Machine Learning</a:t>
            </a:r>
            <a:endParaRPr sz="1800" b="1">
              <a:solidFill>
                <a:schemeClr val="dk1"/>
              </a:solidFill>
            </a:endParaRPr>
          </a:p>
          <a:p>
            <a:pPr marL="0" lvl="0" indent="0" algn="l" rtl="0">
              <a:spcBef>
                <a:spcPts val="0"/>
              </a:spcBef>
              <a:spcAft>
                <a:spcPts val="0"/>
              </a:spcAft>
              <a:buClr>
                <a:schemeClr val="dk1"/>
              </a:buClr>
              <a:buSzPts val="1100"/>
              <a:buFont typeface="Arial"/>
              <a:buNone/>
            </a:pPr>
            <a:endParaRPr sz="1800" b="1">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Reconocimiento de voz y texto (Siri, Alexa, Chatbots).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Recomendaciones de productos (Netflix, Amazon, Spotify).</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Detección de fraudes en tarjetas de crédito.</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Vehículos autónomos y visión por computadora.</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Predicción de enfermedades en el sector salud.</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Automatización en procesos industriales.</a:t>
            </a:r>
            <a:endParaRPr sz="18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g2dcf99f76a9_0_3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4" name="Google Shape;94;g2dcf99f76a9_0_39"/>
          <p:cNvSpPr txBox="1"/>
          <p:nvPr/>
        </p:nvSpPr>
        <p:spPr>
          <a:xfrm>
            <a:off x="7775" y="745875"/>
            <a:ext cx="9082800" cy="4397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s" sz="1800" b="1">
                <a:solidFill>
                  <a:schemeClr val="dk1"/>
                </a:solidFill>
              </a:rPr>
              <a:t>Machine Learning con TensorFlow</a:t>
            </a:r>
            <a:endParaRPr sz="1800" b="1">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a:solidFill>
                <a:schemeClr val="dk1"/>
              </a:solidFill>
            </a:endParaRPr>
          </a:p>
          <a:p>
            <a:pPr marL="0" marR="0" lvl="0" indent="0" algn="just" rtl="0">
              <a:lnSpc>
                <a:spcPct val="100000"/>
              </a:lnSpc>
              <a:spcBef>
                <a:spcPts val="0"/>
              </a:spcBef>
              <a:spcAft>
                <a:spcPts val="0"/>
              </a:spcAft>
              <a:buClr>
                <a:srgbClr val="000000"/>
              </a:buClr>
              <a:buSzPts val="1800"/>
              <a:buFont typeface="Arial"/>
              <a:buNone/>
            </a:pPr>
            <a:r>
              <a:rPr lang="es" sz="1800" b="1">
                <a:solidFill>
                  <a:schemeClr val="dk1"/>
                </a:solidFill>
              </a:rPr>
              <a:t>TensorFlow</a:t>
            </a:r>
            <a:r>
              <a:rPr lang="es" sz="1800">
                <a:solidFill>
                  <a:schemeClr val="dk1"/>
                </a:solidFill>
              </a:rPr>
              <a:t> es una biblioteca de código abierto desarrollada por </a:t>
            </a:r>
            <a:r>
              <a:rPr lang="es" sz="1800" b="1">
                <a:solidFill>
                  <a:schemeClr val="dk1"/>
                </a:solidFill>
              </a:rPr>
              <a:t>Google</a:t>
            </a:r>
            <a:r>
              <a:rPr lang="es" sz="1800">
                <a:solidFill>
                  <a:schemeClr val="dk1"/>
                </a:solidFill>
              </a:rPr>
              <a:t> para crear modelos de </a:t>
            </a:r>
            <a:r>
              <a:rPr lang="es" sz="1800" b="1">
                <a:solidFill>
                  <a:schemeClr val="dk1"/>
                </a:solidFill>
              </a:rPr>
              <a:t>Machine Learning e Inteligencia Artificial</a:t>
            </a:r>
            <a:r>
              <a:rPr lang="es" sz="1800">
                <a:solidFill>
                  <a:schemeClr val="dk1"/>
                </a:solidFill>
              </a:rPr>
              <a:t>. Es ampliamente utilizada en </a:t>
            </a:r>
            <a:r>
              <a:rPr lang="es" sz="1800" b="1">
                <a:solidFill>
                  <a:schemeClr val="dk1"/>
                </a:solidFill>
              </a:rPr>
              <a:t>aprendizaje automático supervisado, no supervisado y aprendizaje profundo (Deep Learning).</a:t>
            </a:r>
            <a:endParaRPr sz="1800" b="1">
              <a:solidFill>
                <a:schemeClr val="dk1"/>
              </a:solidFill>
            </a:endParaRPr>
          </a:p>
          <a:p>
            <a:pPr marL="0" marR="0" lvl="0" indent="0" algn="just" rtl="0">
              <a:lnSpc>
                <a:spcPct val="100000"/>
              </a:lnSpc>
              <a:spcBef>
                <a:spcPts val="0"/>
              </a:spcBef>
              <a:spcAft>
                <a:spcPts val="0"/>
              </a:spcAft>
              <a:buClr>
                <a:srgbClr val="000000"/>
              </a:buClr>
              <a:buSzPts val="1800"/>
              <a:buFont typeface="Arial"/>
              <a:buNone/>
            </a:pPr>
            <a:endParaRPr sz="1800" b="1">
              <a:solidFill>
                <a:schemeClr val="dk1"/>
              </a:solidFill>
            </a:endParaRPr>
          </a:p>
          <a:p>
            <a:pPr marL="0" lvl="0" indent="0" algn="just" rtl="0">
              <a:spcBef>
                <a:spcPts val="0"/>
              </a:spcBef>
              <a:spcAft>
                <a:spcPts val="0"/>
              </a:spcAft>
              <a:buClr>
                <a:schemeClr val="dk1"/>
              </a:buClr>
              <a:buSzPts val="1100"/>
              <a:buFont typeface="Arial"/>
              <a:buNone/>
            </a:pPr>
            <a:r>
              <a:rPr lang="es" sz="1800" b="1">
                <a:solidFill>
                  <a:schemeClr val="dk1"/>
                </a:solidFill>
              </a:rPr>
              <a:t>Aplicaciones de TensorFlow.</a:t>
            </a:r>
            <a:endParaRPr sz="1800" b="1">
              <a:solidFill>
                <a:schemeClr val="dk1"/>
              </a:solidFill>
            </a:endParaRPr>
          </a:p>
          <a:p>
            <a:pPr marL="0" lvl="0" indent="0" algn="just" rtl="0">
              <a:spcBef>
                <a:spcPts val="0"/>
              </a:spcBef>
              <a:spcAft>
                <a:spcPts val="0"/>
              </a:spcAft>
              <a:buClr>
                <a:schemeClr val="dk1"/>
              </a:buClr>
              <a:buSzPts val="1100"/>
              <a:buFont typeface="Arial"/>
              <a:buNone/>
            </a:pPr>
            <a:endParaRPr sz="1800" b="1">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Clasificación de imágenes: Reconocimiento facial, diagnóstico médico.</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Procesamiento de lenguaje natural (NLP): Chatbots, análisis de sentimientos.</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Predicción de series de tiempo: Previsión de ventas, clima, mercados financieros.</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Robótica e inteligencia artificial: Control autónomo de robots.</a:t>
            </a:r>
            <a:endParaRPr sz="1800">
              <a:solidFill>
                <a:schemeClr val="dk1"/>
              </a:solidFill>
            </a:endParaRPr>
          </a:p>
          <a:p>
            <a:pPr marL="0" marR="0" lvl="0" indent="0" algn="just" rtl="0">
              <a:lnSpc>
                <a:spcPct val="100000"/>
              </a:lnSpc>
              <a:spcBef>
                <a:spcPts val="0"/>
              </a:spcBef>
              <a:spcAft>
                <a:spcPts val="0"/>
              </a:spcAft>
              <a:buClr>
                <a:srgbClr val="000000"/>
              </a:buClr>
              <a:buSzPts val="1800"/>
              <a:buFont typeface="Arial"/>
              <a:buNone/>
            </a:pPr>
            <a:endParaRPr sz="1800" b="1">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TotalTime>
  <Words>2092</Words>
  <Application>Microsoft Office PowerPoint</Application>
  <PresentationFormat>Presentación en pantalla (16:9)</PresentationFormat>
  <Paragraphs>156</Paragraphs>
  <Slides>31</Slides>
  <Notes>31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31</vt:i4>
      </vt:variant>
    </vt:vector>
  </HeadingPairs>
  <TitlesOfParts>
    <vt:vector size="33"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3</cp:revision>
  <dcterms:modified xsi:type="dcterms:W3CDTF">2025-08-20T02:57:27Z</dcterms:modified>
</cp:coreProperties>
</file>