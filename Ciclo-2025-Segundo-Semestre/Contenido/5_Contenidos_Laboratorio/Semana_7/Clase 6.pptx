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0" roundtripDataSignature="AMtx7miiZd1ckeTt11s4KeN9ho8iybHd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BC9FEF3-3794-4158-81AD-9F8A86FCB6F5}">
  <a:tblStyle styleId="{3BC9FEF3-3794-4158-81AD-9F8A86FCB6F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d8fa948c4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d8fa948c4e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d8fa948c4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2d8fa948c4e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39a09cea5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39a09cea5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39a09cea5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g339a09cea51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39a09cea5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339a09cea51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4156db329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5" name="Google Shape;95;g34156db329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156db3297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34156db3297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156db3297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34156db3297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156db329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34156db3297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4156db329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 name="Google Shape;123;g34156db3297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326848042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4326848042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4326848042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g34326848042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432684804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g34326848042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4326848042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g34326848042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432684804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4326848042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3ef33d4d85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g33ef33d4d85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d8fa948c4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2d8fa948c4e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d8fa948c4e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g2d8fa948c4e_0_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d8fa948c4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g2d8fa948c4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d8fa948c4e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2d8fa948c4e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dcf99f76a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g2dcf99f76a9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hyperlink" Target="https://www.youtube.com/watch?v=2v6ipqgFk6s"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hyperlink" Target="https://www.youtube.com/watch?v=DtONK8ALWl8"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{3BC9FEF3-3794-4158-81AD-9F8A86FCB6F5}</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MArtes, 19/08/2025</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3992650" y="2132750"/>
            <a:ext cx="51429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000000"/>
                </a:solidFill>
                <a:latin typeface="Arial"/>
                <a:ea typeface="Arial"/>
                <a:cs typeface="Arial"/>
                <a:sym typeface="Arial"/>
              </a:rPr>
              <a:t>SISTEMAS ORGANIZACIONALES Y GERENCIALES 2 Sección P</a:t>
            </a:r>
            <a:endParaRPr b="0" i="0" sz="2500" u="none" cap="none" strike="noStrike">
              <a:solidFill>
                <a:srgbClr val="000000"/>
              </a:solidFill>
              <a:latin typeface="Arial"/>
              <a:ea typeface="Arial"/>
              <a:cs typeface="Arial"/>
              <a:sym typeface="Arial"/>
            </a:endParaRPr>
          </a:p>
        </p:txBody>
      </p:sp>
      <p:sp>
        <p:nvSpPr>
          <p:cNvPr id="57" name="Google Shape;57;p1"/>
          <p:cNvSpPr txBox="1"/>
          <p:nvPr/>
        </p:nvSpPr>
        <p:spPr>
          <a:xfrm>
            <a:off x="107100" y="4595250"/>
            <a:ext cx="4290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000000"/>
                </a:solidFill>
                <a:latin typeface="Arial"/>
                <a:ea typeface="Arial"/>
                <a:cs typeface="Arial"/>
                <a:sym typeface="Arial"/>
              </a:rPr>
              <a:t>Mynor Israel Miranda López</a:t>
            </a:r>
            <a:endParaRPr b="0" i="0" sz="2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2d8fa948c4e_0_4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2d8fa948c4e_0_41"/>
          <p:cNvSpPr txBox="1"/>
          <p:nvPr/>
        </p:nvSpPr>
        <p:spPr>
          <a:xfrm>
            <a:off x="3160650" y="462175"/>
            <a:ext cx="2452500" cy="43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Sistemas Inteligentes</a:t>
            </a:r>
            <a:endParaRPr b="0" i="0" sz="1800" u="none" cap="none" strike="noStrike">
              <a:solidFill>
                <a:srgbClr val="000000"/>
              </a:solidFill>
              <a:latin typeface="Arial"/>
              <a:ea typeface="Arial"/>
              <a:cs typeface="Arial"/>
              <a:sym typeface="Arial"/>
            </a:endParaRPr>
          </a:p>
        </p:txBody>
      </p:sp>
      <p:sp>
        <p:nvSpPr>
          <p:cNvPr id="64" name="Google Shape;64;g2d8fa948c4e_0_41"/>
          <p:cNvSpPr txBox="1"/>
          <p:nvPr/>
        </p:nvSpPr>
        <p:spPr>
          <a:xfrm>
            <a:off x="123550" y="1375150"/>
            <a:ext cx="9012000" cy="1997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400" u="none" cap="none" strike="noStrike">
                <a:solidFill>
                  <a:srgbClr val="000000"/>
                </a:solidFill>
                <a:latin typeface="Arial"/>
                <a:ea typeface="Arial"/>
                <a:cs typeface="Arial"/>
                <a:sym typeface="Arial"/>
              </a:rPr>
              <a:t>Un agente inteligente (IA) es una entidad autónoma que observa a través de sensores y actúa so-bre un entorno utilizando actuadores y dirige su actividad hacia el logro de objetivos ( es racional). Los agentes inteligentes también pueden aprender o usar el conocimiento para lograr sus objetivos. Los agen-tes inteligentes en inteligencia artificial están estrechamente relacionados con los agentes en economía, y las versiones del paradigma del agente inteligente se estudian en ciencias cognitivas, ética, filosofía de la razón práctica, así como en muchos modelos sociocognitivos interdisciplinarios y simulaciones sociales informáticas. Un sistema de múltiples agentes (MAS) es un sistema compuesto por múltiples agentes inteligentes que interactúan.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g2d8fa948c4e_0_3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0" name="Google Shape;70;g2d8fa948c4e_0_37"/>
          <p:cNvSpPr txBox="1"/>
          <p:nvPr/>
        </p:nvSpPr>
        <p:spPr>
          <a:xfrm>
            <a:off x="8450" y="893500"/>
            <a:ext cx="9058500" cy="41256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 name="Google Shape;71;g2d8fa948c4e_0_37"/>
          <p:cNvSpPr txBox="1"/>
          <p:nvPr/>
        </p:nvSpPr>
        <p:spPr>
          <a:xfrm>
            <a:off x="123250" y="893500"/>
            <a:ext cx="9012300" cy="3783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rgbClr val="000000"/>
                </a:solidFill>
                <a:latin typeface="Arial"/>
                <a:ea typeface="Arial"/>
                <a:cs typeface="Arial"/>
                <a:sym typeface="Arial"/>
              </a:rPr>
              <a:t>Los sistemas de múltiples agentes se pueden usar para resolver problemas que son difíciles o imposibles de resolver para un agente individual o un sistema monolítico. Los sistemas de múltiples agentes consisten en agentes y su entorno. Sin embargo, los agentes en un sistema de múltiples agentes también podrían ser robots, humanos o equipos humanos.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rgbClr val="000000"/>
                </a:solidFill>
                <a:latin typeface="Arial"/>
                <a:ea typeface="Arial"/>
                <a:cs typeface="Arial"/>
                <a:sym typeface="Arial"/>
              </a:rPr>
              <a:t>Los agentes de IA pueden ser desde sistemas sencillos que siguen reglas predefinidas hasta entidades complejas y autónomas que aprenden y se adaptan en función de su experiencia. Se utilizan en diversos campos, como la robótica, los juegos, los asistentes virtuales y los vehículos autónomos, entre otros. Estos agentes pueden ser reactivos (responden estímulos), deliberativos (planifican y toman decisiones) o incluso tener capacidad de aprendizaje (adaptan su comportamiento en función de datos y experiencias).</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g339a09cea51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7" name="Google Shape;77;g339a09cea51_0_0"/>
          <p:cNvSpPr txBox="1"/>
          <p:nvPr/>
        </p:nvSpPr>
        <p:spPr>
          <a:xfrm>
            <a:off x="3264975" y="402500"/>
            <a:ext cx="2288400" cy="34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000000"/>
                </a:solidFill>
                <a:latin typeface="Arial"/>
                <a:ea typeface="Arial"/>
                <a:cs typeface="Arial"/>
                <a:sym typeface="Arial"/>
              </a:rPr>
              <a:t>Función de agente</a:t>
            </a:r>
            <a:endParaRPr b="0" i="0" sz="1800" u="none" cap="none" strike="noStrike">
              <a:solidFill>
                <a:srgbClr val="000000"/>
              </a:solidFill>
              <a:latin typeface="Arial"/>
              <a:ea typeface="Arial"/>
              <a:cs typeface="Arial"/>
              <a:sym typeface="Arial"/>
            </a:endParaRPr>
          </a:p>
        </p:txBody>
      </p:sp>
      <p:sp>
        <p:nvSpPr>
          <p:cNvPr id="78" name="Google Shape;78;g339a09cea51_0_0"/>
          <p:cNvSpPr txBox="1"/>
          <p:nvPr/>
        </p:nvSpPr>
        <p:spPr>
          <a:xfrm>
            <a:off x="8525" y="1833775"/>
            <a:ext cx="9127200" cy="2711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rgbClr val="000000"/>
                </a:solidFill>
                <a:latin typeface="Arial"/>
                <a:ea typeface="Arial"/>
                <a:cs typeface="Arial"/>
                <a:sym typeface="Arial"/>
              </a:rPr>
              <a:t>La función del agente es el núcleo de un agente de IA. Define cómo el agente traduce los datos que ha recopilado en acciones. En otras palabras, la función de agente permite a la IA determinar qué acciones debe emprender basándose en la información que ha recopilado. Aquí es donde reside la "inteligencia" del agente, ya que implica razonar y seleccionar acciones para alcanzar sus objetivos.Esto según el mapeo de cada secuencia posible de percepciones a una acción posible que el agente puede realizar a un coeficiente, elemento de retroalimentación, función o constante que afecta las acciones eventuales:</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pic>
        <p:nvPicPr>
          <p:cNvPr id="83" name="Google Shape;83;g339a09cea51_0_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4" name="Google Shape;84;g339a09cea51_0_5"/>
          <p:cNvSpPr txBox="1"/>
          <p:nvPr/>
        </p:nvSpPr>
        <p:spPr>
          <a:xfrm>
            <a:off x="3525875" y="387625"/>
            <a:ext cx="1610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000000"/>
                </a:solidFill>
                <a:latin typeface="Arial"/>
                <a:ea typeface="Arial"/>
                <a:cs typeface="Arial"/>
                <a:sym typeface="Arial"/>
              </a:rPr>
              <a:t>Perceptos</a:t>
            </a:r>
            <a:endParaRPr b="1" i="0" sz="1800" u="none" cap="none" strike="noStrike">
              <a:solidFill>
                <a:srgbClr val="000000"/>
              </a:solidFill>
              <a:latin typeface="Arial"/>
              <a:ea typeface="Arial"/>
              <a:cs typeface="Arial"/>
              <a:sym typeface="Arial"/>
            </a:endParaRPr>
          </a:p>
        </p:txBody>
      </p:sp>
      <p:sp>
        <p:nvSpPr>
          <p:cNvPr id="85" name="Google Shape;85;g339a09cea51_0_5"/>
          <p:cNvSpPr txBox="1"/>
          <p:nvPr/>
        </p:nvSpPr>
        <p:spPr>
          <a:xfrm>
            <a:off x="29825" y="1036150"/>
            <a:ext cx="9034800" cy="4032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Los perceptos son las entradas sensoriales que el agente de IA recibe de su entorno. Proporcionan información sobre el estado actual del entorno observable en el que opera el agente. Por ejemplo, si el agente de IA es un chatbot de atención al cliente, los perceptos pueden incluir: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Mensajes de usuario</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Información sobre el perfil del usuario</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Ubicación del usuario</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Historia del chat</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Preferencias lingüísticas</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Fecha y hora</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Preferencias del usuario</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Reconocimiento de las emociones del usuario</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g339a09cea51_0_1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1" name="Google Shape;91;g339a09cea51_0_10"/>
          <p:cNvSpPr txBox="1"/>
          <p:nvPr/>
        </p:nvSpPr>
        <p:spPr>
          <a:xfrm>
            <a:off x="2698475" y="275800"/>
            <a:ext cx="2840100" cy="54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595959"/>
                </a:solidFill>
                <a:latin typeface="Arial"/>
                <a:ea typeface="Arial"/>
                <a:cs typeface="Arial"/>
                <a:sym typeface="Arial"/>
              </a:rPr>
              <a:t>Base de conocimientos</a:t>
            </a:r>
            <a:endParaRPr b="1" i="0" sz="1800" u="none" cap="none" strike="noStrike">
              <a:solidFill>
                <a:srgbClr val="595959"/>
              </a:solidFill>
              <a:latin typeface="Arial"/>
              <a:ea typeface="Arial"/>
              <a:cs typeface="Arial"/>
              <a:sym typeface="Arial"/>
            </a:endParaRPr>
          </a:p>
        </p:txBody>
      </p:sp>
      <p:sp>
        <p:nvSpPr>
          <p:cNvPr id="92" name="Google Shape;92;g339a09cea51_0_10"/>
          <p:cNvSpPr txBox="1"/>
          <p:nvPr/>
        </p:nvSpPr>
        <p:spPr>
          <a:xfrm>
            <a:off x="151500" y="1848675"/>
            <a:ext cx="8841000" cy="2385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rgbClr val="000000"/>
                </a:solidFill>
                <a:latin typeface="Arial"/>
                <a:ea typeface="Arial"/>
                <a:cs typeface="Arial"/>
                <a:sym typeface="Arial"/>
              </a:rPr>
              <a:t>La base de conocimientos es donde el agente de IA almacena sus conocimientos iniciales sobre el entorno. Este conocimiento suele estar predefinido o se aprende durante el entrenamiento. Sirve de base para el proceso de toma de decisiones del agente. Por ejemplo, un vehículo auto conducido puede tener una base de conocimientos con información sobre las normas de circulación, mientras que un agente autónomo de atención al cliente tiene acceso a información detallada sobre los productos de una empresa.</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g34156db3297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8" name="Google Shape;98;g34156db3297_0_0"/>
          <p:cNvSpPr txBox="1"/>
          <p:nvPr/>
        </p:nvSpPr>
        <p:spPr>
          <a:xfrm>
            <a:off x="2571750" y="268350"/>
            <a:ext cx="3504000" cy="4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000000"/>
                </a:solidFill>
                <a:latin typeface="Arial"/>
                <a:ea typeface="Arial"/>
                <a:cs typeface="Arial"/>
                <a:sym typeface="Arial"/>
              </a:rPr>
              <a:t>Tipos de agentes inteligentes</a:t>
            </a:r>
            <a:endParaRPr b="1" i="0" sz="1800" u="none" cap="none" strike="noStrike">
              <a:solidFill>
                <a:srgbClr val="000000"/>
              </a:solidFill>
              <a:latin typeface="Arial"/>
              <a:ea typeface="Arial"/>
              <a:cs typeface="Arial"/>
              <a:sym typeface="Arial"/>
            </a:endParaRPr>
          </a:p>
        </p:txBody>
      </p:sp>
      <p:sp>
        <p:nvSpPr>
          <p:cNvPr id="99" name="Google Shape;99;g34156db3297_0_0"/>
          <p:cNvSpPr txBox="1"/>
          <p:nvPr/>
        </p:nvSpPr>
        <p:spPr>
          <a:xfrm>
            <a:off x="8450" y="1359675"/>
            <a:ext cx="8945400" cy="33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s" sz="1800" u="none" cap="none" strike="noStrike">
                <a:solidFill>
                  <a:srgbClr val="000000"/>
                </a:solidFill>
                <a:latin typeface="Arial"/>
                <a:ea typeface="Arial"/>
                <a:cs typeface="Arial"/>
                <a:sym typeface="Arial"/>
              </a:rPr>
              <a:t>Agentes reflejos simples</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Trabajan únicamente sobre la percepción actual, sin considerar el histórico de sensaciones. Por ello, solamente tienen éxito cuándo están ante un entorno que puede percibirse en su totalidad.</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1" i="0" lang="es" sz="1800" u="none" cap="none" strike="noStrike">
                <a:solidFill>
                  <a:srgbClr val="000000"/>
                </a:solidFill>
                <a:latin typeface="Arial"/>
                <a:ea typeface="Arial"/>
                <a:cs typeface="Arial"/>
                <a:sym typeface="Arial"/>
              </a:rPr>
              <a:t>Agentes reflejos basados en modelos</a:t>
            </a:r>
            <a:endParaRPr b="1"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Este tipo de agentes sí consideran el historial y, por lo tanto, pueden actuar en un escenario que no se observa por completo, teniendo así una visión más completa del mismo.</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g34156db3297_0_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5" name="Google Shape;105;g34156db3297_0_6"/>
          <p:cNvSpPr txBox="1"/>
          <p:nvPr/>
        </p:nvSpPr>
        <p:spPr>
          <a:xfrm>
            <a:off x="8450" y="567175"/>
            <a:ext cx="9042000" cy="4576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s" sz="1800" u="none" cap="none" strike="noStrike">
                <a:solidFill>
                  <a:srgbClr val="000000"/>
                </a:solidFill>
                <a:latin typeface="Arial"/>
                <a:ea typeface="Arial"/>
                <a:cs typeface="Arial"/>
                <a:sym typeface="Arial"/>
              </a:rPr>
              <a:t>Agentes basados en metas</a:t>
            </a:r>
            <a:endParaRPr b="1"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Como su nombre indica, este agente tiene un objetivo fijado, lo que hará que elija la mejor opción entre las que estén disponibles para alcanzar su propósito.</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1" i="0" lang="es" sz="1800" u="none" cap="none" strike="noStrike">
                <a:solidFill>
                  <a:srgbClr val="000000"/>
                </a:solidFill>
                <a:latin typeface="Arial"/>
                <a:ea typeface="Arial"/>
                <a:cs typeface="Arial"/>
                <a:sym typeface="Arial"/>
              </a:rPr>
              <a:t>Agentes basados en la utilidad</a:t>
            </a:r>
            <a:endParaRPr b="1"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Son parecidos a los agentes orientados a metas, pero cuentan con la ventaja de proporcionar una medida sobre la utilidad de la acción. De esta forma, el agente estudia también el beneficio de la operación a la hora de tomar su decisión, permitiendo así compensar diferentes factores.</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Por ejemplo, el objetivo de una tienda puede ser la obtención de beneficios sobre las ventas, pero la función de utilidad reconoce que la satisfacción al cliente también debe tenerse en cuenta al buscar esa ganancia. El hecho de establecer la utilidad como un número real (satisfacción del cliente en una escala de uno al diez), el agente inteligente es capaz de definir los escenarios del mundo real en función de esa conveniencia.</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id="110" name="Google Shape;110;g34156db3297_0_1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1" name="Google Shape;111;g34156db3297_0_12"/>
          <p:cNvSpPr txBox="1"/>
          <p:nvPr/>
        </p:nvSpPr>
        <p:spPr>
          <a:xfrm>
            <a:off x="54600" y="707050"/>
            <a:ext cx="9034800" cy="41877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100"/>
              <a:buFont typeface="Arial"/>
              <a:buNone/>
            </a:pPr>
            <a:r>
              <a:rPr b="1" i="0" lang="es" sz="1800" u="none" cap="none" strike="noStrike">
                <a:solidFill>
                  <a:srgbClr val="000000"/>
                </a:solidFill>
                <a:latin typeface="Arial"/>
                <a:ea typeface="Arial"/>
                <a:cs typeface="Arial"/>
                <a:sym typeface="Arial"/>
              </a:rPr>
              <a:t>Agentes que aprenden</a:t>
            </a:r>
            <a:endParaRPr b="1"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0" i="0" lang="es" sz="1800" u="none" cap="none" strike="noStrike">
                <a:solidFill>
                  <a:srgbClr val="000000"/>
                </a:solidFill>
                <a:latin typeface="Arial"/>
                <a:ea typeface="Arial"/>
                <a:cs typeface="Arial"/>
                <a:sym typeface="Arial"/>
              </a:rPr>
              <a:t>El elemento adicional del aprendizaje implica que estos agentes pueden mejorar gradualmente y adquirir más conocimientos de un entorno con el tiempo. Se trata de un sistema altamente complejo que está programado para interactuar con el mundo real y cumplir determinados objetivos, relacionándose con ambientes que no conoce.El aprendizaje profundo y las redes neuronales se utilizan a menudo en el desarrollo de agentes de aprendizaje.</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400"/>
              <a:buFont typeface="Arial"/>
              <a:buNone/>
            </a:pPr>
            <a:r>
              <a:rPr b="1" i="0" lang="es" sz="1800" u="none" cap="none" strike="noStrike">
                <a:solidFill>
                  <a:srgbClr val="000000"/>
                </a:solidFill>
                <a:latin typeface="Arial"/>
                <a:ea typeface="Arial"/>
                <a:cs typeface="Arial"/>
                <a:sym typeface="Arial"/>
              </a:rPr>
              <a:t>Agentes de creencia-deseo-intención</a:t>
            </a:r>
            <a:endParaRPr b="0" i="0" sz="18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100"/>
              <a:buFont typeface="Arial"/>
              <a:buNone/>
            </a:pPr>
            <a:r>
              <a:rPr b="0" i="0" lang="es" sz="1800" u="none" cap="none" strike="noStrike">
                <a:solidFill>
                  <a:srgbClr val="000000"/>
                </a:solidFill>
                <a:latin typeface="Arial"/>
                <a:ea typeface="Arial"/>
                <a:cs typeface="Arial"/>
                <a:sym typeface="Arial"/>
              </a:rPr>
              <a:t>Estos agentes modelan un comportamiento similar al humano manteniendo creencias sobre el entorno, deseos e intenciones. Pueden razonar y planificar sus acciones en consecuencia, lo que los hace adecuados para sistemas complejos.</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g34156db3297_0_1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17" name="Google Shape;117;g34156db3297_0_18"/>
          <p:cNvSpPr txBox="1"/>
          <p:nvPr/>
        </p:nvSpPr>
        <p:spPr>
          <a:xfrm>
            <a:off x="2455200" y="194250"/>
            <a:ext cx="3589500" cy="49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18" name="Google Shape;118;g34156db3297_0_18"/>
          <p:cNvSpPr txBox="1"/>
          <p:nvPr/>
        </p:nvSpPr>
        <p:spPr>
          <a:xfrm>
            <a:off x="2400825" y="223625"/>
            <a:ext cx="3652200" cy="477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rgbClr val="000000"/>
                </a:solidFill>
                <a:latin typeface="Arial"/>
                <a:ea typeface="Arial"/>
                <a:cs typeface="Arial"/>
                <a:sym typeface="Arial"/>
              </a:rPr>
              <a:t>Beneficios de los agentes de IA</a:t>
            </a:r>
            <a:endParaRPr b="1" i="0" sz="1800" u="none" cap="none" strike="noStrike">
              <a:solidFill>
                <a:srgbClr val="000000"/>
              </a:solidFill>
              <a:latin typeface="Arial"/>
              <a:ea typeface="Arial"/>
              <a:cs typeface="Arial"/>
              <a:sym typeface="Arial"/>
            </a:endParaRPr>
          </a:p>
        </p:txBody>
      </p:sp>
      <p:sp>
        <p:nvSpPr>
          <p:cNvPr id="119" name="Google Shape;119;g34156db3297_0_18"/>
          <p:cNvSpPr txBox="1"/>
          <p:nvPr/>
        </p:nvSpPr>
        <p:spPr>
          <a:xfrm>
            <a:off x="29825" y="991425"/>
            <a:ext cx="9042000" cy="2609100"/>
          </a:xfrm>
          <a:prstGeom prst="rect">
            <a:avLst/>
          </a:prstGeom>
          <a:noFill/>
          <a:ln>
            <a:noFill/>
          </a:ln>
        </p:spPr>
        <p:txBody>
          <a:bodyPr anchorCtr="0" anchor="t" bIns="91425" lIns="91425" spcFirstLastPara="1" rIns="91425" wrap="square" tIns="91425">
            <a:noAutofit/>
          </a:bodyPr>
          <a:lstStyle/>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Asistencia personal y chatbots: Los agentes de IA pueden ayudar a las personas a realizar tareas cotidianas, como programar citas, responder preguntas y ofrecer recomendaciones personalizadas.</a:t>
            </a:r>
            <a:endParaRPr b="0" i="0" sz="1800" u="none" cap="none" strike="noStrike">
              <a:solidFill>
                <a:srgbClr val="000000"/>
              </a:solidFill>
              <a:latin typeface="Arial"/>
              <a:ea typeface="Arial"/>
              <a:cs typeface="Arial"/>
              <a:sym typeface="Arial"/>
            </a:endParaRPr>
          </a:p>
          <a:p>
            <a:pPr indent="-228600" lvl="1" marL="9144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s" sz="1800" u="none" cap="none" strike="noStrike">
                <a:solidFill>
                  <a:srgbClr val="000000"/>
                </a:solidFill>
                <a:latin typeface="Arial"/>
                <a:ea typeface="Arial"/>
                <a:cs typeface="Arial"/>
                <a:sym typeface="Arial"/>
              </a:rPr>
              <a:t>Automatización y optimización de procesos empresariales: Los agentes de IA pueden mejorar la eficiencia en los negocios al automatizar tareas repetitivas y optimizar el uso de recursos.</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 name="Google Shape;120;g34156db3297_0_18"/>
          <p:cNvSpPr txBox="1"/>
          <p:nvPr/>
        </p:nvSpPr>
        <p:spPr>
          <a:xfrm>
            <a:off x="178700" y="4584075"/>
            <a:ext cx="5322300" cy="497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sng" cap="none" strike="noStrike">
                <a:solidFill>
                  <a:schemeClr val="hlink"/>
                </a:solidFill>
                <a:latin typeface="Arial"/>
                <a:ea typeface="Arial"/>
                <a:cs typeface="Arial"/>
                <a:sym typeface="Arial"/>
                <a:hlinkClick r:id="rId4"/>
              </a:rPr>
              <a:t>https://www.youtube.com/watch?v=2v6ipqgFk6s</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pic>
        <p:nvPicPr>
          <p:cNvPr id="125" name="Google Shape;125;g34156db3297_0_2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26" name="Google Shape;126;g34156db3297_0_24"/>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Herramientas de Visualización de Datos</a:t>
            </a:r>
            <a:endParaRPr b="1" i="0" sz="1800" u="none" cap="none" strike="noStrike">
              <a:solidFill>
                <a:schemeClr val="dk1"/>
              </a:solidFill>
              <a:latin typeface="Arial"/>
              <a:ea typeface="Arial"/>
              <a:cs typeface="Arial"/>
              <a:sym typeface="Arial"/>
            </a:endParaRPr>
          </a:p>
        </p:txBody>
      </p:sp>
      <p:sp>
        <p:nvSpPr>
          <p:cNvPr id="127" name="Google Shape;127;g34156db3297_0_24"/>
          <p:cNvSpPr txBox="1"/>
          <p:nvPr/>
        </p:nvSpPr>
        <p:spPr>
          <a:xfrm>
            <a:off x="8450" y="1111050"/>
            <a:ext cx="9089700" cy="2400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Las plataformas de visualización de datos proporcionan integración de datos, diseño de visualizaciones, interactividad y exploración, creación de paneles y generación de informes, colaboración y uso compartido, conectividad, rendimiento y escalabilidad, seguridad y gobernanza de datos, exploración, análisis y presentación de datos.</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Estas herramientas son esenciales para ayudar a los usuarios a comprender los datos, tomar decisiones inteligentes y comunicar eficazmente sus hallazgos.</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g34326848042_0_5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33" name="Google Shape;133;g34326848042_0_52"/>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34" name="Google Shape;134;g34326848042_0_52"/>
          <p:cNvSpPr txBox="1"/>
          <p:nvPr/>
        </p:nvSpPr>
        <p:spPr>
          <a:xfrm>
            <a:off x="2439675" y="93225"/>
            <a:ext cx="3675000" cy="893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2"/>
                </a:solidFill>
                <a:latin typeface="Arial"/>
                <a:ea typeface="Arial"/>
                <a:cs typeface="Arial"/>
                <a:sym typeface="Arial"/>
              </a:rPr>
              <a:t>Importancia de las herramientas de visualización de datos </a:t>
            </a:r>
            <a:endParaRPr b="1" i="0" sz="1800" u="none" cap="none" strike="noStrike">
              <a:solidFill>
                <a:schemeClr val="dk2"/>
              </a:solidFill>
              <a:latin typeface="Arial"/>
              <a:ea typeface="Arial"/>
              <a:cs typeface="Arial"/>
              <a:sym typeface="Arial"/>
            </a:endParaRPr>
          </a:p>
        </p:txBody>
      </p:sp>
      <p:sp>
        <p:nvSpPr>
          <p:cNvPr id="135" name="Google Shape;135;g34326848042_0_52"/>
          <p:cNvSpPr txBox="1"/>
          <p:nvPr/>
        </p:nvSpPr>
        <p:spPr>
          <a:xfrm>
            <a:off x="7775" y="986625"/>
            <a:ext cx="9075000" cy="4094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Mejorar la comprensión de los datos.</a:t>
            </a:r>
            <a:endParaRPr b="1"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Simplifican datos complejos, lo que facilita a las personas identificar patrones, tendencias y relaciones. Las visualizaciones simplifican el análisis de datos.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Mejorar el análisis de datos.</a:t>
            </a:r>
            <a:endParaRPr b="1"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Estas plataformas cuentan con herramientas interactivas que facilitan a los usuarios analizar y comprender los datos. Los usuarios pueden interactuar con las visualizaciones, filtrar y profundizar en puntos de datos específicos y analizar datos en tiempo real. Facilitan la exploración de datos y la identificación de valores atípicos, correlaciones y otros conocimientos útiles.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g34326848042_0_6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1" name="Google Shape;141;g34326848042_0_60"/>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42" name="Google Shape;142;g34326848042_0_60"/>
          <p:cNvSpPr txBox="1"/>
          <p:nvPr/>
        </p:nvSpPr>
        <p:spPr>
          <a:xfrm>
            <a:off x="7775" y="714775"/>
            <a:ext cx="9075000" cy="43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Mejorar la comunicación y la colaboración.</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Facilitan la compartición de hallazgos de datos entre equipos y departamentos. Las representaciones visuales ayudan a explicar datos complicados, lo que facilita su comprensión y uso por parte de los usuarios. También permiten a múltiples usuarios trabajar juntos en visualizaciones, compartir conocimientos y fomentar una cultura de toma de decisiones basada en datos.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Apoyar conocimientos accionables.</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Ayudan a identificar conocimientos accionables. Estas plataformas permiten a los usuarios supervisar el rendimiento, seguir objetivos y tomar medidas inmediatas basadas en datos en tiempo real mediante funciones interactivas y actualizaciones de datos en tiempo real. Las visualizaciones resaltan áreas que necesitan mejoras, lo que ayuda a las organizaciones a mejorar su estrategia y acciones.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g34326848042_0_6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48" name="Google Shape;148;g34326848042_0_68"/>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49" name="Google Shape;149;g34326848042_0_68"/>
          <p:cNvSpPr txBox="1"/>
          <p:nvPr/>
        </p:nvSpPr>
        <p:spPr>
          <a:xfrm>
            <a:off x="7775" y="714775"/>
            <a:ext cx="9075000" cy="43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Tableau </a:t>
            </a:r>
            <a:endParaRPr b="1"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Tableau es un famoso software de visualización de datos conocido por su interfaz fácil de usar y su amplia gama de opciones de visualización. Ofrece un entorno de arrastrar y soltar fácil de usar que permite a los usuarios crear visualizaciones interactivas. Además, cuenta con una amplia selección de estilos de gráficos y opciones de personalización para satisfacer diferentes objetivos analíticos.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Ventajas:</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Interfaz sencilla de arrastrar y soltar.</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Amplio apoyo y recursos de la comunidad.</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Variedad de opciones de personalización.</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Desventajas:</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Costoso, especialmente para características a nivel empresarial.</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Capacidades avanzadas con una curva de aprendizaje más pronunciada.</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g34326848042_0_76"/>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55" name="Google Shape;155;g34326848042_0_76"/>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56" name="Google Shape;156;g34326848042_0_76"/>
          <p:cNvSpPr txBox="1"/>
          <p:nvPr/>
        </p:nvSpPr>
        <p:spPr>
          <a:xfrm>
            <a:off x="7775" y="714775"/>
            <a:ext cx="9075000" cy="43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Power BI </a:t>
            </a:r>
            <a:endParaRPr b="1"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Power BI, una herramienta de Microsoft, se integra con otros servicios de Microsoft y cuenta con una interfaz fácil de usar. Ofrece funciones de arrastrar y soltar que simplifican la creación de visualizaciones atractivas. Incluye características avanzadas de creación de paneles e informes que permiten a los usuarios supervisar y analizar datos de manera efectiva.</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Ventajas:</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Integración con el ecosistema de Microsoft.</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Paneles e informes con muchas características.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Desventajas:</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Relativamente pocos tipos de gráficos..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Se necesita conocimiento de Power Query y DAX para funcionalidad avanzada.</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g34326848042_0_8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2" name="Google Shape;162;g34326848042_0_83"/>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63" name="Google Shape;163;g34326848042_0_83"/>
          <p:cNvSpPr txBox="1"/>
          <p:nvPr/>
        </p:nvSpPr>
        <p:spPr>
          <a:xfrm>
            <a:off x="7775" y="714775"/>
            <a:ext cx="9075000" cy="436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QlikView</a:t>
            </a:r>
            <a:endParaRPr b="1"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Con su sólido modelo de datos asociativos y un rendimiento excepcional, QlikView destaca en la exploración de datos. El modelo de datos asociativos en QlikView permite a los usuarios explorar dinámicamente los datos y revelar conocimientos ocultos. Proporciona una experiencia de usuario fluida y ofrece un excelente rendimiento incluso con conjuntos de datos enormes.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Ventajas:</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Fuertes habilidades de exploración de datos.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Amplia gama de visualizaciones disponibles.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Rendimiento eficiente incluso con conjuntos de datos grandes.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Desventajas:</a:t>
            </a:r>
            <a:endParaRPr b="1"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Mayor curva de aprendizaje para principiantes.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Arial"/>
                <a:ea typeface="Arial"/>
                <a:cs typeface="Arial"/>
                <a:sym typeface="Arial"/>
              </a:rPr>
              <a:t>Soporte limitado de la comunidad.</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g33ef33d4d85_0_6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69" name="Google Shape;169;g33ef33d4d85_0_64"/>
          <p:cNvSpPr txBox="1"/>
          <p:nvPr/>
        </p:nvSpPr>
        <p:spPr>
          <a:xfrm>
            <a:off x="2455200" y="194250"/>
            <a:ext cx="3589500" cy="49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70" name="Google Shape;170;g33ef33d4d85_0_64"/>
          <p:cNvSpPr txBox="1"/>
          <p:nvPr/>
        </p:nvSpPr>
        <p:spPr>
          <a:xfrm>
            <a:off x="2532900" y="248625"/>
            <a:ext cx="3123300" cy="51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Business Intelligence (BI)</a:t>
            </a:r>
            <a:endParaRPr b="1" i="0" sz="1800" u="none" cap="none" strike="noStrike">
              <a:solidFill>
                <a:schemeClr val="dk1"/>
              </a:solidFill>
              <a:latin typeface="Arial"/>
              <a:ea typeface="Arial"/>
              <a:cs typeface="Arial"/>
              <a:sym typeface="Arial"/>
            </a:endParaRPr>
          </a:p>
        </p:txBody>
      </p:sp>
      <p:sp>
        <p:nvSpPr>
          <p:cNvPr id="171" name="Google Shape;171;g33ef33d4d85_0_64"/>
          <p:cNvSpPr txBox="1"/>
          <p:nvPr/>
        </p:nvSpPr>
        <p:spPr>
          <a:xfrm>
            <a:off x="116550" y="1002275"/>
            <a:ext cx="8733000" cy="3574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Business Intelligence (BI)</a:t>
            </a:r>
            <a:r>
              <a:rPr b="0" i="0" lang="es" sz="1800" u="none" cap="none" strike="noStrike">
                <a:solidFill>
                  <a:schemeClr val="dk1"/>
                </a:solidFill>
                <a:latin typeface="Arial"/>
                <a:ea typeface="Arial"/>
                <a:cs typeface="Arial"/>
                <a:sym typeface="Arial"/>
              </a:rPr>
              <a:t> o </a:t>
            </a:r>
            <a:r>
              <a:rPr b="1" i="0" lang="es" sz="1800" u="none" cap="none" strike="noStrike">
                <a:solidFill>
                  <a:schemeClr val="dk1"/>
                </a:solidFill>
                <a:latin typeface="Arial"/>
                <a:ea typeface="Arial"/>
                <a:cs typeface="Arial"/>
                <a:sym typeface="Arial"/>
              </a:rPr>
              <a:t>Inteligencia de Negocios</a:t>
            </a:r>
            <a:r>
              <a:rPr b="0" i="0" lang="es" sz="1800" u="none" cap="none" strike="noStrike">
                <a:solidFill>
                  <a:schemeClr val="dk1"/>
                </a:solidFill>
                <a:latin typeface="Arial"/>
                <a:ea typeface="Arial"/>
                <a:cs typeface="Arial"/>
                <a:sym typeface="Arial"/>
              </a:rPr>
              <a:t> es un conjunto de estrategias, tecnologías y herramientas que permiten </a:t>
            </a:r>
            <a:r>
              <a:rPr b="1" i="0" lang="es" sz="1800" u="none" cap="none" strike="noStrike">
                <a:solidFill>
                  <a:schemeClr val="dk1"/>
                </a:solidFill>
                <a:latin typeface="Arial"/>
                <a:ea typeface="Arial"/>
                <a:cs typeface="Arial"/>
                <a:sym typeface="Arial"/>
              </a:rPr>
              <a:t>recopilar, analizar y visualizar datos</a:t>
            </a:r>
            <a:r>
              <a:rPr b="0" i="0" lang="es" sz="1800" u="none" cap="none" strike="noStrike">
                <a:solidFill>
                  <a:schemeClr val="dk1"/>
                </a:solidFill>
                <a:latin typeface="Arial"/>
                <a:ea typeface="Arial"/>
                <a:cs typeface="Arial"/>
                <a:sym typeface="Arial"/>
              </a:rPr>
              <a:t> para tomar </a:t>
            </a:r>
            <a:r>
              <a:rPr b="1" i="0" lang="es" sz="1800" u="none" cap="none" strike="noStrike">
                <a:solidFill>
                  <a:schemeClr val="dk1"/>
                </a:solidFill>
                <a:latin typeface="Arial"/>
                <a:ea typeface="Arial"/>
                <a:cs typeface="Arial"/>
                <a:sym typeface="Arial"/>
              </a:rPr>
              <a:t>decisiones empresariales informadas</a:t>
            </a:r>
            <a:r>
              <a:rPr b="0" i="0" lang="es" sz="1800" u="none" cap="none" strike="noStrike">
                <a:solidFill>
                  <a:schemeClr val="dk1"/>
                </a:solidFill>
                <a:latin typeface="Arial"/>
                <a:ea typeface="Arial"/>
                <a:cs typeface="Arial"/>
                <a:sym typeface="Arial"/>
              </a:rPr>
              <a:t>.</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g2d8fa948c4e_0_2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77" name="Google Shape;177;g2d8fa948c4e_0_25"/>
          <p:cNvSpPr txBox="1"/>
          <p:nvPr/>
        </p:nvSpPr>
        <p:spPr>
          <a:xfrm>
            <a:off x="54375" y="839125"/>
            <a:ext cx="8973900" cy="423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s" sz="1800" u="none" cap="none" strike="noStrike">
                <a:solidFill>
                  <a:schemeClr val="dk1"/>
                </a:solidFill>
                <a:latin typeface="Arial"/>
                <a:ea typeface="Arial"/>
                <a:cs typeface="Arial"/>
                <a:sym typeface="Arial"/>
              </a:rPr>
              <a:t>Características de Business Intelligence</a:t>
            </a:r>
            <a:endParaRPr b="1"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Análisis de datos</a:t>
            </a:r>
            <a:r>
              <a:rPr b="0" i="0" lang="es" sz="1800" u="none" cap="none" strike="noStrike">
                <a:solidFill>
                  <a:schemeClr val="dk1"/>
                </a:solidFill>
                <a:latin typeface="Arial"/>
                <a:ea typeface="Arial"/>
                <a:cs typeface="Arial"/>
                <a:sym typeface="Arial"/>
              </a:rPr>
              <a:t> → Transforma grandes volúmenes de información en insights valiosos.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Visualización de datos</a:t>
            </a:r>
            <a:r>
              <a:rPr b="0" i="0" lang="es" sz="1800" u="none" cap="none" strike="noStrike">
                <a:solidFill>
                  <a:schemeClr val="dk1"/>
                </a:solidFill>
                <a:latin typeface="Arial"/>
                <a:ea typeface="Arial"/>
                <a:cs typeface="Arial"/>
                <a:sym typeface="Arial"/>
              </a:rPr>
              <a:t> → Usa gráficos, dashboards e informes interactivos.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Automatización</a:t>
            </a:r>
            <a:r>
              <a:rPr b="0" i="0" lang="es" sz="1800" u="none" cap="none" strike="noStrike">
                <a:solidFill>
                  <a:schemeClr val="dk1"/>
                </a:solidFill>
                <a:latin typeface="Arial"/>
                <a:ea typeface="Arial"/>
                <a:cs typeface="Arial"/>
                <a:sym typeface="Arial"/>
              </a:rPr>
              <a:t> → Facilita reportes en tiempo real para optimizar procesos.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Predicción</a:t>
            </a:r>
            <a:r>
              <a:rPr b="0" i="0" lang="es" sz="1800" u="none" cap="none" strike="noStrike">
                <a:solidFill>
                  <a:schemeClr val="dk1"/>
                </a:solidFill>
                <a:latin typeface="Arial"/>
                <a:ea typeface="Arial"/>
                <a:cs typeface="Arial"/>
                <a:sym typeface="Arial"/>
              </a:rPr>
              <a:t> → Identifica tendencias y patrones para la toma de decisiones estratégicas.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Integración</a:t>
            </a:r>
            <a:r>
              <a:rPr b="0" i="0" lang="es" sz="1800" u="none" cap="none" strike="noStrike">
                <a:solidFill>
                  <a:schemeClr val="dk1"/>
                </a:solidFill>
                <a:latin typeface="Arial"/>
                <a:ea typeface="Arial"/>
                <a:cs typeface="Arial"/>
                <a:sym typeface="Arial"/>
              </a:rPr>
              <a:t> → Se conecta con bases de datos, ERP, CRM y otros sistemas empresariales.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g2d8fa948c4e_0_2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83" name="Google Shape;183;g2d8fa948c4e_0_29"/>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84" name="Google Shape;184;g2d8fa948c4e_0_29"/>
          <p:cNvSpPr txBox="1"/>
          <p:nvPr/>
        </p:nvSpPr>
        <p:spPr>
          <a:xfrm>
            <a:off x="31075" y="846900"/>
            <a:ext cx="9020700" cy="4211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Beneficios de Business Intelligence</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Mejora en la toma de decisiones basada en datos.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Aumento de la eficiencia operativa gracias a la automatización de reportes.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Optimización de estrategias de negocio mediante análisis predictivo.</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Identificación de oportunidades y riesgos con modelos de datos avanzados.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Mayor competitividad al obtener información precisa y en tiempo real.</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g2d8fa948c4e_0_1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90" name="Google Shape;190;g2d8fa948c4e_0_17"/>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191" name="Google Shape;191;g2d8fa948c4e_0_17"/>
          <p:cNvSpPr txBox="1"/>
          <p:nvPr/>
        </p:nvSpPr>
        <p:spPr>
          <a:xfrm>
            <a:off x="46625" y="808050"/>
            <a:ext cx="8973900" cy="4250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Herramientas de Business Intelligence</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Power BI (Microsoft)</a:t>
            </a:r>
            <a:r>
              <a:rPr b="0" i="0" lang="es" sz="1800" u="none" cap="none" strike="noStrike">
                <a:solidFill>
                  <a:schemeClr val="dk1"/>
                </a:solidFill>
                <a:latin typeface="Arial"/>
                <a:ea typeface="Arial"/>
                <a:cs typeface="Arial"/>
                <a:sym typeface="Arial"/>
              </a:rPr>
              <a:t> → Líder en visualización y análisis de datos.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Tableau</a:t>
            </a:r>
            <a:r>
              <a:rPr b="0" i="0" lang="es" sz="1800" u="none" cap="none" strike="noStrike">
                <a:solidFill>
                  <a:schemeClr val="dk1"/>
                </a:solidFill>
                <a:latin typeface="Arial"/>
                <a:ea typeface="Arial"/>
                <a:cs typeface="Arial"/>
                <a:sym typeface="Arial"/>
              </a:rPr>
              <a:t> → Potente para dashboards interactivos.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Google Data Studio</a:t>
            </a:r>
            <a:r>
              <a:rPr b="0" i="0" lang="es" sz="1800" u="none" cap="none" strike="noStrike">
                <a:solidFill>
                  <a:schemeClr val="dk1"/>
                </a:solidFill>
                <a:latin typeface="Arial"/>
                <a:ea typeface="Arial"/>
                <a:cs typeface="Arial"/>
                <a:sym typeface="Arial"/>
              </a:rPr>
              <a:t> → Integrado con herramientas de Google.</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Qlik Sense</a:t>
            </a:r>
            <a:r>
              <a:rPr b="0" i="0" lang="es" sz="1800" u="none" cap="none" strike="noStrike">
                <a:solidFill>
                  <a:schemeClr val="dk1"/>
                </a:solidFill>
                <a:latin typeface="Arial"/>
                <a:ea typeface="Arial"/>
                <a:cs typeface="Arial"/>
                <a:sym typeface="Arial"/>
              </a:rPr>
              <a:t> → Análisis avanzado y exploración de datos.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SAP BusinessObjects</a:t>
            </a:r>
            <a:r>
              <a:rPr b="0" i="0" lang="es" sz="1800" u="none" cap="none" strike="noStrike">
                <a:solidFill>
                  <a:schemeClr val="dk1"/>
                </a:solidFill>
                <a:latin typeface="Arial"/>
                <a:ea typeface="Arial"/>
                <a:cs typeface="Arial"/>
                <a:sym typeface="Arial"/>
              </a:rPr>
              <a:t> → Enfocado en grandes empresas.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g2d8fa948c4e_0_33"/>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97" name="Google Shape;197;g2d8fa948c4e_0_33"/>
          <p:cNvSpPr txBox="1"/>
          <p:nvPr/>
        </p:nvSpPr>
        <p:spPr>
          <a:xfrm>
            <a:off x="38850" y="823575"/>
            <a:ext cx="9067200" cy="4180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Aplicaciones de Business Intelligence</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Ventas y Marketing</a:t>
            </a:r>
            <a:r>
              <a:rPr b="0" i="0" lang="es" sz="1800" u="none" cap="none" strike="noStrike">
                <a:solidFill>
                  <a:schemeClr val="dk1"/>
                </a:solidFill>
                <a:latin typeface="Arial"/>
                <a:ea typeface="Arial"/>
                <a:cs typeface="Arial"/>
                <a:sym typeface="Arial"/>
              </a:rPr>
              <a:t> → Análisis de clientes y predicción de tendencias.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Finanzas</a:t>
            </a:r>
            <a:r>
              <a:rPr b="0" i="0" lang="es" sz="1800" u="none" cap="none" strike="noStrike">
                <a:solidFill>
                  <a:schemeClr val="dk1"/>
                </a:solidFill>
                <a:latin typeface="Arial"/>
                <a:ea typeface="Arial"/>
                <a:cs typeface="Arial"/>
                <a:sym typeface="Arial"/>
              </a:rPr>
              <a:t> → Evaluación de riesgos y optimización de presupuestos.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Salud </a:t>
            </a:r>
            <a:r>
              <a:rPr b="0" i="0" lang="es" sz="1800" u="none" cap="none" strike="noStrike">
                <a:solidFill>
                  <a:schemeClr val="dk1"/>
                </a:solidFill>
                <a:latin typeface="Arial"/>
                <a:ea typeface="Arial"/>
                <a:cs typeface="Arial"/>
                <a:sym typeface="Arial"/>
              </a:rPr>
              <a:t>→ Análisis de datos clínicos y mejora de servicios médicos.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Retail </a:t>
            </a:r>
            <a:r>
              <a:rPr b="0" i="0" lang="es" sz="1800" u="none" cap="none" strike="noStrike">
                <a:solidFill>
                  <a:schemeClr val="dk1"/>
                </a:solidFill>
                <a:latin typeface="Arial"/>
                <a:ea typeface="Arial"/>
                <a:cs typeface="Arial"/>
                <a:sym typeface="Arial"/>
              </a:rPr>
              <a:t>→ Gestión de inventarios y estrategias de precios.</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Manufactura</a:t>
            </a:r>
            <a:r>
              <a:rPr b="0" i="0" lang="es" sz="1800" u="none" cap="none" strike="noStrike">
                <a:solidFill>
                  <a:schemeClr val="dk1"/>
                </a:solidFill>
                <a:latin typeface="Arial"/>
                <a:ea typeface="Arial"/>
                <a:cs typeface="Arial"/>
                <a:sym typeface="Arial"/>
              </a:rPr>
              <a:t> → Optimización de la cadena de suministro.</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8" name="Google Shape;198;g2d8fa948c4e_0_33"/>
          <p:cNvSpPr txBox="1"/>
          <p:nvPr/>
        </p:nvSpPr>
        <p:spPr>
          <a:xfrm>
            <a:off x="93225" y="4638475"/>
            <a:ext cx="6277800" cy="38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sng" cap="none" strike="noStrike">
                <a:solidFill>
                  <a:schemeClr val="hlink"/>
                </a:solidFill>
                <a:latin typeface="Arial"/>
                <a:ea typeface="Arial"/>
                <a:cs typeface="Arial"/>
                <a:sym typeface="Arial"/>
                <a:hlinkClick r:id="rId4"/>
              </a:rPr>
              <a:t>https://www.youtube.com/watch?v=DtONK8ALWl8</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g2dcf99f76a9_0_39"/>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204" name="Google Shape;204;g2dcf99f76a9_0_39"/>
          <p:cNvSpPr txBox="1"/>
          <p:nvPr/>
        </p:nvSpPr>
        <p:spPr>
          <a:xfrm>
            <a:off x="2563975" y="186475"/>
            <a:ext cx="3348600" cy="528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dk1"/>
              </a:solidFill>
              <a:latin typeface="Arial"/>
              <a:ea typeface="Arial"/>
              <a:cs typeface="Arial"/>
              <a:sym typeface="Arial"/>
            </a:endParaRPr>
          </a:p>
        </p:txBody>
      </p:sp>
      <p:sp>
        <p:nvSpPr>
          <p:cNvPr id="205" name="Google Shape;205;g2dcf99f76a9_0_39"/>
          <p:cNvSpPr txBox="1"/>
          <p:nvPr/>
        </p:nvSpPr>
        <p:spPr>
          <a:xfrm>
            <a:off x="85475" y="784725"/>
            <a:ext cx="8989500" cy="6993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1200"/>
              </a:spcBef>
              <a:spcAft>
                <a:spcPts val="0"/>
              </a:spcAft>
              <a:buClr>
                <a:schemeClr val="dk1"/>
              </a:buClr>
              <a:buSzPts val="1100"/>
              <a:buFont typeface="Arial"/>
              <a:buNone/>
            </a:pPr>
            <a:r>
              <a:rPr b="1" i="0" lang="es" sz="1800" u="none" cap="none" strike="noStrike">
                <a:solidFill>
                  <a:schemeClr val="dk1"/>
                </a:solidFill>
                <a:latin typeface="Arial"/>
                <a:ea typeface="Arial"/>
                <a:cs typeface="Arial"/>
                <a:sym typeface="Arial"/>
              </a:rPr>
              <a:t>Business Intelligence (BI)</a:t>
            </a:r>
            <a:r>
              <a:rPr b="0" i="0" lang="es" sz="1800" u="none" cap="none" strike="noStrike">
                <a:solidFill>
                  <a:schemeClr val="dk1"/>
                </a:solidFill>
                <a:latin typeface="Arial"/>
                <a:ea typeface="Arial"/>
                <a:cs typeface="Arial"/>
                <a:sym typeface="Arial"/>
              </a:rPr>
              <a:t> y </a:t>
            </a:r>
            <a:r>
              <a:rPr b="1" i="0" lang="es" sz="1800" u="none" cap="none" strike="noStrike">
                <a:solidFill>
                  <a:schemeClr val="dk1"/>
                </a:solidFill>
                <a:latin typeface="Arial"/>
                <a:ea typeface="Arial"/>
                <a:cs typeface="Arial"/>
                <a:sym typeface="Arial"/>
              </a:rPr>
              <a:t>Minería de Datos (Data Mining)</a:t>
            </a:r>
            <a:r>
              <a:rPr b="0" i="0" lang="es" sz="1800" u="none" cap="none" strike="noStrike">
                <a:solidFill>
                  <a:schemeClr val="dk1"/>
                </a:solidFill>
                <a:latin typeface="Arial"/>
                <a:ea typeface="Arial"/>
                <a:cs typeface="Arial"/>
                <a:sym typeface="Arial"/>
              </a:rPr>
              <a:t> son conceptos relacionados con el análisis de datos, pero tienen enfoques y objetivos distintos.</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206" name="Google Shape;206;g2dcf99f76a9_0_39"/>
          <p:cNvPicPr preferRelativeResize="0"/>
          <p:nvPr/>
        </p:nvPicPr>
        <p:blipFill rotWithShape="1">
          <a:blip r:embed="rId4">
            <a:alphaModFix/>
          </a:blip>
          <a:srcRect b="0" l="0" r="0" t="0"/>
          <a:stretch/>
        </p:blipFill>
        <p:spPr>
          <a:xfrm>
            <a:off x="85475" y="1553975"/>
            <a:ext cx="8824075" cy="3465200"/>
          </a:xfrm>
          <a:prstGeom prst="rect">
            <a:avLst/>
          </a:prstGeom>
          <a:noFill/>
          <a:ln>
            <a:noFill/>
          </a:ln>
        </p:spPr>
      </p:pic>
      <p:sp>
        <p:nvSpPr>
          <p:cNvPr id="207" name="Google Shape;207;g2dcf99f76a9_0_39"/>
          <p:cNvSpPr txBox="1"/>
          <p:nvPr/>
        </p:nvSpPr>
        <p:spPr>
          <a:xfrm>
            <a:off x="2486275" y="-42725"/>
            <a:ext cx="3651900" cy="986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1" i="0" lang="es" sz="1800" u="none" cap="none" strike="noStrike">
                <a:solidFill>
                  <a:schemeClr val="dk1"/>
                </a:solidFill>
                <a:latin typeface="Arial"/>
                <a:ea typeface="Arial"/>
                <a:cs typeface="Arial"/>
                <a:sym typeface="Arial"/>
              </a:rPr>
              <a:t>Diferencia entre Business Intelligence (BI) y Minería de Datos (Data Mining)</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pic>
        <p:nvPicPr>
          <p:cNvPr id="212" name="Google Shape;212;p1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213" name="Google Shape;213;p14"/>
          <p:cNvSpPr txBox="1"/>
          <p:nvPr/>
        </p:nvSpPr>
        <p:spPr>
          <a:xfrm>
            <a:off x="23300" y="808050"/>
            <a:ext cx="9082800" cy="42501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 sz="1800" u="none" cap="none" strike="noStrike">
                <a:solidFill>
                  <a:schemeClr val="dk1"/>
                </a:solidFill>
                <a:latin typeface="Arial"/>
                <a:ea typeface="Arial"/>
                <a:cs typeface="Arial"/>
                <a:sym typeface="Arial"/>
              </a:rPr>
              <a:t>Relación entre BI y Minería de Datos</a:t>
            </a:r>
            <a:endParaRPr b="1"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100"/>
              <a:buFont typeface="Arial"/>
              <a:buNone/>
            </a:pPr>
            <a:r>
              <a:t/>
            </a:r>
            <a:endParaRPr b="1"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1" i="0" lang="es" sz="1800" u="none" cap="none" strike="noStrike">
                <a:solidFill>
                  <a:schemeClr val="dk1"/>
                </a:solidFill>
                <a:latin typeface="Arial"/>
                <a:ea typeface="Arial"/>
                <a:cs typeface="Arial"/>
                <a:sym typeface="Arial"/>
              </a:rPr>
              <a:t>La minería de datos es una técnica dentro del BI</a:t>
            </a:r>
            <a:r>
              <a:rPr b="0" i="0" lang="es" sz="1800" u="none" cap="none" strike="noStrike">
                <a:solidFill>
                  <a:schemeClr val="dk1"/>
                </a:solidFill>
                <a:latin typeface="Arial"/>
                <a:ea typeface="Arial"/>
                <a:cs typeface="Arial"/>
                <a:sym typeface="Arial"/>
              </a:rPr>
              <a:t>, ya que permite descubrir patrones ocultos que luego pueden ser visualizados en informes de Business Intelligence.</a:t>
            </a:r>
            <a:endParaRPr b="0" i="0" sz="1800" u="none" cap="none" strike="noStrike">
              <a:solidFill>
                <a:schemeClr val="dk1"/>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Arial"/>
              <a:buChar char="●"/>
            </a:pPr>
            <a:r>
              <a:rPr b="0" i="0" lang="es" sz="1800" u="none" cap="none" strike="noStrike">
                <a:solidFill>
                  <a:schemeClr val="dk1"/>
                </a:solidFill>
                <a:latin typeface="Arial"/>
                <a:ea typeface="Arial"/>
                <a:cs typeface="Arial"/>
                <a:sym typeface="Arial"/>
              </a:rPr>
              <a:t>BI analiza y muestra datos ya estructurados, mientras que la minería de datos </a:t>
            </a:r>
            <a:r>
              <a:rPr b="1" i="0" lang="es" sz="1800" u="none" cap="none" strike="noStrike">
                <a:solidFill>
                  <a:schemeClr val="dk1"/>
                </a:solidFill>
                <a:latin typeface="Arial"/>
                <a:ea typeface="Arial"/>
                <a:cs typeface="Arial"/>
                <a:sym typeface="Arial"/>
              </a:rPr>
              <a:t>explora datos sin estructura para encontrar información valiosa</a:t>
            </a:r>
            <a:r>
              <a:rPr b="0" i="0" lang="es" sz="1800" u="none" cap="none" strike="noStrike">
                <a:solidFill>
                  <a:schemeClr val="dk1"/>
                </a:solidFill>
                <a:latin typeface="Arial"/>
                <a:ea typeface="Arial"/>
                <a:cs typeface="Arial"/>
                <a:sym typeface="Arial"/>
              </a:rPr>
              <a:t>.</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mynor israel miranda lopez</dc:creator>
</cp:coreProperties>
</file>