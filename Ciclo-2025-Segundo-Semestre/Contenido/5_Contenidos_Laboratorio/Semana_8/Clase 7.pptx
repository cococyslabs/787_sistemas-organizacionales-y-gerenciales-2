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3"/>
  </p:notesMasterIdLst>
  <p:sldIdLst>
    <p:sldId id="256" r:id="rId2"/>
    <p:sldId id="264" r:id="rId3"/>
    <p:sldId id="265" r:id="rId4"/>
    <p:sldId id="266" r:id="rId5"/>
    <p:sldId id="267" r:id="rId6"/>
    <p:sldId id="268" r:id="rId7"/>
    <p:sldId id="269" r:id="rId8"/>
    <p:sldId id="270" r:id="rId9"/>
    <p:sldId id="271" r:id="rId10"/>
    <p:sldId id="272" r:id="rId11"/>
    <p:sldId id="273" r:id="rId12"/>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5" roundtripDataSignature="AMtx7mi0YIPcREgh0I3sqT34ya1xmmmYj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6234B0C-169B-48F8-8659-D7D69B4FC19D}">
  <a:tblStyle styleId="{46234B0C-169B-48F8-8659-D7D69B4FC19D}"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3" d="100"/>
          <a:sy n="113" d="100"/>
        </p:scale>
        <p:origin x="114" y="34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26"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5" Type="http://customschemas.google.com/relationships/presentationmetadata" Target="metadata"/><Relationship Id="rId2" Type="http://schemas.openxmlformats.org/officeDocument/2006/relationships/slide" Target="slides/slide1.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28"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 name="Google Shape;52;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g346e8a7765d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0" name="Google Shape;110;g346e8a7765d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g346e8a7765d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7" name="Google Shape;117;g346e8a7765d_0_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g346e8a7765d_0_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4" name="Google Shape;124;g346e8a7765d_0_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346e8a7765d_0_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1" name="Google Shape;131;g346e8a7765d_0_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346e8a7765d_0_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7" name="Google Shape;137;g346e8a7765d_0_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346e8a7765d_0_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3" name="Google Shape;143;g346e8a7765d_0_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346e8a7765d_0_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2" name="Google Shape;152;g346e8a7765d_0_3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346e8a7765d_0_3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8" name="Google Shape;158;g346e8a7765d_0_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g346e8a7765d_0_4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5" name="Google Shape;165;g346e8a7765d_0_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346e8a7765d_0_9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2" name="Google Shape;172;g346e8a7765d_0_9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9"/>
        <p:cNvGrpSpPr/>
        <p:nvPr/>
      </p:nvGrpSpPr>
      <p:grpSpPr>
        <a:xfrm>
          <a:off x="0" y="0"/>
          <a:ext cx="0" cy="0"/>
          <a:chOff x="0" y="0"/>
          <a:chExt cx="0" cy="0"/>
        </a:xfrm>
      </p:grpSpPr>
      <p:sp>
        <p:nvSpPr>
          <p:cNvPr id="10" name="Google Shape;10;p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1" name="Google Shape;11;p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2" name="Google Shape;12;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4"/>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5" name="Google Shape;15;p4"/>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6" name="Google Shape;16;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
        <p:cNvGrpSpPr/>
        <p:nvPr/>
      </p:nvGrpSpPr>
      <p:grpSpPr>
        <a:xfrm>
          <a:off x="0" y="0"/>
          <a:ext cx="0" cy="0"/>
          <a:chOff x="0" y="0"/>
          <a:chExt cx="0" cy="0"/>
        </a:xfrm>
      </p:grpSpPr>
      <p:sp>
        <p:nvSpPr>
          <p:cNvPr id="18" name="Google Shape;18;p5"/>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9" name="Google Shape;19;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2" name="Google Shape;22;p6"/>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3" name="Google Shape;23;p6"/>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4" name="Google Shape;24;p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7" name="Google Shape;27;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8"/>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0" name="Google Shape;30;p8"/>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1" name="Google Shape;31;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9"/>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4" name="Google Shape;34;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10"/>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10"/>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8" name="Google Shape;38;p10"/>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10"/>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0" name="Google Shape;40;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1"/>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43" name="Google Shape;43;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2"/>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2"/>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47" name="Google Shape;47;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2"/>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2"/>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pic>
        <p:nvPicPr>
          <p:cNvPr id="54" name="Google Shape;54;p1"/>
          <p:cNvPicPr preferRelativeResize="0"/>
          <p:nvPr/>
        </p:nvPicPr>
        <p:blipFill rotWithShape="1">
          <a:blip r:embed="rId3">
            <a:alphaModFix amt="62000"/>
          </a:blip>
          <a:srcRect/>
          <a:stretch/>
        </p:blipFill>
        <p:spPr>
          <a:xfrm>
            <a:off x="8451" y="0"/>
            <a:ext cx="9127099" cy="5143501"/>
          </a:xfrm>
          <a:prstGeom prst="rect">
            <a:avLst/>
          </a:prstGeom>
          <a:noFill/>
          <a:ln>
            <a:noFill/>
          </a:ln>
        </p:spPr>
      </p:pic>
      <p:graphicFrame>
        <p:nvGraphicFramePr>
          <p:cNvPr id="55" name="Google Shape;55;p1"/>
          <p:cNvGraphicFramePr/>
          <p:nvPr>
            <p:extLst>
              <p:ext uri="{D42A27DB-BD31-4B8C-83A1-F6EECF244321}">
                <p14:modId xmlns:p14="http://schemas.microsoft.com/office/powerpoint/2010/main" val="1292202711"/>
              </p:ext>
            </p:extLst>
          </p:nvPr>
        </p:nvGraphicFramePr>
        <p:xfrm>
          <a:off x="5328200" y="970025"/>
          <a:ext cx="3690575" cy="798516"/>
        </p:xfrm>
        <a:graphic>
          <a:graphicData uri="http://schemas.openxmlformats.org/drawingml/2006/table">
            <a:tbl>
              <a:tblPr>
                <a:noFill/>
                <a:tableStyleId>{46234B0C-169B-48F8-8659-D7D69B4FC19D}</a:tableStyleId>
              </a:tblPr>
              <a:tblGrid>
                <a:gridCol w="1518200">
                  <a:extLst>
                    <a:ext uri="{9D8B030D-6E8A-4147-A177-3AD203B41FA5}">
                      <a16:colId xmlns:a16="http://schemas.microsoft.com/office/drawing/2014/main" val="20000"/>
                    </a:ext>
                  </a:extLst>
                </a:gridCol>
                <a:gridCol w="2172375">
                  <a:extLst>
                    <a:ext uri="{9D8B030D-6E8A-4147-A177-3AD203B41FA5}">
                      <a16:colId xmlns:a16="http://schemas.microsoft.com/office/drawing/2014/main" val="20001"/>
                    </a:ext>
                  </a:extLst>
                </a:gridCol>
              </a:tblGrid>
              <a:tr h="322450">
                <a:tc>
                  <a:txBody>
                    <a:bodyPr/>
                    <a:lstStyle/>
                    <a:p>
                      <a:pPr marL="0" marR="0" lvl="0" indent="0" algn="l" rtl="0">
                        <a:lnSpc>
                          <a:spcPct val="100000"/>
                        </a:lnSpc>
                        <a:spcBef>
                          <a:spcPts val="0"/>
                        </a:spcBef>
                        <a:spcAft>
                          <a:spcPts val="0"/>
                        </a:spcAft>
                        <a:buClr>
                          <a:srgbClr val="000000"/>
                        </a:buClr>
                        <a:buSzPts val="1420"/>
                        <a:buFont typeface="Arial"/>
                        <a:buNone/>
                      </a:pPr>
                      <a:r>
                        <a:rPr lang="es" sz="1420" b="1" u="none" strike="noStrike" cap="none">
                          <a:solidFill>
                            <a:schemeClr val="dk1"/>
                          </a:solidFill>
                        </a:rPr>
                        <a:t>Día, Fecha:</a:t>
                      </a:r>
                      <a:endParaRPr sz="1420" b="1" u="none" strike="noStrike" cap="none">
                        <a:solidFill>
                          <a:schemeClr val="dk1"/>
                        </a:solidFill>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s" sz="1400" u="none" strike="noStrike" cap="none" dirty="0"/>
                        <a:t>Martes, 26/08/2025</a:t>
                      </a:r>
                      <a:endParaRPr sz="1400" u="none" strike="noStrike" cap="none" dirty="0"/>
                    </a:p>
                  </a:txBody>
                  <a:tcPr marL="91425" marR="91425" marT="91425" marB="91425"/>
                </a:tc>
                <a:extLst>
                  <a:ext uri="{0D108BD9-81ED-4DB2-BD59-A6C34878D82A}">
                    <a16:rowId xmlns:a16="http://schemas.microsoft.com/office/drawing/2014/main" val="10000"/>
                  </a:ext>
                </a:extLst>
              </a:tr>
              <a:tr h="363100">
                <a:tc>
                  <a:txBody>
                    <a:bodyPr/>
                    <a:lstStyle/>
                    <a:p>
                      <a:pPr marL="0" marR="0" lvl="0" indent="0" algn="l" rtl="0">
                        <a:lnSpc>
                          <a:spcPct val="100000"/>
                        </a:lnSpc>
                        <a:spcBef>
                          <a:spcPts val="0"/>
                        </a:spcBef>
                        <a:spcAft>
                          <a:spcPts val="0"/>
                        </a:spcAft>
                        <a:buClr>
                          <a:srgbClr val="000000"/>
                        </a:buClr>
                        <a:buSzPts val="1420"/>
                        <a:buFont typeface="Arial"/>
                        <a:buNone/>
                      </a:pPr>
                      <a:r>
                        <a:rPr lang="es" sz="1420" b="1" u="none" strike="noStrike" cap="none">
                          <a:solidFill>
                            <a:schemeClr val="dk1"/>
                          </a:solidFill>
                        </a:rPr>
                        <a:t>Hora de inicio:</a:t>
                      </a:r>
                      <a:endParaRPr sz="1420" b="1" u="none" strike="noStrike" cap="none">
                        <a:solidFill>
                          <a:schemeClr val="dk1"/>
                        </a:solidFill>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s" sz="1400" u="none" strike="noStrike" cap="none" dirty="0"/>
                        <a:t>17:20</a:t>
                      </a:r>
                      <a:endParaRPr sz="1400" u="none" strike="noStrike" cap="none" dirty="0"/>
                    </a:p>
                  </a:txBody>
                  <a:tcPr marL="91425" marR="91425" marT="91425" marB="91425"/>
                </a:tc>
                <a:extLst>
                  <a:ext uri="{0D108BD9-81ED-4DB2-BD59-A6C34878D82A}">
                    <a16:rowId xmlns:a16="http://schemas.microsoft.com/office/drawing/2014/main" val="10001"/>
                  </a:ext>
                </a:extLst>
              </a:tr>
            </a:tbl>
          </a:graphicData>
        </a:graphic>
      </p:graphicFrame>
      <p:sp>
        <p:nvSpPr>
          <p:cNvPr id="56" name="Google Shape;56;p1"/>
          <p:cNvSpPr txBox="1"/>
          <p:nvPr/>
        </p:nvSpPr>
        <p:spPr>
          <a:xfrm>
            <a:off x="3992650" y="2132750"/>
            <a:ext cx="5142900" cy="954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s" sz="2500" b="0" i="0" u="none" strike="noStrike" cap="none">
                <a:solidFill>
                  <a:srgbClr val="000000"/>
                </a:solidFill>
                <a:latin typeface="Arial"/>
                <a:ea typeface="Arial"/>
                <a:cs typeface="Arial"/>
                <a:sym typeface="Arial"/>
              </a:rPr>
              <a:t>SISTEMAS ORGANIZACIONALES Y GERENCIALES 2 Sección P</a:t>
            </a:r>
            <a:endParaRPr sz="2500" b="0" i="0" u="none" strike="noStrike" cap="none">
              <a:solidFill>
                <a:srgbClr val="000000"/>
              </a:solidFill>
              <a:latin typeface="Arial"/>
              <a:ea typeface="Arial"/>
              <a:cs typeface="Arial"/>
              <a:sym typeface="Arial"/>
            </a:endParaRPr>
          </a:p>
        </p:txBody>
      </p:sp>
      <p:sp>
        <p:nvSpPr>
          <p:cNvPr id="57" name="Google Shape;57;p1"/>
          <p:cNvSpPr txBox="1"/>
          <p:nvPr/>
        </p:nvSpPr>
        <p:spPr>
          <a:xfrm>
            <a:off x="107100" y="4595250"/>
            <a:ext cx="42906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 sz="2000" b="0" i="0" u="none" strike="noStrike" cap="none" dirty="0">
                <a:solidFill>
                  <a:srgbClr val="000000"/>
                </a:solidFill>
                <a:latin typeface="Arial"/>
                <a:ea typeface="Arial"/>
                <a:cs typeface="Arial"/>
                <a:sym typeface="Arial"/>
              </a:rPr>
              <a:t>Mynor Israel Miranda López</a:t>
            </a:r>
            <a:endParaRPr sz="2000" b="0" i="0" u="none" strike="noStrike" cap="none" dirty="0">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pic>
        <p:nvPicPr>
          <p:cNvPr id="112" name="Google Shape;112;g346e8a7765d_0_0"/>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113" name="Google Shape;113;g346e8a7765d_0_0"/>
          <p:cNvSpPr txBox="1"/>
          <p:nvPr/>
        </p:nvSpPr>
        <p:spPr>
          <a:xfrm>
            <a:off x="2563975" y="186475"/>
            <a:ext cx="3348600" cy="5283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Arial"/>
              <a:ea typeface="Arial"/>
              <a:cs typeface="Arial"/>
              <a:sym typeface="Arial"/>
            </a:endParaRPr>
          </a:p>
        </p:txBody>
      </p:sp>
      <p:sp>
        <p:nvSpPr>
          <p:cNvPr id="114" name="Google Shape;114;g346e8a7765d_0_0"/>
          <p:cNvSpPr txBox="1"/>
          <p:nvPr/>
        </p:nvSpPr>
        <p:spPr>
          <a:xfrm>
            <a:off x="62150" y="1017825"/>
            <a:ext cx="8989500" cy="4024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s" sz="1800" b="1" dirty="0">
                <a:solidFill>
                  <a:schemeClr val="dk1"/>
                </a:solidFill>
              </a:rPr>
              <a:t>Conceptos Fundamentales de Workflow</a:t>
            </a:r>
            <a:endParaRPr sz="1800" dirty="0">
              <a:solidFill>
                <a:schemeClr val="dk1"/>
              </a:solidFill>
            </a:endParaRPr>
          </a:p>
          <a:p>
            <a:pPr marL="0" lvl="0" indent="0" algn="l" rtl="0">
              <a:spcBef>
                <a:spcPts val="0"/>
              </a:spcBef>
              <a:spcAft>
                <a:spcPts val="0"/>
              </a:spcAft>
              <a:buNone/>
            </a:pPr>
            <a:endParaRPr sz="1800" dirty="0">
              <a:solidFill>
                <a:schemeClr val="dk1"/>
              </a:solidFill>
            </a:endParaRPr>
          </a:p>
          <a:p>
            <a:pPr marL="0" lvl="0" indent="0" algn="l" rtl="0">
              <a:spcBef>
                <a:spcPts val="0"/>
              </a:spcBef>
              <a:spcAft>
                <a:spcPts val="0"/>
              </a:spcAft>
              <a:buNone/>
            </a:pPr>
            <a:endParaRPr sz="1800" dirty="0">
              <a:solidFill>
                <a:schemeClr val="dk1"/>
              </a:solidFill>
            </a:endParaRPr>
          </a:p>
          <a:p>
            <a:pPr marL="0" lvl="0" indent="0" algn="l" rtl="0">
              <a:spcBef>
                <a:spcPts val="0"/>
              </a:spcBef>
              <a:spcAft>
                <a:spcPts val="0"/>
              </a:spcAft>
              <a:buNone/>
            </a:pPr>
            <a:endParaRPr sz="1800" dirty="0">
              <a:solidFill>
                <a:schemeClr val="dk1"/>
              </a:solidFill>
            </a:endParaRPr>
          </a:p>
          <a:p>
            <a:pPr marL="0" lvl="0" indent="0" algn="l" rtl="0">
              <a:spcBef>
                <a:spcPts val="0"/>
              </a:spcBef>
              <a:spcAft>
                <a:spcPts val="0"/>
              </a:spcAft>
              <a:buNone/>
            </a:pPr>
            <a:r>
              <a:rPr lang="es" sz="1800" dirty="0">
                <a:solidFill>
                  <a:schemeClr val="dk1"/>
                </a:solidFill>
              </a:rPr>
              <a:t>Un </a:t>
            </a:r>
            <a:r>
              <a:rPr lang="es" sz="1800" b="1" dirty="0">
                <a:solidFill>
                  <a:schemeClr val="dk1"/>
                </a:solidFill>
              </a:rPr>
              <a:t>Workflow</a:t>
            </a:r>
            <a:r>
              <a:rPr lang="es" sz="1800" dirty="0">
                <a:solidFill>
                  <a:schemeClr val="dk1"/>
                </a:solidFill>
              </a:rPr>
              <a:t> (flujo de trabajo) es un conjunto de pasos secuenciales y automatizados que definen </a:t>
            </a:r>
            <a:r>
              <a:rPr lang="es" sz="1800" b="1" dirty="0">
                <a:solidFill>
                  <a:schemeClr val="dk1"/>
                </a:solidFill>
              </a:rPr>
              <a:t>cómo se ejecuta un proceso dentro de una organización</a:t>
            </a:r>
            <a:r>
              <a:rPr lang="es" sz="1800" dirty="0">
                <a:solidFill>
                  <a:schemeClr val="dk1"/>
                </a:solidFill>
              </a:rPr>
              <a:t>. Se utiliza para mejorar la eficiencia, reducir errores y optimizar la gestión de tareas.</a:t>
            </a:r>
            <a:endParaRPr sz="1800" dirty="0">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pic>
        <p:nvPicPr>
          <p:cNvPr id="119" name="Google Shape;119;g346e8a7765d_0_5"/>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120" name="Google Shape;120;g346e8a7765d_0_5"/>
          <p:cNvSpPr txBox="1"/>
          <p:nvPr/>
        </p:nvSpPr>
        <p:spPr>
          <a:xfrm>
            <a:off x="2563975" y="186475"/>
            <a:ext cx="3348600" cy="5283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Arial"/>
              <a:ea typeface="Arial"/>
              <a:cs typeface="Arial"/>
              <a:sym typeface="Arial"/>
            </a:endParaRPr>
          </a:p>
        </p:txBody>
      </p:sp>
      <p:sp>
        <p:nvSpPr>
          <p:cNvPr id="121" name="Google Shape;121;g346e8a7765d_0_5"/>
          <p:cNvSpPr txBox="1"/>
          <p:nvPr/>
        </p:nvSpPr>
        <p:spPr>
          <a:xfrm>
            <a:off x="31075" y="815800"/>
            <a:ext cx="9028200" cy="4257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s" sz="1800" b="1">
                <a:solidFill>
                  <a:schemeClr val="dk1"/>
                </a:solidFill>
              </a:rPr>
              <a:t>Conceptos Claves en Workflow</a:t>
            </a:r>
            <a:endParaRPr sz="1800" b="1">
              <a:solidFill>
                <a:schemeClr val="dk1"/>
              </a:solidFill>
            </a:endParaRPr>
          </a:p>
          <a:p>
            <a:pPr marL="0" lvl="0" indent="0" algn="ctr" rtl="0">
              <a:spcBef>
                <a:spcPts val="0"/>
              </a:spcBef>
              <a:spcAft>
                <a:spcPts val="0"/>
              </a:spcAft>
              <a:buClr>
                <a:schemeClr val="dk1"/>
              </a:buClr>
              <a:buSzPts val="1100"/>
              <a:buFont typeface="Arial"/>
              <a:buNone/>
            </a:pPr>
            <a:endParaRPr sz="1800" b="1">
              <a:solidFill>
                <a:schemeClr val="dk1"/>
              </a:solidFill>
            </a:endParaRPr>
          </a:p>
          <a:p>
            <a:pPr marL="0" lvl="0" indent="0" algn="l" rtl="0">
              <a:spcBef>
                <a:spcPts val="0"/>
              </a:spcBef>
              <a:spcAft>
                <a:spcPts val="0"/>
              </a:spcAft>
              <a:buClr>
                <a:schemeClr val="dk1"/>
              </a:buClr>
              <a:buSzPts val="1100"/>
              <a:buFont typeface="Arial"/>
              <a:buNone/>
            </a:pPr>
            <a:r>
              <a:rPr lang="es" sz="1800">
                <a:solidFill>
                  <a:schemeClr val="dk1"/>
                </a:solidFill>
              </a:rPr>
              <a:t>1. </a:t>
            </a:r>
            <a:r>
              <a:rPr lang="es" sz="1800" b="1">
                <a:solidFill>
                  <a:schemeClr val="dk1"/>
                </a:solidFill>
              </a:rPr>
              <a:t>Actividades o Tareas</a:t>
            </a:r>
            <a:r>
              <a:rPr lang="es" sz="1800">
                <a:solidFill>
                  <a:schemeClr val="dk1"/>
                </a:solidFill>
              </a:rPr>
              <a:t> → Acciones individuales que conforman el proceso.</a:t>
            </a:r>
            <a:endParaRPr sz="1800">
              <a:solidFill>
                <a:schemeClr val="dk1"/>
              </a:solidFill>
            </a:endParaRPr>
          </a:p>
          <a:p>
            <a:pPr marL="0" lvl="0" indent="0" algn="l" rtl="0">
              <a:spcBef>
                <a:spcPts val="0"/>
              </a:spcBef>
              <a:spcAft>
                <a:spcPts val="0"/>
              </a:spcAft>
              <a:buClr>
                <a:schemeClr val="dk1"/>
              </a:buClr>
              <a:buSzPts val="1100"/>
              <a:buFont typeface="Arial"/>
              <a:buNone/>
            </a:pPr>
            <a:r>
              <a:rPr lang="es" sz="1800">
                <a:solidFill>
                  <a:schemeClr val="dk1"/>
                </a:solidFill>
              </a:rPr>
              <a:t>2. </a:t>
            </a:r>
            <a:r>
              <a:rPr lang="es" sz="1800" b="1">
                <a:solidFill>
                  <a:schemeClr val="dk1"/>
                </a:solidFill>
              </a:rPr>
              <a:t>Actores o Roles </a:t>
            </a:r>
            <a:r>
              <a:rPr lang="es" sz="1800">
                <a:solidFill>
                  <a:schemeClr val="dk1"/>
                </a:solidFill>
              </a:rPr>
              <a:t>→ Personas, equipos o sistemas responsables de ejecutar tareas.</a:t>
            </a:r>
            <a:endParaRPr sz="1800">
              <a:solidFill>
                <a:schemeClr val="dk1"/>
              </a:solidFill>
            </a:endParaRPr>
          </a:p>
          <a:p>
            <a:pPr marL="0" lvl="0" indent="0" algn="l" rtl="0">
              <a:spcBef>
                <a:spcPts val="0"/>
              </a:spcBef>
              <a:spcAft>
                <a:spcPts val="0"/>
              </a:spcAft>
              <a:buClr>
                <a:schemeClr val="dk1"/>
              </a:buClr>
              <a:buSzPts val="1100"/>
              <a:buFont typeface="Arial"/>
              <a:buNone/>
            </a:pPr>
            <a:r>
              <a:rPr lang="es" sz="1800">
                <a:solidFill>
                  <a:schemeClr val="dk1"/>
                </a:solidFill>
              </a:rPr>
              <a:t>3. </a:t>
            </a:r>
            <a:r>
              <a:rPr lang="es" sz="1800" b="1">
                <a:solidFill>
                  <a:schemeClr val="dk1"/>
                </a:solidFill>
              </a:rPr>
              <a:t>Eventos</a:t>
            </a:r>
            <a:r>
              <a:rPr lang="es" sz="1800">
                <a:solidFill>
                  <a:schemeClr val="dk1"/>
                </a:solidFill>
              </a:rPr>
              <a:t> → Disparadores que inician, detienen o cambian el flujo del proceso.</a:t>
            </a:r>
            <a:endParaRPr sz="1800">
              <a:solidFill>
                <a:schemeClr val="dk1"/>
              </a:solidFill>
            </a:endParaRPr>
          </a:p>
          <a:p>
            <a:pPr marL="0" lvl="0" indent="0" algn="l" rtl="0">
              <a:spcBef>
                <a:spcPts val="0"/>
              </a:spcBef>
              <a:spcAft>
                <a:spcPts val="0"/>
              </a:spcAft>
              <a:buClr>
                <a:schemeClr val="dk1"/>
              </a:buClr>
              <a:buSzPts val="1100"/>
              <a:buFont typeface="Arial"/>
              <a:buNone/>
            </a:pPr>
            <a:r>
              <a:rPr lang="es" sz="1800">
                <a:solidFill>
                  <a:schemeClr val="dk1"/>
                </a:solidFill>
              </a:rPr>
              <a:t>4. </a:t>
            </a:r>
            <a:r>
              <a:rPr lang="es" sz="1800" b="1">
                <a:solidFill>
                  <a:schemeClr val="dk1"/>
                </a:solidFill>
              </a:rPr>
              <a:t>Reglas de Negocio</a:t>
            </a:r>
            <a:r>
              <a:rPr lang="es" sz="1800">
                <a:solidFill>
                  <a:schemeClr val="dk1"/>
                </a:solidFill>
              </a:rPr>
              <a:t> → Condiciones y restricciones que determinan el flujo de ejecución.</a:t>
            </a:r>
            <a:endParaRPr sz="1800">
              <a:solidFill>
                <a:schemeClr val="dk1"/>
              </a:solidFill>
            </a:endParaRPr>
          </a:p>
          <a:p>
            <a:pPr marL="0" lvl="0" indent="0" algn="l" rtl="0">
              <a:spcBef>
                <a:spcPts val="0"/>
              </a:spcBef>
              <a:spcAft>
                <a:spcPts val="0"/>
              </a:spcAft>
              <a:buClr>
                <a:schemeClr val="dk1"/>
              </a:buClr>
              <a:buSzPts val="1100"/>
              <a:buFont typeface="Arial"/>
              <a:buNone/>
            </a:pPr>
            <a:r>
              <a:rPr lang="es" sz="1800">
                <a:solidFill>
                  <a:schemeClr val="dk1"/>
                </a:solidFill>
              </a:rPr>
              <a:t>5. </a:t>
            </a:r>
            <a:r>
              <a:rPr lang="es" sz="1800" b="1">
                <a:solidFill>
                  <a:schemeClr val="dk1"/>
                </a:solidFill>
              </a:rPr>
              <a:t>Conectores o Transiciones</a:t>
            </a:r>
            <a:r>
              <a:rPr lang="es" sz="1800">
                <a:solidFill>
                  <a:schemeClr val="dk1"/>
                </a:solidFill>
              </a:rPr>
              <a:t> → Definen la secuencia entre tareas dentro del flujo.</a:t>
            </a:r>
            <a:endParaRPr sz="1800">
              <a:solidFill>
                <a:schemeClr val="dk1"/>
              </a:solidFill>
            </a:endParaRPr>
          </a:p>
          <a:p>
            <a:pPr marL="0" lvl="0" indent="0" algn="l" rtl="0">
              <a:spcBef>
                <a:spcPts val="0"/>
              </a:spcBef>
              <a:spcAft>
                <a:spcPts val="0"/>
              </a:spcAft>
              <a:buClr>
                <a:schemeClr val="dk1"/>
              </a:buClr>
              <a:buSzPts val="1100"/>
              <a:buFont typeface="Arial"/>
              <a:buNone/>
            </a:pPr>
            <a:r>
              <a:rPr lang="es" sz="1800">
                <a:solidFill>
                  <a:schemeClr val="dk1"/>
                </a:solidFill>
              </a:rPr>
              <a:t>6. </a:t>
            </a:r>
            <a:r>
              <a:rPr lang="es" sz="1800" b="1">
                <a:solidFill>
                  <a:schemeClr val="dk1"/>
                </a:solidFill>
              </a:rPr>
              <a:t>Estados</a:t>
            </a:r>
            <a:r>
              <a:rPr lang="es" sz="1800">
                <a:solidFill>
                  <a:schemeClr val="dk1"/>
                </a:solidFill>
              </a:rPr>
              <a:t> → Situaciones en las que se encuentra un proceso en un momento dado.</a:t>
            </a:r>
            <a:endParaRPr sz="1800">
              <a:solidFill>
                <a:schemeClr val="dk1"/>
              </a:solidFill>
            </a:endParaRPr>
          </a:p>
          <a:p>
            <a:pPr marL="0" lvl="0" indent="0" algn="l" rtl="0">
              <a:spcBef>
                <a:spcPts val="0"/>
              </a:spcBef>
              <a:spcAft>
                <a:spcPts val="0"/>
              </a:spcAft>
              <a:buClr>
                <a:schemeClr val="dk1"/>
              </a:buClr>
              <a:buSzPts val="1100"/>
              <a:buFont typeface="Arial"/>
              <a:buNone/>
            </a:pPr>
            <a:r>
              <a:rPr lang="es" sz="1800">
                <a:solidFill>
                  <a:schemeClr val="dk1"/>
                </a:solidFill>
              </a:rPr>
              <a:t>7. </a:t>
            </a:r>
            <a:r>
              <a:rPr lang="es" sz="1800" b="1">
                <a:solidFill>
                  <a:schemeClr val="dk1"/>
                </a:solidFill>
              </a:rPr>
              <a:t>Entrada y Salida </a:t>
            </a:r>
            <a:r>
              <a:rPr lang="es" sz="1800">
                <a:solidFill>
                  <a:schemeClr val="dk1"/>
                </a:solidFill>
              </a:rPr>
              <a:t>→ Datos o documentos que ingresan y resultan del flujo de trabajo.</a:t>
            </a:r>
            <a:endParaRPr sz="1800">
              <a:solidFill>
                <a:schemeClr val="dk1"/>
              </a:solidFill>
            </a:endParaRPr>
          </a:p>
          <a:p>
            <a:pPr marL="0" lvl="0" indent="0" algn="l" rtl="0">
              <a:spcBef>
                <a:spcPts val="0"/>
              </a:spcBef>
              <a:spcAft>
                <a:spcPts val="0"/>
              </a:spcAft>
              <a:buNone/>
            </a:pPr>
            <a:endParaRPr sz="1800">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pic>
        <p:nvPicPr>
          <p:cNvPr id="126" name="Google Shape;126;g346e8a7765d_0_10"/>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127" name="Google Shape;127;g346e8a7765d_0_10"/>
          <p:cNvSpPr txBox="1"/>
          <p:nvPr/>
        </p:nvSpPr>
        <p:spPr>
          <a:xfrm>
            <a:off x="2563975" y="186475"/>
            <a:ext cx="3348600" cy="5283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Arial"/>
              <a:ea typeface="Arial"/>
              <a:cs typeface="Arial"/>
              <a:sym typeface="Arial"/>
            </a:endParaRPr>
          </a:p>
        </p:txBody>
      </p:sp>
      <p:sp>
        <p:nvSpPr>
          <p:cNvPr id="128" name="Google Shape;128;g346e8a7765d_0_10"/>
          <p:cNvSpPr txBox="1"/>
          <p:nvPr/>
        </p:nvSpPr>
        <p:spPr>
          <a:xfrm>
            <a:off x="23300" y="784725"/>
            <a:ext cx="9059400" cy="4358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s" sz="1800" b="1">
                <a:solidFill>
                  <a:schemeClr val="dk1"/>
                </a:solidFill>
              </a:rPr>
              <a:t>Tipos de Workflow</a:t>
            </a:r>
            <a:endParaRPr sz="1800" b="1">
              <a:solidFill>
                <a:schemeClr val="dk1"/>
              </a:solidFill>
            </a:endParaRPr>
          </a:p>
          <a:p>
            <a:pPr marL="0" lvl="0" indent="0" algn="ctr" rtl="0">
              <a:spcBef>
                <a:spcPts val="0"/>
              </a:spcBef>
              <a:spcAft>
                <a:spcPts val="0"/>
              </a:spcAft>
              <a:buClr>
                <a:schemeClr val="dk1"/>
              </a:buClr>
              <a:buSzPts val="1100"/>
              <a:buFont typeface="Arial"/>
              <a:buNone/>
            </a:pPr>
            <a:endParaRPr sz="1800" b="1">
              <a:solidFill>
                <a:schemeClr val="dk1"/>
              </a:solidFill>
            </a:endParaRPr>
          </a:p>
          <a:p>
            <a:pPr marL="0" lvl="0" indent="0" algn="l" rtl="0">
              <a:spcBef>
                <a:spcPts val="0"/>
              </a:spcBef>
              <a:spcAft>
                <a:spcPts val="0"/>
              </a:spcAft>
              <a:buClr>
                <a:schemeClr val="dk1"/>
              </a:buClr>
              <a:buSzPts val="1100"/>
              <a:buFont typeface="Arial"/>
              <a:buNone/>
            </a:pPr>
            <a:r>
              <a:rPr lang="es" sz="1800">
                <a:solidFill>
                  <a:schemeClr val="dk1"/>
                </a:solidFill>
              </a:rPr>
              <a:t>1. </a:t>
            </a:r>
            <a:r>
              <a:rPr lang="es" sz="1800" b="1">
                <a:solidFill>
                  <a:schemeClr val="dk1"/>
                </a:solidFill>
              </a:rPr>
              <a:t>Workflow Secuencial</a:t>
            </a:r>
            <a:r>
              <a:rPr lang="es" sz="1800">
                <a:solidFill>
                  <a:schemeClr val="dk1"/>
                </a:solidFill>
              </a:rPr>
              <a:t> → Sigue un orden fijo y predefinido de ejecución.</a:t>
            </a:r>
            <a:endParaRPr sz="1800">
              <a:solidFill>
                <a:schemeClr val="dk1"/>
              </a:solidFill>
            </a:endParaRPr>
          </a:p>
          <a:p>
            <a:pPr marL="0" lvl="0" indent="0" algn="l" rtl="0">
              <a:spcBef>
                <a:spcPts val="0"/>
              </a:spcBef>
              <a:spcAft>
                <a:spcPts val="0"/>
              </a:spcAft>
              <a:buClr>
                <a:schemeClr val="dk1"/>
              </a:buClr>
              <a:buSzPts val="1100"/>
              <a:buFont typeface="Arial"/>
              <a:buNone/>
            </a:pPr>
            <a:r>
              <a:rPr lang="es" sz="1800">
                <a:solidFill>
                  <a:schemeClr val="dk1"/>
                </a:solidFill>
              </a:rPr>
              <a:t>2. </a:t>
            </a:r>
            <a:r>
              <a:rPr lang="es" sz="1800" b="1">
                <a:solidFill>
                  <a:schemeClr val="dk1"/>
                </a:solidFill>
              </a:rPr>
              <a:t>Workflow Condicional</a:t>
            </a:r>
            <a:r>
              <a:rPr lang="es" sz="1800">
                <a:solidFill>
                  <a:schemeClr val="dk1"/>
                </a:solidFill>
              </a:rPr>
              <a:t> → Se ejecuta según reglas o decisiones específicas.</a:t>
            </a:r>
            <a:endParaRPr sz="1800">
              <a:solidFill>
                <a:schemeClr val="dk1"/>
              </a:solidFill>
            </a:endParaRPr>
          </a:p>
          <a:p>
            <a:pPr marL="0" lvl="0" indent="0" algn="l" rtl="0">
              <a:spcBef>
                <a:spcPts val="0"/>
              </a:spcBef>
              <a:spcAft>
                <a:spcPts val="0"/>
              </a:spcAft>
              <a:buClr>
                <a:schemeClr val="dk1"/>
              </a:buClr>
              <a:buSzPts val="1100"/>
              <a:buFont typeface="Arial"/>
              <a:buNone/>
            </a:pPr>
            <a:r>
              <a:rPr lang="es" sz="1800">
                <a:solidFill>
                  <a:schemeClr val="dk1"/>
                </a:solidFill>
              </a:rPr>
              <a:t>3. </a:t>
            </a:r>
            <a:r>
              <a:rPr lang="es" sz="1800" b="1">
                <a:solidFill>
                  <a:schemeClr val="dk1"/>
                </a:solidFill>
              </a:rPr>
              <a:t>Workflow Paralelo</a:t>
            </a:r>
            <a:r>
              <a:rPr lang="es" sz="1800">
                <a:solidFill>
                  <a:schemeClr val="dk1"/>
                </a:solidFill>
              </a:rPr>
              <a:t> → Permite ejecutar varias tareas simultáneamente.</a:t>
            </a:r>
            <a:endParaRPr sz="1800">
              <a:solidFill>
                <a:schemeClr val="dk1"/>
              </a:solidFill>
            </a:endParaRPr>
          </a:p>
          <a:p>
            <a:pPr marL="0" lvl="0" indent="0" algn="l" rtl="0">
              <a:spcBef>
                <a:spcPts val="0"/>
              </a:spcBef>
              <a:spcAft>
                <a:spcPts val="0"/>
              </a:spcAft>
              <a:buClr>
                <a:schemeClr val="dk1"/>
              </a:buClr>
              <a:buSzPts val="1100"/>
              <a:buFont typeface="Arial"/>
              <a:buNone/>
            </a:pPr>
            <a:r>
              <a:rPr lang="es" sz="1800">
                <a:solidFill>
                  <a:schemeClr val="dk1"/>
                </a:solidFill>
              </a:rPr>
              <a:t>4. </a:t>
            </a:r>
            <a:r>
              <a:rPr lang="es" sz="1800" b="1">
                <a:solidFill>
                  <a:schemeClr val="dk1"/>
                </a:solidFill>
              </a:rPr>
              <a:t>Workflow Colaborativo</a:t>
            </a:r>
            <a:r>
              <a:rPr lang="es" sz="1800">
                <a:solidFill>
                  <a:schemeClr val="dk1"/>
                </a:solidFill>
              </a:rPr>
              <a:t> → Diferentes usuarios trabajan juntos en tareas interdependientes.</a:t>
            </a:r>
            <a:endParaRPr sz="1800">
              <a:solidFill>
                <a:schemeClr val="dk1"/>
              </a:solidFill>
            </a:endParaRPr>
          </a:p>
          <a:p>
            <a:pPr marL="0" lvl="0" indent="0" algn="l" rtl="0">
              <a:spcBef>
                <a:spcPts val="0"/>
              </a:spcBef>
              <a:spcAft>
                <a:spcPts val="0"/>
              </a:spcAft>
              <a:buClr>
                <a:schemeClr val="dk1"/>
              </a:buClr>
              <a:buSzPts val="1100"/>
              <a:buFont typeface="Arial"/>
              <a:buNone/>
            </a:pPr>
            <a:r>
              <a:rPr lang="es" sz="1800">
                <a:solidFill>
                  <a:schemeClr val="dk1"/>
                </a:solidFill>
              </a:rPr>
              <a:t>5. </a:t>
            </a:r>
            <a:r>
              <a:rPr lang="es" sz="1800" b="1">
                <a:solidFill>
                  <a:schemeClr val="dk1"/>
                </a:solidFill>
              </a:rPr>
              <a:t>Workflow Ad-hoc</a:t>
            </a:r>
            <a:r>
              <a:rPr lang="es" sz="1800">
                <a:solidFill>
                  <a:schemeClr val="dk1"/>
                </a:solidFill>
              </a:rPr>
              <a:t> → Flexible y permite ajustes en tiempo real según necesidades.</a:t>
            </a:r>
            <a:endParaRPr sz="1800">
              <a:solidFill>
                <a:schemeClr val="dk1"/>
              </a:solidFill>
            </a:endParaRPr>
          </a:p>
          <a:p>
            <a:pPr marL="0" lvl="0" indent="0" algn="l" rtl="0">
              <a:spcBef>
                <a:spcPts val="0"/>
              </a:spcBef>
              <a:spcAft>
                <a:spcPts val="0"/>
              </a:spcAft>
              <a:buNone/>
            </a:pPr>
            <a:endParaRPr sz="18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pic>
        <p:nvPicPr>
          <p:cNvPr id="133" name="Google Shape;133;g346e8a7765d_0_15"/>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134" name="Google Shape;134;g346e8a7765d_0_15"/>
          <p:cNvSpPr txBox="1"/>
          <p:nvPr/>
        </p:nvSpPr>
        <p:spPr>
          <a:xfrm>
            <a:off x="23300" y="800275"/>
            <a:ext cx="9028200" cy="4257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s" sz="1800" b="1">
                <a:solidFill>
                  <a:schemeClr val="dk1"/>
                </a:solidFill>
              </a:rPr>
              <a:t>Beneficios del Workflow</a:t>
            </a:r>
            <a:endParaRPr sz="1800" b="1">
              <a:solidFill>
                <a:schemeClr val="dk1"/>
              </a:solidFill>
            </a:endParaRPr>
          </a:p>
          <a:p>
            <a:pPr marL="0" lvl="0" indent="0" algn="ctr" rtl="0">
              <a:spcBef>
                <a:spcPts val="0"/>
              </a:spcBef>
              <a:spcAft>
                <a:spcPts val="0"/>
              </a:spcAft>
              <a:buClr>
                <a:schemeClr val="dk1"/>
              </a:buClr>
              <a:buSzPts val="1100"/>
              <a:buFont typeface="Arial"/>
              <a:buNone/>
            </a:pPr>
            <a:endParaRPr sz="1800" b="1">
              <a:solidFill>
                <a:schemeClr val="dk1"/>
              </a:solidFill>
            </a:endParaRPr>
          </a:p>
          <a:p>
            <a:pPr marL="457200" lvl="0" indent="-342900" algn="l" rtl="0">
              <a:spcBef>
                <a:spcPts val="0"/>
              </a:spcBef>
              <a:spcAft>
                <a:spcPts val="0"/>
              </a:spcAft>
              <a:buClr>
                <a:schemeClr val="dk1"/>
              </a:buClr>
              <a:buSzPts val="1800"/>
              <a:buChar char="●"/>
            </a:pPr>
            <a:r>
              <a:rPr lang="es" sz="1800" b="1">
                <a:solidFill>
                  <a:schemeClr val="dk1"/>
                </a:solidFill>
              </a:rPr>
              <a:t>Automatización de Procesos</a:t>
            </a:r>
            <a:r>
              <a:rPr lang="es" sz="1800">
                <a:solidFill>
                  <a:schemeClr val="dk1"/>
                </a:solidFill>
              </a:rPr>
              <a:t> → Reduce tiempos y errores humanos.</a:t>
            </a:r>
            <a:endParaRPr sz="1800">
              <a:solidFill>
                <a:schemeClr val="dk1"/>
              </a:solidFill>
            </a:endParaRPr>
          </a:p>
          <a:p>
            <a:pPr marL="457200" lvl="0" indent="-342900" algn="l" rtl="0">
              <a:spcBef>
                <a:spcPts val="0"/>
              </a:spcBef>
              <a:spcAft>
                <a:spcPts val="0"/>
              </a:spcAft>
              <a:buClr>
                <a:schemeClr val="dk1"/>
              </a:buClr>
              <a:buSzPts val="1800"/>
              <a:buChar char="●"/>
            </a:pPr>
            <a:r>
              <a:rPr lang="es" sz="1800" b="1">
                <a:solidFill>
                  <a:schemeClr val="dk1"/>
                </a:solidFill>
              </a:rPr>
              <a:t>Mayor Transparencia</a:t>
            </a:r>
            <a:r>
              <a:rPr lang="es" sz="1800">
                <a:solidFill>
                  <a:schemeClr val="dk1"/>
                </a:solidFill>
              </a:rPr>
              <a:t> → Facilita el seguimiento del estado de cada tarea.</a:t>
            </a:r>
            <a:endParaRPr sz="1800">
              <a:solidFill>
                <a:schemeClr val="dk1"/>
              </a:solidFill>
            </a:endParaRPr>
          </a:p>
          <a:p>
            <a:pPr marL="457200" lvl="0" indent="-342900" algn="l" rtl="0">
              <a:spcBef>
                <a:spcPts val="0"/>
              </a:spcBef>
              <a:spcAft>
                <a:spcPts val="0"/>
              </a:spcAft>
              <a:buClr>
                <a:schemeClr val="dk1"/>
              </a:buClr>
              <a:buSzPts val="1800"/>
              <a:buChar char="●"/>
            </a:pPr>
            <a:r>
              <a:rPr lang="es" sz="1800" b="1">
                <a:solidFill>
                  <a:schemeClr val="dk1"/>
                </a:solidFill>
              </a:rPr>
              <a:t>Optimización de Recursos</a:t>
            </a:r>
            <a:r>
              <a:rPr lang="es" sz="1800">
                <a:solidFill>
                  <a:schemeClr val="dk1"/>
                </a:solidFill>
              </a:rPr>
              <a:t> → Asigna tareas de manera eficiente.</a:t>
            </a:r>
            <a:endParaRPr sz="1800">
              <a:solidFill>
                <a:schemeClr val="dk1"/>
              </a:solidFill>
            </a:endParaRPr>
          </a:p>
          <a:p>
            <a:pPr marL="457200" lvl="0" indent="-342900" algn="l" rtl="0">
              <a:spcBef>
                <a:spcPts val="0"/>
              </a:spcBef>
              <a:spcAft>
                <a:spcPts val="0"/>
              </a:spcAft>
              <a:buClr>
                <a:schemeClr val="dk1"/>
              </a:buClr>
              <a:buSzPts val="1800"/>
              <a:buChar char="●"/>
            </a:pPr>
            <a:r>
              <a:rPr lang="es" sz="1800" b="1">
                <a:solidFill>
                  <a:schemeClr val="dk1"/>
                </a:solidFill>
              </a:rPr>
              <a:t>Integración con Otras Tecnologías</a:t>
            </a:r>
            <a:r>
              <a:rPr lang="es" sz="1800">
                <a:solidFill>
                  <a:schemeClr val="dk1"/>
                </a:solidFill>
              </a:rPr>
              <a:t> → Se complementa con ERP, CRM y herramientas de BI.</a:t>
            </a:r>
            <a:endParaRPr sz="1800">
              <a:solidFill>
                <a:schemeClr val="dk1"/>
              </a:solidFill>
            </a:endParaRPr>
          </a:p>
          <a:p>
            <a:pPr marL="457200" lvl="0" indent="-342900" algn="l" rtl="0">
              <a:spcBef>
                <a:spcPts val="0"/>
              </a:spcBef>
              <a:spcAft>
                <a:spcPts val="0"/>
              </a:spcAft>
              <a:buClr>
                <a:schemeClr val="dk1"/>
              </a:buClr>
              <a:buSzPts val="1800"/>
              <a:buChar char="●"/>
            </a:pPr>
            <a:r>
              <a:rPr lang="es" sz="1800" b="1">
                <a:solidFill>
                  <a:schemeClr val="dk1"/>
                </a:solidFill>
              </a:rPr>
              <a:t>Mejora la Toma de Decisiones</a:t>
            </a:r>
            <a:r>
              <a:rPr lang="es" sz="1800">
                <a:solidFill>
                  <a:schemeClr val="dk1"/>
                </a:solidFill>
              </a:rPr>
              <a:t> → Proporciona información clara sobre el rendimiento del proceso.</a:t>
            </a:r>
            <a:endParaRPr sz="1800">
              <a:solidFill>
                <a:schemeClr val="dk1"/>
              </a:solidFill>
            </a:endParaRPr>
          </a:p>
          <a:p>
            <a:pPr marL="0" lvl="0" indent="0" algn="l" rtl="0">
              <a:spcBef>
                <a:spcPts val="0"/>
              </a:spcBef>
              <a:spcAft>
                <a:spcPts val="0"/>
              </a:spcAft>
              <a:buClr>
                <a:schemeClr val="dk1"/>
              </a:buClr>
              <a:buSzPts val="1100"/>
              <a:buFont typeface="Arial"/>
              <a:buNone/>
            </a:pPr>
            <a:endParaRPr sz="1800">
              <a:solidFill>
                <a:schemeClr val="dk1"/>
              </a:solidFill>
            </a:endParaRPr>
          </a:p>
          <a:p>
            <a:pPr marL="0" lvl="0" indent="0" algn="l" rtl="0">
              <a:spcBef>
                <a:spcPts val="0"/>
              </a:spcBef>
              <a:spcAft>
                <a:spcPts val="0"/>
              </a:spcAft>
              <a:buNone/>
            </a:pPr>
            <a:endParaRPr sz="1800">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pic>
        <p:nvPicPr>
          <p:cNvPr id="139" name="Google Shape;139;g346e8a7765d_0_20"/>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140" name="Google Shape;140;g346e8a7765d_0_20"/>
          <p:cNvSpPr txBox="1"/>
          <p:nvPr/>
        </p:nvSpPr>
        <p:spPr>
          <a:xfrm>
            <a:off x="38850" y="831350"/>
            <a:ext cx="8888400" cy="4195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s" sz="1800" b="1">
                <a:solidFill>
                  <a:schemeClr val="dk1"/>
                </a:solidFill>
              </a:rPr>
              <a:t>¿Cómo crear un workflow?</a:t>
            </a:r>
            <a:endParaRPr sz="1800" b="1">
              <a:solidFill>
                <a:schemeClr val="dk1"/>
              </a:solidFill>
            </a:endParaRPr>
          </a:p>
          <a:p>
            <a:pPr marL="0" lvl="0" indent="0" algn="ctr" rtl="0">
              <a:spcBef>
                <a:spcPts val="0"/>
              </a:spcBef>
              <a:spcAft>
                <a:spcPts val="0"/>
              </a:spcAft>
              <a:buClr>
                <a:schemeClr val="dk1"/>
              </a:buClr>
              <a:buSzPts val="1100"/>
              <a:buFont typeface="Arial"/>
              <a:buNone/>
            </a:pPr>
            <a:endParaRPr sz="1800" b="1">
              <a:solidFill>
                <a:schemeClr val="dk1"/>
              </a:solidFill>
            </a:endParaRPr>
          </a:p>
          <a:p>
            <a:pPr marL="0" lvl="0" indent="0" algn="l" rtl="0">
              <a:spcBef>
                <a:spcPts val="0"/>
              </a:spcBef>
              <a:spcAft>
                <a:spcPts val="0"/>
              </a:spcAft>
              <a:buClr>
                <a:schemeClr val="dk1"/>
              </a:buClr>
              <a:buSzPts val="1100"/>
              <a:buFont typeface="Arial"/>
              <a:buNone/>
            </a:pPr>
            <a:r>
              <a:rPr lang="es" sz="1800">
                <a:solidFill>
                  <a:schemeClr val="dk1"/>
                </a:solidFill>
              </a:rPr>
              <a:t>Cuando deseamos crear un workflow automatizado, debemos responder tres grandes preguntas:</a:t>
            </a:r>
            <a:endParaRPr sz="1800">
              <a:solidFill>
                <a:schemeClr val="dk1"/>
              </a:solidFill>
            </a:endParaRPr>
          </a:p>
          <a:p>
            <a:pPr marL="0" lvl="0" indent="0" algn="l" rtl="0">
              <a:spcBef>
                <a:spcPts val="0"/>
              </a:spcBef>
              <a:spcAft>
                <a:spcPts val="0"/>
              </a:spcAft>
              <a:buClr>
                <a:schemeClr val="dk1"/>
              </a:buClr>
              <a:buSzPts val="1100"/>
              <a:buFont typeface="Arial"/>
              <a:buNone/>
            </a:pPr>
            <a:endParaRPr sz="1800">
              <a:solidFill>
                <a:schemeClr val="dk1"/>
              </a:solidFill>
            </a:endParaRPr>
          </a:p>
          <a:p>
            <a:pPr marL="0" lvl="0" indent="0" algn="l" rtl="0">
              <a:spcBef>
                <a:spcPts val="0"/>
              </a:spcBef>
              <a:spcAft>
                <a:spcPts val="0"/>
              </a:spcAft>
              <a:buNone/>
            </a:pPr>
            <a:r>
              <a:rPr lang="es" sz="1800" b="1">
                <a:solidFill>
                  <a:schemeClr val="dk1"/>
                </a:solidFill>
              </a:rPr>
              <a:t>¿Quiénes?</a:t>
            </a:r>
            <a:r>
              <a:rPr lang="es" sz="1800">
                <a:solidFill>
                  <a:schemeClr val="dk1"/>
                </a:solidFill>
              </a:rPr>
              <a:t> Responder esta pregunta nos permite identificar los participantes, sean humanos o sistemas, que completan las diferentes tareas de un workflow.</a:t>
            </a:r>
            <a:endParaRPr sz="1800">
              <a:solidFill>
                <a:schemeClr val="dk1"/>
              </a:solidFill>
            </a:endParaRPr>
          </a:p>
          <a:p>
            <a:pPr marL="0" lvl="0" indent="0" algn="l" rtl="0">
              <a:spcBef>
                <a:spcPts val="0"/>
              </a:spcBef>
              <a:spcAft>
                <a:spcPts val="0"/>
              </a:spcAft>
              <a:buClr>
                <a:schemeClr val="dk1"/>
              </a:buClr>
              <a:buSzPts val="1100"/>
              <a:buFont typeface="Arial"/>
              <a:buNone/>
            </a:pPr>
            <a:endParaRPr sz="1800">
              <a:solidFill>
                <a:schemeClr val="dk1"/>
              </a:solidFill>
            </a:endParaRPr>
          </a:p>
          <a:p>
            <a:pPr marL="0" lvl="0" indent="0" algn="l" rtl="0">
              <a:spcBef>
                <a:spcPts val="0"/>
              </a:spcBef>
              <a:spcAft>
                <a:spcPts val="0"/>
              </a:spcAft>
              <a:buNone/>
            </a:pPr>
            <a:r>
              <a:rPr lang="es" sz="1800" b="1">
                <a:solidFill>
                  <a:schemeClr val="dk1"/>
                </a:solidFill>
              </a:rPr>
              <a:t>¿Qué hacen?</a:t>
            </a:r>
            <a:r>
              <a:rPr lang="es" sz="1800">
                <a:solidFill>
                  <a:schemeClr val="dk1"/>
                </a:solidFill>
              </a:rPr>
              <a:t> Esta pregunta nos obliga a identificar todas las tareas que son relevantes para la consecución del objetivo de negocio.</a:t>
            </a:r>
            <a:endParaRPr sz="1800">
              <a:solidFill>
                <a:schemeClr val="dk1"/>
              </a:solidFill>
            </a:endParaRPr>
          </a:p>
          <a:p>
            <a:pPr marL="0" lvl="0" indent="0" algn="l" rtl="0">
              <a:spcBef>
                <a:spcPts val="0"/>
              </a:spcBef>
              <a:spcAft>
                <a:spcPts val="0"/>
              </a:spcAft>
              <a:buClr>
                <a:schemeClr val="dk1"/>
              </a:buClr>
              <a:buSzPts val="1100"/>
              <a:buFont typeface="Arial"/>
              <a:buNone/>
            </a:pPr>
            <a:endParaRPr sz="1800">
              <a:solidFill>
                <a:schemeClr val="dk1"/>
              </a:solidFill>
            </a:endParaRPr>
          </a:p>
          <a:p>
            <a:pPr marL="0" lvl="0" indent="0" algn="l" rtl="0">
              <a:spcBef>
                <a:spcPts val="0"/>
              </a:spcBef>
              <a:spcAft>
                <a:spcPts val="0"/>
              </a:spcAft>
              <a:buClr>
                <a:schemeClr val="dk1"/>
              </a:buClr>
              <a:buSzPts val="1100"/>
              <a:buFont typeface="Arial"/>
              <a:buNone/>
            </a:pPr>
            <a:r>
              <a:rPr lang="es" sz="1800" b="1">
                <a:solidFill>
                  <a:schemeClr val="dk1"/>
                </a:solidFill>
              </a:rPr>
              <a:t>¿Sobre qué información?</a:t>
            </a:r>
            <a:r>
              <a:rPr lang="es" sz="1800">
                <a:solidFill>
                  <a:schemeClr val="dk1"/>
                </a:solidFill>
              </a:rPr>
              <a:t> Esta última interrogante, nos ayuda a definir los datos relevantes que los participantes necesitan para completar sus tareas.</a:t>
            </a:r>
            <a:endParaRPr sz="1800">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pic>
        <p:nvPicPr>
          <p:cNvPr id="145" name="Google Shape;145;g346e8a7765d_0_25"/>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146" name="Google Shape;146;g346e8a7765d_0_25"/>
          <p:cNvSpPr txBox="1"/>
          <p:nvPr/>
        </p:nvSpPr>
        <p:spPr>
          <a:xfrm>
            <a:off x="2563975" y="186475"/>
            <a:ext cx="3348600" cy="5283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Arial"/>
              <a:ea typeface="Arial"/>
              <a:cs typeface="Arial"/>
              <a:sym typeface="Arial"/>
            </a:endParaRPr>
          </a:p>
        </p:txBody>
      </p:sp>
      <p:sp>
        <p:nvSpPr>
          <p:cNvPr id="147" name="Google Shape;147;g346e8a7765d_0_25"/>
          <p:cNvSpPr txBox="1"/>
          <p:nvPr/>
        </p:nvSpPr>
        <p:spPr>
          <a:xfrm>
            <a:off x="62150" y="831350"/>
            <a:ext cx="9081900" cy="978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a:solidFill>
                  <a:schemeClr val="dk1"/>
                </a:solidFill>
              </a:rPr>
              <a:t>El formulario asociado al workflow, que contendrá los campos relevantes. Esto corresponde al “</a:t>
            </a:r>
            <a:r>
              <a:rPr lang="es" b="1">
                <a:solidFill>
                  <a:schemeClr val="dk1"/>
                </a:solidFill>
              </a:rPr>
              <a:t>¿sobre qué información?</a:t>
            </a:r>
            <a:r>
              <a:rPr lang="es">
                <a:solidFill>
                  <a:schemeClr val="dk1"/>
                </a:solidFill>
              </a:rPr>
              <a:t>“. Estos campos almacenarán la información relevante. Continuando con el ejemplo de la “rendición de viáticos”, un campo sería el nombre de quien solicita la rendición de viáticos, la lista de gastos con sus conceptos y montos, la fecha del gasto, etc.</a:t>
            </a:r>
            <a:endParaRPr>
              <a:solidFill>
                <a:schemeClr val="dk1"/>
              </a:solidFill>
            </a:endParaRPr>
          </a:p>
        </p:txBody>
      </p:sp>
      <p:sp>
        <p:nvSpPr>
          <p:cNvPr id="148" name="Google Shape;148;g346e8a7765d_0_25"/>
          <p:cNvSpPr txBox="1"/>
          <p:nvPr/>
        </p:nvSpPr>
        <p:spPr>
          <a:xfrm>
            <a:off x="2688300" y="178700"/>
            <a:ext cx="2820300" cy="450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1800">
                <a:solidFill>
                  <a:schemeClr val="dk2"/>
                </a:solidFill>
              </a:rPr>
              <a:t>Ejemplo</a:t>
            </a:r>
            <a:endParaRPr sz="1800">
              <a:solidFill>
                <a:schemeClr val="dk2"/>
              </a:solidFill>
            </a:endParaRPr>
          </a:p>
        </p:txBody>
      </p:sp>
      <p:pic>
        <p:nvPicPr>
          <p:cNvPr id="149" name="Google Shape;149;g346e8a7765d_0_25"/>
          <p:cNvPicPr preferRelativeResize="0"/>
          <p:nvPr/>
        </p:nvPicPr>
        <p:blipFill>
          <a:blip r:embed="rId4">
            <a:alphaModFix/>
          </a:blip>
          <a:stretch>
            <a:fillRect/>
          </a:stretch>
        </p:blipFill>
        <p:spPr>
          <a:xfrm>
            <a:off x="365175" y="1810250"/>
            <a:ext cx="8173650" cy="32477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pic>
        <p:nvPicPr>
          <p:cNvPr id="154" name="Google Shape;154;g346e8a7765d_0_30"/>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155" name="Google Shape;155;g346e8a7765d_0_30"/>
          <p:cNvSpPr txBox="1"/>
          <p:nvPr/>
        </p:nvSpPr>
        <p:spPr>
          <a:xfrm>
            <a:off x="23300" y="1406300"/>
            <a:ext cx="8919600" cy="3620700"/>
          </a:xfrm>
          <a:prstGeom prst="rect">
            <a:avLst/>
          </a:prstGeom>
          <a:noFill/>
          <a:ln>
            <a:noFill/>
          </a:ln>
        </p:spPr>
        <p:txBody>
          <a:bodyPr spcFirstLastPara="1" wrap="square" lIns="91425" tIns="91425" rIns="91425" bIns="91425" anchor="t" anchorCtr="0">
            <a:noAutofit/>
          </a:bodyPr>
          <a:lstStyle/>
          <a:p>
            <a:pPr marL="0" lvl="0" indent="0" algn="just" rtl="0">
              <a:spcBef>
                <a:spcPts val="0"/>
              </a:spcBef>
              <a:spcAft>
                <a:spcPts val="0"/>
              </a:spcAft>
              <a:buNone/>
            </a:pPr>
            <a:r>
              <a:rPr lang="es" sz="1800">
                <a:solidFill>
                  <a:schemeClr val="dk1"/>
                </a:solidFill>
              </a:rPr>
              <a:t>El diagrama del proceso, es la representación gráfica de las tareas y condiciones que seguirá cada instancia de proceso, y quien debe completar cada una. Esto corresponde a “</a:t>
            </a:r>
            <a:r>
              <a:rPr lang="es" sz="1800" b="1">
                <a:solidFill>
                  <a:schemeClr val="dk1"/>
                </a:solidFill>
              </a:rPr>
              <a:t>¿quiénes?</a:t>
            </a:r>
            <a:r>
              <a:rPr lang="es" sz="1800">
                <a:solidFill>
                  <a:schemeClr val="dk1"/>
                </a:solidFill>
              </a:rPr>
              <a:t>” y “</a:t>
            </a:r>
            <a:r>
              <a:rPr lang="es" sz="1800" b="1">
                <a:solidFill>
                  <a:schemeClr val="dk1"/>
                </a:solidFill>
              </a:rPr>
              <a:t>¿qué hacen?</a:t>
            </a:r>
            <a:r>
              <a:rPr lang="es" sz="1800">
                <a:solidFill>
                  <a:schemeClr val="dk1"/>
                </a:solidFill>
              </a:rPr>
              <a:t>“. En el ejemplo que venimos manejando, serían las etapas de “Registrar Gasto”, “Revisar Comprobantes”, etc. Notar que este análisis paso a paso del proceso, nos permite eliminar la tarea “Recibir Comprobantes”. Esta tarea antes se hacía manualmente pero ya no es necesaria con el proceso automatizado, aumentando la productividad del negocio. Para el diagrama del proceso se puden utilizar diferentes notaciones gráficas, en INTEGRADOC utilizamos el estándar internacional mundialmente más aceptado: BPMN.</a:t>
            </a:r>
            <a:endParaRPr sz="180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pic>
        <p:nvPicPr>
          <p:cNvPr id="160" name="Google Shape;160;g346e8a7765d_0_35"/>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161" name="Google Shape;161;g346e8a7765d_0_35"/>
          <p:cNvSpPr txBox="1"/>
          <p:nvPr/>
        </p:nvSpPr>
        <p:spPr>
          <a:xfrm>
            <a:off x="2563975" y="186475"/>
            <a:ext cx="3348600" cy="5283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Arial"/>
              <a:ea typeface="Arial"/>
              <a:cs typeface="Arial"/>
              <a:sym typeface="Arial"/>
            </a:endParaRPr>
          </a:p>
        </p:txBody>
      </p:sp>
      <p:pic>
        <p:nvPicPr>
          <p:cNvPr id="162" name="Google Shape;162;g346e8a7765d_0_35"/>
          <p:cNvPicPr preferRelativeResize="0"/>
          <p:nvPr/>
        </p:nvPicPr>
        <p:blipFill>
          <a:blip r:embed="rId4">
            <a:alphaModFix/>
          </a:blip>
          <a:stretch>
            <a:fillRect/>
          </a:stretch>
        </p:blipFill>
        <p:spPr>
          <a:xfrm>
            <a:off x="85475" y="901275"/>
            <a:ext cx="8756374" cy="41878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pic>
        <p:nvPicPr>
          <p:cNvPr id="167" name="Google Shape;167;g346e8a7765d_0_40"/>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168" name="Google Shape;168;g346e8a7765d_0_40"/>
          <p:cNvSpPr txBox="1"/>
          <p:nvPr/>
        </p:nvSpPr>
        <p:spPr>
          <a:xfrm>
            <a:off x="2563975" y="186475"/>
            <a:ext cx="3348600" cy="5283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Arial"/>
              <a:ea typeface="Arial"/>
              <a:cs typeface="Arial"/>
              <a:sym typeface="Arial"/>
            </a:endParaRPr>
          </a:p>
        </p:txBody>
      </p:sp>
      <p:sp>
        <p:nvSpPr>
          <p:cNvPr id="169" name="Google Shape;169;g346e8a7765d_0_40"/>
          <p:cNvSpPr txBox="1"/>
          <p:nvPr/>
        </p:nvSpPr>
        <p:spPr>
          <a:xfrm>
            <a:off x="77700" y="839125"/>
            <a:ext cx="8849700" cy="4187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s" sz="1800" b="1">
                <a:solidFill>
                  <a:schemeClr val="dk1"/>
                </a:solidFill>
              </a:rPr>
              <a:t>Principios Fundamentales de la Gestión Documental.</a:t>
            </a:r>
            <a:endParaRPr sz="1800" b="1">
              <a:solidFill>
                <a:schemeClr val="dk1"/>
              </a:solidFill>
            </a:endParaRPr>
          </a:p>
          <a:p>
            <a:pPr marL="0" lvl="0" indent="0" algn="ctr" rtl="0">
              <a:spcBef>
                <a:spcPts val="0"/>
              </a:spcBef>
              <a:spcAft>
                <a:spcPts val="0"/>
              </a:spcAft>
              <a:buNone/>
            </a:pPr>
            <a:endParaRPr sz="1800" b="1">
              <a:solidFill>
                <a:schemeClr val="dk1"/>
              </a:solidFill>
            </a:endParaRPr>
          </a:p>
          <a:p>
            <a:pPr marL="0" lvl="0" indent="0" algn="ctr" rtl="0">
              <a:spcBef>
                <a:spcPts val="0"/>
              </a:spcBef>
              <a:spcAft>
                <a:spcPts val="0"/>
              </a:spcAft>
              <a:buNone/>
            </a:pPr>
            <a:endParaRPr sz="1800" b="1">
              <a:solidFill>
                <a:schemeClr val="dk1"/>
              </a:solidFill>
            </a:endParaRPr>
          </a:p>
          <a:p>
            <a:pPr marL="0" lvl="0" indent="0" algn="just" rtl="0">
              <a:lnSpc>
                <a:spcPct val="115000"/>
              </a:lnSpc>
              <a:spcBef>
                <a:spcPts val="1200"/>
              </a:spcBef>
              <a:spcAft>
                <a:spcPts val="0"/>
              </a:spcAft>
              <a:buClr>
                <a:schemeClr val="dk1"/>
              </a:buClr>
              <a:buSzPts val="1100"/>
              <a:buFont typeface="Arial"/>
              <a:buNone/>
            </a:pPr>
            <a:r>
              <a:rPr lang="es" sz="1800">
                <a:solidFill>
                  <a:schemeClr val="dk1"/>
                </a:solidFill>
              </a:rPr>
              <a:t>La </a:t>
            </a:r>
            <a:r>
              <a:rPr lang="es" sz="1800" b="1">
                <a:solidFill>
                  <a:schemeClr val="dk1"/>
                </a:solidFill>
              </a:rPr>
              <a:t>gestión documental</a:t>
            </a:r>
            <a:r>
              <a:rPr lang="es" sz="1800">
                <a:solidFill>
                  <a:schemeClr val="dk1"/>
                </a:solidFill>
              </a:rPr>
              <a:t> es el conjunto de procesos y normas que regulan la creación, organización, almacenamiento y disposición de documentos en una organización. Su objetivo es </a:t>
            </a:r>
            <a:r>
              <a:rPr lang="es" sz="1800" b="1">
                <a:solidFill>
                  <a:schemeClr val="dk1"/>
                </a:solidFill>
              </a:rPr>
              <a:t>garantizar la accesibilidad, seguridad y preservación de la información</a:t>
            </a:r>
            <a:r>
              <a:rPr lang="es" sz="1800">
                <a:solidFill>
                  <a:schemeClr val="dk1"/>
                </a:solidFill>
              </a:rPr>
              <a:t>.</a:t>
            </a:r>
            <a:endParaRPr sz="1800">
              <a:solidFill>
                <a:schemeClr val="dk1"/>
              </a:solidFill>
            </a:endParaRPr>
          </a:p>
          <a:p>
            <a:pPr marL="0" lvl="0" indent="0" algn="l" rtl="0">
              <a:spcBef>
                <a:spcPts val="1200"/>
              </a:spcBef>
              <a:spcAft>
                <a:spcPts val="0"/>
              </a:spcAft>
              <a:buNone/>
            </a:pPr>
            <a:endParaRPr sz="1800">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pic>
        <p:nvPicPr>
          <p:cNvPr id="174" name="Google Shape;174;g346e8a7765d_0_90"/>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175" name="Google Shape;175;g346e8a7765d_0_90"/>
          <p:cNvSpPr txBox="1"/>
          <p:nvPr/>
        </p:nvSpPr>
        <p:spPr>
          <a:xfrm>
            <a:off x="2563975" y="186475"/>
            <a:ext cx="3348600" cy="5283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Arial"/>
              <a:ea typeface="Arial"/>
              <a:cs typeface="Arial"/>
              <a:sym typeface="Arial"/>
            </a:endParaRPr>
          </a:p>
        </p:txBody>
      </p:sp>
      <p:sp>
        <p:nvSpPr>
          <p:cNvPr id="176" name="Google Shape;176;g346e8a7765d_0_90"/>
          <p:cNvSpPr txBox="1"/>
          <p:nvPr/>
        </p:nvSpPr>
        <p:spPr>
          <a:xfrm>
            <a:off x="77700" y="839125"/>
            <a:ext cx="8849700" cy="4187700"/>
          </a:xfrm>
          <a:prstGeom prst="rect">
            <a:avLst/>
          </a:prstGeom>
          <a:noFill/>
          <a:ln>
            <a:noFill/>
          </a:ln>
        </p:spPr>
        <p:txBody>
          <a:bodyPr spcFirstLastPara="1" wrap="square" lIns="91425" tIns="91425" rIns="91425" bIns="91425" anchor="t" anchorCtr="0">
            <a:noAutofit/>
          </a:bodyPr>
          <a:lstStyle/>
          <a:p>
            <a:pPr marL="457200" lvl="0" indent="-317500" algn="l" rtl="0">
              <a:spcBef>
                <a:spcPts val="0"/>
              </a:spcBef>
              <a:spcAft>
                <a:spcPts val="0"/>
              </a:spcAft>
              <a:buClr>
                <a:schemeClr val="dk1"/>
              </a:buClr>
              <a:buSzPts val="1400"/>
              <a:buChar char="●"/>
            </a:pPr>
            <a:r>
              <a:rPr lang="es" b="1">
                <a:solidFill>
                  <a:schemeClr val="dk1"/>
                </a:solidFill>
              </a:rPr>
              <a:t>Autenticidad</a:t>
            </a:r>
            <a:r>
              <a:rPr lang="es">
                <a:solidFill>
                  <a:schemeClr val="dk1"/>
                </a:solidFill>
              </a:rPr>
              <a:t> → Un documento debe ser genuino, confiable y verificable, garantizando su origen.</a:t>
            </a:r>
            <a:endParaRPr>
              <a:solidFill>
                <a:schemeClr val="dk1"/>
              </a:solidFill>
            </a:endParaRPr>
          </a:p>
          <a:p>
            <a:pPr marL="457200" lvl="0" indent="-317500" algn="l" rtl="0">
              <a:spcBef>
                <a:spcPts val="0"/>
              </a:spcBef>
              <a:spcAft>
                <a:spcPts val="0"/>
              </a:spcAft>
              <a:buClr>
                <a:schemeClr val="dk1"/>
              </a:buClr>
              <a:buSzPts val="1400"/>
              <a:buChar char="●"/>
            </a:pPr>
            <a:r>
              <a:rPr lang="es" b="1">
                <a:solidFill>
                  <a:schemeClr val="dk1"/>
                </a:solidFill>
              </a:rPr>
              <a:t>Integridad</a:t>
            </a:r>
            <a:r>
              <a:rPr lang="es">
                <a:solidFill>
                  <a:schemeClr val="dk1"/>
                </a:solidFill>
              </a:rPr>
              <a:t> → La información del documento no debe ser alterada sin dejar rastro, asegurando su completitud y fiabilidad.</a:t>
            </a:r>
            <a:endParaRPr>
              <a:solidFill>
                <a:schemeClr val="dk1"/>
              </a:solidFill>
            </a:endParaRPr>
          </a:p>
          <a:p>
            <a:pPr marL="457200" lvl="0" indent="-317500" algn="l" rtl="0">
              <a:spcBef>
                <a:spcPts val="0"/>
              </a:spcBef>
              <a:spcAft>
                <a:spcPts val="0"/>
              </a:spcAft>
              <a:buClr>
                <a:schemeClr val="dk1"/>
              </a:buClr>
              <a:buSzPts val="1400"/>
              <a:buChar char="●"/>
            </a:pPr>
            <a:r>
              <a:rPr lang="es" b="1">
                <a:solidFill>
                  <a:schemeClr val="dk1"/>
                </a:solidFill>
              </a:rPr>
              <a:t>Disponibilidad </a:t>
            </a:r>
            <a:r>
              <a:rPr lang="es">
                <a:solidFill>
                  <a:schemeClr val="dk1"/>
                </a:solidFill>
              </a:rPr>
              <a:t>→ Los documentos deben estar accesibles cuando y donde se necesiten, según los permisos establecidos.</a:t>
            </a:r>
            <a:endParaRPr>
              <a:solidFill>
                <a:schemeClr val="dk1"/>
              </a:solidFill>
            </a:endParaRPr>
          </a:p>
          <a:p>
            <a:pPr marL="457200" lvl="0" indent="-317500" algn="l" rtl="0">
              <a:spcBef>
                <a:spcPts val="0"/>
              </a:spcBef>
              <a:spcAft>
                <a:spcPts val="0"/>
              </a:spcAft>
              <a:buClr>
                <a:schemeClr val="dk1"/>
              </a:buClr>
              <a:buSzPts val="1400"/>
              <a:buChar char="●"/>
            </a:pPr>
            <a:r>
              <a:rPr lang="es" b="1">
                <a:solidFill>
                  <a:schemeClr val="dk1"/>
                </a:solidFill>
              </a:rPr>
              <a:t>Confidencialidad</a:t>
            </a:r>
            <a:r>
              <a:rPr lang="es">
                <a:solidFill>
                  <a:schemeClr val="dk1"/>
                </a:solidFill>
              </a:rPr>
              <a:t> → La información debe ser protegida para que solo personas autorizadas puedan acceder a ella.</a:t>
            </a:r>
            <a:endParaRPr>
              <a:solidFill>
                <a:schemeClr val="dk1"/>
              </a:solidFill>
            </a:endParaRPr>
          </a:p>
          <a:p>
            <a:pPr marL="457200" lvl="0" indent="-317500" algn="l" rtl="0">
              <a:spcBef>
                <a:spcPts val="0"/>
              </a:spcBef>
              <a:spcAft>
                <a:spcPts val="0"/>
              </a:spcAft>
              <a:buClr>
                <a:schemeClr val="dk1"/>
              </a:buClr>
              <a:buSzPts val="1400"/>
              <a:buChar char="●"/>
            </a:pPr>
            <a:r>
              <a:rPr lang="es" b="1">
                <a:solidFill>
                  <a:schemeClr val="dk1"/>
                </a:solidFill>
              </a:rPr>
              <a:t>Organización</a:t>
            </a:r>
            <a:r>
              <a:rPr lang="es">
                <a:solidFill>
                  <a:schemeClr val="dk1"/>
                </a:solidFill>
              </a:rPr>
              <a:t> → Los documentos deben seguir una estructura lógica y clara para su fácil recuperación y gestión.</a:t>
            </a:r>
            <a:endParaRPr>
              <a:solidFill>
                <a:schemeClr val="dk1"/>
              </a:solidFill>
            </a:endParaRPr>
          </a:p>
          <a:p>
            <a:pPr marL="457200" lvl="0" indent="-317500" algn="l" rtl="0">
              <a:spcBef>
                <a:spcPts val="0"/>
              </a:spcBef>
              <a:spcAft>
                <a:spcPts val="0"/>
              </a:spcAft>
              <a:buClr>
                <a:schemeClr val="dk1"/>
              </a:buClr>
              <a:buSzPts val="1400"/>
              <a:buChar char="●"/>
            </a:pPr>
            <a:r>
              <a:rPr lang="es" b="1">
                <a:solidFill>
                  <a:schemeClr val="dk1"/>
                </a:solidFill>
              </a:rPr>
              <a:t>Clasificación y Metadatos</a:t>
            </a:r>
            <a:r>
              <a:rPr lang="es">
                <a:solidFill>
                  <a:schemeClr val="dk1"/>
                </a:solidFill>
              </a:rPr>
              <a:t> → Se deben etiquetar con información clave para facilitar su búsqueda y categorización.</a:t>
            </a:r>
            <a:endParaRPr>
              <a:solidFill>
                <a:schemeClr val="dk1"/>
              </a:solidFill>
            </a:endParaRPr>
          </a:p>
          <a:p>
            <a:pPr marL="457200" lvl="0" indent="-317500" algn="l" rtl="0">
              <a:spcBef>
                <a:spcPts val="0"/>
              </a:spcBef>
              <a:spcAft>
                <a:spcPts val="0"/>
              </a:spcAft>
              <a:buClr>
                <a:schemeClr val="dk1"/>
              </a:buClr>
              <a:buSzPts val="1400"/>
              <a:buChar char="●"/>
            </a:pPr>
            <a:r>
              <a:rPr lang="es" b="1">
                <a:solidFill>
                  <a:schemeClr val="dk1"/>
                </a:solidFill>
              </a:rPr>
              <a:t>Seguridad y Protección</a:t>
            </a:r>
            <a:r>
              <a:rPr lang="es">
                <a:solidFill>
                  <a:schemeClr val="dk1"/>
                </a:solidFill>
              </a:rPr>
              <a:t> → Se deben implementar copias de seguridad, cifrado y control de acceso para evitar pérdidas o accesos no autorizados.</a:t>
            </a:r>
            <a:endParaRPr>
              <a:solidFill>
                <a:schemeClr val="dk1"/>
              </a:solidFill>
            </a:endParaRPr>
          </a:p>
          <a:p>
            <a:pPr marL="457200" lvl="0" indent="-317500" algn="l" rtl="0">
              <a:spcBef>
                <a:spcPts val="0"/>
              </a:spcBef>
              <a:spcAft>
                <a:spcPts val="0"/>
              </a:spcAft>
              <a:buClr>
                <a:schemeClr val="dk1"/>
              </a:buClr>
              <a:buSzPts val="1400"/>
              <a:buChar char="●"/>
            </a:pPr>
            <a:r>
              <a:rPr lang="es" b="1">
                <a:solidFill>
                  <a:schemeClr val="dk1"/>
                </a:solidFill>
              </a:rPr>
              <a:t>Ciclo de Vida Documental </a:t>
            </a:r>
            <a:r>
              <a:rPr lang="es">
                <a:solidFill>
                  <a:schemeClr val="dk1"/>
                </a:solidFill>
              </a:rPr>
              <a:t>→ Todo documento sigue un proceso desde su creación, uso, almacenamiento, conservación o eliminación.</a:t>
            </a:r>
            <a:endParaRPr>
              <a:solidFill>
                <a:schemeClr val="dk1"/>
              </a:solidFill>
            </a:endParaRPr>
          </a:p>
          <a:p>
            <a:pPr marL="457200" lvl="0" indent="-317500" algn="l" rtl="0">
              <a:spcBef>
                <a:spcPts val="0"/>
              </a:spcBef>
              <a:spcAft>
                <a:spcPts val="0"/>
              </a:spcAft>
              <a:buClr>
                <a:schemeClr val="dk1"/>
              </a:buClr>
              <a:buSzPts val="1400"/>
              <a:buChar char="●"/>
            </a:pPr>
            <a:r>
              <a:rPr lang="es" b="1">
                <a:solidFill>
                  <a:schemeClr val="dk1"/>
                </a:solidFill>
              </a:rPr>
              <a:t>Cumplimiento Legal</a:t>
            </a:r>
            <a:r>
              <a:rPr lang="es">
                <a:solidFill>
                  <a:schemeClr val="dk1"/>
                </a:solidFill>
              </a:rPr>
              <a:t> → Debe alinearse con regulaciones y normativas para garantizar el cumplimiento de leyes y auditorías.</a:t>
            </a:r>
            <a:endParaRPr>
              <a:solidFill>
                <a:schemeClr val="dk1"/>
              </a:solidFill>
            </a:endParaRPr>
          </a:p>
          <a:p>
            <a:pPr marL="457200" lvl="0" indent="-317500" algn="l" rtl="0">
              <a:spcBef>
                <a:spcPts val="0"/>
              </a:spcBef>
              <a:spcAft>
                <a:spcPts val="0"/>
              </a:spcAft>
              <a:buClr>
                <a:schemeClr val="dk1"/>
              </a:buClr>
              <a:buSzPts val="1400"/>
              <a:buChar char="●"/>
            </a:pPr>
            <a:r>
              <a:rPr lang="es" b="1">
                <a:solidFill>
                  <a:schemeClr val="dk1"/>
                </a:solidFill>
              </a:rPr>
              <a:t>Digitalización y Automatización</a:t>
            </a:r>
            <a:r>
              <a:rPr lang="es">
                <a:solidFill>
                  <a:schemeClr val="dk1"/>
                </a:solidFill>
              </a:rPr>
              <a:t> → Uso de herramientas tecnológicas para mejorar la eficiencia en la gestión de documentos.</a:t>
            </a:r>
            <a:endParaRPr>
              <a:solidFill>
                <a:schemeClr val="dk1"/>
              </a:solidFill>
            </a:endParaRPr>
          </a:p>
          <a:p>
            <a:pPr marL="0" lvl="0" indent="0" algn="l" rtl="0">
              <a:spcBef>
                <a:spcPts val="0"/>
              </a:spcBef>
              <a:spcAft>
                <a:spcPts val="0"/>
              </a:spcAft>
              <a:buNone/>
            </a:pPr>
            <a:endParaRPr>
              <a:solidFill>
                <a:schemeClr val="dk1"/>
              </a:solidFill>
            </a:endParaRPr>
          </a:p>
        </p:txBody>
      </p:sp>
      <p:sp>
        <p:nvSpPr>
          <p:cNvPr id="177" name="Google Shape;177;g346e8a7765d_0_90"/>
          <p:cNvSpPr txBox="1"/>
          <p:nvPr/>
        </p:nvSpPr>
        <p:spPr>
          <a:xfrm>
            <a:off x="2540675" y="0"/>
            <a:ext cx="3201000" cy="675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s" sz="1800" b="1">
                <a:solidFill>
                  <a:schemeClr val="dk1"/>
                </a:solidFill>
              </a:rPr>
              <a:t>Principios Claves de la Gestión Documental</a:t>
            </a:r>
            <a:endParaRPr sz="1800" b="1">
              <a:solidFill>
                <a:schemeClr val="dk2"/>
              </a:solidFill>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290</TotalTime>
  <Words>849</Words>
  <Application>Microsoft Office PowerPoint</Application>
  <PresentationFormat>Presentación en pantalla (16:9)</PresentationFormat>
  <Paragraphs>61</Paragraphs>
  <Slides>11</Slides>
  <Notes>11</Notes>
  <HiddenSlides>0</HiddenSlides>
  <MMClips>0</MMClips>
  <ScaleCrop>false</ScaleCrop>
  <HeadingPairs>
    <vt:vector size="6" baseType="variant">
      <vt:variant>
        <vt:lpstr>Fuentes usadas</vt:lpstr>
      </vt:variant>
      <vt:variant>
        <vt:i4>1</vt:i4>
      </vt:variant>
      <vt:variant>
        <vt:lpstr>Tema</vt:lpstr>
      </vt:variant>
      <vt:variant>
        <vt:i4>1</vt:i4>
      </vt:variant>
      <vt:variant>
        <vt:lpstr>Títulos de diapositiva</vt:lpstr>
      </vt:variant>
      <vt:variant>
        <vt:i4>11</vt:i4>
      </vt:variant>
    </vt:vector>
  </HeadingPairs>
  <TitlesOfParts>
    <vt:vector size="13" baseType="lpstr">
      <vt:lpstr>Arial</vt:lpstr>
      <vt:lpstr>Simple Light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mynor israel miranda lopez</dc:creator>
  <cp:lastModifiedBy>mynor israel miranda lopez</cp:lastModifiedBy>
  <cp:revision>2</cp:revision>
  <dcterms:modified xsi:type="dcterms:W3CDTF">2025-08-27T03:24:06Z</dcterms:modified>
</cp:coreProperties>
</file>