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8"/>
  </p:notesMasterIdLst>
  <p:sldIdLst>
    <p:sldId id="256" r:id="rId2"/>
    <p:sldId id="274" r:id="rId3"/>
    <p:sldId id="275" r:id="rId4"/>
    <p:sldId id="27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95" r:id="rId23"/>
    <p:sldId id="296" r:id="rId24"/>
    <p:sldId id="297" r:id="rId25"/>
    <p:sldId id="298" r:id="rId26"/>
    <p:sldId id="299" r:id="rId2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gJlZl+luecGVzsZpUAlAN4SVcuA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D1B0283-5687-4A5E-923D-03B7FAD6BEE9}">
  <a:tblStyle styleId="{6D1B0283-5687-4A5E-923D-03B7FAD6BEE9}"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78" d="100"/>
          <a:sy n="178" d="100"/>
        </p:scale>
        <p:origin x="1314" y="42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d853e9ab94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2d853e9ab94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d853e9ab94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g2d853e9ab94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2d853e9ab94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g2d853e9ab94_0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d8fa948c4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g2d8fa948c4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2d8fa948c4e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g2d8fa948c4e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2d8fa948c4e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g2d8fa948c4e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8fa948c4e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 name="Google Shape;99;g2d8fa948c4e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d8fa948c4e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2d8fa948c4e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d8fa948c4e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2d8fa948c4e_0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d8fa948c4e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2d8fa948c4e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d8fa948c4e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g2d8fa948c4e_0_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d8fa948c4e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g2d8fa948c4e_0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d8fa948c4e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2d8fa948c4e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39a09cea5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339a09cea5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39a09cea51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g339a09cea51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39a09cea51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39a09cea51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39a09cea51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g339a09cea51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2" name="Google Shape;3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0" name="Google Shape;38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8" name="Google Shape;38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364afea4f63_0_14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7" name="Google Shape;397;g364afea4f63_0_1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3" name="Google Shape;40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 name="Google Shape;11;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 name="Google Shape;12;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5" name="Google Shape;15;p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6" name="Google Shape;16;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hyperlink" Target="https://www.youtube.com/watch?v=Ztr24-JBL2s" TargetMode="External"/><Relationship Id="rId4" Type="http://schemas.openxmlformats.org/officeDocument/2006/relationships/hyperlink" Target="https://www.youtube.com/watch?v=OeFeok-vBbk"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a:stretch/>
        </p:blipFill>
        <p:spPr>
          <a:xfrm>
            <a:off x="8451" y="0"/>
            <a:ext cx="9127099" cy="5143501"/>
          </a:xfrm>
          <a:prstGeom prst="rect">
            <a:avLst/>
          </a:prstGeom>
          <a:noFill/>
          <a:ln>
            <a:noFill/>
          </a:ln>
        </p:spPr>
      </p:pic>
      <p:graphicFrame>
        <p:nvGraphicFramePr>
          <p:cNvPr id="55" name="Google Shape;55;p1"/>
          <p:cNvGraphicFramePr/>
          <p:nvPr>
            <p:extLst>
              <p:ext uri="{D42A27DB-BD31-4B8C-83A1-F6EECF244321}">
                <p14:modId xmlns:p14="http://schemas.microsoft.com/office/powerpoint/2010/main" val="2845089536"/>
              </p:ext>
            </p:extLst>
          </p:nvPr>
        </p:nvGraphicFramePr>
        <p:xfrm>
          <a:off x="5328200" y="970025"/>
          <a:ext cx="3690575" cy="798516"/>
        </p:xfrm>
        <a:graphic>
          <a:graphicData uri="http://schemas.openxmlformats.org/drawingml/2006/table">
            <a:tbl>
              <a:tblPr>
                <a:noFill/>
                <a:tableStyleId>{6D1B0283-5687-4A5E-923D-03B7FAD6BEE9}</a:tableStyleId>
              </a:tblPr>
              <a:tblGrid>
                <a:gridCol w="1518200">
                  <a:extLst>
                    <a:ext uri="{9D8B030D-6E8A-4147-A177-3AD203B41FA5}">
                      <a16:colId xmlns:a16="http://schemas.microsoft.com/office/drawing/2014/main" val="20000"/>
                    </a:ext>
                  </a:extLst>
                </a:gridCol>
                <a:gridCol w="2172375">
                  <a:extLst>
                    <a:ext uri="{9D8B030D-6E8A-4147-A177-3AD203B41FA5}">
                      <a16:colId xmlns:a16="http://schemas.microsoft.com/office/drawing/2014/main" val="20001"/>
                    </a:ext>
                  </a:extLst>
                </a:gridCol>
              </a:tblGrid>
              <a:tr h="32245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Día, Fecha:</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Martes, </a:t>
                      </a:r>
                      <a:r>
                        <a:rPr lang="es"/>
                        <a:t>29</a:t>
                      </a:r>
                      <a:r>
                        <a:rPr lang="es" sz="1400" u="none" strike="noStrike" cap="none"/>
                        <a:t>/07/2025</a:t>
                      </a:r>
                      <a:endParaRPr sz="1400" u="none" strike="noStrike" cap="none" dirty="0"/>
                    </a:p>
                  </a:txBody>
                  <a:tcPr marL="91425" marR="91425" marT="91425" marB="91425"/>
                </a:tc>
                <a:extLst>
                  <a:ext uri="{0D108BD9-81ED-4DB2-BD59-A6C34878D82A}">
                    <a16:rowId xmlns:a16="http://schemas.microsoft.com/office/drawing/2014/main" val="10000"/>
                  </a:ext>
                </a:extLst>
              </a:tr>
              <a:tr h="36310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Hora de inicio:</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dirty="0"/>
                        <a:t>17:20</a:t>
                      </a:r>
                      <a:endParaRPr sz="1400" u="none" strike="noStrike" cap="none" dirty="0"/>
                    </a:p>
                  </a:txBody>
                  <a:tcPr marL="91425" marR="91425" marT="91425" marB="91425"/>
                </a:tc>
                <a:extLst>
                  <a:ext uri="{0D108BD9-81ED-4DB2-BD59-A6C34878D82A}">
                    <a16:rowId xmlns:a16="http://schemas.microsoft.com/office/drawing/2014/main" val="10001"/>
                  </a:ext>
                </a:extLst>
              </a:tr>
            </a:tbl>
          </a:graphicData>
        </a:graphic>
      </p:graphicFrame>
      <p:sp>
        <p:nvSpPr>
          <p:cNvPr id="56" name="Google Shape;56;p1"/>
          <p:cNvSpPr txBox="1"/>
          <p:nvPr/>
        </p:nvSpPr>
        <p:spPr>
          <a:xfrm>
            <a:off x="3992650" y="2132750"/>
            <a:ext cx="5142900" cy="954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b="0" i="0" u="none" strike="noStrike" cap="none">
                <a:solidFill>
                  <a:srgbClr val="000000"/>
                </a:solidFill>
                <a:latin typeface="Arial"/>
                <a:ea typeface="Arial"/>
                <a:cs typeface="Arial"/>
                <a:sym typeface="Arial"/>
              </a:rPr>
              <a:t>SISTEMAS ORGANIZACIONALES Y GERENCIALES 2 Sección P</a:t>
            </a:r>
            <a:endParaRPr sz="2500" b="0" i="0" u="none" strike="noStrike" cap="none">
              <a:solidFill>
                <a:srgbClr val="000000"/>
              </a:solidFill>
              <a:latin typeface="Arial"/>
              <a:ea typeface="Arial"/>
              <a:cs typeface="Arial"/>
              <a:sym typeface="Arial"/>
            </a:endParaRPr>
          </a:p>
        </p:txBody>
      </p:sp>
      <p:sp>
        <p:nvSpPr>
          <p:cNvPr id="57" name="Google Shape;57;p1"/>
          <p:cNvSpPr txBox="1"/>
          <p:nvPr/>
        </p:nvSpPr>
        <p:spPr>
          <a:xfrm>
            <a:off x="107100" y="4595250"/>
            <a:ext cx="4290600" cy="492600"/>
          </a:xfrm>
          <a:prstGeom prst="rect">
            <a:avLst/>
          </a:prstGeom>
          <a:noFill/>
          <a:ln>
            <a:noFill/>
          </a:ln>
        </p:spPr>
        <p:txBody>
          <a:bodyPr spcFirstLastPara="1" wrap="square" lIns="91425" tIns="91425" rIns="91425" bIns="91425" anchor="t" anchorCtr="0">
            <a:spAutoFit/>
          </a:bodyPr>
          <a:lstStyle/>
          <a:p>
            <a:pPr lvl="0">
              <a:buSzPts val="2000"/>
            </a:pPr>
            <a:r>
              <a:rPr lang="es-GT" sz="2000" dirty="0"/>
              <a:t>Mynor Israel Miranda López</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
          <p:cNvSpPr/>
          <p:nvPr/>
        </p:nvSpPr>
        <p:spPr>
          <a:xfrm>
            <a:off x="6270655" y="3010939"/>
            <a:ext cx="2080092" cy="2057400"/>
          </a:xfrm>
          <a:custGeom>
            <a:avLst/>
            <a:gdLst/>
            <a:ahLst/>
            <a:cxnLst/>
            <a:rect l="l" t="t" r="r" b="b"/>
            <a:pathLst>
              <a:path w="4160184" h="4114800" extrusionOk="0">
                <a:moveTo>
                  <a:pt x="0" y="0"/>
                </a:moveTo>
                <a:lnTo>
                  <a:pt x="4160184" y="0"/>
                </a:lnTo>
                <a:lnTo>
                  <a:pt x="4160184" y="4114800"/>
                </a:lnTo>
                <a:lnTo>
                  <a:pt x="0" y="4114800"/>
                </a:lnTo>
                <a:lnTo>
                  <a:pt x="0" y="0"/>
                </a:lnTo>
                <a:close/>
              </a:path>
            </a:pathLst>
          </a:custGeom>
          <a:blipFill rotWithShape="1">
            <a:blip r:embed="rId3">
              <a:alphaModFix/>
            </a:blip>
            <a:stretch>
              <a:fillRect/>
            </a:stretch>
          </a:blipFill>
          <a:ln>
            <a:noFill/>
          </a:ln>
        </p:spPr>
        <p:txBody>
          <a:bodyPr/>
          <a:lstStyle/>
          <a:p>
            <a:endParaRPr lang="es-GT" sz="700"/>
          </a:p>
        </p:txBody>
      </p:sp>
      <p:sp>
        <p:nvSpPr>
          <p:cNvPr id="96" name="Google Shape;96;p1"/>
          <p:cNvSpPr txBox="1"/>
          <p:nvPr/>
        </p:nvSpPr>
        <p:spPr>
          <a:xfrm>
            <a:off x="445125" y="3777513"/>
            <a:ext cx="4263300" cy="603242"/>
          </a:xfrm>
          <a:prstGeom prst="rect">
            <a:avLst/>
          </a:prstGeom>
          <a:noFill/>
          <a:ln>
            <a:noFill/>
          </a:ln>
        </p:spPr>
        <p:txBody>
          <a:bodyPr spcFirstLastPara="1" wrap="square" lIns="0" tIns="0" rIns="0" bIns="0" anchor="t" anchorCtr="0">
            <a:spAutoFit/>
          </a:bodyPr>
          <a:lstStyle/>
          <a:p>
            <a:pPr algn="ctr">
              <a:lnSpc>
                <a:spcPct val="140000"/>
              </a:lnSpc>
              <a:buSzPts val="5000"/>
            </a:pPr>
            <a:r>
              <a:rPr lang="en-US" sz="2800" b="1" dirty="0">
                <a:solidFill>
                  <a:srgbClr val="131416"/>
                </a:solidFill>
                <a:latin typeface="Open Sans"/>
                <a:ea typeface="Open Sans"/>
                <a:cs typeface="Open Sans"/>
                <a:sym typeface="Open Sans"/>
              </a:rPr>
              <a:t>SOYG2</a:t>
            </a:r>
            <a:endParaRPr sz="2500" b="1" dirty="0">
              <a:solidFill>
                <a:srgbClr val="131416"/>
              </a:solidFill>
              <a:latin typeface="Open Sans"/>
              <a:ea typeface="Open Sans"/>
              <a:cs typeface="Open Sans"/>
              <a:sym typeface="Open Sans"/>
            </a:endParaRPr>
          </a:p>
        </p:txBody>
      </p:sp>
      <p:sp>
        <p:nvSpPr>
          <p:cNvPr id="97" name="Google Shape;97;p1"/>
          <p:cNvSpPr txBox="1"/>
          <p:nvPr/>
        </p:nvSpPr>
        <p:spPr>
          <a:xfrm>
            <a:off x="1295628" y="1083737"/>
            <a:ext cx="6187500" cy="1809726"/>
          </a:xfrm>
          <a:prstGeom prst="rect">
            <a:avLst/>
          </a:prstGeom>
          <a:noFill/>
          <a:ln>
            <a:noFill/>
          </a:ln>
        </p:spPr>
        <p:txBody>
          <a:bodyPr spcFirstLastPara="1" wrap="square" lIns="0" tIns="0" rIns="0" bIns="0" anchor="t" anchorCtr="0">
            <a:spAutoFit/>
          </a:bodyPr>
          <a:lstStyle/>
          <a:p>
            <a:pPr lvl="0" algn="ctr">
              <a:lnSpc>
                <a:spcPct val="140000"/>
              </a:lnSpc>
              <a:buSzPts val="9200"/>
            </a:pPr>
            <a:r>
              <a:rPr lang="es-MX" sz="2800" b="1" dirty="0">
                <a:solidFill>
                  <a:srgbClr val="131416"/>
                </a:solidFill>
                <a:latin typeface="Open Sans"/>
                <a:ea typeface="Open Sans"/>
                <a:cs typeface="Open Sans"/>
                <a:sym typeface="Open Sans"/>
              </a:rPr>
              <a:t>UNIDAD 1</a:t>
            </a:r>
            <a:endParaRPr lang="es-MX" sz="2800" dirty="0"/>
          </a:p>
          <a:p>
            <a:pPr lvl="0" algn="ctr">
              <a:lnSpc>
                <a:spcPct val="140000"/>
              </a:lnSpc>
            </a:pPr>
            <a:r>
              <a:rPr lang="es-MX" sz="2800" b="1" dirty="0">
                <a:solidFill>
                  <a:srgbClr val="131416"/>
                </a:solidFill>
                <a:latin typeface="Open Sans"/>
                <a:ea typeface="Open Sans"/>
                <a:cs typeface="Open Sans"/>
                <a:sym typeface="Open Sans"/>
              </a:rPr>
              <a:t>Exploración del mundo de los ERP (Enterprise </a:t>
            </a:r>
            <a:r>
              <a:rPr lang="es-MX" sz="2800" b="1" dirty="0" err="1">
                <a:solidFill>
                  <a:srgbClr val="131416"/>
                </a:solidFill>
                <a:latin typeface="Open Sans"/>
                <a:ea typeface="Open Sans"/>
                <a:cs typeface="Open Sans"/>
                <a:sym typeface="Open Sans"/>
              </a:rPr>
              <a:t>Resource</a:t>
            </a:r>
            <a:r>
              <a:rPr lang="es-MX" sz="2800" b="1" dirty="0">
                <a:solidFill>
                  <a:srgbClr val="131416"/>
                </a:solidFill>
                <a:latin typeface="Open Sans"/>
                <a:ea typeface="Open Sans"/>
                <a:cs typeface="Open Sans"/>
                <a:sym typeface="Open Sans"/>
              </a:rPr>
              <a:t> </a:t>
            </a:r>
            <a:r>
              <a:rPr lang="es-MX" sz="2800" b="1" dirty="0" err="1">
                <a:solidFill>
                  <a:srgbClr val="131416"/>
                </a:solidFill>
                <a:latin typeface="Open Sans"/>
                <a:ea typeface="Open Sans"/>
                <a:cs typeface="Open Sans"/>
                <a:sym typeface="Open Sans"/>
              </a:rPr>
              <a:t>Planning</a:t>
            </a:r>
            <a:r>
              <a:rPr lang="es-MX" sz="2800" b="1" dirty="0">
                <a:solidFill>
                  <a:srgbClr val="131416"/>
                </a:solidFill>
                <a:latin typeface="Open Sans"/>
                <a:ea typeface="Open Sans"/>
                <a:cs typeface="Open Sans"/>
                <a:sym typeface="Open Sans"/>
              </a:rPr>
              <a:t>)</a:t>
            </a:r>
          </a:p>
        </p:txBody>
      </p:sp>
      <p:sp>
        <p:nvSpPr>
          <p:cNvPr id="98" name="Google Shape;98;p1"/>
          <p:cNvSpPr txBox="1"/>
          <p:nvPr/>
        </p:nvSpPr>
        <p:spPr>
          <a:xfrm>
            <a:off x="531652" y="4372626"/>
            <a:ext cx="3490690" cy="538609"/>
          </a:xfrm>
          <a:prstGeom prst="rect">
            <a:avLst/>
          </a:prstGeom>
          <a:noFill/>
          <a:ln>
            <a:noFill/>
          </a:ln>
        </p:spPr>
        <p:txBody>
          <a:bodyPr spcFirstLastPara="1" wrap="square" lIns="0" tIns="0" rIns="0" bIns="0" anchor="t" anchorCtr="0">
            <a:spAutoFit/>
          </a:bodyPr>
          <a:lstStyle/>
          <a:p>
            <a:pPr algn="ctr">
              <a:lnSpc>
                <a:spcPct val="140016"/>
              </a:lnSpc>
              <a:buSzPts val="2499"/>
            </a:pPr>
            <a:r>
              <a:rPr lang="en-US" sz="1250" b="1">
                <a:solidFill>
                  <a:srgbClr val="131416"/>
                </a:solidFill>
                <a:latin typeface="Open Sans"/>
                <a:ea typeface="Open Sans"/>
                <a:cs typeface="Open Sans"/>
                <a:sym typeface="Open Sans"/>
              </a:rPr>
              <a:t>Escuela de Ingenieria de Ciencias Y Sistemas</a:t>
            </a:r>
            <a:endParaRPr sz="1250" b="1">
              <a:solidFill>
                <a:srgbClr val="131416"/>
              </a:solidFill>
              <a:latin typeface="Open Sans"/>
              <a:ea typeface="Open Sans"/>
              <a:cs typeface="Open Sans"/>
              <a:sym typeface="Open Sans"/>
            </a:endParaRPr>
          </a:p>
        </p:txBody>
      </p:sp>
      <p:sp>
        <p:nvSpPr>
          <p:cNvPr id="99" name="Google Shape;99;p1"/>
          <p:cNvSpPr txBox="1"/>
          <p:nvPr/>
        </p:nvSpPr>
        <p:spPr>
          <a:xfrm>
            <a:off x="514350" y="4605338"/>
            <a:ext cx="3333750" cy="269304"/>
          </a:xfrm>
          <a:prstGeom prst="rect">
            <a:avLst/>
          </a:prstGeom>
          <a:noFill/>
          <a:ln>
            <a:noFill/>
          </a:ln>
        </p:spPr>
        <p:txBody>
          <a:bodyPr spcFirstLastPara="1" wrap="square" lIns="0" tIns="0" rIns="0" bIns="0" anchor="t" anchorCtr="0">
            <a:spAutoFit/>
          </a:bodyPr>
          <a:lstStyle/>
          <a:p>
            <a:pPr>
              <a:lnSpc>
                <a:spcPct val="140016"/>
              </a:lnSpc>
              <a:buSzPts val="2499"/>
            </a:pPr>
            <a:r>
              <a:rPr lang="en-US" sz="1250" b="1">
                <a:solidFill>
                  <a:srgbClr val="131416"/>
                </a:solidFill>
                <a:latin typeface="Open Sans"/>
                <a:ea typeface="Open Sans"/>
                <a:cs typeface="Open Sans"/>
                <a:sym typeface="Open Sans"/>
              </a:rPr>
              <a:t>Facultad de Ingenieria</a:t>
            </a:r>
            <a:endParaRPr sz="1250" b="1">
              <a:solidFill>
                <a:srgbClr val="131416"/>
              </a:solidFill>
              <a:latin typeface="Open Sans"/>
              <a:ea typeface="Open Sans"/>
              <a:cs typeface="Open Sans"/>
              <a:sym typeface="Open Sans"/>
            </a:endParaRPr>
          </a:p>
        </p:txBody>
      </p:sp>
      <p:sp>
        <p:nvSpPr>
          <p:cNvPr id="100" name="Google Shape;100;p1"/>
          <p:cNvSpPr txBox="1"/>
          <p:nvPr/>
        </p:nvSpPr>
        <p:spPr>
          <a:xfrm>
            <a:off x="114300" y="4794127"/>
            <a:ext cx="4057650" cy="269304"/>
          </a:xfrm>
          <a:prstGeom prst="rect">
            <a:avLst/>
          </a:prstGeom>
          <a:noFill/>
          <a:ln>
            <a:noFill/>
          </a:ln>
        </p:spPr>
        <p:txBody>
          <a:bodyPr spcFirstLastPara="1" wrap="square" lIns="0" tIns="0" rIns="0" bIns="0" anchor="t" anchorCtr="0">
            <a:spAutoFit/>
          </a:bodyPr>
          <a:lstStyle/>
          <a:p>
            <a:pPr algn="ctr">
              <a:lnSpc>
                <a:spcPct val="140016"/>
              </a:lnSpc>
              <a:buSzPts val="2499"/>
            </a:pPr>
            <a:r>
              <a:rPr lang="en-US" sz="1250" b="1">
                <a:solidFill>
                  <a:srgbClr val="131416"/>
                </a:solidFill>
                <a:latin typeface="Open Sans"/>
                <a:ea typeface="Open Sans"/>
                <a:cs typeface="Open Sans"/>
                <a:sym typeface="Open Sans"/>
              </a:rPr>
              <a:t>Universidad de San Carlos de Guatemala</a:t>
            </a:r>
            <a:endParaRPr sz="700"/>
          </a:p>
        </p:txBody>
      </p:sp>
      <p:sp>
        <p:nvSpPr>
          <p:cNvPr id="101" name="Google Shape;101;p1"/>
          <p:cNvSpPr txBox="1"/>
          <p:nvPr/>
        </p:nvSpPr>
        <p:spPr>
          <a:xfrm>
            <a:off x="6489541" y="3713020"/>
            <a:ext cx="1642350" cy="1346522"/>
          </a:xfrm>
          <a:prstGeom prst="rect">
            <a:avLst/>
          </a:prstGeom>
          <a:noFill/>
          <a:ln>
            <a:noFill/>
          </a:ln>
        </p:spPr>
        <p:txBody>
          <a:bodyPr spcFirstLastPara="1" wrap="square" lIns="0" tIns="0" rIns="0" bIns="0" anchor="t" anchorCtr="0">
            <a:spAutoFit/>
          </a:bodyPr>
          <a:lstStyle/>
          <a:p>
            <a:pPr algn="ctr">
              <a:lnSpc>
                <a:spcPct val="140016"/>
              </a:lnSpc>
              <a:buSzPts val="2499"/>
            </a:pPr>
            <a:r>
              <a:rPr lang="en-US" sz="1250">
                <a:latin typeface="Open Sans"/>
                <a:ea typeface="Open Sans"/>
                <a:cs typeface="Open Sans"/>
                <a:sym typeface="Open Sans"/>
              </a:rPr>
              <a:t>Puedes usar el </a:t>
            </a:r>
            <a:endParaRPr sz="700"/>
          </a:p>
          <a:p>
            <a:pPr algn="ctr">
              <a:lnSpc>
                <a:spcPct val="140016"/>
              </a:lnSpc>
              <a:buSzPts val="2499"/>
            </a:pPr>
            <a:r>
              <a:rPr lang="en-US" sz="1250">
                <a:latin typeface="Open Sans"/>
                <a:ea typeface="Open Sans"/>
                <a:cs typeface="Open Sans"/>
                <a:sym typeface="Open Sans"/>
              </a:rPr>
              <a:t>diseño que desees</a:t>
            </a:r>
            <a:endParaRPr sz="700"/>
          </a:p>
          <a:p>
            <a:pPr algn="ctr">
              <a:lnSpc>
                <a:spcPct val="140016"/>
              </a:lnSpc>
              <a:buSzPts val="2499"/>
            </a:pPr>
            <a:r>
              <a:rPr lang="en-US" sz="1250">
                <a:latin typeface="Open Sans"/>
                <a:ea typeface="Open Sans"/>
                <a:cs typeface="Open Sans"/>
                <a:sym typeface="Open Sans"/>
              </a:rPr>
              <a:t>conserva la estructura</a:t>
            </a:r>
            <a:endParaRPr sz="700"/>
          </a:p>
          <a:p>
            <a:pPr algn="ctr">
              <a:lnSpc>
                <a:spcPct val="140016"/>
              </a:lnSpc>
              <a:buSzPts val="2499"/>
            </a:pPr>
            <a:r>
              <a:rPr lang="en-US" sz="1250">
                <a:latin typeface="Open Sans"/>
                <a:ea typeface="Open Sans"/>
                <a:cs typeface="Open Sans"/>
                <a:sym typeface="Open Sans"/>
              </a:rPr>
              <a:t>base</a:t>
            </a:r>
            <a:endParaRPr sz="700"/>
          </a:p>
        </p:txBody>
      </p:sp>
      <p:pic>
        <p:nvPicPr>
          <p:cNvPr id="102" name="Google Shape;102;p1"/>
          <p:cNvPicPr preferRelativeResize="0"/>
          <p:nvPr/>
        </p:nvPicPr>
        <p:blipFill>
          <a:blip r:embed="rId4">
            <a:alphaModFix/>
          </a:blip>
          <a:stretch>
            <a:fillRect/>
          </a:stretch>
        </p:blipFill>
        <p:spPr>
          <a:xfrm>
            <a:off x="4022338" y="0"/>
            <a:ext cx="5121663" cy="53350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grpSp>
        <p:nvGrpSpPr>
          <p:cNvPr id="107" name="Google Shape;107;p2"/>
          <p:cNvGrpSpPr/>
          <p:nvPr/>
        </p:nvGrpSpPr>
        <p:grpSpPr>
          <a:xfrm>
            <a:off x="88309" y="2260242"/>
            <a:ext cx="2843321" cy="422693"/>
            <a:chOff x="0" y="-76200"/>
            <a:chExt cx="1964221" cy="359923"/>
          </a:xfrm>
        </p:grpSpPr>
        <p:sp>
          <p:nvSpPr>
            <p:cNvPr id="108" name="Google Shape;108;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sz="700"/>
            </a:p>
          </p:txBody>
        </p:sp>
        <p:sp>
          <p:nvSpPr>
            <p:cNvPr id="109" name="Google Shape;109;p2"/>
            <p:cNvSpPr txBox="1"/>
            <p:nvPr/>
          </p:nvSpPr>
          <p:spPr>
            <a:xfrm>
              <a:off x="0" y="-76200"/>
              <a:ext cx="1849921" cy="359923"/>
            </a:xfrm>
            <a:prstGeom prst="rect">
              <a:avLst/>
            </a:prstGeom>
            <a:noFill/>
            <a:ln>
              <a:noFill/>
            </a:ln>
          </p:spPr>
          <p:txBody>
            <a:bodyPr spcFirstLastPara="1" wrap="square" lIns="25400" tIns="25400" rIns="25400" bIns="25400" anchor="ctr" anchorCtr="0">
              <a:noAutofit/>
            </a:bodyPr>
            <a:lstStyle/>
            <a:p>
              <a:pPr algn="ctr">
                <a:lnSpc>
                  <a:spcPct val="148017"/>
                </a:lnSpc>
                <a:buSzPts val="2799"/>
              </a:pPr>
              <a:r>
                <a:rPr lang="en-US" dirty="0"/>
                <a:t>TEMA 1: </a:t>
              </a:r>
              <a:r>
                <a:rPr lang="es" dirty="0">
                  <a:solidFill>
                    <a:schemeClr val="dk1"/>
                  </a:solidFill>
                </a:rPr>
                <a:t>CRM</a:t>
              </a:r>
              <a:endParaRPr dirty="0"/>
            </a:p>
          </p:txBody>
        </p:sp>
      </p:grpSp>
      <p:sp>
        <p:nvSpPr>
          <p:cNvPr id="110" name="Google Shape;110;p2"/>
          <p:cNvSpPr/>
          <p:nvPr/>
        </p:nvSpPr>
        <p:spPr>
          <a:xfrm>
            <a:off x="439327" y="2370221"/>
            <a:ext cx="226679" cy="275047"/>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sz="700"/>
          </a:p>
        </p:txBody>
      </p:sp>
      <p:grpSp>
        <p:nvGrpSpPr>
          <p:cNvPr id="111" name="Google Shape;111;p2"/>
          <p:cNvGrpSpPr/>
          <p:nvPr/>
        </p:nvGrpSpPr>
        <p:grpSpPr>
          <a:xfrm>
            <a:off x="933495" y="1506992"/>
            <a:ext cx="2057595" cy="778242"/>
            <a:chOff x="0" y="-76200"/>
            <a:chExt cx="1083836" cy="409938"/>
          </a:xfrm>
        </p:grpSpPr>
        <p:sp>
          <p:nvSpPr>
            <p:cNvPr id="112" name="Google Shape;112;p2"/>
            <p:cNvSpPr/>
            <p:nvPr/>
          </p:nvSpPr>
          <p:spPr>
            <a:xfrm>
              <a:off x="0" y="0"/>
              <a:ext cx="1083836" cy="333738"/>
            </a:xfrm>
            <a:custGeom>
              <a:avLst/>
              <a:gdLst/>
              <a:ahLst/>
              <a:cxnLst/>
              <a:rect l="l" t="t" r="r" b="b"/>
              <a:pathLst>
                <a:path w="1083836" h="333738" extrusionOk="0">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lstStyle/>
            <a:p>
              <a:endParaRPr lang="es-GT" sz="700"/>
            </a:p>
          </p:txBody>
        </p:sp>
        <p:sp>
          <p:nvSpPr>
            <p:cNvPr id="113" name="Google Shape;113;p2"/>
            <p:cNvSpPr txBox="1"/>
            <p:nvPr/>
          </p:nvSpPr>
          <p:spPr>
            <a:xfrm>
              <a:off x="0" y="-76200"/>
              <a:ext cx="969536" cy="409938"/>
            </a:xfrm>
            <a:prstGeom prst="rect">
              <a:avLst/>
            </a:prstGeom>
            <a:noFill/>
            <a:ln>
              <a:noFill/>
            </a:ln>
          </p:spPr>
          <p:txBody>
            <a:bodyPr spcFirstLastPara="1" wrap="square" lIns="25400" tIns="25400" rIns="25400" bIns="25400" anchor="ctr" anchorCtr="0">
              <a:noAutofit/>
            </a:bodyPr>
            <a:lstStyle/>
            <a:p>
              <a:pPr algn="ctr">
                <a:lnSpc>
                  <a:spcPct val="148017"/>
                </a:lnSpc>
                <a:buSzPts val="2799"/>
              </a:pPr>
              <a:r>
                <a:rPr lang="en-US"/>
                <a:t>RECORDATORIOS</a:t>
              </a:r>
              <a:endParaRPr sz="700"/>
            </a:p>
          </p:txBody>
        </p:sp>
      </p:grpSp>
      <p:sp>
        <p:nvSpPr>
          <p:cNvPr id="114" name="Google Shape;114;p2"/>
          <p:cNvSpPr/>
          <p:nvPr/>
        </p:nvSpPr>
        <p:spPr>
          <a:xfrm>
            <a:off x="325877" y="1714868"/>
            <a:ext cx="376946" cy="436464"/>
          </a:xfrm>
          <a:custGeom>
            <a:avLst/>
            <a:gdLst/>
            <a:ahLst/>
            <a:cxnLst/>
            <a:rect l="l" t="t" r="r" b="b"/>
            <a:pathLst>
              <a:path w="753892" h="872928" extrusionOk="0">
                <a:moveTo>
                  <a:pt x="0" y="0"/>
                </a:moveTo>
                <a:lnTo>
                  <a:pt x="753892" y="0"/>
                </a:lnTo>
                <a:lnTo>
                  <a:pt x="753892" y="872927"/>
                </a:lnTo>
                <a:lnTo>
                  <a:pt x="0" y="872927"/>
                </a:lnTo>
                <a:lnTo>
                  <a:pt x="0" y="0"/>
                </a:lnTo>
                <a:close/>
              </a:path>
            </a:pathLst>
          </a:custGeom>
          <a:blipFill rotWithShape="1">
            <a:blip r:embed="rId4">
              <a:alphaModFix/>
            </a:blip>
            <a:stretch>
              <a:fillRect/>
            </a:stretch>
          </a:blipFill>
          <a:ln>
            <a:noFill/>
          </a:ln>
        </p:spPr>
        <p:txBody>
          <a:bodyPr/>
          <a:lstStyle/>
          <a:p>
            <a:endParaRPr lang="es-GT" sz="700"/>
          </a:p>
        </p:txBody>
      </p:sp>
      <p:sp>
        <p:nvSpPr>
          <p:cNvPr id="115" name="Google Shape;115;p2"/>
          <p:cNvSpPr txBox="1"/>
          <p:nvPr/>
        </p:nvSpPr>
        <p:spPr>
          <a:xfrm>
            <a:off x="325875" y="245450"/>
            <a:ext cx="3855151" cy="1327286"/>
          </a:xfrm>
          <a:prstGeom prst="rect">
            <a:avLst/>
          </a:prstGeom>
          <a:noFill/>
          <a:ln>
            <a:noFill/>
          </a:ln>
        </p:spPr>
        <p:txBody>
          <a:bodyPr spcFirstLastPara="1" wrap="square" lIns="0" tIns="0" rIns="0" bIns="0" anchor="t" anchorCtr="0">
            <a:spAutoFit/>
          </a:bodyPr>
          <a:lstStyle/>
          <a:p>
            <a:pPr>
              <a:lnSpc>
                <a:spcPct val="115000"/>
              </a:lnSpc>
              <a:buSzPts val="15000"/>
            </a:pPr>
            <a:r>
              <a:rPr lang="en-US" sz="7500">
                <a:solidFill>
                  <a:srgbClr val="131416"/>
                </a:solidFill>
                <a:latin typeface="Pacifico"/>
                <a:ea typeface="Pacifico"/>
                <a:cs typeface="Pacifico"/>
                <a:sym typeface="Pacifico"/>
              </a:rPr>
              <a:t>Agenda</a:t>
            </a:r>
            <a:endParaRPr sz="700">
              <a:latin typeface="Pacifico"/>
              <a:ea typeface="Pacifico"/>
              <a:cs typeface="Pacifico"/>
              <a:sym typeface="Pacifico"/>
            </a:endParaRPr>
          </a:p>
        </p:txBody>
      </p:sp>
      <p:sp>
        <p:nvSpPr>
          <p:cNvPr id="116" name="Google Shape;116;p2"/>
          <p:cNvSpPr txBox="1"/>
          <p:nvPr/>
        </p:nvSpPr>
        <p:spPr>
          <a:xfrm>
            <a:off x="5052995" y="195384"/>
            <a:ext cx="4208400" cy="1327286"/>
          </a:xfrm>
          <a:prstGeom prst="rect">
            <a:avLst/>
          </a:prstGeom>
          <a:noFill/>
          <a:ln>
            <a:noFill/>
          </a:ln>
        </p:spPr>
        <p:txBody>
          <a:bodyPr spcFirstLastPara="1" wrap="square" lIns="0" tIns="0" rIns="0" bIns="0" anchor="t" anchorCtr="0">
            <a:spAutoFit/>
          </a:bodyPr>
          <a:lstStyle/>
          <a:p>
            <a:pPr>
              <a:lnSpc>
                <a:spcPct val="115000"/>
              </a:lnSpc>
              <a:buSzPts val="15000"/>
            </a:pPr>
            <a:r>
              <a:rPr lang="en-US" sz="7500">
                <a:solidFill>
                  <a:srgbClr val="131416"/>
                </a:solidFill>
                <a:latin typeface="Lobster"/>
                <a:ea typeface="Lobster"/>
                <a:cs typeface="Lobster"/>
                <a:sym typeface="Lobster"/>
              </a:rPr>
              <a:t>Recursos</a:t>
            </a:r>
            <a:endParaRPr sz="700">
              <a:latin typeface="Lobster"/>
              <a:ea typeface="Lobster"/>
              <a:cs typeface="Lobster"/>
              <a:sym typeface="Lobster"/>
            </a:endParaRPr>
          </a:p>
        </p:txBody>
      </p:sp>
      <p:sp>
        <p:nvSpPr>
          <p:cNvPr id="118" name="Google Shape;118;p2"/>
          <p:cNvSpPr/>
          <p:nvPr/>
        </p:nvSpPr>
        <p:spPr>
          <a:xfrm>
            <a:off x="5869903" y="1616309"/>
            <a:ext cx="2676823" cy="633581"/>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sz="700"/>
          </a:p>
        </p:txBody>
      </p:sp>
      <p:sp>
        <p:nvSpPr>
          <p:cNvPr id="121" name="Google Shape;121;p2"/>
          <p:cNvSpPr/>
          <p:nvPr/>
        </p:nvSpPr>
        <p:spPr>
          <a:xfrm>
            <a:off x="5869903" y="2516334"/>
            <a:ext cx="2676823" cy="633581"/>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sz="700"/>
          </a:p>
        </p:txBody>
      </p:sp>
      <p:grpSp>
        <p:nvGrpSpPr>
          <p:cNvPr id="123" name="Google Shape;123;p2"/>
          <p:cNvGrpSpPr/>
          <p:nvPr/>
        </p:nvGrpSpPr>
        <p:grpSpPr>
          <a:xfrm>
            <a:off x="88310" y="2722151"/>
            <a:ext cx="3284212" cy="422693"/>
            <a:chOff x="0" y="-76200"/>
            <a:chExt cx="1964221" cy="359923"/>
          </a:xfrm>
        </p:grpSpPr>
        <p:sp>
          <p:nvSpPr>
            <p:cNvPr id="124" name="Google Shape;124;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sz="700"/>
            </a:p>
          </p:txBody>
        </p:sp>
        <p:sp>
          <p:nvSpPr>
            <p:cNvPr id="125" name="Google Shape;125;p2"/>
            <p:cNvSpPr txBox="1"/>
            <p:nvPr/>
          </p:nvSpPr>
          <p:spPr>
            <a:xfrm>
              <a:off x="0" y="-76200"/>
              <a:ext cx="1849921" cy="359923"/>
            </a:xfrm>
            <a:prstGeom prst="rect">
              <a:avLst/>
            </a:prstGeom>
            <a:noFill/>
            <a:ln>
              <a:noFill/>
            </a:ln>
          </p:spPr>
          <p:txBody>
            <a:bodyPr spcFirstLastPara="1" wrap="square" lIns="25400" tIns="25400" rIns="25400" bIns="25400" anchor="ctr" anchorCtr="0">
              <a:noAutofit/>
            </a:bodyPr>
            <a:lstStyle/>
            <a:p>
              <a:pPr algn="ctr">
                <a:lnSpc>
                  <a:spcPct val="148017"/>
                </a:lnSpc>
                <a:buSzPts val="2799"/>
              </a:pPr>
              <a:r>
                <a:rPr lang="en-US" dirty="0"/>
                <a:t>TEMA 2: </a:t>
              </a:r>
              <a:r>
                <a:rPr lang="es-GT" dirty="0">
                  <a:solidFill>
                    <a:schemeClr val="dk1"/>
                  </a:solidFill>
                </a:rPr>
                <a:t>Beneficios</a:t>
              </a:r>
            </a:p>
          </p:txBody>
        </p:sp>
      </p:grpSp>
      <p:grpSp>
        <p:nvGrpSpPr>
          <p:cNvPr id="126" name="Google Shape;126;p2"/>
          <p:cNvGrpSpPr/>
          <p:nvPr/>
        </p:nvGrpSpPr>
        <p:grpSpPr>
          <a:xfrm>
            <a:off x="88310" y="3212938"/>
            <a:ext cx="4392250" cy="422693"/>
            <a:chOff x="0" y="-76200"/>
            <a:chExt cx="1964221" cy="359923"/>
          </a:xfrm>
        </p:grpSpPr>
        <p:sp>
          <p:nvSpPr>
            <p:cNvPr id="127" name="Google Shape;127;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sz="700"/>
            </a:p>
          </p:txBody>
        </p:sp>
        <p:sp>
          <p:nvSpPr>
            <p:cNvPr id="128" name="Google Shape;128;p2"/>
            <p:cNvSpPr txBox="1"/>
            <p:nvPr/>
          </p:nvSpPr>
          <p:spPr>
            <a:xfrm>
              <a:off x="0" y="-76200"/>
              <a:ext cx="1849921" cy="359923"/>
            </a:xfrm>
            <a:prstGeom prst="rect">
              <a:avLst/>
            </a:prstGeom>
            <a:noFill/>
            <a:ln>
              <a:noFill/>
            </a:ln>
          </p:spPr>
          <p:txBody>
            <a:bodyPr spcFirstLastPara="1" wrap="square" lIns="25400" tIns="25400" rIns="25400" bIns="25400" anchor="ctr" anchorCtr="0">
              <a:noAutofit/>
            </a:bodyPr>
            <a:lstStyle/>
            <a:p>
              <a:pPr algn="ctr">
                <a:lnSpc>
                  <a:spcPct val="148017"/>
                </a:lnSpc>
                <a:buSzPts val="2799"/>
              </a:pPr>
              <a:r>
                <a:rPr lang="en-US" dirty="0"/>
                <a:t>TEMA 3: </a:t>
              </a:r>
              <a:r>
                <a:rPr lang="en-US" dirty="0" err="1"/>
                <a:t>Tendencias</a:t>
              </a:r>
              <a:r>
                <a:rPr lang="en-US" dirty="0"/>
                <a:t> </a:t>
              </a:r>
              <a:r>
                <a:rPr lang="en-US" dirty="0" err="1"/>
                <a:t>en</a:t>
              </a:r>
              <a:r>
                <a:rPr lang="en-US" dirty="0"/>
                <a:t> </a:t>
              </a:r>
              <a:r>
                <a:rPr lang="en-US" dirty="0" err="1"/>
                <a:t>los</a:t>
              </a:r>
              <a:r>
                <a:rPr lang="en-US" dirty="0"/>
                <a:t> CRM</a:t>
              </a:r>
              <a:endParaRPr sz="700" dirty="0"/>
            </a:p>
          </p:txBody>
        </p:sp>
      </p:grpSp>
      <p:grpSp>
        <p:nvGrpSpPr>
          <p:cNvPr id="129" name="Google Shape;129;p2"/>
          <p:cNvGrpSpPr/>
          <p:nvPr/>
        </p:nvGrpSpPr>
        <p:grpSpPr>
          <a:xfrm>
            <a:off x="45278" y="3783311"/>
            <a:ext cx="5564835" cy="422693"/>
            <a:chOff x="0" y="-76200"/>
            <a:chExt cx="1964221" cy="359923"/>
          </a:xfrm>
        </p:grpSpPr>
        <p:sp>
          <p:nvSpPr>
            <p:cNvPr id="130" name="Google Shape;130;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sz="700"/>
            </a:p>
          </p:txBody>
        </p:sp>
        <p:sp>
          <p:nvSpPr>
            <p:cNvPr id="131" name="Google Shape;131;p2"/>
            <p:cNvSpPr txBox="1"/>
            <p:nvPr/>
          </p:nvSpPr>
          <p:spPr>
            <a:xfrm>
              <a:off x="0" y="-76200"/>
              <a:ext cx="1849921" cy="359923"/>
            </a:xfrm>
            <a:prstGeom prst="rect">
              <a:avLst/>
            </a:prstGeom>
            <a:noFill/>
            <a:ln>
              <a:noFill/>
            </a:ln>
          </p:spPr>
          <p:txBody>
            <a:bodyPr spcFirstLastPara="1" wrap="square" lIns="25400" tIns="25400" rIns="25400" bIns="25400" anchor="ctr" anchorCtr="0">
              <a:noAutofit/>
            </a:bodyPr>
            <a:lstStyle/>
            <a:p>
              <a:pPr algn="ctr">
                <a:lnSpc>
                  <a:spcPct val="148017"/>
                </a:lnSpc>
                <a:buSzPts val="2799"/>
              </a:pPr>
              <a:r>
                <a:rPr lang="en-US" dirty="0"/>
                <a:t>TEMA 4: </a:t>
              </a:r>
              <a:r>
                <a:rPr lang="en-US" dirty="0" err="1"/>
                <a:t>Automatización</a:t>
              </a:r>
              <a:r>
                <a:rPr lang="en-US" dirty="0"/>
                <a:t> </a:t>
              </a:r>
              <a:r>
                <a:rPr lang="en-US" dirty="0" err="1"/>
                <a:t>Inteligente</a:t>
              </a:r>
              <a:r>
                <a:rPr lang="en-US" dirty="0"/>
                <a:t> </a:t>
              </a:r>
              <a:r>
                <a:rPr lang="en-US" dirty="0" err="1"/>
                <a:t>en</a:t>
              </a:r>
              <a:r>
                <a:rPr lang="en-US" dirty="0"/>
                <a:t> </a:t>
              </a:r>
              <a:r>
                <a:rPr lang="en-US" dirty="0" err="1"/>
                <a:t>Tareas</a:t>
              </a:r>
              <a:endParaRPr lang="en-US" dirty="0"/>
            </a:p>
            <a:p>
              <a:pPr algn="ctr">
                <a:lnSpc>
                  <a:spcPct val="148017"/>
                </a:lnSpc>
                <a:buSzPts val="2799"/>
              </a:pPr>
              <a:endParaRPr sz="700" dirty="0"/>
            </a:p>
          </p:txBody>
        </p:sp>
      </p:grpSp>
      <p:grpSp>
        <p:nvGrpSpPr>
          <p:cNvPr id="132" name="Google Shape;132;p2"/>
          <p:cNvGrpSpPr/>
          <p:nvPr/>
        </p:nvGrpSpPr>
        <p:grpSpPr>
          <a:xfrm>
            <a:off x="88309" y="4206458"/>
            <a:ext cx="5613243" cy="422693"/>
            <a:chOff x="0" y="-76200"/>
            <a:chExt cx="1964221" cy="359923"/>
          </a:xfrm>
        </p:grpSpPr>
        <p:sp>
          <p:nvSpPr>
            <p:cNvPr id="133" name="Google Shape;133;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sz="700"/>
            </a:p>
          </p:txBody>
        </p:sp>
        <p:sp>
          <p:nvSpPr>
            <p:cNvPr id="134" name="Google Shape;134;p2"/>
            <p:cNvSpPr txBox="1"/>
            <p:nvPr/>
          </p:nvSpPr>
          <p:spPr>
            <a:xfrm>
              <a:off x="0" y="-76200"/>
              <a:ext cx="1849921" cy="359923"/>
            </a:xfrm>
            <a:prstGeom prst="rect">
              <a:avLst/>
            </a:prstGeom>
            <a:noFill/>
            <a:ln>
              <a:noFill/>
            </a:ln>
          </p:spPr>
          <p:txBody>
            <a:bodyPr spcFirstLastPara="1" wrap="square" lIns="25400" tIns="25400" rIns="25400" bIns="25400" anchor="ctr" anchorCtr="0">
              <a:noAutofit/>
            </a:bodyPr>
            <a:lstStyle/>
            <a:p>
              <a:pPr algn="ctr">
                <a:lnSpc>
                  <a:spcPct val="148017"/>
                </a:lnSpc>
                <a:buSzPts val="2799"/>
              </a:pPr>
              <a:r>
                <a:rPr lang="en-US" dirty="0"/>
                <a:t>TEMA 5: </a:t>
              </a:r>
              <a:r>
                <a:rPr lang="en-US" dirty="0" err="1"/>
                <a:t>Ejemplos</a:t>
              </a:r>
              <a:r>
                <a:rPr lang="en-US" dirty="0"/>
                <a:t> de </a:t>
              </a:r>
              <a:r>
                <a:rPr lang="en-US" dirty="0" err="1"/>
                <a:t>Automatización</a:t>
              </a:r>
              <a:r>
                <a:rPr lang="en-US" dirty="0"/>
                <a:t> </a:t>
              </a:r>
              <a:r>
                <a:rPr lang="en-US" dirty="0" err="1"/>
                <a:t>Inteligente</a:t>
              </a:r>
              <a:endParaRPr lang="en-US" dirty="0"/>
            </a:p>
            <a:p>
              <a:pPr algn="ctr">
                <a:lnSpc>
                  <a:spcPct val="148017"/>
                </a:lnSpc>
                <a:buSzPts val="2799"/>
              </a:pPr>
              <a:endParaRPr sz="700" dirty="0"/>
            </a:p>
          </p:txBody>
        </p:sp>
      </p:grpSp>
      <p:sp>
        <p:nvSpPr>
          <p:cNvPr id="135" name="Google Shape;135;p2"/>
          <p:cNvSpPr/>
          <p:nvPr/>
        </p:nvSpPr>
        <p:spPr>
          <a:xfrm>
            <a:off x="439327" y="2811640"/>
            <a:ext cx="226679" cy="275047"/>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sz="700"/>
          </a:p>
        </p:txBody>
      </p:sp>
      <p:sp>
        <p:nvSpPr>
          <p:cNvPr id="136" name="Google Shape;136;p2"/>
          <p:cNvSpPr/>
          <p:nvPr/>
        </p:nvSpPr>
        <p:spPr>
          <a:xfrm>
            <a:off x="439327" y="3302427"/>
            <a:ext cx="226679" cy="275047"/>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sz="700"/>
          </a:p>
        </p:txBody>
      </p:sp>
      <p:sp>
        <p:nvSpPr>
          <p:cNvPr id="137" name="Google Shape;137;p2"/>
          <p:cNvSpPr/>
          <p:nvPr/>
        </p:nvSpPr>
        <p:spPr>
          <a:xfrm>
            <a:off x="439327" y="3802318"/>
            <a:ext cx="226679" cy="275047"/>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sz="700"/>
          </a:p>
        </p:txBody>
      </p:sp>
      <p:sp>
        <p:nvSpPr>
          <p:cNvPr id="138" name="Google Shape;138;p2"/>
          <p:cNvSpPr/>
          <p:nvPr/>
        </p:nvSpPr>
        <p:spPr>
          <a:xfrm>
            <a:off x="439327" y="4302770"/>
            <a:ext cx="226679" cy="275047"/>
          </a:xfrm>
          <a:custGeom>
            <a:avLst/>
            <a:gdLst/>
            <a:ahLst/>
            <a:cxnLst/>
            <a:rect l="l" t="t" r="r" b="b"/>
            <a:pathLst>
              <a:path w="453358" h="550094" extrusionOk="0">
                <a:moveTo>
                  <a:pt x="0" y="0"/>
                </a:moveTo>
                <a:lnTo>
                  <a:pt x="453359" y="0"/>
                </a:lnTo>
                <a:lnTo>
                  <a:pt x="453359" y="550095"/>
                </a:lnTo>
                <a:lnTo>
                  <a:pt x="0" y="550095"/>
                </a:lnTo>
                <a:lnTo>
                  <a:pt x="0" y="0"/>
                </a:lnTo>
                <a:close/>
              </a:path>
            </a:pathLst>
          </a:custGeom>
          <a:blipFill rotWithShape="1">
            <a:blip r:embed="rId3">
              <a:alphaModFix/>
            </a:blip>
            <a:stretch>
              <a:fillRect/>
            </a:stretch>
          </a:blipFill>
          <a:ln>
            <a:noFill/>
          </a:ln>
        </p:spPr>
        <p:txBody>
          <a:bodyPr/>
          <a:lstStyle/>
          <a:p>
            <a:endParaRPr lang="es-GT" sz="7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3"/>
          <p:cNvSpPr txBox="1"/>
          <p:nvPr/>
        </p:nvSpPr>
        <p:spPr>
          <a:xfrm>
            <a:off x="687445" y="327182"/>
            <a:ext cx="6995550" cy="530210"/>
          </a:xfrm>
          <a:prstGeom prst="rect">
            <a:avLst/>
          </a:prstGeom>
          <a:noFill/>
          <a:ln>
            <a:noFill/>
          </a:ln>
        </p:spPr>
        <p:txBody>
          <a:bodyPr spcFirstLastPara="1" wrap="square" lIns="0" tIns="0" rIns="0" bIns="0" anchor="t" anchorCtr="0">
            <a:spAutoFit/>
          </a:bodyPr>
          <a:lstStyle/>
          <a:p>
            <a:pPr algn="just">
              <a:lnSpc>
                <a:spcPct val="112987"/>
              </a:lnSpc>
              <a:buSzPts val="6098"/>
            </a:pPr>
            <a:r>
              <a:rPr lang="en-US" sz="3049">
                <a:solidFill>
                  <a:srgbClr val="131416"/>
                </a:solidFill>
                <a:latin typeface="Impact"/>
                <a:ea typeface="Impact"/>
                <a:cs typeface="Impact"/>
                <a:sym typeface="Impact"/>
              </a:rPr>
              <a:t>COMPETENCIA(S) QUE DESARROLLAREMOS</a:t>
            </a:r>
            <a:endParaRPr sz="700">
              <a:latin typeface="Impact"/>
              <a:ea typeface="Impact"/>
              <a:cs typeface="Impact"/>
              <a:sym typeface="Impact"/>
            </a:endParaRPr>
          </a:p>
        </p:txBody>
      </p:sp>
      <p:sp>
        <p:nvSpPr>
          <p:cNvPr id="146" name="Google Shape;146;p3"/>
          <p:cNvSpPr txBox="1"/>
          <p:nvPr/>
        </p:nvSpPr>
        <p:spPr>
          <a:xfrm>
            <a:off x="2769580" y="2326164"/>
            <a:ext cx="3604841" cy="2068259"/>
          </a:xfrm>
          <a:prstGeom prst="rect">
            <a:avLst/>
          </a:prstGeom>
          <a:noFill/>
          <a:ln>
            <a:noFill/>
          </a:ln>
        </p:spPr>
        <p:txBody>
          <a:bodyPr spcFirstLastPara="1" wrap="square" lIns="0" tIns="0" rIns="0" bIns="0" anchor="t" anchorCtr="0">
            <a:spAutoFit/>
          </a:bodyPr>
          <a:lstStyle/>
          <a:p>
            <a:pPr algn="ctr">
              <a:lnSpc>
                <a:spcPct val="140007"/>
              </a:lnSpc>
              <a:buSzPts val="5199"/>
            </a:pPr>
            <a:r>
              <a:rPr lang="es-MX" sz="1600" b="1" dirty="0">
                <a:solidFill>
                  <a:srgbClr val="131416"/>
                </a:solidFill>
                <a:latin typeface="Open Sans"/>
                <a:ea typeface="Open Sans"/>
                <a:cs typeface="Open Sans"/>
                <a:sym typeface="Open Sans"/>
              </a:rPr>
              <a:t>Evalúa la efectividad de procesos administrativos aplicando el ciclo del proceso administrativo para</a:t>
            </a:r>
          </a:p>
          <a:p>
            <a:pPr algn="ctr">
              <a:lnSpc>
                <a:spcPct val="140007"/>
              </a:lnSpc>
              <a:buSzPts val="5199"/>
            </a:pPr>
            <a:r>
              <a:rPr lang="es-MX" sz="1600" b="1" dirty="0">
                <a:solidFill>
                  <a:srgbClr val="131416"/>
                </a:solidFill>
                <a:latin typeface="Open Sans"/>
                <a:ea typeface="Open Sans"/>
                <a:cs typeface="Open Sans"/>
                <a:sym typeface="Open Sans"/>
              </a:rPr>
              <a:t>identificar áreas de mejora en la gestión organizacional y proponer acciones correctivas</a:t>
            </a:r>
            <a:endParaRPr sz="1600" dirty="0"/>
          </a:p>
        </p:txBody>
      </p:sp>
      <p:sp>
        <p:nvSpPr>
          <p:cNvPr id="147" name="Google Shape;147;p3"/>
          <p:cNvSpPr/>
          <p:nvPr/>
        </p:nvSpPr>
        <p:spPr>
          <a:xfrm>
            <a:off x="6723598" y="2667011"/>
            <a:ext cx="2313234" cy="2287999"/>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sz="700"/>
          </a:p>
        </p:txBody>
      </p:sp>
      <p:sp>
        <p:nvSpPr>
          <p:cNvPr id="148" name="Google Shape;148;p3"/>
          <p:cNvSpPr txBox="1"/>
          <p:nvPr/>
        </p:nvSpPr>
        <p:spPr>
          <a:xfrm>
            <a:off x="7023106" y="3264091"/>
            <a:ext cx="1714218" cy="1931811"/>
          </a:xfrm>
          <a:prstGeom prst="rect">
            <a:avLst/>
          </a:prstGeom>
          <a:noFill/>
          <a:ln>
            <a:noFill/>
          </a:ln>
        </p:spPr>
        <p:txBody>
          <a:bodyPr spcFirstLastPara="1" wrap="square" lIns="0" tIns="0" rIns="0" bIns="0" anchor="t" anchorCtr="0">
            <a:spAutoFit/>
          </a:bodyPr>
          <a:lstStyle/>
          <a:p>
            <a:pPr algn="ctr">
              <a:lnSpc>
                <a:spcPct val="139982"/>
              </a:lnSpc>
              <a:buSzPts val="2241"/>
            </a:pPr>
            <a:r>
              <a:rPr lang="en-US" sz="1121">
                <a:solidFill>
                  <a:srgbClr val="131416"/>
                </a:solidFill>
                <a:latin typeface="Open Sans"/>
                <a:ea typeface="Open Sans"/>
                <a:cs typeface="Open Sans"/>
                <a:sym typeface="Open Sans"/>
              </a:rPr>
              <a:t>En el programa del curso encontraras la competencia o competencias que debe cumplir el curso que estas impartiendo.</a:t>
            </a:r>
            <a:endParaRPr sz="700"/>
          </a:p>
          <a:p>
            <a:pPr algn="ctr">
              <a:lnSpc>
                <a:spcPct val="139982"/>
              </a:lnSpc>
              <a:buSzPts val="2241"/>
            </a:pPr>
            <a:r>
              <a:rPr lang="en-US" sz="1121">
                <a:solidFill>
                  <a:srgbClr val="131416"/>
                </a:solidFill>
                <a:latin typeface="Open Sans"/>
                <a:ea typeface="Open Sans"/>
                <a:cs typeface="Open Sans"/>
                <a:sym typeface="Open Sans"/>
              </a:rPr>
              <a:t>Colocala(s) en este apartado </a:t>
            </a:r>
            <a:endParaRPr sz="700"/>
          </a:p>
        </p:txBody>
      </p:sp>
      <p:pic>
        <p:nvPicPr>
          <p:cNvPr id="149" name="Google Shape;149;p3" title="Gemini_Generated_Image_sfb0qdsfb0qdsfb0.png"/>
          <p:cNvPicPr preferRelativeResize="0"/>
          <p:nvPr/>
        </p:nvPicPr>
        <p:blipFill>
          <a:blip r:embed="rId4">
            <a:alphaModFix/>
          </a:blip>
          <a:stretch>
            <a:fillRect/>
          </a:stretch>
        </p:blipFill>
        <p:spPr>
          <a:xfrm>
            <a:off x="0" y="1556995"/>
            <a:ext cx="2617180" cy="358650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g2d853e9ab94_0_26"/>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2d853e9ab94_0_26"/>
          <p:cNvSpPr txBox="1"/>
          <p:nvPr/>
        </p:nvSpPr>
        <p:spPr>
          <a:xfrm>
            <a:off x="3286550" y="303025"/>
            <a:ext cx="1942500" cy="264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dirty="0">
                <a:solidFill>
                  <a:schemeClr val="dk1"/>
                </a:solidFill>
              </a:rPr>
              <a:t>CRM</a:t>
            </a:r>
            <a:endParaRPr sz="1800" dirty="0">
              <a:solidFill>
                <a:schemeClr val="dk1"/>
              </a:solidFill>
            </a:endParaRPr>
          </a:p>
        </p:txBody>
      </p:sp>
      <p:sp>
        <p:nvSpPr>
          <p:cNvPr id="64" name="Google Shape;64;g2d853e9ab94_0_26"/>
          <p:cNvSpPr txBox="1"/>
          <p:nvPr/>
        </p:nvSpPr>
        <p:spPr>
          <a:xfrm>
            <a:off x="62150" y="870200"/>
            <a:ext cx="8989500" cy="42033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1800">
                <a:solidFill>
                  <a:schemeClr val="dk1"/>
                </a:solidFill>
              </a:rPr>
              <a:t>Un </a:t>
            </a:r>
            <a:r>
              <a:rPr lang="es" sz="1800" b="1">
                <a:solidFill>
                  <a:schemeClr val="dk1"/>
                </a:solidFill>
              </a:rPr>
              <a:t>CRM (Customer Relationship Management)</a:t>
            </a:r>
            <a:r>
              <a:rPr lang="es" sz="1800">
                <a:solidFill>
                  <a:schemeClr val="dk1"/>
                </a:solidFill>
              </a:rPr>
              <a:t> es un sistema o estrategia utilizada por las empresas para gestionar y optimizar las relaciones con sus clientes. Su objetivo principal es mejorar la interacción con los clientes, aumentar la fidelización y potenciar las ventas mediante la centralización de datos y la automatización de procesos.</a:t>
            </a:r>
            <a:endParaRPr sz="1800">
              <a:solidFill>
                <a:schemeClr val="dk1"/>
              </a:solidFill>
            </a:endParaRPr>
          </a:p>
          <a:p>
            <a:pPr marL="0" lvl="0" indent="0" algn="ctr" rtl="0">
              <a:spcBef>
                <a:spcPts val="0"/>
              </a:spcBef>
              <a:spcAft>
                <a:spcPts val="0"/>
              </a:spcAft>
              <a:buNone/>
            </a:pPr>
            <a:r>
              <a:rPr lang="es" sz="1800" b="1">
                <a:solidFill>
                  <a:schemeClr val="dk1"/>
                </a:solidFill>
              </a:rPr>
              <a:t>Funciones principales de un CRM</a:t>
            </a:r>
            <a:endParaRPr sz="1800" b="1">
              <a:solidFill>
                <a:schemeClr val="dk1"/>
              </a:solidFill>
            </a:endParaRPr>
          </a:p>
          <a:p>
            <a:pPr marL="0" lvl="0" indent="0" algn="just" rtl="0">
              <a:spcBef>
                <a:spcPts val="0"/>
              </a:spcBef>
              <a:spcAft>
                <a:spcPts val="0"/>
              </a:spcAft>
              <a:buNone/>
            </a:pPr>
            <a:endParaRPr sz="18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 sz="1800" b="1">
                <a:solidFill>
                  <a:schemeClr val="dk1"/>
                </a:solidFill>
              </a:rPr>
              <a:t>Gestión de Contactos y Clientes</a:t>
            </a:r>
            <a:endParaRPr sz="1800" b="1">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a:solidFill>
                  <a:schemeClr val="dk1"/>
                </a:solidFill>
              </a:rPr>
              <a:t>Almacena información detallada de clientes (nombre, historial de compras, interacciones, etc.).</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Facilita el seguimiento de cada cliente en su ciclo de vida.</a:t>
            </a:r>
            <a:endParaRPr sz="1800">
              <a:solidFill>
                <a:schemeClr val="dk1"/>
              </a:solidFill>
            </a:endParaRPr>
          </a:p>
          <a:p>
            <a:pPr marL="0" lvl="0" indent="0" algn="just" rtl="0">
              <a:spcBef>
                <a:spcPts val="1200"/>
              </a:spcBef>
              <a:spcAft>
                <a:spcPts val="0"/>
              </a:spcAft>
              <a:buNone/>
            </a:pPr>
            <a:endParaRPr sz="1800" b="1">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g2d853e9ab94_0_31"/>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70" name="Google Shape;70;g2d853e9ab94_0_31"/>
          <p:cNvSpPr txBox="1"/>
          <p:nvPr/>
        </p:nvSpPr>
        <p:spPr>
          <a:xfrm>
            <a:off x="38850" y="862425"/>
            <a:ext cx="9051600" cy="42345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 sz="1800" b="1">
                <a:solidFill>
                  <a:schemeClr val="dk1"/>
                </a:solidFill>
              </a:rPr>
              <a:t>Automatización de Ventas</a:t>
            </a:r>
            <a:endParaRPr sz="1800" b="1">
              <a:solidFill>
                <a:schemeClr val="dk1"/>
              </a:solidFill>
            </a:endParaRPr>
          </a:p>
          <a:p>
            <a:pPr marL="457200" lvl="0" indent="-342900" algn="just" rtl="0">
              <a:lnSpc>
                <a:spcPct val="115000"/>
              </a:lnSpc>
              <a:spcBef>
                <a:spcPts val="1200"/>
              </a:spcBef>
              <a:spcAft>
                <a:spcPts val="0"/>
              </a:spcAft>
              <a:buClr>
                <a:schemeClr val="dk1"/>
              </a:buClr>
              <a:buSzPts val="1800"/>
              <a:buChar char="●"/>
            </a:pPr>
            <a:r>
              <a:rPr lang="es" sz="1800">
                <a:solidFill>
                  <a:schemeClr val="dk1"/>
                </a:solidFill>
              </a:rPr>
              <a:t>Permite gestionar oportunidades de negocio y embudos de ventas.</a:t>
            </a:r>
            <a:endParaRPr sz="1800">
              <a:solidFill>
                <a:schemeClr val="dk1"/>
              </a:solidFill>
            </a:endParaRPr>
          </a:p>
          <a:p>
            <a:pPr marL="457200" lvl="0" indent="-342900" algn="just" rtl="0">
              <a:lnSpc>
                <a:spcPct val="115000"/>
              </a:lnSpc>
              <a:spcBef>
                <a:spcPts val="0"/>
              </a:spcBef>
              <a:spcAft>
                <a:spcPts val="0"/>
              </a:spcAft>
              <a:buClr>
                <a:schemeClr val="dk1"/>
              </a:buClr>
              <a:buSzPts val="1800"/>
              <a:buChar char="●"/>
            </a:pPr>
            <a:r>
              <a:rPr lang="es" sz="1800">
                <a:solidFill>
                  <a:schemeClr val="dk1"/>
                </a:solidFill>
              </a:rPr>
              <a:t>Asigna tareas a vendedores y automatiza recordatorios.</a:t>
            </a:r>
            <a:endParaRPr sz="1800">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s" sz="1800" b="1">
                <a:solidFill>
                  <a:schemeClr val="dk1"/>
                </a:solidFill>
              </a:rPr>
              <a:t>Atención al Cliente y Soporte</a:t>
            </a:r>
            <a:endParaRPr sz="1800" b="1">
              <a:solidFill>
                <a:schemeClr val="dk1"/>
              </a:solidFill>
            </a:endParaRPr>
          </a:p>
          <a:p>
            <a:pPr marL="457200" lvl="0" indent="-342900" algn="just" rtl="0">
              <a:lnSpc>
                <a:spcPct val="115000"/>
              </a:lnSpc>
              <a:spcBef>
                <a:spcPts val="1200"/>
              </a:spcBef>
              <a:spcAft>
                <a:spcPts val="0"/>
              </a:spcAft>
              <a:buClr>
                <a:schemeClr val="dk1"/>
              </a:buClr>
              <a:buSzPts val="1800"/>
              <a:buChar char="●"/>
            </a:pPr>
            <a:r>
              <a:rPr lang="es" sz="1800">
                <a:solidFill>
                  <a:schemeClr val="dk1"/>
                </a:solidFill>
              </a:rPr>
              <a:t>Centraliza solicitudes de clientes para mejorar la respuesta.</a:t>
            </a:r>
            <a:endParaRPr sz="1800">
              <a:solidFill>
                <a:schemeClr val="dk1"/>
              </a:solidFill>
            </a:endParaRPr>
          </a:p>
          <a:p>
            <a:pPr marL="457200" lvl="0" indent="-342900" algn="just" rtl="0">
              <a:lnSpc>
                <a:spcPct val="115000"/>
              </a:lnSpc>
              <a:spcBef>
                <a:spcPts val="0"/>
              </a:spcBef>
              <a:spcAft>
                <a:spcPts val="0"/>
              </a:spcAft>
              <a:buClr>
                <a:schemeClr val="dk1"/>
              </a:buClr>
              <a:buSzPts val="1800"/>
              <a:buChar char="●"/>
            </a:pPr>
            <a:r>
              <a:rPr lang="es" sz="1800">
                <a:solidFill>
                  <a:schemeClr val="dk1"/>
                </a:solidFill>
              </a:rPr>
              <a:t>Registra incidencias y facilita soluciones rápidas.</a:t>
            </a:r>
            <a:endParaRPr sz="1800">
              <a:solidFill>
                <a:schemeClr val="dk1"/>
              </a:solidFill>
            </a:endParaRPr>
          </a:p>
          <a:p>
            <a:pPr marL="0" lvl="0" indent="0" algn="just" rtl="0">
              <a:spcBef>
                <a:spcPts val="1200"/>
              </a:spcBef>
              <a:spcAft>
                <a:spcPts val="0"/>
              </a:spcAft>
              <a:buNone/>
            </a:pP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pic>
        <p:nvPicPr>
          <p:cNvPr id="75" name="Google Shape;75;g2d853e9ab94_0_41"/>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76" name="Google Shape;76;g2d853e9ab94_0_41"/>
          <p:cNvSpPr txBox="1"/>
          <p:nvPr/>
        </p:nvSpPr>
        <p:spPr>
          <a:xfrm>
            <a:off x="62150" y="854650"/>
            <a:ext cx="9005100" cy="414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800" b="1">
                <a:solidFill>
                  <a:schemeClr val="dk1"/>
                </a:solidFill>
              </a:rPr>
              <a:t>Automatización de Marketing</a:t>
            </a:r>
            <a:endParaRPr sz="1800" b="1">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a:solidFill>
                  <a:schemeClr val="dk1"/>
                </a:solidFill>
              </a:rPr>
              <a:t>Permite campañas de email marketing, segmentación de clientes y personalización de ofertas.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Analiza métricas de conversión y comportamiento del cliente.</a:t>
            </a:r>
            <a:endParaRPr sz="18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 sz="1800" b="1">
                <a:solidFill>
                  <a:schemeClr val="dk1"/>
                </a:solidFill>
              </a:rPr>
              <a:t>Análisis y Reportes</a:t>
            </a:r>
            <a:endParaRPr sz="1800" b="1">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a:solidFill>
                  <a:schemeClr val="dk1"/>
                </a:solidFill>
              </a:rPr>
              <a:t>Ofrece estadísticas sobre ventas, clientes potenciales y rendimiento de campañas.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Ayuda en la toma de decisiones basada en datos.</a:t>
            </a:r>
            <a:endParaRPr sz="1800">
              <a:solidFill>
                <a:schemeClr val="dk1"/>
              </a:solidFill>
            </a:endParaRPr>
          </a:p>
          <a:p>
            <a:pPr marL="0" lvl="0" indent="0" algn="l" rtl="0">
              <a:spcBef>
                <a:spcPts val="1200"/>
              </a:spcBef>
              <a:spcAft>
                <a:spcPts val="0"/>
              </a:spcAft>
              <a:buNone/>
            </a:pP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g2d8fa948c4e_0_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82" name="Google Shape;82;g2d8fa948c4e_0_0"/>
          <p:cNvSpPr txBox="1"/>
          <p:nvPr/>
        </p:nvSpPr>
        <p:spPr>
          <a:xfrm>
            <a:off x="31075" y="862425"/>
            <a:ext cx="9067200" cy="4218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 sz="1800" b="1" dirty="0">
                <a:solidFill>
                  <a:schemeClr val="dk1"/>
                </a:solidFill>
              </a:rPr>
              <a:t>Beneficios de un CRM</a:t>
            </a:r>
            <a:endParaRPr sz="1800" b="1" dirty="0">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dirty="0">
                <a:solidFill>
                  <a:schemeClr val="dk1"/>
                </a:solidFill>
              </a:rPr>
              <a:t>Mejora la experiencia del cliente.</a:t>
            </a:r>
            <a:endParaRPr sz="18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dirty="0">
                <a:solidFill>
                  <a:schemeClr val="dk1"/>
                </a:solidFill>
              </a:rPr>
              <a:t>Aumenta la eficiencia de los equipos de ventas y marketing.</a:t>
            </a:r>
            <a:endParaRPr sz="18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dirty="0">
                <a:solidFill>
                  <a:schemeClr val="dk1"/>
                </a:solidFill>
              </a:rPr>
              <a:t>Facilita la fidelización de clientes.</a:t>
            </a:r>
            <a:endParaRPr sz="18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dirty="0">
                <a:solidFill>
                  <a:schemeClr val="dk1"/>
                </a:solidFill>
              </a:rPr>
              <a:t>Mejora la comunicación interna y la colaboración.</a:t>
            </a:r>
            <a:endParaRPr sz="1800" dirty="0">
              <a:solidFill>
                <a:schemeClr val="dk1"/>
              </a:solidFill>
            </a:endParaRPr>
          </a:p>
          <a:p>
            <a:pPr marL="0" lvl="0" indent="0" algn="l" rtl="0">
              <a:spcBef>
                <a:spcPts val="1200"/>
              </a:spcBef>
              <a:spcAft>
                <a:spcPts val="0"/>
              </a:spcAft>
              <a:buNone/>
            </a:pPr>
            <a:endParaRPr sz="1800" dirty="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87" name="Google Shape;87;g2d8fa948c4e_0_9"/>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88" name="Google Shape;88;g2d8fa948c4e_0_9"/>
          <p:cNvSpPr txBox="1"/>
          <p:nvPr/>
        </p:nvSpPr>
        <p:spPr>
          <a:xfrm>
            <a:off x="2719375" y="256400"/>
            <a:ext cx="2610600" cy="388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dirty="0">
                <a:solidFill>
                  <a:schemeClr val="dk1"/>
                </a:solidFill>
              </a:rPr>
              <a:t>Tipos de CRM</a:t>
            </a:r>
            <a:endParaRPr sz="1800" dirty="0">
              <a:solidFill>
                <a:schemeClr val="dk1"/>
              </a:solidFill>
            </a:endParaRPr>
          </a:p>
        </p:txBody>
      </p:sp>
      <p:sp>
        <p:nvSpPr>
          <p:cNvPr id="89" name="Google Shape;89;g2d8fa948c4e_0_9"/>
          <p:cNvSpPr txBox="1"/>
          <p:nvPr/>
        </p:nvSpPr>
        <p:spPr>
          <a:xfrm>
            <a:off x="69925" y="877975"/>
            <a:ext cx="9020700" cy="66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a:solidFill>
                  <a:schemeClr val="dk1"/>
                </a:solidFill>
              </a:rPr>
              <a:t>Existen tres tipos principales de </a:t>
            </a:r>
            <a:r>
              <a:rPr lang="es" sz="1800" b="1">
                <a:solidFill>
                  <a:schemeClr val="dk1"/>
                </a:solidFill>
              </a:rPr>
              <a:t>CRM (Customer Relationship Management)</a:t>
            </a:r>
            <a:r>
              <a:rPr lang="es" sz="1800">
                <a:solidFill>
                  <a:schemeClr val="dk1"/>
                </a:solidFill>
              </a:rPr>
              <a:t>, cada uno enfocado en diferentes necesidades empresariales.</a:t>
            </a:r>
            <a:endParaRPr sz="1800">
              <a:solidFill>
                <a:schemeClr val="dk2"/>
              </a:solidFill>
            </a:endParaRPr>
          </a:p>
        </p:txBody>
      </p:sp>
      <p:sp>
        <p:nvSpPr>
          <p:cNvPr id="90" name="Google Shape;90;g2d8fa948c4e_0_9"/>
          <p:cNvSpPr txBox="1"/>
          <p:nvPr/>
        </p:nvSpPr>
        <p:spPr>
          <a:xfrm>
            <a:off x="54375" y="1623850"/>
            <a:ext cx="8911800" cy="3411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 sz="1600" b="1">
                <a:solidFill>
                  <a:schemeClr val="dk1"/>
                </a:solidFill>
              </a:rPr>
              <a:t>CRM Operativo</a:t>
            </a:r>
            <a:endParaRPr sz="1600" b="1">
              <a:solidFill>
                <a:schemeClr val="dk1"/>
              </a:solidFill>
            </a:endParaRPr>
          </a:p>
          <a:p>
            <a:pPr marL="0" lvl="0" indent="0" algn="l" rtl="0">
              <a:lnSpc>
                <a:spcPct val="115000"/>
              </a:lnSpc>
              <a:spcBef>
                <a:spcPts val="1200"/>
              </a:spcBef>
              <a:spcAft>
                <a:spcPts val="0"/>
              </a:spcAft>
              <a:buNone/>
            </a:pPr>
            <a:r>
              <a:rPr lang="es" sz="1600" b="1">
                <a:solidFill>
                  <a:schemeClr val="dk1"/>
                </a:solidFill>
              </a:rPr>
              <a:t>Función:</a:t>
            </a:r>
            <a:r>
              <a:rPr lang="es" sz="1600">
                <a:solidFill>
                  <a:schemeClr val="dk1"/>
                </a:solidFill>
              </a:rPr>
              <a:t> Automatiza y optimiza los procesos de ventas, marketing y servicio al cliente.</a:t>
            </a:r>
            <a:br>
              <a:rPr lang="es" sz="1600">
                <a:solidFill>
                  <a:schemeClr val="dk1"/>
                </a:solidFill>
              </a:rPr>
            </a:br>
            <a:r>
              <a:rPr lang="es" sz="1600" b="1">
                <a:solidFill>
                  <a:schemeClr val="dk1"/>
                </a:solidFill>
              </a:rPr>
              <a:t>Características:</a:t>
            </a:r>
            <a:endParaRPr sz="1600" b="1">
              <a:solidFill>
                <a:schemeClr val="dk1"/>
              </a:solidFill>
            </a:endParaRPr>
          </a:p>
          <a:p>
            <a:pPr marL="457200" lvl="0" indent="-330200" algn="l" rtl="0">
              <a:lnSpc>
                <a:spcPct val="115000"/>
              </a:lnSpc>
              <a:spcBef>
                <a:spcPts val="1200"/>
              </a:spcBef>
              <a:spcAft>
                <a:spcPts val="0"/>
              </a:spcAft>
              <a:buClr>
                <a:schemeClr val="dk1"/>
              </a:buClr>
              <a:buSzPts val="1600"/>
              <a:buChar char="●"/>
            </a:pPr>
            <a:r>
              <a:rPr lang="es" sz="1600">
                <a:solidFill>
                  <a:schemeClr val="dk1"/>
                </a:solidFill>
              </a:rPr>
              <a:t>Gestión de contactos y clientes.</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s" sz="1600">
                <a:solidFill>
                  <a:schemeClr val="dk1"/>
                </a:solidFill>
              </a:rPr>
              <a:t>Automatización del proceso de ventas y marketing.</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s" sz="1600">
                <a:solidFill>
                  <a:schemeClr val="dk1"/>
                </a:solidFill>
              </a:rPr>
              <a:t>Servicio al cliente centralizado.</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s" sz="1600">
                <a:solidFill>
                  <a:schemeClr val="dk1"/>
                </a:solidFill>
              </a:rPr>
              <a:t>Integración con chatbots, emails y call centers.</a:t>
            </a:r>
            <a:br>
              <a:rPr lang="es" sz="1600">
                <a:solidFill>
                  <a:schemeClr val="dk1"/>
                </a:solidFill>
              </a:rPr>
            </a:br>
            <a:r>
              <a:rPr lang="es" sz="1600">
                <a:solidFill>
                  <a:schemeClr val="dk1"/>
                </a:solidFill>
              </a:rPr>
              <a:t>   </a:t>
            </a:r>
            <a:r>
              <a:rPr lang="es" sz="1600" b="1">
                <a:solidFill>
                  <a:schemeClr val="dk1"/>
                </a:solidFill>
              </a:rPr>
              <a:t>Ejemplo:</a:t>
            </a:r>
            <a:r>
              <a:rPr lang="es" sz="1600">
                <a:solidFill>
                  <a:schemeClr val="dk1"/>
                </a:solidFill>
              </a:rPr>
              <a:t> Un sistema que asigna automáticamente un cliente a un vendedor y le envía recordatorios para hacer seguimiento.</a:t>
            </a:r>
            <a:br>
              <a:rPr lang="es" sz="1600">
                <a:solidFill>
                  <a:schemeClr val="dk1"/>
                </a:solidFill>
              </a:rPr>
            </a:br>
            <a:r>
              <a:rPr lang="es" sz="1600">
                <a:solidFill>
                  <a:schemeClr val="dk1"/>
                </a:solidFill>
              </a:rPr>
              <a:t> </a:t>
            </a:r>
            <a:r>
              <a:rPr lang="es" sz="1600" b="1">
                <a:solidFill>
                  <a:schemeClr val="dk1"/>
                </a:solidFill>
              </a:rPr>
              <a:t>Ejemplo de software:</a:t>
            </a:r>
            <a:r>
              <a:rPr lang="es" sz="1600">
                <a:solidFill>
                  <a:schemeClr val="dk1"/>
                </a:solidFill>
              </a:rPr>
              <a:t> </a:t>
            </a:r>
            <a:r>
              <a:rPr lang="es" sz="1600" b="1">
                <a:solidFill>
                  <a:schemeClr val="dk1"/>
                </a:solidFill>
              </a:rPr>
              <a:t>Salesforce, HubSpot CRM, Zoho CRM.</a:t>
            </a:r>
            <a:endParaRPr sz="1600" b="1">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5" name="Google Shape;95;g2d8fa948c4e_0_13"/>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96" name="Google Shape;96;g2d8fa948c4e_0_13"/>
          <p:cNvSpPr txBox="1"/>
          <p:nvPr/>
        </p:nvSpPr>
        <p:spPr>
          <a:xfrm>
            <a:off x="15550" y="769200"/>
            <a:ext cx="9090600" cy="4320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 sz="1800" b="1">
                <a:solidFill>
                  <a:schemeClr val="dk1"/>
                </a:solidFill>
              </a:rPr>
              <a:t>CRM Analítico</a:t>
            </a:r>
            <a:endParaRPr sz="18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 sz="1800" b="1">
                <a:solidFill>
                  <a:schemeClr val="dk1"/>
                </a:solidFill>
              </a:rPr>
              <a:t>Función:</a:t>
            </a:r>
            <a:r>
              <a:rPr lang="es" sz="1800">
                <a:solidFill>
                  <a:schemeClr val="dk1"/>
                </a:solidFill>
              </a:rPr>
              <a:t> Se centra en el análisis de datos para mejorar la toma de decisiones y la personalización de estrategias.</a:t>
            </a:r>
            <a:br>
              <a:rPr lang="es" sz="1800">
                <a:solidFill>
                  <a:schemeClr val="dk1"/>
                </a:solidFill>
              </a:rPr>
            </a:br>
            <a:r>
              <a:rPr lang="es" sz="1800" b="1">
                <a:solidFill>
                  <a:schemeClr val="dk1"/>
                </a:solidFill>
              </a:rPr>
              <a:t>Características:</a:t>
            </a:r>
            <a:endParaRPr sz="1800" b="1">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a:solidFill>
                  <a:schemeClr val="dk1"/>
                </a:solidFill>
              </a:rPr>
              <a:t>Recopila datos de clientes desde múltiples fuentes.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Segmentación de clientes según su comportamiento.</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Predicción de tendencias de compra.</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Creación de reportes y dashboards.</a:t>
            </a:r>
            <a:br>
              <a:rPr lang="es" sz="1800">
                <a:solidFill>
                  <a:schemeClr val="dk1"/>
                </a:solidFill>
              </a:rPr>
            </a:br>
            <a:r>
              <a:rPr lang="es" sz="1800">
                <a:solidFill>
                  <a:schemeClr val="dk1"/>
                </a:solidFill>
              </a:rPr>
              <a:t>   </a:t>
            </a:r>
            <a:r>
              <a:rPr lang="es" sz="1800" b="1">
                <a:solidFill>
                  <a:schemeClr val="dk1"/>
                </a:solidFill>
              </a:rPr>
              <a:t>Ejemplo:</a:t>
            </a:r>
            <a:r>
              <a:rPr lang="es" sz="1800">
                <a:solidFill>
                  <a:schemeClr val="dk1"/>
                </a:solidFill>
              </a:rPr>
              <a:t> Un sistema que analiza el historial de compras de los clientes y recomienda productos específicos para campañas de marketing.</a:t>
            </a:r>
            <a:br>
              <a:rPr lang="es" sz="1800">
                <a:solidFill>
                  <a:schemeClr val="dk1"/>
                </a:solidFill>
              </a:rPr>
            </a:br>
            <a:r>
              <a:rPr lang="es" sz="1800">
                <a:solidFill>
                  <a:schemeClr val="dk1"/>
                </a:solidFill>
              </a:rPr>
              <a:t>   </a:t>
            </a:r>
            <a:r>
              <a:rPr lang="es" sz="1800" b="1">
                <a:solidFill>
                  <a:schemeClr val="dk1"/>
                </a:solidFill>
              </a:rPr>
              <a:t>Ejemplo de software:</a:t>
            </a:r>
            <a:r>
              <a:rPr lang="es" sz="1800">
                <a:solidFill>
                  <a:schemeClr val="dk1"/>
                </a:solidFill>
              </a:rPr>
              <a:t> </a:t>
            </a:r>
            <a:r>
              <a:rPr lang="es" sz="1800" b="1">
                <a:solidFill>
                  <a:schemeClr val="dk1"/>
                </a:solidFill>
              </a:rPr>
              <a:t>Microsoft Dynamics 365, SAP CRM, Google Analytics (integrado con CRM).</a:t>
            </a:r>
            <a:endParaRPr sz="1800" b="1">
              <a:solidFill>
                <a:schemeClr val="dk1"/>
              </a:solidFill>
            </a:endParaRPr>
          </a:p>
          <a:p>
            <a:pPr marL="0" lvl="0" indent="0" algn="l" rtl="0">
              <a:spcBef>
                <a:spcPts val="1200"/>
              </a:spcBef>
              <a:spcAft>
                <a:spcPts val="0"/>
              </a:spcAft>
              <a:buNone/>
            </a:pP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101" name="Google Shape;101;g2d8fa948c4e_0_21"/>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02" name="Google Shape;102;g2d8fa948c4e_0_21"/>
          <p:cNvSpPr txBox="1"/>
          <p:nvPr/>
        </p:nvSpPr>
        <p:spPr>
          <a:xfrm>
            <a:off x="31075" y="854650"/>
            <a:ext cx="9112800" cy="4234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 sz="1800" b="1">
                <a:solidFill>
                  <a:schemeClr val="dk1"/>
                </a:solidFill>
              </a:rPr>
              <a:t> CRM Colaborativo</a:t>
            </a:r>
            <a:endParaRPr sz="18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 sz="1800" b="1">
                <a:solidFill>
                  <a:schemeClr val="dk1"/>
                </a:solidFill>
              </a:rPr>
              <a:t>Función:</a:t>
            </a:r>
            <a:r>
              <a:rPr lang="es" sz="1800">
                <a:solidFill>
                  <a:schemeClr val="dk1"/>
                </a:solidFill>
              </a:rPr>
              <a:t> Facilita la comunicación entre diferentes departamentos (ventas, marketing y servicio al cliente) para mejorar la experiencia del cliente.</a:t>
            </a:r>
            <a:br>
              <a:rPr lang="es" sz="1800">
                <a:solidFill>
                  <a:schemeClr val="dk1"/>
                </a:solidFill>
              </a:rPr>
            </a:br>
            <a:r>
              <a:rPr lang="es" sz="1800" b="1">
                <a:solidFill>
                  <a:schemeClr val="dk1"/>
                </a:solidFill>
              </a:rPr>
              <a:t>Características:</a:t>
            </a:r>
            <a:endParaRPr sz="1800" b="1">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a:solidFill>
                  <a:schemeClr val="dk1"/>
                </a:solidFill>
              </a:rPr>
              <a:t>Compartición de datos en tiempo real entre equipos.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Historial de interacciones accesible para todos.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Coordinación entre canales de comunicación (email, redes sociales, chat en vivo).</a:t>
            </a:r>
            <a:br>
              <a:rPr lang="es" sz="1800">
                <a:solidFill>
                  <a:schemeClr val="dk1"/>
                </a:solidFill>
              </a:rPr>
            </a:br>
            <a:r>
              <a:rPr lang="es" sz="1800">
                <a:solidFill>
                  <a:schemeClr val="dk1"/>
                </a:solidFill>
              </a:rPr>
              <a:t>    </a:t>
            </a:r>
            <a:r>
              <a:rPr lang="es" sz="1800" b="1">
                <a:solidFill>
                  <a:schemeClr val="dk1"/>
                </a:solidFill>
              </a:rPr>
              <a:t>Ejemplo:</a:t>
            </a:r>
            <a:r>
              <a:rPr lang="es" sz="1800">
                <a:solidFill>
                  <a:schemeClr val="dk1"/>
                </a:solidFill>
              </a:rPr>
              <a:t> Un sistema donde el equipo de soporte accede al historial de compras y reclamaciones de un cliente para brindar una mejor solución.</a:t>
            </a:r>
            <a:br>
              <a:rPr lang="es" sz="1800">
                <a:solidFill>
                  <a:schemeClr val="dk1"/>
                </a:solidFill>
              </a:rPr>
            </a:br>
            <a:r>
              <a:rPr lang="es" sz="1800">
                <a:solidFill>
                  <a:schemeClr val="dk1"/>
                </a:solidFill>
              </a:rPr>
              <a:t>    </a:t>
            </a:r>
            <a:r>
              <a:rPr lang="es" sz="1800" b="1">
                <a:solidFill>
                  <a:schemeClr val="dk1"/>
                </a:solidFill>
              </a:rPr>
              <a:t>Ejemplo de software:</a:t>
            </a:r>
            <a:r>
              <a:rPr lang="es" sz="1800">
                <a:solidFill>
                  <a:schemeClr val="dk1"/>
                </a:solidFill>
              </a:rPr>
              <a:t> </a:t>
            </a:r>
            <a:r>
              <a:rPr lang="es" sz="1800" b="1">
                <a:solidFill>
                  <a:schemeClr val="dk1"/>
                </a:solidFill>
              </a:rPr>
              <a:t>Zendesk, Freshsales, Pipedrive.</a:t>
            </a:r>
            <a:endParaRPr sz="1800" b="1">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7" name="Google Shape;107;g2d8fa948c4e_0_25"/>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08" name="Google Shape;108;g2d8fa948c4e_0_25"/>
          <p:cNvSpPr txBox="1"/>
          <p:nvPr/>
        </p:nvSpPr>
        <p:spPr>
          <a:xfrm>
            <a:off x="23300" y="839125"/>
            <a:ext cx="9082800" cy="4265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 sz="1800" b="1">
                <a:solidFill>
                  <a:schemeClr val="dk1"/>
                </a:solidFill>
              </a:rPr>
              <a:t>¿Cuál es el mejor para tu empresa?</a:t>
            </a:r>
            <a:endParaRPr sz="1800" b="1">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b="1">
                <a:solidFill>
                  <a:schemeClr val="dk1"/>
                </a:solidFill>
              </a:rPr>
              <a:t>Pequeñas empresas</a:t>
            </a:r>
            <a:r>
              <a:rPr lang="es" sz="1800">
                <a:solidFill>
                  <a:schemeClr val="dk1"/>
                </a:solidFill>
              </a:rPr>
              <a:t> → </a:t>
            </a:r>
            <a:r>
              <a:rPr lang="es" sz="1800" b="1">
                <a:solidFill>
                  <a:schemeClr val="dk1"/>
                </a:solidFill>
              </a:rPr>
              <a:t>CRM Operativo</a:t>
            </a:r>
            <a:r>
              <a:rPr lang="es" sz="1800">
                <a:solidFill>
                  <a:schemeClr val="dk1"/>
                </a:solidFill>
              </a:rPr>
              <a:t> para gestionar clientes y automatizar tareas.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Empresas en crecimiento</a:t>
            </a:r>
            <a:r>
              <a:rPr lang="es" sz="1800">
                <a:solidFill>
                  <a:schemeClr val="dk1"/>
                </a:solidFill>
              </a:rPr>
              <a:t> → </a:t>
            </a:r>
            <a:r>
              <a:rPr lang="es" sz="1800" b="1">
                <a:solidFill>
                  <a:schemeClr val="dk1"/>
                </a:solidFill>
              </a:rPr>
              <a:t>CRM Analítico</a:t>
            </a:r>
            <a:r>
              <a:rPr lang="es" sz="1800">
                <a:solidFill>
                  <a:schemeClr val="dk1"/>
                </a:solidFill>
              </a:rPr>
              <a:t> para mejorar la estrategia con datos.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Empresas con múltiples departamentos</a:t>
            </a:r>
            <a:r>
              <a:rPr lang="es" sz="1800">
                <a:solidFill>
                  <a:schemeClr val="dk1"/>
                </a:solidFill>
              </a:rPr>
              <a:t> → </a:t>
            </a:r>
            <a:r>
              <a:rPr lang="es" sz="1800" b="1">
                <a:solidFill>
                  <a:schemeClr val="dk1"/>
                </a:solidFill>
              </a:rPr>
              <a:t>CRM Colaborativo</a:t>
            </a:r>
            <a:r>
              <a:rPr lang="es" sz="1800">
                <a:solidFill>
                  <a:schemeClr val="dk1"/>
                </a:solidFill>
              </a:rPr>
              <a:t> para unificar esfuerzos.</a:t>
            </a:r>
            <a:endParaRPr sz="1800">
              <a:solidFill>
                <a:schemeClr val="dk1"/>
              </a:solidFill>
            </a:endParaRPr>
          </a:p>
        </p:txBody>
      </p:sp>
      <p:sp>
        <p:nvSpPr>
          <p:cNvPr id="109" name="Google Shape;109;g2d8fa948c4e_0_25"/>
          <p:cNvSpPr txBox="1"/>
          <p:nvPr/>
        </p:nvSpPr>
        <p:spPr>
          <a:xfrm>
            <a:off x="233075" y="3286550"/>
            <a:ext cx="5578500" cy="48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u="sng">
                <a:solidFill>
                  <a:schemeClr val="hlink"/>
                </a:solidFill>
                <a:hlinkClick r:id="rId4"/>
              </a:rPr>
              <a:t>https://www.youtube.com/watch?v=OeFeok-vBbk</a:t>
            </a:r>
            <a:endParaRPr sz="1800">
              <a:solidFill>
                <a:schemeClr val="dk2"/>
              </a:solidFill>
            </a:endParaRPr>
          </a:p>
          <a:p>
            <a:pPr marL="0" lvl="0" indent="0" algn="l" rtl="0">
              <a:spcBef>
                <a:spcPts val="0"/>
              </a:spcBef>
              <a:spcAft>
                <a:spcPts val="0"/>
              </a:spcAft>
              <a:buNone/>
            </a:pPr>
            <a:endParaRPr sz="1800">
              <a:solidFill>
                <a:schemeClr val="dk2"/>
              </a:solidFill>
            </a:endParaRPr>
          </a:p>
        </p:txBody>
      </p:sp>
      <p:sp>
        <p:nvSpPr>
          <p:cNvPr id="110" name="Google Shape;110;g2d8fa948c4e_0_25"/>
          <p:cNvSpPr txBox="1"/>
          <p:nvPr/>
        </p:nvSpPr>
        <p:spPr>
          <a:xfrm>
            <a:off x="155375" y="4607400"/>
            <a:ext cx="52602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u="sng">
                <a:solidFill>
                  <a:schemeClr val="hlink"/>
                </a:solidFill>
                <a:hlinkClick r:id="rId5"/>
              </a:rPr>
              <a:t>https://www.youtube.com/watch?v=Ztr24-JBL2s</a:t>
            </a:r>
            <a:endParaRPr sz="18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pic>
        <p:nvPicPr>
          <p:cNvPr id="115" name="Google Shape;115;g2d8fa948c4e_0_29"/>
          <p:cNvPicPr preferRelativeResize="0"/>
          <p:nvPr/>
        </p:nvPicPr>
        <p:blipFill rotWithShape="1">
          <a:blip r:embed="rId3">
            <a:alphaModFix amt="62000"/>
          </a:blip>
          <a:srcRect/>
          <a:stretch/>
        </p:blipFill>
        <p:spPr>
          <a:xfrm>
            <a:off x="8451" y="0"/>
            <a:ext cx="9127099" cy="5143501"/>
          </a:xfrm>
          <a:prstGeom prst="rect">
            <a:avLst/>
          </a:prstGeom>
          <a:noFill/>
          <a:ln>
            <a:noFill/>
          </a:ln>
        </p:spPr>
      </p:pic>
      <p:pic>
        <p:nvPicPr>
          <p:cNvPr id="116" name="Google Shape;116;g2d8fa948c4e_0_29"/>
          <p:cNvPicPr preferRelativeResize="0"/>
          <p:nvPr/>
        </p:nvPicPr>
        <p:blipFill>
          <a:blip r:embed="rId4">
            <a:alphaModFix/>
          </a:blip>
          <a:stretch>
            <a:fillRect/>
          </a:stretch>
        </p:blipFill>
        <p:spPr>
          <a:xfrm>
            <a:off x="170925" y="745875"/>
            <a:ext cx="8686450" cy="43976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1" name="Google Shape;121;g2d8fa948c4e_0_17"/>
          <p:cNvPicPr preferRelativeResize="0"/>
          <p:nvPr/>
        </p:nvPicPr>
        <p:blipFill rotWithShape="1">
          <a:blip r:embed="rId3">
            <a:alphaModFix amt="62000"/>
          </a:blip>
          <a:srcRect/>
          <a:stretch/>
        </p:blipFill>
        <p:spPr>
          <a:xfrm>
            <a:off x="8451" y="0"/>
            <a:ext cx="9127099" cy="5143501"/>
          </a:xfrm>
          <a:prstGeom prst="rect">
            <a:avLst/>
          </a:prstGeom>
          <a:noFill/>
          <a:ln>
            <a:noFill/>
          </a:ln>
        </p:spPr>
      </p:pic>
      <p:pic>
        <p:nvPicPr>
          <p:cNvPr id="122" name="Google Shape;122;g2d8fa948c4e_0_17"/>
          <p:cNvPicPr preferRelativeResize="0"/>
          <p:nvPr/>
        </p:nvPicPr>
        <p:blipFill>
          <a:blip r:embed="rId4">
            <a:alphaModFix/>
          </a:blip>
          <a:stretch>
            <a:fillRect/>
          </a:stretch>
        </p:blipFill>
        <p:spPr>
          <a:xfrm>
            <a:off x="8450" y="732025"/>
            <a:ext cx="9036100" cy="1162050"/>
          </a:xfrm>
          <a:prstGeom prst="rect">
            <a:avLst/>
          </a:prstGeom>
          <a:noFill/>
          <a:ln>
            <a:noFill/>
          </a:ln>
        </p:spPr>
      </p:pic>
      <p:pic>
        <p:nvPicPr>
          <p:cNvPr id="123" name="Google Shape;123;g2d8fa948c4e_0_17"/>
          <p:cNvPicPr preferRelativeResize="0"/>
          <p:nvPr/>
        </p:nvPicPr>
        <p:blipFill>
          <a:blip r:embed="rId5">
            <a:alphaModFix/>
          </a:blip>
          <a:stretch>
            <a:fillRect/>
          </a:stretch>
        </p:blipFill>
        <p:spPr>
          <a:xfrm>
            <a:off x="8450" y="1894075"/>
            <a:ext cx="9036101" cy="32010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g2d8fa948c4e_0_33"/>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29" name="Google Shape;129;g2d8fa948c4e_0_33"/>
          <p:cNvSpPr txBox="1"/>
          <p:nvPr/>
        </p:nvSpPr>
        <p:spPr>
          <a:xfrm>
            <a:off x="2532900" y="264175"/>
            <a:ext cx="3208800" cy="41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dirty="0">
                <a:solidFill>
                  <a:schemeClr val="dk1"/>
                </a:solidFill>
              </a:rPr>
              <a:t>Tendencias en los CRM</a:t>
            </a:r>
            <a:endParaRPr sz="1800" dirty="0">
              <a:solidFill>
                <a:schemeClr val="dk1"/>
              </a:solidFill>
            </a:endParaRPr>
          </a:p>
        </p:txBody>
      </p:sp>
      <p:sp>
        <p:nvSpPr>
          <p:cNvPr id="130" name="Google Shape;130;g2d8fa948c4e_0_33"/>
          <p:cNvSpPr txBox="1"/>
          <p:nvPr/>
        </p:nvSpPr>
        <p:spPr>
          <a:xfrm>
            <a:off x="23300" y="839125"/>
            <a:ext cx="9051600" cy="4242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 sz="1500" b="1">
                <a:solidFill>
                  <a:schemeClr val="dk1"/>
                </a:solidFill>
              </a:rPr>
              <a:t>Inteligencia Artificial (IA) y Machine Learning 🤖</a:t>
            </a:r>
            <a:endParaRPr sz="1500" b="1">
              <a:solidFill>
                <a:schemeClr val="dk1"/>
              </a:solidFill>
            </a:endParaRPr>
          </a:p>
          <a:p>
            <a:pPr marL="457200" lvl="0" indent="-323850" algn="l" rtl="0">
              <a:lnSpc>
                <a:spcPct val="115000"/>
              </a:lnSpc>
              <a:spcBef>
                <a:spcPts val="1200"/>
              </a:spcBef>
              <a:spcAft>
                <a:spcPts val="0"/>
              </a:spcAft>
              <a:buClr>
                <a:schemeClr val="dk1"/>
              </a:buClr>
              <a:buSzPts val="1500"/>
              <a:buChar char="●"/>
            </a:pPr>
            <a:r>
              <a:rPr lang="es" sz="1500">
                <a:solidFill>
                  <a:schemeClr val="dk1"/>
                </a:solidFill>
              </a:rPr>
              <a:t>Predicción de comportamientos y necesidades de los clientes.</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s" sz="1500">
                <a:solidFill>
                  <a:schemeClr val="dk1"/>
                </a:solidFill>
              </a:rPr>
              <a:t>Automatización de tareas repetitivas.</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s" sz="1500">
                <a:solidFill>
                  <a:schemeClr val="dk1"/>
                </a:solidFill>
              </a:rPr>
              <a:t>Chatbots inteligentes para atención al cliente 24/7.</a:t>
            </a:r>
            <a:endParaRPr sz="150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 sz="1500" b="1">
                <a:solidFill>
                  <a:schemeClr val="dk1"/>
                </a:solidFill>
              </a:rPr>
              <a:t>CRM basado en la Nube ☁️</a:t>
            </a:r>
            <a:endParaRPr sz="1500" b="1">
              <a:solidFill>
                <a:schemeClr val="dk1"/>
              </a:solidFill>
            </a:endParaRPr>
          </a:p>
          <a:p>
            <a:pPr marL="457200" lvl="0" indent="-323850" algn="l" rtl="0">
              <a:lnSpc>
                <a:spcPct val="115000"/>
              </a:lnSpc>
              <a:spcBef>
                <a:spcPts val="1200"/>
              </a:spcBef>
              <a:spcAft>
                <a:spcPts val="0"/>
              </a:spcAft>
              <a:buClr>
                <a:schemeClr val="dk1"/>
              </a:buClr>
              <a:buSzPts val="1500"/>
              <a:buChar char="●"/>
            </a:pPr>
            <a:r>
              <a:rPr lang="es" sz="1500">
                <a:solidFill>
                  <a:schemeClr val="dk1"/>
                </a:solidFill>
              </a:rPr>
              <a:t>Mayor accesibilidad desde cualquier dispositivo.</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s" sz="1500">
                <a:solidFill>
                  <a:schemeClr val="dk1"/>
                </a:solidFill>
              </a:rPr>
              <a:t>Reducción de costos en infraestructura.</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s" sz="1500">
                <a:solidFill>
                  <a:schemeClr val="dk1"/>
                </a:solidFill>
              </a:rPr>
              <a:t>Integración con otras herramientas empresariales.</a:t>
            </a:r>
            <a:endParaRPr sz="150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 sz="1500" b="1">
                <a:solidFill>
                  <a:schemeClr val="dk1"/>
                </a:solidFill>
              </a:rPr>
              <a:t>Experiencia Omnicanal 📱💻📧</a:t>
            </a:r>
            <a:endParaRPr sz="1500" b="1">
              <a:solidFill>
                <a:schemeClr val="dk1"/>
              </a:solidFill>
            </a:endParaRPr>
          </a:p>
          <a:p>
            <a:pPr marL="457200" lvl="0" indent="-323850" algn="l" rtl="0">
              <a:lnSpc>
                <a:spcPct val="115000"/>
              </a:lnSpc>
              <a:spcBef>
                <a:spcPts val="1200"/>
              </a:spcBef>
              <a:spcAft>
                <a:spcPts val="0"/>
              </a:spcAft>
              <a:buClr>
                <a:schemeClr val="dk1"/>
              </a:buClr>
              <a:buSzPts val="1500"/>
              <a:buChar char="●"/>
            </a:pPr>
            <a:r>
              <a:rPr lang="es" sz="1500">
                <a:solidFill>
                  <a:schemeClr val="dk1"/>
                </a:solidFill>
              </a:rPr>
              <a:t>Unificación de interacciones en múltiples canales (redes sociales, email, chat en vivo, WhatsApp, etc.).</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s" sz="1500">
                <a:solidFill>
                  <a:schemeClr val="dk1"/>
                </a:solidFill>
              </a:rPr>
              <a:t>Seguimiento en tiempo real del cliente sin importar el canal que use.</a:t>
            </a:r>
            <a:endParaRPr sz="1500">
              <a:solidFill>
                <a:schemeClr val="dk1"/>
              </a:solidFill>
            </a:endParaRPr>
          </a:p>
          <a:p>
            <a:pPr marL="0" lvl="0" indent="0" algn="l" rtl="0">
              <a:spcBef>
                <a:spcPts val="1200"/>
              </a:spcBef>
              <a:spcAft>
                <a:spcPts val="0"/>
              </a:spcAft>
              <a:buNone/>
            </a:pPr>
            <a:endParaRPr sz="15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5" name="Google Shape;135;g2d8fa948c4e_0_41"/>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36" name="Google Shape;136;g2d8fa948c4e_0_41"/>
          <p:cNvSpPr txBox="1"/>
          <p:nvPr/>
        </p:nvSpPr>
        <p:spPr>
          <a:xfrm>
            <a:off x="15550" y="730350"/>
            <a:ext cx="9043800" cy="4366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120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sp>
        <p:nvSpPr>
          <p:cNvPr id="137" name="Google Shape;137;g2d8fa948c4e_0_41"/>
          <p:cNvSpPr txBox="1"/>
          <p:nvPr/>
        </p:nvSpPr>
        <p:spPr>
          <a:xfrm>
            <a:off x="38850" y="815800"/>
            <a:ext cx="9105300" cy="4327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 sz="1500" b="1">
                <a:solidFill>
                  <a:schemeClr val="dk1"/>
                </a:solidFill>
              </a:rPr>
              <a:t>Personalización en Tiempo Real 🎯</a:t>
            </a:r>
            <a:endParaRPr sz="1500" b="1">
              <a:solidFill>
                <a:schemeClr val="dk1"/>
              </a:solidFill>
            </a:endParaRPr>
          </a:p>
          <a:p>
            <a:pPr marL="457200" lvl="0" indent="-323850" algn="l" rtl="0">
              <a:lnSpc>
                <a:spcPct val="115000"/>
              </a:lnSpc>
              <a:spcBef>
                <a:spcPts val="1200"/>
              </a:spcBef>
              <a:spcAft>
                <a:spcPts val="0"/>
              </a:spcAft>
              <a:buClr>
                <a:schemeClr val="dk1"/>
              </a:buClr>
              <a:buSzPts val="1500"/>
              <a:buChar char="●"/>
            </a:pPr>
            <a:r>
              <a:rPr lang="es" sz="1500">
                <a:solidFill>
                  <a:schemeClr val="dk1"/>
                </a:solidFill>
              </a:rPr>
              <a:t>CRM adaptado a las preferencias y comportamiento de cada usuario.</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s" sz="1500">
                <a:solidFill>
                  <a:schemeClr val="dk1"/>
                </a:solidFill>
              </a:rPr>
              <a:t>Ofertas y recomendaciones automatizadas basadas en datos.</a:t>
            </a:r>
            <a:endParaRPr sz="150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 sz="1500" b="1">
                <a:solidFill>
                  <a:schemeClr val="dk1"/>
                </a:solidFill>
              </a:rPr>
              <a:t>Integración con ERP y Otras Plataformas 🔗</a:t>
            </a:r>
            <a:endParaRPr sz="1500" b="1">
              <a:solidFill>
                <a:schemeClr val="dk1"/>
              </a:solidFill>
            </a:endParaRPr>
          </a:p>
          <a:p>
            <a:pPr marL="457200" lvl="0" indent="-323850" algn="l" rtl="0">
              <a:lnSpc>
                <a:spcPct val="115000"/>
              </a:lnSpc>
              <a:spcBef>
                <a:spcPts val="1200"/>
              </a:spcBef>
              <a:spcAft>
                <a:spcPts val="0"/>
              </a:spcAft>
              <a:buClr>
                <a:schemeClr val="dk1"/>
              </a:buClr>
              <a:buSzPts val="1500"/>
              <a:buChar char="●"/>
            </a:pPr>
            <a:r>
              <a:rPr lang="es" sz="1500">
                <a:solidFill>
                  <a:schemeClr val="dk1"/>
                </a:solidFill>
              </a:rPr>
              <a:t>Mayor conectividad con sistemas de gestión empresarial (ERP, e-commerce, marketing automation).</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s" sz="1500">
                <a:solidFill>
                  <a:schemeClr val="dk1"/>
                </a:solidFill>
              </a:rPr>
              <a:t>Flujo de información unificado en toda la empresa.</a:t>
            </a:r>
            <a:endParaRPr sz="150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 sz="1500" b="1">
                <a:solidFill>
                  <a:schemeClr val="dk1"/>
                </a:solidFill>
              </a:rPr>
              <a:t>Mayor Enfoque en Seguridad y Privacidad 🔐</a:t>
            </a:r>
            <a:endParaRPr sz="1500" b="1">
              <a:solidFill>
                <a:schemeClr val="dk1"/>
              </a:solidFill>
            </a:endParaRPr>
          </a:p>
          <a:p>
            <a:pPr marL="457200" lvl="0" indent="-323850" algn="l" rtl="0">
              <a:lnSpc>
                <a:spcPct val="115000"/>
              </a:lnSpc>
              <a:spcBef>
                <a:spcPts val="1200"/>
              </a:spcBef>
              <a:spcAft>
                <a:spcPts val="0"/>
              </a:spcAft>
              <a:buClr>
                <a:schemeClr val="dk1"/>
              </a:buClr>
              <a:buSzPts val="1500"/>
              <a:buChar char="●"/>
            </a:pPr>
            <a:r>
              <a:rPr lang="es" sz="1500">
                <a:solidFill>
                  <a:schemeClr val="dk1"/>
                </a:solidFill>
              </a:rPr>
              <a:t>Protección avanzada de datos con cifrado y autenticación de dos factores.</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s" sz="1500">
                <a:solidFill>
                  <a:schemeClr val="dk1"/>
                </a:solidFill>
              </a:rPr>
              <a:t>Cumplimiento de normativas como GDPR y CCPA.</a:t>
            </a:r>
            <a:endParaRPr sz="1500">
              <a:solidFill>
                <a:schemeClr val="dk1"/>
              </a:solidFill>
            </a:endParaRPr>
          </a:p>
          <a:p>
            <a:pPr marL="0" lvl="0" indent="0" algn="l" rtl="0">
              <a:spcBef>
                <a:spcPts val="1200"/>
              </a:spcBef>
              <a:spcAft>
                <a:spcPts val="0"/>
              </a:spcAft>
              <a:buNone/>
            </a:pPr>
            <a:endParaRPr sz="15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g2d8fa948c4e_0_37"/>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43" name="Google Shape;143;g2d8fa948c4e_0_37"/>
          <p:cNvSpPr txBox="1"/>
          <p:nvPr/>
        </p:nvSpPr>
        <p:spPr>
          <a:xfrm>
            <a:off x="8450" y="893500"/>
            <a:ext cx="9058500" cy="4125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4" name="Google Shape;144;g2d8fa948c4e_0_37"/>
          <p:cNvSpPr txBox="1"/>
          <p:nvPr/>
        </p:nvSpPr>
        <p:spPr>
          <a:xfrm>
            <a:off x="15550" y="823575"/>
            <a:ext cx="9067200" cy="425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 sz="1500" b="1">
                <a:solidFill>
                  <a:schemeClr val="dk1"/>
                </a:solidFill>
              </a:rPr>
              <a:t>CRM con Funcionalidad de Voz 🎙️</a:t>
            </a:r>
            <a:endParaRPr sz="1500" b="1">
              <a:solidFill>
                <a:schemeClr val="dk1"/>
              </a:solidFill>
            </a:endParaRPr>
          </a:p>
          <a:p>
            <a:pPr marL="457200" lvl="0" indent="-323850" algn="l" rtl="0">
              <a:lnSpc>
                <a:spcPct val="115000"/>
              </a:lnSpc>
              <a:spcBef>
                <a:spcPts val="1200"/>
              </a:spcBef>
              <a:spcAft>
                <a:spcPts val="0"/>
              </a:spcAft>
              <a:buClr>
                <a:schemeClr val="dk1"/>
              </a:buClr>
              <a:buSzPts val="1500"/>
              <a:buChar char="●"/>
            </a:pPr>
            <a:r>
              <a:rPr lang="es" sz="1500">
                <a:solidFill>
                  <a:schemeClr val="dk1"/>
                </a:solidFill>
              </a:rPr>
              <a:t>Uso de asistentes virtuales para búsqueda de datos y gestión de tareas.</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s" sz="1500">
                <a:solidFill>
                  <a:schemeClr val="dk1"/>
                </a:solidFill>
              </a:rPr>
              <a:t>Integración con dispositivos como Alexa, Google Assistant o Siri.</a:t>
            </a:r>
            <a:endParaRPr sz="150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 sz="1500" b="1">
                <a:solidFill>
                  <a:schemeClr val="dk1"/>
                </a:solidFill>
              </a:rPr>
              <a:t>Análisis de Datos y Big Data 📊</a:t>
            </a:r>
            <a:endParaRPr sz="1500" b="1">
              <a:solidFill>
                <a:schemeClr val="dk1"/>
              </a:solidFill>
            </a:endParaRPr>
          </a:p>
          <a:p>
            <a:pPr marL="457200" lvl="0" indent="-323850" algn="l" rtl="0">
              <a:lnSpc>
                <a:spcPct val="115000"/>
              </a:lnSpc>
              <a:spcBef>
                <a:spcPts val="1200"/>
              </a:spcBef>
              <a:spcAft>
                <a:spcPts val="0"/>
              </a:spcAft>
              <a:buClr>
                <a:schemeClr val="dk1"/>
              </a:buClr>
              <a:buSzPts val="1500"/>
              <a:buChar char="●"/>
            </a:pPr>
            <a:r>
              <a:rPr lang="es" sz="1500">
                <a:solidFill>
                  <a:schemeClr val="dk1"/>
                </a:solidFill>
              </a:rPr>
              <a:t>Uso de herramientas avanzadas de Business Intelligence (BI).</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s" sz="1500">
                <a:solidFill>
                  <a:schemeClr val="dk1"/>
                </a:solidFill>
              </a:rPr>
              <a:t>Creación de informes predictivos para mejorar estrategias comerciales.</a:t>
            </a:r>
            <a:endParaRPr sz="150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 sz="1500" b="1">
                <a:solidFill>
                  <a:schemeClr val="dk1"/>
                </a:solidFill>
              </a:rPr>
              <a:t>CRM Low-Code/No-Code 🛠️</a:t>
            </a:r>
            <a:endParaRPr sz="1500" b="1">
              <a:solidFill>
                <a:schemeClr val="dk1"/>
              </a:solidFill>
            </a:endParaRPr>
          </a:p>
          <a:p>
            <a:pPr marL="457200" lvl="0" indent="-323850" algn="l" rtl="0">
              <a:lnSpc>
                <a:spcPct val="115000"/>
              </a:lnSpc>
              <a:spcBef>
                <a:spcPts val="1200"/>
              </a:spcBef>
              <a:spcAft>
                <a:spcPts val="0"/>
              </a:spcAft>
              <a:buClr>
                <a:schemeClr val="dk1"/>
              </a:buClr>
              <a:buSzPts val="1500"/>
              <a:buChar char="●"/>
            </a:pPr>
            <a:r>
              <a:rPr lang="es" sz="1500">
                <a:solidFill>
                  <a:schemeClr val="dk1"/>
                </a:solidFill>
              </a:rPr>
              <a:t>Sistemas personalizables sin necesidad de conocimientos de programación.</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s" sz="1500">
                <a:solidFill>
                  <a:schemeClr val="dk1"/>
                </a:solidFill>
              </a:rPr>
              <a:t>Empresas pueden adaptar el CRM a sus necesidades sin contratar desarrolladores.</a:t>
            </a:r>
            <a:endParaRPr sz="1500">
              <a:solidFill>
                <a:schemeClr val="dk1"/>
              </a:solidFill>
            </a:endParaRPr>
          </a:p>
          <a:p>
            <a:pPr marL="0" lvl="0" indent="0" algn="l" rtl="0">
              <a:spcBef>
                <a:spcPts val="1200"/>
              </a:spcBef>
              <a:spcAft>
                <a:spcPts val="0"/>
              </a:spcAft>
              <a:buNone/>
            </a:pPr>
            <a:endParaRPr sz="15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g339a09cea51_0_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50" name="Google Shape;150;g339a09cea51_0_0"/>
          <p:cNvSpPr txBox="1"/>
          <p:nvPr/>
        </p:nvSpPr>
        <p:spPr>
          <a:xfrm>
            <a:off x="8450" y="893500"/>
            <a:ext cx="9058500" cy="41256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rgbClr val="000000"/>
              </a:buClr>
              <a:buSzPts val="1800"/>
              <a:buFont typeface="Arial"/>
              <a:buNone/>
            </a:pPr>
            <a:r>
              <a:rPr lang="es" sz="1800">
                <a:solidFill>
                  <a:schemeClr val="dk1"/>
                </a:solidFill>
              </a:rPr>
              <a:t>La </a:t>
            </a:r>
            <a:r>
              <a:rPr lang="es" sz="1800" b="1">
                <a:solidFill>
                  <a:schemeClr val="dk1"/>
                </a:solidFill>
              </a:rPr>
              <a:t>automatización inteligente</a:t>
            </a:r>
            <a:r>
              <a:rPr lang="es" sz="1800">
                <a:solidFill>
                  <a:schemeClr val="dk1"/>
                </a:solidFill>
              </a:rPr>
              <a:t> combina tecnologías como </a:t>
            </a:r>
            <a:r>
              <a:rPr lang="es" sz="1800" b="1">
                <a:solidFill>
                  <a:schemeClr val="dk1"/>
                </a:solidFill>
              </a:rPr>
              <a:t>Inteligencia Artificial (IA), Machine Learning (ML) y Robotic Process Automation (RPA)</a:t>
            </a:r>
            <a:r>
              <a:rPr lang="es" sz="1800">
                <a:solidFill>
                  <a:schemeClr val="dk1"/>
                </a:solidFill>
              </a:rPr>
              <a:t> para optimizar tareas repetitivas y mejorar la eficiencia operativa. Esto permite a las empresas ahorrar tiempo, reducir errores y centrarse en actividades estratégicas.</a:t>
            </a:r>
            <a:endParaRPr sz="1800">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s" sz="1800" b="1">
                <a:solidFill>
                  <a:schemeClr val="dk1"/>
                </a:solidFill>
              </a:rPr>
              <a:t>Beneficios de la Automatización Inteligente</a:t>
            </a:r>
            <a:endParaRPr sz="18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 sz="1800">
                <a:solidFill>
                  <a:schemeClr val="dk1"/>
                </a:solidFill>
              </a:rPr>
              <a:t>✔ </a:t>
            </a:r>
            <a:r>
              <a:rPr lang="es" sz="1800" b="1">
                <a:solidFill>
                  <a:schemeClr val="dk1"/>
                </a:solidFill>
              </a:rPr>
              <a:t>Ahorro de tiempo:</a:t>
            </a:r>
            <a:r>
              <a:rPr lang="es" sz="1800">
                <a:solidFill>
                  <a:schemeClr val="dk1"/>
                </a:solidFill>
              </a:rPr>
              <a:t> Reducción de procesos manuales y repetitivos.</a:t>
            </a:r>
            <a:br>
              <a:rPr lang="es" sz="1800">
                <a:solidFill>
                  <a:schemeClr val="dk1"/>
                </a:solidFill>
              </a:rPr>
            </a:br>
            <a:r>
              <a:rPr lang="es" sz="1800">
                <a:solidFill>
                  <a:schemeClr val="dk1"/>
                </a:solidFill>
              </a:rPr>
              <a:t>✔ </a:t>
            </a:r>
            <a:r>
              <a:rPr lang="es" sz="1800" b="1">
                <a:solidFill>
                  <a:schemeClr val="dk1"/>
                </a:solidFill>
              </a:rPr>
              <a:t>Mayor precisión:</a:t>
            </a:r>
            <a:r>
              <a:rPr lang="es" sz="1800">
                <a:solidFill>
                  <a:schemeClr val="dk1"/>
                </a:solidFill>
              </a:rPr>
              <a:t> Menos errores humanos en tareas operativas.</a:t>
            </a:r>
            <a:br>
              <a:rPr lang="es" sz="1800">
                <a:solidFill>
                  <a:schemeClr val="dk1"/>
                </a:solidFill>
              </a:rPr>
            </a:br>
            <a:r>
              <a:rPr lang="es" sz="1800">
                <a:solidFill>
                  <a:schemeClr val="dk1"/>
                </a:solidFill>
              </a:rPr>
              <a:t>✔ </a:t>
            </a:r>
            <a:r>
              <a:rPr lang="es" sz="1800" b="1">
                <a:solidFill>
                  <a:schemeClr val="dk1"/>
                </a:solidFill>
              </a:rPr>
              <a:t>Mejor experiencia del cliente:</a:t>
            </a:r>
            <a:r>
              <a:rPr lang="es" sz="1800">
                <a:solidFill>
                  <a:schemeClr val="dk1"/>
                </a:solidFill>
              </a:rPr>
              <a:t> Respuestas más rápidas y personalizadas.</a:t>
            </a:r>
            <a:br>
              <a:rPr lang="es" sz="1800">
                <a:solidFill>
                  <a:schemeClr val="dk1"/>
                </a:solidFill>
              </a:rPr>
            </a:br>
            <a:r>
              <a:rPr lang="es" sz="1800">
                <a:solidFill>
                  <a:schemeClr val="dk1"/>
                </a:solidFill>
              </a:rPr>
              <a:t>✔ </a:t>
            </a:r>
            <a:r>
              <a:rPr lang="es" sz="1800" b="1">
                <a:solidFill>
                  <a:schemeClr val="dk1"/>
                </a:solidFill>
              </a:rPr>
              <a:t>Optimización de costos:</a:t>
            </a:r>
            <a:r>
              <a:rPr lang="es" sz="1800">
                <a:solidFill>
                  <a:schemeClr val="dk1"/>
                </a:solidFill>
              </a:rPr>
              <a:t> Reducción de recursos en tareas administrativas.</a:t>
            </a:r>
            <a:endParaRPr sz="1800">
              <a:solidFill>
                <a:schemeClr val="dk1"/>
              </a:solidFill>
            </a:endParaRPr>
          </a:p>
          <a:p>
            <a:pPr marL="0" marR="0" lvl="0" indent="0" algn="just" rtl="0">
              <a:lnSpc>
                <a:spcPct val="115000"/>
              </a:lnSpc>
              <a:spcBef>
                <a:spcPts val="1200"/>
              </a:spcBef>
              <a:spcAft>
                <a:spcPts val="0"/>
              </a:spcAft>
              <a:buClr>
                <a:srgbClr val="000000"/>
              </a:buClr>
              <a:buSzPts val="1800"/>
              <a:buFont typeface="Arial"/>
              <a:buNone/>
            </a:pPr>
            <a:endParaRPr sz="1800">
              <a:solidFill>
                <a:schemeClr val="dk1"/>
              </a:solidFill>
            </a:endParaRPr>
          </a:p>
        </p:txBody>
      </p:sp>
      <p:sp>
        <p:nvSpPr>
          <p:cNvPr id="151" name="Google Shape;151;g339a09cea51_0_0"/>
          <p:cNvSpPr txBox="1"/>
          <p:nvPr/>
        </p:nvSpPr>
        <p:spPr>
          <a:xfrm>
            <a:off x="2276525" y="233100"/>
            <a:ext cx="4055700" cy="45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dirty="0">
                <a:solidFill>
                  <a:schemeClr val="dk1"/>
                </a:solidFill>
              </a:rPr>
              <a:t>Automatización Inteligente en Tareas</a:t>
            </a:r>
            <a:endParaRPr sz="1800" dirty="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g339a09cea51_0_5"/>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57" name="Google Shape;157;g339a09cea51_0_5"/>
          <p:cNvSpPr txBox="1"/>
          <p:nvPr/>
        </p:nvSpPr>
        <p:spPr>
          <a:xfrm>
            <a:off x="8450" y="893500"/>
            <a:ext cx="9058500" cy="4125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 sz="1800" b="1">
                <a:solidFill>
                  <a:schemeClr val="dk1"/>
                </a:solidFill>
              </a:rPr>
              <a:t>CRM y Automatización de Ventas 📊</a:t>
            </a:r>
            <a:endParaRPr sz="1800" b="1">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a:solidFill>
                  <a:schemeClr val="dk1"/>
                </a:solidFill>
              </a:rPr>
              <a:t>Seguimiento automático de clientes potenciales.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Envío de recordatorios y propuestas personalizadas.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Priorización de oportunidades de negocio mediante IA.</a:t>
            </a:r>
            <a:endParaRPr sz="180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 sz="1800" b="1">
                <a:solidFill>
                  <a:schemeClr val="dk1"/>
                </a:solidFill>
              </a:rPr>
              <a:t>Atención al Cliente con IA 🤖</a:t>
            </a:r>
            <a:endParaRPr sz="1800" b="1">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a:solidFill>
                  <a:schemeClr val="dk1"/>
                </a:solidFill>
              </a:rPr>
              <a:t>Chatbots y asistentes virtuales que responden consultas 24/7.</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Análisis de sentimientos en correos y redes sociales.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Respuesta automática basada en el historial del cliente.</a:t>
            </a:r>
            <a:endParaRPr sz="1800">
              <a:solidFill>
                <a:schemeClr val="dk1"/>
              </a:solidFill>
            </a:endParaRPr>
          </a:p>
        </p:txBody>
      </p:sp>
      <p:sp>
        <p:nvSpPr>
          <p:cNvPr id="158" name="Google Shape;158;g339a09cea51_0_5"/>
          <p:cNvSpPr txBox="1"/>
          <p:nvPr/>
        </p:nvSpPr>
        <p:spPr>
          <a:xfrm>
            <a:off x="2159975" y="567200"/>
            <a:ext cx="4219200" cy="48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dirty="0">
                <a:solidFill>
                  <a:schemeClr val="dk1"/>
                </a:solidFill>
              </a:rPr>
              <a:t>Ejemplos de Automatización Inteligente</a:t>
            </a:r>
            <a:endParaRPr sz="1800" dirty="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g339a09cea51_0_1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64" name="Google Shape;164;g339a09cea51_0_10"/>
          <p:cNvSpPr txBox="1"/>
          <p:nvPr/>
        </p:nvSpPr>
        <p:spPr>
          <a:xfrm>
            <a:off x="8450" y="893500"/>
            <a:ext cx="9058500" cy="4125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5" name="Google Shape;165;g339a09cea51_0_10"/>
          <p:cNvSpPr txBox="1"/>
          <p:nvPr/>
        </p:nvSpPr>
        <p:spPr>
          <a:xfrm>
            <a:off x="23300" y="831350"/>
            <a:ext cx="9043800" cy="4226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 sz="1800" b="1">
                <a:solidFill>
                  <a:schemeClr val="dk1"/>
                </a:solidFill>
              </a:rPr>
              <a:t>Automatización en Marketing 🎯</a:t>
            </a:r>
            <a:endParaRPr sz="1800" b="1">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a:solidFill>
                  <a:schemeClr val="dk1"/>
                </a:solidFill>
              </a:rPr>
              <a:t>Envío de campañas personalizadas según el comportamiento del cliente.</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Segmentación de clientes con IA para mejorar conversiones.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Análisis de datos para prever tendencias de compra.</a:t>
            </a:r>
            <a:endParaRPr sz="180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 sz="1800" b="1">
                <a:solidFill>
                  <a:schemeClr val="dk1"/>
                </a:solidFill>
              </a:rPr>
              <a:t>Procesos Administrativos y Gestión de Datos 🏢</a:t>
            </a:r>
            <a:endParaRPr sz="1800" b="1">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a:solidFill>
                  <a:schemeClr val="dk1"/>
                </a:solidFill>
              </a:rPr>
              <a:t>Facturación automática y seguimiento de pagos.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Generación de reportes inteligentes con análisis predictivo.</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Integración de ERP y CRM para optimizar la toma de decisiones.</a:t>
            </a:r>
            <a:endParaRPr sz="1800">
              <a:solidFill>
                <a:schemeClr val="dk1"/>
              </a:solidFill>
            </a:endParaRPr>
          </a:p>
          <a:p>
            <a:pPr marL="0" lvl="0" indent="0" algn="l" rtl="0">
              <a:spcBef>
                <a:spcPts val="1200"/>
              </a:spcBef>
              <a:spcAft>
                <a:spcPts val="0"/>
              </a:spcAft>
              <a:buNone/>
            </a:pPr>
            <a:endParaRPr sz="18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pic>
        <p:nvPicPr>
          <p:cNvPr id="170" name="Google Shape;170;g339a09cea51_0_15"/>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71" name="Google Shape;171;g339a09cea51_0_15"/>
          <p:cNvSpPr txBox="1"/>
          <p:nvPr/>
        </p:nvSpPr>
        <p:spPr>
          <a:xfrm>
            <a:off x="8450" y="893500"/>
            <a:ext cx="9058500" cy="4125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2" name="Google Shape;172;g339a09cea51_0_15"/>
          <p:cNvSpPr txBox="1"/>
          <p:nvPr/>
        </p:nvSpPr>
        <p:spPr>
          <a:xfrm>
            <a:off x="15550" y="831350"/>
            <a:ext cx="9058500" cy="4265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s" sz="1800" b="1">
                <a:solidFill>
                  <a:schemeClr val="dk1"/>
                </a:solidFill>
              </a:rPr>
              <a:t>Tendencias Futuras en Automatización Inteligente</a:t>
            </a:r>
            <a:endParaRPr sz="1800" b="1">
              <a:solidFill>
                <a:schemeClr val="dk1"/>
              </a:solidFill>
            </a:endParaRPr>
          </a:p>
          <a:p>
            <a:pPr marL="0" lvl="0" indent="0" algn="l" rtl="0">
              <a:lnSpc>
                <a:spcPct val="115000"/>
              </a:lnSpc>
              <a:spcBef>
                <a:spcPts val="1200"/>
              </a:spcBef>
              <a:spcAft>
                <a:spcPts val="1200"/>
              </a:spcAft>
              <a:buClr>
                <a:schemeClr val="dk1"/>
              </a:buClr>
              <a:buSzPts val="1100"/>
              <a:buFont typeface="Arial"/>
              <a:buNone/>
            </a:pPr>
            <a:r>
              <a:rPr lang="es" sz="1800" b="1">
                <a:solidFill>
                  <a:schemeClr val="dk1"/>
                </a:solidFill>
              </a:rPr>
              <a:t>Automatización con voz:</a:t>
            </a:r>
            <a:r>
              <a:rPr lang="es" sz="1800">
                <a:solidFill>
                  <a:schemeClr val="dk1"/>
                </a:solidFill>
              </a:rPr>
              <a:t> CRM y sistemas de gestión controlados por comandos de voz.</a:t>
            </a:r>
            <a:br>
              <a:rPr lang="es" sz="1800">
                <a:solidFill>
                  <a:schemeClr val="dk1"/>
                </a:solidFill>
              </a:rPr>
            </a:br>
            <a:r>
              <a:rPr lang="es" sz="1800" b="1">
                <a:solidFill>
                  <a:schemeClr val="dk1"/>
                </a:solidFill>
              </a:rPr>
              <a:t>IA conversacional avanzada:</a:t>
            </a:r>
            <a:r>
              <a:rPr lang="es" sz="1800">
                <a:solidFill>
                  <a:schemeClr val="dk1"/>
                </a:solidFill>
              </a:rPr>
              <a:t> Chatbots con mayor capacidad de comprensión y personalización.</a:t>
            </a:r>
            <a:br>
              <a:rPr lang="es" sz="1800">
                <a:solidFill>
                  <a:schemeClr val="dk1"/>
                </a:solidFill>
              </a:rPr>
            </a:br>
            <a:r>
              <a:rPr lang="es" sz="1800" b="1">
                <a:solidFill>
                  <a:schemeClr val="dk1"/>
                </a:solidFill>
              </a:rPr>
              <a:t>Automatización predictiva:</a:t>
            </a:r>
            <a:r>
              <a:rPr lang="es" sz="1800">
                <a:solidFill>
                  <a:schemeClr val="dk1"/>
                </a:solidFill>
              </a:rPr>
              <a:t> Sistemas que anticipan necesidades y acciones de los clientes.</a:t>
            </a:r>
            <a:endParaRPr sz="18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6"/>
          <p:cNvSpPr txBox="1"/>
          <p:nvPr/>
        </p:nvSpPr>
        <p:spPr>
          <a:xfrm>
            <a:off x="1253695" y="500063"/>
            <a:ext cx="6751650" cy="599908"/>
          </a:xfrm>
          <a:prstGeom prst="rect">
            <a:avLst/>
          </a:prstGeom>
          <a:noFill/>
          <a:ln>
            <a:noFill/>
          </a:ln>
        </p:spPr>
        <p:txBody>
          <a:bodyPr spcFirstLastPara="1" wrap="square" lIns="0" tIns="0" rIns="0" bIns="0" anchor="t" anchorCtr="0">
            <a:spAutoFit/>
          </a:bodyPr>
          <a:lstStyle/>
          <a:p>
            <a:pPr algn="ctr">
              <a:lnSpc>
                <a:spcPct val="113000"/>
              </a:lnSpc>
              <a:buSzPts val="6900"/>
            </a:pPr>
            <a:r>
              <a:rPr lang="en-US" sz="3450">
                <a:solidFill>
                  <a:srgbClr val="131416"/>
                </a:solidFill>
                <a:latin typeface="Impact"/>
                <a:ea typeface="Impact"/>
                <a:cs typeface="Impact"/>
                <a:sym typeface="Impact"/>
              </a:rPr>
              <a:t>CONCEPTOS CLAVE APRENDIDOS </a:t>
            </a:r>
            <a:endParaRPr sz="700">
              <a:latin typeface="Impact"/>
              <a:ea typeface="Impact"/>
              <a:cs typeface="Impact"/>
              <a:sym typeface="Impact"/>
            </a:endParaRPr>
          </a:p>
        </p:txBody>
      </p:sp>
      <p:sp>
        <p:nvSpPr>
          <p:cNvPr id="375" name="Google Shape;375;p6"/>
          <p:cNvSpPr txBox="1"/>
          <p:nvPr/>
        </p:nvSpPr>
        <p:spPr>
          <a:xfrm>
            <a:off x="3106219" y="1930417"/>
            <a:ext cx="3455666" cy="1018549"/>
          </a:xfrm>
          <a:prstGeom prst="rect">
            <a:avLst/>
          </a:prstGeom>
          <a:noFill/>
          <a:ln>
            <a:noFill/>
          </a:ln>
        </p:spPr>
        <p:txBody>
          <a:bodyPr spcFirstLastPara="1" wrap="square" lIns="0" tIns="0" rIns="0" bIns="0" anchor="t" anchorCtr="0">
            <a:spAutoFit/>
          </a:bodyPr>
          <a:lstStyle/>
          <a:p>
            <a:pPr algn="ctr">
              <a:lnSpc>
                <a:spcPct val="140019"/>
              </a:lnSpc>
              <a:buSzPts val="3151"/>
            </a:pPr>
            <a:r>
              <a:rPr lang="en-US" sz="1576" dirty="0">
                <a:solidFill>
                  <a:srgbClr val="131416"/>
                </a:solidFill>
              </a:rPr>
              <a:t>Concepto de un CRM</a:t>
            </a:r>
            <a:br>
              <a:rPr lang="en-US" sz="1576" dirty="0">
                <a:solidFill>
                  <a:srgbClr val="131416"/>
                </a:solidFill>
              </a:rPr>
            </a:br>
            <a:r>
              <a:rPr lang="en-US" sz="1576" dirty="0">
                <a:solidFill>
                  <a:srgbClr val="131416"/>
                </a:solidFill>
              </a:rPr>
              <a:t>La </a:t>
            </a:r>
            <a:r>
              <a:rPr lang="en-US" sz="1576" dirty="0" err="1">
                <a:solidFill>
                  <a:srgbClr val="131416"/>
                </a:solidFill>
              </a:rPr>
              <a:t>funcion</a:t>
            </a:r>
            <a:r>
              <a:rPr lang="en-US" sz="1576" dirty="0">
                <a:solidFill>
                  <a:srgbClr val="131416"/>
                </a:solidFill>
              </a:rPr>
              <a:t> de un CRM</a:t>
            </a:r>
          </a:p>
          <a:p>
            <a:pPr algn="ctr">
              <a:lnSpc>
                <a:spcPct val="140019"/>
              </a:lnSpc>
              <a:buSzPts val="3151"/>
            </a:pPr>
            <a:r>
              <a:rPr lang="en-US" sz="1576" dirty="0" err="1">
                <a:solidFill>
                  <a:srgbClr val="131416"/>
                </a:solidFill>
              </a:rPr>
              <a:t>Tipos</a:t>
            </a:r>
            <a:r>
              <a:rPr lang="en-US" sz="1576" dirty="0">
                <a:solidFill>
                  <a:srgbClr val="131416"/>
                </a:solidFill>
              </a:rPr>
              <a:t> y </a:t>
            </a:r>
            <a:r>
              <a:rPr lang="en-US" sz="1576" dirty="0" err="1">
                <a:solidFill>
                  <a:srgbClr val="131416"/>
                </a:solidFill>
              </a:rPr>
              <a:t>Beneficios</a:t>
            </a:r>
            <a:r>
              <a:rPr lang="en-US" sz="1576" dirty="0">
                <a:solidFill>
                  <a:srgbClr val="131416"/>
                </a:solidFill>
              </a:rPr>
              <a:t> d </a:t>
            </a:r>
            <a:r>
              <a:rPr lang="en-US" sz="1576" dirty="0" err="1">
                <a:solidFill>
                  <a:srgbClr val="131416"/>
                </a:solidFill>
              </a:rPr>
              <a:t>eun</a:t>
            </a:r>
            <a:r>
              <a:rPr lang="en-US" sz="1576" dirty="0">
                <a:solidFill>
                  <a:srgbClr val="131416"/>
                </a:solidFill>
              </a:rPr>
              <a:t> CRM</a:t>
            </a:r>
            <a:endParaRPr sz="700" dirty="0"/>
          </a:p>
        </p:txBody>
      </p:sp>
      <p:sp>
        <p:nvSpPr>
          <p:cNvPr id="376" name="Google Shape;376;p6"/>
          <p:cNvSpPr/>
          <p:nvPr/>
        </p:nvSpPr>
        <p:spPr>
          <a:xfrm>
            <a:off x="6723598" y="2667011"/>
            <a:ext cx="2313234" cy="2287999"/>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spcFirstLastPara="1" wrap="square" lIns="45713" tIns="22850" rIns="45713" bIns="22850" anchor="t" anchorCtr="0">
            <a:noAutofit/>
          </a:bodyPr>
          <a:lstStyle/>
          <a:p>
            <a:endParaRPr sz="700"/>
          </a:p>
        </p:txBody>
      </p:sp>
      <p:sp>
        <p:nvSpPr>
          <p:cNvPr id="377" name="Google Shape;377;p6"/>
          <p:cNvSpPr txBox="1"/>
          <p:nvPr/>
        </p:nvSpPr>
        <p:spPr>
          <a:xfrm>
            <a:off x="7070656" y="3157530"/>
            <a:ext cx="1619118" cy="1952842"/>
          </a:xfrm>
          <a:prstGeom prst="rect">
            <a:avLst/>
          </a:prstGeom>
          <a:noFill/>
          <a:ln>
            <a:noFill/>
          </a:ln>
        </p:spPr>
        <p:txBody>
          <a:bodyPr spcFirstLastPara="1" wrap="square" lIns="0" tIns="0" rIns="0" bIns="0" anchor="t" anchorCtr="0">
            <a:spAutoFit/>
          </a:bodyPr>
          <a:lstStyle/>
          <a:p>
            <a:pPr>
              <a:lnSpc>
                <a:spcPct val="140019"/>
              </a:lnSpc>
              <a:buSzPts val="2014"/>
            </a:pPr>
            <a:r>
              <a:rPr lang="en-US" sz="1007">
                <a:solidFill>
                  <a:srgbClr val="131416"/>
                </a:solidFill>
                <a:latin typeface="Open Sans"/>
                <a:ea typeface="Open Sans"/>
                <a:cs typeface="Open Sans"/>
                <a:sym typeface="Open Sans"/>
              </a:rPr>
              <a:t>Coloca puntos clave de tu presentación, que consideres serán de ayuda para tus estudiantes. Enfocados a retener de mejor manera la información que les deseas transmitir (cortos pero certeros</a:t>
            </a:r>
            <a:endParaRPr sz="7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7"/>
          <p:cNvSpPr txBox="1"/>
          <p:nvPr/>
        </p:nvSpPr>
        <p:spPr>
          <a:xfrm>
            <a:off x="1253695" y="500063"/>
            <a:ext cx="4232705" cy="521681"/>
          </a:xfrm>
          <a:prstGeom prst="rect">
            <a:avLst/>
          </a:prstGeom>
          <a:noFill/>
          <a:ln>
            <a:noFill/>
          </a:ln>
        </p:spPr>
        <p:txBody>
          <a:bodyPr spcFirstLastPara="1" wrap="square" lIns="0" tIns="0" rIns="0" bIns="0" anchor="t" anchorCtr="0">
            <a:spAutoFit/>
          </a:bodyPr>
          <a:lstStyle/>
          <a:p>
            <a:pPr algn="ctr">
              <a:lnSpc>
                <a:spcPct val="113000"/>
              </a:lnSpc>
            </a:pPr>
            <a:r>
              <a:rPr lang="en-US" sz="3000" b="1"/>
              <a:t>Compromiso</a:t>
            </a:r>
            <a:endParaRPr sz="3000">
              <a:latin typeface="Impact"/>
              <a:ea typeface="Impact"/>
              <a:cs typeface="Impact"/>
              <a:sym typeface="Impact"/>
            </a:endParaRPr>
          </a:p>
        </p:txBody>
      </p:sp>
      <p:sp>
        <p:nvSpPr>
          <p:cNvPr id="383" name="Google Shape;383;p7"/>
          <p:cNvSpPr txBox="1"/>
          <p:nvPr/>
        </p:nvSpPr>
        <p:spPr>
          <a:xfrm>
            <a:off x="493997" y="1560384"/>
            <a:ext cx="6051183" cy="3016210"/>
          </a:xfrm>
          <a:prstGeom prst="rect">
            <a:avLst/>
          </a:prstGeom>
          <a:noFill/>
          <a:ln>
            <a:noFill/>
          </a:ln>
        </p:spPr>
        <p:txBody>
          <a:bodyPr spcFirstLastPara="1" wrap="square" lIns="0" tIns="0" rIns="0" bIns="0" anchor="t" anchorCtr="0">
            <a:spAutoFit/>
          </a:bodyPr>
          <a:lstStyle/>
          <a:p>
            <a:pPr algn="ctr">
              <a:lnSpc>
                <a:spcPct val="140019"/>
              </a:lnSpc>
            </a:pPr>
            <a:r>
              <a:rPr lang="en-US"/>
              <a:t>Al iniciar el curso de laboratorio, cada estudiante debe comprender que su compromiso con el aprendizaje de los temas impartidos será fundamental para su futuro desempeño profesional. Asimismo, es importante que cumpla con todos los requisitos del curso para alcanzar un resultado satisfactorio al finalizar el semestre.</a:t>
            </a:r>
            <a:endParaRPr sz="700"/>
          </a:p>
          <a:p>
            <a:pPr algn="ctr">
              <a:lnSpc>
                <a:spcPct val="140019"/>
              </a:lnSpc>
            </a:pPr>
            <a:endParaRPr/>
          </a:p>
          <a:p>
            <a:pPr algn="ctr">
              <a:lnSpc>
                <a:spcPct val="140019"/>
              </a:lnSpc>
            </a:pPr>
            <a:r>
              <a:rPr lang="en-US"/>
              <a:t>Analiza los fundamentos, componentes y funciones de los sistemas ERP, valorando su impacto en la integración y optimización de los procesos empresariales, así como su relevancia frente a las tendencias tecnológicas actuales.</a:t>
            </a:r>
            <a:endParaRPr/>
          </a:p>
        </p:txBody>
      </p:sp>
      <p:sp>
        <p:nvSpPr>
          <p:cNvPr id="384" name="Google Shape;384;p7"/>
          <p:cNvSpPr/>
          <p:nvPr/>
        </p:nvSpPr>
        <p:spPr>
          <a:xfrm>
            <a:off x="6723598" y="2667011"/>
            <a:ext cx="2313234" cy="2287999"/>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spcFirstLastPara="1" wrap="square" lIns="45713" tIns="22850" rIns="45713" bIns="22850" anchor="t" anchorCtr="0">
            <a:noAutofit/>
          </a:bodyPr>
          <a:lstStyle/>
          <a:p>
            <a:endParaRPr sz="700"/>
          </a:p>
        </p:txBody>
      </p:sp>
      <p:sp>
        <p:nvSpPr>
          <p:cNvPr id="385" name="Google Shape;385;p7"/>
          <p:cNvSpPr txBox="1"/>
          <p:nvPr/>
        </p:nvSpPr>
        <p:spPr>
          <a:xfrm>
            <a:off x="7126391" y="3286756"/>
            <a:ext cx="1619118" cy="1518877"/>
          </a:xfrm>
          <a:prstGeom prst="rect">
            <a:avLst/>
          </a:prstGeom>
          <a:noFill/>
          <a:ln>
            <a:noFill/>
          </a:ln>
        </p:spPr>
        <p:txBody>
          <a:bodyPr spcFirstLastPara="1" wrap="square" lIns="0" tIns="0" rIns="0" bIns="0" anchor="t" anchorCtr="0">
            <a:spAutoFit/>
          </a:bodyPr>
          <a:lstStyle/>
          <a:p>
            <a:pPr>
              <a:lnSpc>
                <a:spcPct val="140019"/>
              </a:lnSpc>
              <a:buSzPts val="2014"/>
            </a:pPr>
            <a:r>
              <a:rPr lang="en-US" sz="1007">
                <a:solidFill>
                  <a:srgbClr val="131416"/>
                </a:solidFill>
                <a:latin typeface="Open Sans"/>
                <a:ea typeface="Open Sans"/>
                <a:cs typeface="Open Sans"/>
                <a:sym typeface="Open Sans"/>
              </a:rPr>
              <a:t>Nuestra casa de estudios cuenta con valores como Excelencia, Compromiso </a:t>
            </a:r>
            <a:endParaRPr sz="700"/>
          </a:p>
          <a:p>
            <a:pPr>
              <a:lnSpc>
                <a:spcPct val="140019"/>
              </a:lnSpc>
              <a:buSzPts val="2014"/>
            </a:pPr>
            <a:r>
              <a:rPr lang="en-US" sz="1007">
                <a:solidFill>
                  <a:srgbClr val="131416"/>
                </a:solidFill>
                <a:latin typeface="Open Sans"/>
                <a:ea typeface="Open Sans"/>
                <a:cs typeface="Open Sans"/>
                <a:sym typeface="Open Sans"/>
              </a:rPr>
              <a:t>Responsabilidad, Ética </a:t>
            </a:r>
            <a:endParaRPr sz="700"/>
          </a:p>
          <a:p>
            <a:pPr>
              <a:lnSpc>
                <a:spcPct val="140019"/>
              </a:lnSpc>
              <a:buSzPts val="2014"/>
            </a:pPr>
            <a:r>
              <a:rPr lang="en-US" sz="1007">
                <a:solidFill>
                  <a:srgbClr val="131416"/>
                </a:solidFill>
                <a:latin typeface="Open Sans"/>
                <a:ea typeface="Open Sans"/>
                <a:cs typeface="Open Sans"/>
                <a:sym typeface="Open Sans"/>
              </a:rPr>
              <a:t>Integridad, trata de relacionarlos a los temas que estas impartiendo </a:t>
            </a:r>
            <a:endParaRPr sz="7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8"/>
          <p:cNvSpPr txBox="1"/>
          <p:nvPr/>
        </p:nvSpPr>
        <p:spPr>
          <a:xfrm>
            <a:off x="1253695" y="500063"/>
            <a:ext cx="6751650" cy="599908"/>
          </a:xfrm>
          <a:prstGeom prst="rect">
            <a:avLst/>
          </a:prstGeom>
          <a:noFill/>
          <a:ln>
            <a:noFill/>
          </a:ln>
        </p:spPr>
        <p:txBody>
          <a:bodyPr spcFirstLastPara="1" wrap="square" lIns="0" tIns="0" rIns="0" bIns="0" anchor="t" anchorCtr="0">
            <a:spAutoFit/>
          </a:bodyPr>
          <a:lstStyle/>
          <a:p>
            <a:pPr algn="ctr">
              <a:lnSpc>
                <a:spcPct val="113000"/>
              </a:lnSpc>
              <a:buSzPts val="6900"/>
            </a:pPr>
            <a:r>
              <a:rPr lang="en-US" sz="3450">
                <a:solidFill>
                  <a:srgbClr val="131416"/>
                </a:solidFill>
                <a:latin typeface="Impact"/>
                <a:ea typeface="Impact"/>
                <a:cs typeface="Impact"/>
                <a:sym typeface="Impact"/>
              </a:rPr>
              <a:t>REFERENCIAS </a:t>
            </a:r>
            <a:endParaRPr sz="700">
              <a:latin typeface="Impact"/>
              <a:ea typeface="Impact"/>
              <a:cs typeface="Impact"/>
              <a:sym typeface="Impact"/>
            </a:endParaRPr>
          </a:p>
        </p:txBody>
      </p:sp>
      <p:sp>
        <p:nvSpPr>
          <p:cNvPr id="391" name="Google Shape;391;p8"/>
          <p:cNvSpPr txBox="1"/>
          <p:nvPr/>
        </p:nvSpPr>
        <p:spPr>
          <a:xfrm>
            <a:off x="5833975" y="109463"/>
            <a:ext cx="3102000" cy="1358064"/>
          </a:xfrm>
          <a:prstGeom prst="rect">
            <a:avLst/>
          </a:prstGeom>
          <a:noFill/>
          <a:ln>
            <a:noFill/>
          </a:ln>
        </p:spPr>
        <p:txBody>
          <a:bodyPr spcFirstLastPara="1" wrap="square" lIns="0" tIns="0" rIns="0" bIns="0" anchor="t" anchorCtr="0">
            <a:spAutoFit/>
          </a:bodyPr>
          <a:lstStyle/>
          <a:p>
            <a:pPr algn="ctr">
              <a:lnSpc>
                <a:spcPct val="140019"/>
              </a:lnSpc>
              <a:buSzPts val="3151"/>
            </a:pPr>
            <a:r>
              <a:rPr lang="en-US" sz="1576">
                <a:solidFill>
                  <a:srgbClr val="131416"/>
                </a:solidFill>
              </a:rPr>
              <a:t>Recuerda que hay que dar crédito a las personas de las cuales te has basado para generar tu presentación  </a:t>
            </a:r>
            <a:endParaRPr sz="700"/>
          </a:p>
        </p:txBody>
      </p:sp>
      <p:sp>
        <p:nvSpPr>
          <p:cNvPr id="392" name="Google Shape;392;p8"/>
          <p:cNvSpPr/>
          <p:nvPr/>
        </p:nvSpPr>
        <p:spPr>
          <a:xfrm>
            <a:off x="6723598" y="2667011"/>
            <a:ext cx="2313234" cy="2287999"/>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spcFirstLastPara="1" wrap="square" lIns="45713" tIns="22850" rIns="45713" bIns="22850" anchor="t" anchorCtr="0">
            <a:noAutofit/>
          </a:bodyPr>
          <a:lstStyle/>
          <a:p>
            <a:endParaRPr sz="700"/>
          </a:p>
        </p:txBody>
      </p:sp>
      <p:sp>
        <p:nvSpPr>
          <p:cNvPr id="393" name="Google Shape;393;p8"/>
          <p:cNvSpPr txBox="1"/>
          <p:nvPr/>
        </p:nvSpPr>
        <p:spPr>
          <a:xfrm>
            <a:off x="7118429" y="3390264"/>
            <a:ext cx="1619118" cy="1301895"/>
          </a:xfrm>
          <a:prstGeom prst="rect">
            <a:avLst/>
          </a:prstGeom>
          <a:noFill/>
          <a:ln>
            <a:noFill/>
          </a:ln>
        </p:spPr>
        <p:txBody>
          <a:bodyPr spcFirstLastPara="1" wrap="square" lIns="0" tIns="0" rIns="0" bIns="0" anchor="t" anchorCtr="0">
            <a:spAutoFit/>
          </a:bodyPr>
          <a:lstStyle/>
          <a:p>
            <a:pPr>
              <a:lnSpc>
                <a:spcPct val="140019"/>
              </a:lnSpc>
              <a:buSzPts val="2014"/>
            </a:pPr>
            <a:r>
              <a:rPr lang="en-US" sz="1007">
                <a:solidFill>
                  <a:srgbClr val="131416"/>
                </a:solidFill>
                <a:latin typeface="Open Sans"/>
                <a:ea typeface="Open Sans"/>
                <a:cs typeface="Open Sans"/>
                <a:sym typeface="Open Sans"/>
              </a:rPr>
              <a:t>Colocaras la referencias que apliquen de aquel materia, bibliográfico o paginas de internet del cual te has basado para generar tu presentación </a:t>
            </a:r>
            <a:endParaRPr sz="700"/>
          </a:p>
        </p:txBody>
      </p:sp>
      <p:pic>
        <p:nvPicPr>
          <p:cNvPr id="394" name="Google Shape;394;p8" title="Gemini_Generated_Image_k3gbyrk3gbyrk3gb.png"/>
          <p:cNvPicPr preferRelativeResize="0"/>
          <p:nvPr/>
        </p:nvPicPr>
        <p:blipFill rotWithShape="1">
          <a:blip r:embed="rId4">
            <a:alphaModFix/>
          </a:blip>
          <a:srcRect/>
          <a:stretch/>
        </p:blipFill>
        <p:spPr>
          <a:xfrm>
            <a:off x="0" y="0"/>
            <a:ext cx="3500087" cy="21807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g364afea4f63_0_141"/>
          <p:cNvSpPr txBox="1"/>
          <p:nvPr/>
        </p:nvSpPr>
        <p:spPr>
          <a:xfrm>
            <a:off x="2895745" y="3398477"/>
            <a:ext cx="3352500" cy="569387"/>
          </a:xfrm>
          <a:prstGeom prst="rect">
            <a:avLst/>
          </a:prstGeom>
          <a:noFill/>
          <a:ln>
            <a:noFill/>
          </a:ln>
        </p:spPr>
        <p:txBody>
          <a:bodyPr spcFirstLastPara="1" wrap="square" lIns="0" tIns="0" rIns="0" bIns="0" anchor="t" anchorCtr="0">
            <a:spAutoFit/>
          </a:bodyPr>
          <a:lstStyle/>
          <a:p>
            <a:pPr algn="ctr">
              <a:lnSpc>
                <a:spcPct val="148000"/>
              </a:lnSpc>
              <a:buSzPts val="5000"/>
            </a:pPr>
            <a:r>
              <a:rPr lang="en-US" sz="2500">
                <a:solidFill>
                  <a:srgbClr val="131416"/>
                </a:solidFill>
              </a:rPr>
              <a:t>DUDAS ¿?</a:t>
            </a:r>
            <a:endParaRPr sz="700"/>
          </a:p>
        </p:txBody>
      </p:sp>
      <p:pic>
        <p:nvPicPr>
          <p:cNvPr id="400" name="Google Shape;400;g364afea4f63_0_141" title="Gemini_Generated_Image_1od44x1od44x1od4.png"/>
          <p:cNvPicPr preferRelativeResize="0"/>
          <p:nvPr/>
        </p:nvPicPr>
        <p:blipFill rotWithShape="1">
          <a:blip r:embed="rId3">
            <a:alphaModFix/>
          </a:blip>
          <a:srcRect/>
          <a:stretch/>
        </p:blipFill>
        <p:spPr>
          <a:xfrm>
            <a:off x="2288144" y="349988"/>
            <a:ext cx="4567712" cy="28459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9"/>
          <p:cNvSpPr txBox="1"/>
          <p:nvPr/>
        </p:nvSpPr>
        <p:spPr>
          <a:xfrm>
            <a:off x="2285998" y="2588027"/>
            <a:ext cx="4329450" cy="1464440"/>
          </a:xfrm>
          <a:prstGeom prst="rect">
            <a:avLst/>
          </a:prstGeom>
          <a:noFill/>
          <a:ln>
            <a:noFill/>
          </a:ln>
        </p:spPr>
        <p:txBody>
          <a:bodyPr spcFirstLastPara="1" wrap="square" lIns="0" tIns="0" rIns="0" bIns="0" anchor="t" anchorCtr="0">
            <a:spAutoFit/>
          </a:bodyPr>
          <a:lstStyle/>
          <a:p>
            <a:pPr algn="ctr">
              <a:lnSpc>
                <a:spcPct val="104000"/>
              </a:lnSpc>
              <a:buSzPts val="6099"/>
            </a:pPr>
            <a:r>
              <a:rPr lang="en-US" sz="3050" dirty="0">
                <a:solidFill>
                  <a:srgbClr val="131416"/>
                </a:solidFill>
                <a:latin typeface="Impact"/>
                <a:ea typeface="Impact"/>
                <a:cs typeface="Impact"/>
                <a:sym typeface="Impact"/>
              </a:rPr>
              <a:t>¡GRACIAS POR SU  ATENCIÓN!</a:t>
            </a:r>
            <a:endParaRPr sz="700" dirty="0">
              <a:latin typeface="Impact"/>
              <a:ea typeface="Impact"/>
              <a:cs typeface="Impact"/>
              <a:sym typeface="Impact"/>
            </a:endParaRPr>
          </a:p>
          <a:p>
            <a:pPr algn="just">
              <a:lnSpc>
                <a:spcPct val="104000"/>
              </a:lnSpc>
              <a:buSzPts val="6099"/>
            </a:pPr>
            <a:endParaRPr sz="3050" dirty="0">
              <a:solidFill>
                <a:srgbClr val="131416"/>
              </a:solidFill>
              <a:latin typeface="Impact"/>
              <a:ea typeface="Impact"/>
              <a:cs typeface="Impact"/>
              <a:sym typeface="Impact"/>
            </a:endParaRPr>
          </a:p>
        </p:txBody>
      </p:sp>
      <p:sp>
        <p:nvSpPr>
          <p:cNvPr id="406" name="Google Shape;406;p9"/>
          <p:cNvSpPr/>
          <p:nvPr/>
        </p:nvSpPr>
        <p:spPr>
          <a:xfrm>
            <a:off x="3761406" y="298300"/>
            <a:ext cx="1378634" cy="1885485"/>
          </a:xfrm>
          <a:custGeom>
            <a:avLst/>
            <a:gdLst/>
            <a:ahLst/>
            <a:cxnLst/>
            <a:rect l="l" t="t" r="r" b="b"/>
            <a:pathLst>
              <a:path w="2757268" h="3770970" extrusionOk="0">
                <a:moveTo>
                  <a:pt x="0" y="0"/>
                </a:moveTo>
                <a:lnTo>
                  <a:pt x="2757268" y="0"/>
                </a:lnTo>
                <a:lnTo>
                  <a:pt x="2757268" y="3770970"/>
                </a:lnTo>
                <a:lnTo>
                  <a:pt x="0" y="3770970"/>
                </a:lnTo>
                <a:lnTo>
                  <a:pt x="0" y="0"/>
                </a:lnTo>
                <a:close/>
              </a:path>
            </a:pathLst>
          </a:custGeom>
          <a:blipFill rotWithShape="1">
            <a:blip r:embed="rId3">
              <a:alphaModFix/>
            </a:blip>
            <a:stretch>
              <a:fillRect/>
            </a:stretch>
          </a:blipFill>
          <a:ln>
            <a:noFill/>
          </a:ln>
        </p:spPr>
        <p:txBody>
          <a:bodyPr spcFirstLastPara="1" wrap="square" lIns="45713" tIns="22850" rIns="45713" bIns="22850" anchor="t" anchorCtr="0">
            <a:noAutofit/>
          </a:bodyPr>
          <a:lstStyle/>
          <a:p>
            <a:endParaRPr sz="700"/>
          </a:p>
        </p:txBody>
      </p:sp>
      <p:sp>
        <p:nvSpPr>
          <p:cNvPr id="407" name="Google Shape;407;p9"/>
          <p:cNvSpPr txBox="1"/>
          <p:nvPr/>
        </p:nvSpPr>
        <p:spPr>
          <a:xfrm>
            <a:off x="1205549" y="3949868"/>
            <a:ext cx="6732902" cy="455509"/>
          </a:xfrm>
          <a:prstGeom prst="rect">
            <a:avLst/>
          </a:prstGeom>
          <a:noFill/>
          <a:ln>
            <a:noFill/>
          </a:ln>
        </p:spPr>
        <p:txBody>
          <a:bodyPr spcFirstLastPara="1" wrap="square" lIns="0" tIns="0" rIns="0" bIns="0" anchor="t" anchorCtr="0">
            <a:spAutoFit/>
          </a:bodyPr>
          <a:lstStyle/>
          <a:p>
            <a:pPr algn="ctr">
              <a:lnSpc>
                <a:spcPct val="148000"/>
              </a:lnSpc>
              <a:buSzPts val="2000"/>
            </a:pPr>
            <a:r>
              <a:rPr lang="en-US" sz="1000">
                <a:solidFill>
                  <a:srgbClr val="131416"/>
                </a:solidFill>
              </a:rPr>
              <a:t>RECUERDA QUE TENEMOS NUESTRO FORO SEMANAL DONDE PUEDES CONSULTAR CUALQUIER DUDA QUE TE SURJA EN LA SEMANA</a:t>
            </a:r>
            <a:endParaRPr sz="7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399</TotalTime>
  <Words>1526</Words>
  <Application>Microsoft Office PowerPoint</Application>
  <PresentationFormat>Presentación en pantalla (16:9)</PresentationFormat>
  <Paragraphs>148</Paragraphs>
  <Slides>26</Slides>
  <Notes>26</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26</vt:i4>
      </vt:variant>
    </vt:vector>
  </HeadingPairs>
  <TitlesOfParts>
    <vt:vector size="32" baseType="lpstr">
      <vt:lpstr>Arial</vt:lpstr>
      <vt:lpstr>Impact</vt:lpstr>
      <vt:lpstr>Lobster</vt:lpstr>
      <vt:lpstr>Open Sans</vt:lpstr>
      <vt:lpstr>Pacifico</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mynor israel miranda lopez</dc:creator>
  <cp:lastModifiedBy>mynor israel miranda lopez</cp:lastModifiedBy>
  <cp:revision>3</cp:revision>
  <dcterms:modified xsi:type="dcterms:W3CDTF">2026-02-03T20:55:15Z</dcterms:modified>
</cp:coreProperties>
</file>