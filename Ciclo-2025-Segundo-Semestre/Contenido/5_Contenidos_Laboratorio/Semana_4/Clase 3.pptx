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JlZl+luecGVzsZpUAlAN4SVcu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1B0283-5687-4A5E-923D-03B7FAD6BEE9}">
  <a:tblStyle styleId="{6D1B0283-5687-4A5E-923D-03B7FAD6BE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918" y="3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2d853e9ab9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53e9ab9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d853e9ab9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853e9ab9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2d853e9ab9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8fa948c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2d8fa948c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8fa948c4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2d8fa948c4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d8fa948c4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2d8fa948c4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8fa948c4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2d8fa948c4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8fa948c4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2d8fa948c4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d8fa948c4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2d8fa948c4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8fa948c4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2d8fa948c4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8fa948c4e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2d8fa948c4e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8fa948c4e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d8fa948c4e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8fa948c4e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d8fa948c4e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9a09cea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39a09cea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9a09cea5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39a09cea5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9a09cea5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39a09cea5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9a09cea5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39a09cea5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Ztr24-JBL2s" TargetMode="External"/><Relationship Id="rId4" Type="http://schemas.openxmlformats.org/officeDocument/2006/relationships/hyperlink" Target="https://www.youtube.com/watch?v=OeFeok-vBbk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>
            <p:extLst>
              <p:ext uri="{D42A27DB-BD31-4B8C-83A1-F6EECF244321}">
                <p14:modId xmlns:p14="http://schemas.microsoft.com/office/powerpoint/2010/main" val="2845089536"/>
              </p:ext>
            </p:extLst>
          </p:nvPr>
        </p:nvGraphicFramePr>
        <p:xfrm>
          <a:off x="5328200" y="970025"/>
          <a:ext cx="3690575" cy="798516"/>
        </p:xfrm>
        <a:graphic>
          <a:graphicData uri="http://schemas.openxmlformats.org/drawingml/2006/table">
            <a:tbl>
              <a:tblPr>
                <a:noFill/>
                <a:tableStyleId>{6D1B0283-5687-4A5E-923D-03B7FAD6BEE9}</a:tableStyleId>
              </a:tblPr>
              <a:tblGrid>
                <a:gridCol w="15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/>
                        <a:t>Martes, </a:t>
                      </a:r>
                      <a:r>
                        <a:rPr lang="es"/>
                        <a:t>29</a:t>
                      </a:r>
                      <a:r>
                        <a:rPr lang="es" sz="1400" u="none" strike="noStrike" cap="none"/>
                        <a:t>/07/2025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17:20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000"/>
            </a:pPr>
            <a:r>
              <a:rPr lang="es-GT" sz="2000" dirty="0"/>
              <a:t>Mynor Israel Miranda López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53e9ab94_0_26"/>
          <p:cNvSpPr txBox="1"/>
          <p:nvPr/>
        </p:nvSpPr>
        <p:spPr>
          <a:xfrm>
            <a:off x="3286550" y="303025"/>
            <a:ext cx="19425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CRM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4" name="Google Shape;64;g2d853e9ab94_0_26"/>
          <p:cNvSpPr txBox="1"/>
          <p:nvPr/>
        </p:nvSpPr>
        <p:spPr>
          <a:xfrm>
            <a:off x="62150" y="870200"/>
            <a:ext cx="8989500" cy="4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Un </a:t>
            </a:r>
            <a:r>
              <a:rPr lang="es" sz="1800" b="1">
                <a:solidFill>
                  <a:schemeClr val="dk1"/>
                </a:solidFill>
              </a:rPr>
              <a:t>CRM (Customer Relationship Management)</a:t>
            </a:r>
            <a:r>
              <a:rPr lang="es" sz="1800">
                <a:solidFill>
                  <a:schemeClr val="dk1"/>
                </a:solidFill>
              </a:rPr>
              <a:t> es un sistema o estrategia utilizada por las empresas para gestionar y optimizar las relaciones con sus clientes. Su objetivo principal es mejorar la interacción con los clientes, aumentar la fidelización y potenciar las ventas mediante la centralización de datos y la automatización de procesos.</a:t>
            </a:r>
            <a:endParaRPr sz="18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</a:rPr>
              <a:t>Funciones principales de un CRM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Gestión de Contactos y Clientes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Almacena información detallada de clientes (nombre, historial de compras, interacciones, etc.).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Facilita el seguimiento de cada cliente en su ciclo de vida.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d853e9ab94_0_3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d853e9ab94_0_31"/>
          <p:cNvSpPr txBox="1"/>
          <p:nvPr/>
        </p:nvSpPr>
        <p:spPr>
          <a:xfrm>
            <a:off x="38850" y="862425"/>
            <a:ext cx="9051600" cy="4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Automatización de Ventas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Permite gestionar oportunidades de negocio y embudos de ventas.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Asigna tareas a vendedores y automatiza recordatorios.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Atención al Cliente y Soporte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Centraliza solicitudes de clientes para mejorar la respuesta.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Registra incidencias y facilita soluciones rápidas.</a:t>
            </a:r>
            <a:endParaRPr sz="18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g2d853e9ab94_0_4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2d853e9ab94_0_41"/>
          <p:cNvSpPr txBox="1"/>
          <p:nvPr/>
        </p:nvSpPr>
        <p:spPr>
          <a:xfrm>
            <a:off x="62150" y="854650"/>
            <a:ext cx="9005100" cy="41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Automatización de Marketing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Permite campañas de email marketing, segmentación de clientes y personalización de ofertas.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Analiza métricas de conversión y comportamiento del cliente.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Análisis y Reportes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Ofrece estadísticas sobre ventas, clientes potenciales y rendimiento de campañas.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Ayuda en la toma de decisiones basada en datos.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2d8fa948c4e_0_0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2d8fa948c4e_0_0"/>
          <p:cNvSpPr txBox="1"/>
          <p:nvPr/>
        </p:nvSpPr>
        <p:spPr>
          <a:xfrm>
            <a:off x="31075" y="862425"/>
            <a:ext cx="9067200" cy="4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Beneficios de un CRM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la experiencia del cliente.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Aumenta la eficiencia de los equipos de ventas y marketing.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Facilita la fidelización de clientes.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la comunicación interna y la colaboración.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2d8fa948c4e_0_9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d8fa948c4e_0_9"/>
          <p:cNvSpPr txBox="1"/>
          <p:nvPr/>
        </p:nvSpPr>
        <p:spPr>
          <a:xfrm>
            <a:off x="2719375" y="256400"/>
            <a:ext cx="26106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Tipos de CRM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9" name="Google Shape;89;g2d8fa948c4e_0_9"/>
          <p:cNvSpPr txBox="1"/>
          <p:nvPr/>
        </p:nvSpPr>
        <p:spPr>
          <a:xfrm>
            <a:off x="69925" y="877975"/>
            <a:ext cx="90207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Existen tres tipos principales de </a:t>
            </a:r>
            <a:r>
              <a:rPr lang="es" sz="1800" b="1">
                <a:solidFill>
                  <a:schemeClr val="dk1"/>
                </a:solidFill>
              </a:rPr>
              <a:t>CRM (Customer Relationship Management)</a:t>
            </a:r>
            <a:r>
              <a:rPr lang="es" sz="1800">
                <a:solidFill>
                  <a:schemeClr val="dk1"/>
                </a:solidFill>
              </a:rPr>
              <a:t>, cada uno enfocado en diferentes necesidades empresariales.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g2d8fa948c4e_0_9"/>
          <p:cNvSpPr txBox="1"/>
          <p:nvPr/>
        </p:nvSpPr>
        <p:spPr>
          <a:xfrm>
            <a:off x="54375" y="1623850"/>
            <a:ext cx="8911800" cy="3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 b="1">
                <a:solidFill>
                  <a:schemeClr val="dk1"/>
                </a:solidFill>
              </a:rPr>
              <a:t>CRM Operativo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</a:rPr>
              <a:t>Función:</a:t>
            </a:r>
            <a:r>
              <a:rPr lang="es" sz="1600">
                <a:solidFill>
                  <a:schemeClr val="dk1"/>
                </a:solidFill>
              </a:rPr>
              <a:t> Automatiza y optimiza los procesos de ventas, marketing y servicio al cliente.</a:t>
            </a:r>
            <a:br>
              <a:rPr lang="es" sz="1600">
                <a:solidFill>
                  <a:schemeClr val="dk1"/>
                </a:solidFill>
              </a:rPr>
            </a:br>
            <a:r>
              <a:rPr lang="es" sz="1600" b="1">
                <a:solidFill>
                  <a:schemeClr val="dk1"/>
                </a:solidFill>
              </a:rPr>
              <a:t>Características: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Gestión de contactos y clientes.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Automatización del proceso de ventas y marketing.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Servicio al cliente centralizado.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Integración con chatbots, emails y call centers.</a:t>
            </a:r>
            <a:br>
              <a:rPr lang="es" sz="1600">
                <a:solidFill>
                  <a:schemeClr val="dk1"/>
                </a:solidFill>
              </a:rPr>
            </a:br>
            <a:r>
              <a:rPr lang="es" sz="1600">
                <a:solidFill>
                  <a:schemeClr val="dk1"/>
                </a:solidFill>
              </a:rPr>
              <a:t>   </a:t>
            </a:r>
            <a:r>
              <a:rPr lang="es" sz="1600" b="1">
                <a:solidFill>
                  <a:schemeClr val="dk1"/>
                </a:solidFill>
              </a:rPr>
              <a:t>Ejemplo:</a:t>
            </a:r>
            <a:r>
              <a:rPr lang="es" sz="1600">
                <a:solidFill>
                  <a:schemeClr val="dk1"/>
                </a:solidFill>
              </a:rPr>
              <a:t> Un sistema que asigna automáticamente un cliente a un vendedor y le envía recordatorios para hacer seguimiento.</a:t>
            </a:r>
            <a:br>
              <a:rPr lang="es" sz="1600">
                <a:solidFill>
                  <a:schemeClr val="dk1"/>
                </a:solidFill>
              </a:rPr>
            </a:br>
            <a:r>
              <a:rPr lang="es" sz="1600">
                <a:solidFill>
                  <a:schemeClr val="dk1"/>
                </a:solidFill>
              </a:rPr>
              <a:t> </a:t>
            </a:r>
            <a:r>
              <a:rPr lang="es" sz="1600" b="1">
                <a:solidFill>
                  <a:schemeClr val="dk1"/>
                </a:solidFill>
              </a:rPr>
              <a:t>Ejemplo de software:</a:t>
            </a:r>
            <a:r>
              <a:rPr lang="es" sz="1600">
                <a:solidFill>
                  <a:schemeClr val="dk1"/>
                </a:solidFill>
              </a:rPr>
              <a:t> </a:t>
            </a:r>
            <a:r>
              <a:rPr lang="es" sz="1600" b="1">
                <a:solidFill>
                  <a:schemeClr val="dk1"/>
                </a:solidFill>
              </a:rPr>
              <a:t>Salesforce, HubSpot CRM, Zoho CRM.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2d8fa948c4e_0_13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2d8fa948c4e_0_13"/>
          <p:cNvSpPr txBox="1"/>
          <p:nvPr/>
        </p:nvSpPr>
        <p:spPr>
          <a:xfrm>
            <a:off x="15550" y="769200"/>
            <a:ext cx="90906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CRM Analítico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Función:</a:t>
            </a:r>
            <a:r>
              <a:rPr lang="es" sz="1800">
                <a:solidFill>
                  <a:schemeClr val="dk1"/>
                </a:solidFill>
              </a:rPr>
              <a:t> Se centra en el análisis de datos para mejorar la toma de decisiones y la personalización de estrategias.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 b="1">
                <a:solidFill>
                  <a:schemeClr val="dk1"/>
                </a:solidFill>
              </a:rPr>
              <a:t>Características: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Recopila datos de clientes desde múltiples fuentes.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Segmentación de clientes según su comportamiento.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Predicción de tendencias de compra.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Creación de reportes y dashboards.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   </a:t>
            </a:r>
            <a:r>
              <a:rPr lang="es" sz="1800" b="1">
                <a:solidFill>
                  <a:schemeClr val="dk1"/>
                </a:solidFill>
              </a:rPr>
              <a:t>Ejemplo:</a:t>
            </a:r>
            <a:r>
              <a:rPr lang="es" sz="1800">
                <a:solidFill>
                  <a:schemeClr val="dk1"/>
                </a:solidFill>
              </a:rPr>
              <a:t> Un sistema que analiza el historial de compras de los clientes y recomienda productos específicos para campañas de marketing.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   </a:t>
            </a:r>
            <a:r>
              <a:rPr lang="es" sz="1800" b="1">
                <a:solidFill>
                  <a:schemeClr val="dk1"/>
                </a:solidFill>
              </a:rPr>
              <a:t>Ejemplo de software:</a:t>
            </a:r>
            <a:r>
              <a:rPr lang="es" sz="1800">
                <a:solidFill>
                  <a:schemeClr val="dk1"/>
                </a:solidFill>
              </a:rPr>
              <a:t> </a:t>
            </a:r>
            <a:r>
              <a:rPr lang="es" sz="1800" b="1">
                <a:solidFill>
                  <a:schemeClr val="dk1"/>
                </a:solidFill>
              </a:rPr>
              <a:t>Microsoft Dynamics 365, SAP CRM, Google Analytics (integrado con CRM).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2d8fa948c4e_0_2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d8fa948c4e_0_21"/>
          <p:cNvSpPr txBox="1"/>
          <p:nvPr/>
        </p:nvSpPr>
        <p:spPr>
          <a:xfrm>
            <a:off x="31075" y="854650"/>
            <a:ext cx="9112800" cy="4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 CRM Colaborativo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Función:</a:t>
            </a:r>
            <a:r>
              <a:rPr lang="es" sz="1800">
                <a:solidFill>
                  <a:schemeClr val="dk1"/>
                </a:solidFill>
              </a:rPr>
              <a:t> Facilita la comunicación entre diferentes departamentos (ventas, marketing y servicio al cliente) para mejorar la experiencia del cliente.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 b="1">
                <a:solidFill>
                  <a:schemeClr val="dk1"/>
                </a:solidFill>
              </a:rPr>
              <a:t>Características: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Compartición de datos en tiempo real entre equipos.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Historial de interacciones accesible para todos.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Coordinación entre canales de comunicación (email, redes sociales, chat en vivo).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    </a:t>
            </a:r>
            <a:r>
              <a:rPr lang="es" sz="1800" b="1">
                <a:solidFill>
                  <a:schemeClr val="dk1"/>
                </a:solidFill>
              </a:rPr>
              <a:t>Ejemplo:</a:t>
            </a:r>
            <a:r>
              <a:rPr lang="es" sz="1800">
                <a:solidFill>
                  <a:schemeClr val="dk1"/>
                </a:solidFill>
              </a:rPr>
              <a:t> Un sistema donde el equipo de soporte accede al historial de compras y reclamaciones de un cliente para brindar una mejor solución.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    </a:t>
            </a:r>
            <a:r>
              <a:rPr lang="es" sz="1800" b="1">
                <a:solidFill>
                  <a:schemeClr val="dk1"/>
                </a:solidFill>
              </a:rPr>
              <a:t>Ejemplo de software:</a:t>
            </a:r>
            <a:r>
              <a:rPr lang="es" sz="1800">
                <a:solidFill>
                  <a:schemeClr val="dk1"/>
                </a:solidFill>
              </a:rPr>
              <a:t> </a:t>
            </a:r>
            <a:r>
              <a:rPr lang="es" sz="1800" b="1">
                <a:solidFill>
                  <a:schemeClr val="dk1"/>
                </a:solidFill>
              </a:rPr>
              <a:t>Zendesk, Freshsales, Pipedrive.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2d8fa948c4e_0_25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2d8fa948c4e_0_25"/>
          <p:cNvSpPr txBox="1"/>
          <p:nvPr/>
        </p:nvSpPr>
        <p:spPr>
          <a:xfrm>
            <a:off x="23300" y="839125"/>
            <a:ext cx="9082800" cy="42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¿Cuál es el mejor para tu empresa?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Pequeñas empresas</a:t>
            </a:r>
            <a:r>
              <a:rPr lang="es" sz="1800">
                <a:solidFill>
                  <a:schemeClr val="dk1"/>
                </a:solidFill>
              </a:rPr>
              <a:t> → </a:t>
            </a:r>
            <a:r>
              <a:rPr lang="es" sz="1800" b="1">
                <a:solidFill>
                  <a:schemeClr val="dk1"/>
                </a:solidFill>
              </a:rPr>
              <a:t>CRM Operativo</a:t>
            </a:r>
            <a:r>
              <a:rPr lang="es" sz="1800">
                <a:solidFill>
                  <a:schemeClr val="dk1"/>
                </a:solidFill>
              </a:rPr>
              <a:t> para gestionar clientes y automatizar tareas.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Empresas en crecimiento</a:t>
            </a:r>
            <a:r>
              <a:rPr lang="es" sz="1800">
                <a:solidFill>
                  <a:schemeClr val="dk1"/>
                </a:solidFill>
              </a:rPr>
              <a:t> → </a:t>
            </a:r>
            <a:r>
              <a:rPr lang="es" sz="1800" b="1">
                <a:solidFill>
                  <a:schemeClr val="dk1"/>
                </a:solidFill>
              </a:rPr>
              <a:t>CRM Analítico</a:t>
            </a:r>
            <a:r>
              <a:rPr lang="es" sz="1800">
                <a:solidFill>
                  <a:schemeClr val="dk1"/>
                </a:solidFill>
              </a:rPr>
              <a:t> para mejorar la estrategia con datos.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b="1">
                <a:solidFill>
                  <a:schemeClr val="dk1"/>
                </a:solidFill>
              </a:rPr>
              <a:t>Empresas con múltiples departamentos</a:t>
            </a:r>
            <a:r>
              <a:rPr lang="es" sz="1800">
                <a:solidFill>
                  <a:schemeClr val="dk1"/>
                </a:solidFill>
              </a:rPr>
              <a:t> → </a:t>
            </a:r>
            <a:r>
              <a:rPr lang="es" sz="1800" b="1">
                <a:solidFill>
                  <a:schemeClr val="dk1"/>
                </a:solidFill>
              </a:rPr>
              <a:t>CRM Colaborativo</a:t>
            </a:r>
            <a:r>
              <a:rPr lang="es" sz="1800">
                <a:solidFill>
                  <a:schemeClr val="dk1"/>
                </a:solidFill>
              </a:rPr>
              <a:t> para unificar esfuerzos.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9" name="Google Shape;109;g2d8fa948c4e_0_25"/>
          <p:cNvSpPr txBox="1"/>
          <p:nvPr/>
        </p:nvSpPr>
        <p:spPr>
          <a:xfrm>
            <a:off x="233075" y="3286550"/>
            <a:ext cx="55785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hlinkClick r:id="rId4"/>
              </a:rPr>
              <a:t>https://www.youtube.com/watch?v=OeFeok-vBbk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g2d8fa948c4e_0_25"/>
          <p:cNvSpPr txBox="1"/>
          <p:nvPr/>
        </p:nvSpPr>
        <p:spPr>
          <a:xfrm>
            <a:off x="155375" y="4607400"/>
            <a:ext cx="52602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hlinkClick r:id="rId5"/>
              </a:rPr>
              <a:t>https://www.youtube.com/watch?v=Ztr24-JBL2s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2d8fa948c4e_0_29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2d8fa948c4e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925" y="745875"/>
            <a:ext cx="8686450" cy="439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2d8fa948c4e_0_17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2d8fa948c4e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0" y="732025"/>
            <a:ext cx="903610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d8fa948c4e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0" y="1894075"/>
            <a:ext cx="9036101" cy="32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2d8fa948c4e_0_33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2d8fa948c4e_0_33"/>
          <p:cNvSpPr txBox="1"/>
          <p:nvPr/>
        </p:nvSpPr>
        <p:spPr>
          <a:xfrm>
            <a:off x="2532900" y="264175"/>
            <a:ext cx="32088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Tendencias en los CRM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0" name="Google Shape;130;g2d8fa948c4e_0_33"/>
          <p:cNvSpPr txBox="1"/>
          <p:nvPr/>
        </p:nvSpPr>
        <p:spPr>
          <a:xfrm>
            <a:off x="23300" y="839125"/>
            <a:ext cx="9051600" cy="42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>
                <a:solidFill>
                  <a:schemeClr val="dk1"/>
                </a:solidFill>
              </a:rPr>
              <a:t>Inteligencia Artificial (IA) y Machine Learning 🤖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Predicción de comportamientos y necesidades de los clientes.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Automatización de tareas repetitivas.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Chatbots inteligentes para atención al cliente 24/7.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>
                <a:solidFill>
                  <a:schemeClr val="dk1"/>
                </a:solidFill>
              </a:rPr>
              <a:t>CRM basado en la Nube ☁️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Mayor accesibilidad desde cualquier dispositivo.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Reducción de costos en infraestructura.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Integración con otras herramientas empresariales.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>
                <a:solidFill>
                  <a:schemeClr val="dk1"/>
                </a:solidFill>
              </a:rPr>
              <a:t>Experiencia Omnicanal 📱💻📧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Unificación de interacciones en múltiples canales (redes sociales, email, chat en vivo, WhatsApp, etc.).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Seguimiento en tiempo real del cliente sin importar el canal que use.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2d8fa948c4e_0_4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d8fa948c4e_0_41"/>
          <p:cNvSpPr txBox="1"/>
          <p:nvPr/>
        </p:nvSpPr>
        <p:spPr>
          <a:xfrm>
            <a:off x="15550" y="730350"/>
            <a:ext cx="9043800" cy="43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2d8fa948c4e_0_41"/>
          <p:cNvSpPr txBox="1"/>
          <p:nvPr/>
        </p:nvSpPr>
        <p:spPr>
          <a:xfrm>
            <a:off x="38850" y="815800"/>
            <a:ext cx="9105300" cy="43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>
                <a:solidFill>
                  <a:schemeClr val="dk1"/>
                </a:solidFill>
              </a:rPr>
              <a:t>Personalización en Tiempo Real 🎯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CRM adaptado a las preferencias y comportamiento de cada usuario.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Ofertas y recomendaciones automatizadas basadas en datos.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>
                <a:solidFill>
                  <a:schemeClr val="dk1"/>
                </a:solidFill>
              </a:rPr>
              <a:t>Integración con ERP y Otras Plataformas 🔗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Mayor conectividad con sistemas de gestión empresarial (ERP, e-commerce, marketing automation).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Flujo de información unificado en toda la empresa.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>
                <a:solidFill>
                  <a:schemeClr val="dk1"/>
                </a:solidFill>
              </a:rPr>
              <a:t>Mayor Enfoque en Seguridad y Privacidad 🔐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Protección avanzada de datos con cifrado y autenticación de dos factores.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Cumplimiento de normativas como GDPR y CCPA.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d8fa948c4e_0_37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2d8fa948c4e_0_37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2d8fa948c4e_0_37"/>
          <p:cNvSpPr txBox="1"/>
          <p:nvPr/>
        </p:nvSpPr>
        <p:spPr>
          <a:xfrm>
            <a:off x="15550" y="823575"/>
            <a:ext cx="9067200" cy="42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>
                <a:solidFill>
                  <a:schemeClr val="dk1"/>
                </a:solidFill>
              </a:rPr>
              <a:t>CRM con Funcionalidad de Voz 🎙️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Uso de asistentes virtuales para búsqueda de datos y gestión de tareas.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Integración con dispositivos como Alexa, Google Assistant o Siri.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>
                <a:solidFill>
                  <a:schemeClr val="dk1"/>
                </a:solidFill>
              </a:rPr>
              <a:t>Análisis de Datos y Big Data 📊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Uso de herramientas avanzadas de Business Intelligence (BI).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Creación de informes predictivos para mejorar estrategias comerciales.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b="1">
                <a:solidFill>
                  <a:schemeClr val="dk1"/>
                </a:solidFill>
              </a:rPr>
              <a:t>CRM Low-Code/No-Code 🛠️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Sistemas personalizables sin necesidad de conocimientos de programación.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Empresas pueden adaptar el CRM a sus necesidades sin contratar desarrolladores.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39a09cea51_0_0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39a09cea51_0_0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La </a:t>
            </a:r>
            <a:r>
              <a:rPr lang="es" sz="1800" b="1">
                <a:solidFill>
                  <a:schemeClr val="dk1"/>
                </a:solidFill>
              </a:rPr>
              <a:t>automatización inteligente</a:t>
            </a:r>
            <a:r>
              <a:rPr lang="es" sz="1800">
                <a:solidFill>
                  <a:schemeClr val="dk1"/>
                </a:solidFill>
              </a:rPr>
              <a:t> combina tecnologías como </a:t>
            </a:r>
            <a:r>
              <a:rPr lang="es" sz="1800" b="1">
                <a:solidFill>
                  <a:schemeClr val="dk1"/>
                </a:solidFill>
              </a:rPr>
              <a:t>Inteligencia Artificial (IA), Machine Learning (ML) y Robotic Process Automation (RPA)</a:t>
            </a:r>
            <a:r>
              <a:rPr lang="es" sz="1800">
                <a:solidFill>
                  <a:schemeClr val="dk1"/>
                </a:solidFill>
              </a:rPr>
              <a:t> para optimizar tareas repetitivas y mejorar la eficiencia operativa. Esto permite a las empresas ahorrar tiempo, reducir errores y centrarse en actividades estratégicas.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Beneficios de la Automatización Inteligente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✔ </a:t>
            </a:r>
            <a:r>
              <a:rPr lang="es" sz="1800" b="1">
                <a:solidFill>
                  <a:schemeClr val="dk1"/>
                </a:solidFill>
              </a:rPr>
              <a:t>Ahorro de tiempo:</a:t>
            </a:r>
            <a:r>
              <a:rPr lang="es" sz="1800">
                <a:solidFill>
                  <a:schemeClr val="dk1"/>
                </a:solidFill>
              </a:rPr>
              <a:t> Reducción de procesos manuales y repetitivos.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lang="es" sz="1800" b="1">
                <a:solidFill>
                  <a:schemeClr val="dk1"/>
                </a:solidFill>
              </a:rPr>
              <a:t>Mayor precisión:</a:t>
            </a:r>
            <a:r>
              <a:rPr lang="es" sz="1800">
                <a:solidFill>
                  <a:schemeClr val="dk1"/>
                </a:solidFill>
              </a:rPr>
              <a:t> Menos errores humanos en tareas operativas.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lang="es" sz="1800" b="1">
                <a:solidFill>
                  <a:schemeClr val="dk1"/>
                </a:solidFill>
              </a:rPr>
              <a:t>Mejor experiencia del cliente:</a:t>
            </a:r>
            <a:r>
              <a:rPr lang="es" sz="1800">
                <a:solidFill>
                  <a:schemeClr val="dk1"/>
                </a:solidFill>
              </a:rPr>
              <a:t> Respuestas más rápidas y personalizadas.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✔ </a:t>
            </a:r>
            <a:r>
              <a:rPr lang="es" sz="1800" b="1">
                <a:solidFill>
                  <a:schemeClr val="dk1"/>
                </a:solidFill>
              </a:rPr>
              <a:t>Optimización de costos:</a:t>
            </a:r>
            <a:r>
              <a:rPr lang="es" sz="1800">
                <a:solidFill>
                  <a:schemeClr val="dk1"/>
                </a:solidFill>
              </a:rPr>
              <a:t> Reducción de recursos en tareas administrativas.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51" name="Google Shape;151;g339a09cea51_0_0"/>
          <p:cNvSpPr txBox="1"/>
          <p:nvPr/>
        </p:nvSpPr>
        <p:spPr>
          <a:xfrm>
            <a:off x="2276525" y="233100"/>
            <a:ext cx="4055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Automatización Inteligente en Tareas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g339a09cea51_0_5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39a09cea51_0_5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CRM y Automatización de Ventas 📊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Seguimiento automático de clientes potenciales.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Envío de recordatorios y propuestas personalizadas.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Priorización de oportunidades de negocio mediante IA.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Atención al Cliente con IA 🤖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Chatbots y asistentes virtuales que responden consultas 24/7.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Análisis de sentimientos en correos y redes sociales.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Respuesta automática basada en el historial del cliente.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8" name="Google Shape;158;g339a09cea51_0_5"/>
          <p:cNvSpPr txBox="1"/>
          <p:nvPr/>
        </p:nvSpPr>
        <p:spPr>
          <a:xfrm>
            <a:off x="2159975" y="567200"/>
            <a:ext cx="4219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Ejemplos de Automatización Inteligente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39a09cea51_0_10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39a09cea51_0_10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39a09cea51_0_10"/>
          <p:cNvSpPr txBox="1"/>
          <p:nvPr/>
        </p:nvSpPr>
        <p:spPr>
          <a:xfrm>
            <a:off x="23300" y="831350"/>
            <a:ext cx="9043800" cy="42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Automatización en Marketing 🎯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Envío de campañas personalizadas según el comportamiento del cliente.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Segmentación de clientes con IA para mejorar conversiones.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Análisis de datos para prever tendencias de compra.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Procesos Administrativos y Gestión de Datos 🏢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Facturación automática y seguimiento de pagos.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Generación de reportes inteligentes con análisis predictivo.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Integración de ERP y CRM para optimizar la toma de decisiones.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339a09cea51_0_15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39a09cea51_0_15"/>
          <p:cNvSpPr txBox="1"/>
          <p:nvPr/>
        </p:nvSpPr>
        <p:spPr>
          <a:xfrm>
            <a:off x="8450" y="893500"/>
            <a:ext cx="9058500" cy="41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39a09cea51_0_15"/>
          <p:cNvSpPr txBox="1"/>
          <p:nvPr/>
        </p:nvSpPr>
        <p:spPr>
          <a:xfrm>
            <a:off x="15550" y="831350"/>
            <a:ext cx="9058500" cy="42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Tendencias Futuras en Automatización Inteligente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1"/>
                </a:solidFill>
              </a:rPr>
              <a:t>Automatización con voz:</a:t>
            </a:r>
            <a:r>
              <a:rPr lang="es" sz="1800">
                <a:solidFill>
                  <a:schemeClr val="dk1"/>
                </a:solidFill>
              </a:rPr>
              <a:t> CRM y sistemas de gestión controlados por comandos de voz.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 b="1">
                <a:solidFill>
                  <a:schemeClr val="dk1"/>
                </a:solidFill>
              </a:rPr>
              <a:t>IA conversacional avanzada:</a:t>
            </a:r>
            <a:r>
              <a:rPr lang="es" sz="1800">
                <a:solidFill>
                  <a:schemeClr val="dk1"/>
                </a:solidFill>
              </a:rPr>
              <a:t> Chatbots con mayor capacidad de comprensión y personalización.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 b="1">
                <a:solidFill>
                  <a:schemeClr val="dk1"/>
                </a:solidFill>
              </a:rPr>
              <a:t>Automatización predictiva:</a:t>
            </a:r>
            <a:r>
              <a:rPr lang="es" sz="1800">
                <a:solidFill>
                  <a:schemeClr val="dk1"/>
                </a:solidFill>
              </a:rPr>
              <a:t> Sistemas que anticipan necesidades y acciones de los clientes.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1165</Words>
  <Application>Microsoft Office PowerPoint</Application>
  <PresentationFormat>Presentación en pantalla (16:9)</PresentationFormat>
  <Paragraphs>108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0" baseType="lpstr"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mynor israel miranda lopez</dc:creator>
  <cp:lastModifiedBy>mynor israel miranda lopez</cp:lastModifiedBy>
  <cp:revision>2</cp:revision>
  <dcterms:modified xsi:type="dcterms:W3CDTF">2025-07-30T04:17:03Z</dcterms:modified>
</cp:coreProperties>
</file>