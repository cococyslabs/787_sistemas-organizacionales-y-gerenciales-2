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74" r:id="rId2"/>
    <p:sldId id="275" r:id="rId3"/>
    <p:sldId id="276" r:id="rId4"/>
    <p:sldId id="277"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95" r:id="rId23"/>
    <p:sldId id="296" r:id="rId24"/>
    <p:sldId id="298" r:id="rId25"/>
    <p:sldId id="299"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lwTsLKcRK03Z4gW8aNtKAST9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1118CD-51ED-4F3A-AA6B-27D2FAB7BC68}">
  <a:tblStyle styleId="{C11118CD-51ED-4F3A-AA6B-27D2FAB7BC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110" y="3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E570218-867E-121D-01B9-8CC51648F0C5}"/>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57D3D993-076B-7150-08C9-4C015555C7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040568D9-730C-6ABD-CEAF-B547019B7B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54846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853e9ab94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d853e9ab94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g2d853e9ab94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d853e9ab94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g2d853e9ab94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d8fa948c4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g2d8fa948c4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d8fa948c4e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2d8fa948c4e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d8fa948c4e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2d8fa948c4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d8fa948c4e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2d8fa948c4e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d8fa948c4e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2d8fa948c4e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d8fa948c4e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2d8fa948c4e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d8fa948c4e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g2d8fa948c4e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d8fa948c4e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d8fa948c4e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dcf99f76a9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dcf99f76a9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d8fa948c4e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2d8fa948c4e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d8fa948c4e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2d8fa948c4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39a09cea5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39a09cea5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39a09cea5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39a09cea51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39a09cea51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39a09cea51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2" name="Google Shape;3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0" name="Google Shape;3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64afea4f63_0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g364afea4f63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3" name="Google Shape;40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97B6BA21-4E8F-010D-20EE-1197C27EBDEC}"/>
            </a:ext>
          </a:extLst>
        </p:cNvPr>
        <p:cNvGrpSpPr/>
        <p:nvPr/>
      </p:nvGrpSpPr>
      <p:grpSpPr>
        <a:xfrm>
          <a:off x="0" y="0"/>
          <a:ext cx="0" cy="0"/>
          <a:chOff x="0" y="0"/>
          <a:chExt cx="0" cy="0"/>
        </a:xfrm>
      </p:grpSpPr>
      <p:pic>
        <p:nvPicPr>
          <p:cNvPr id="54" name="Google Shape;54;p1">
            <a:extLst>
              <a:ext uri="{FF2B5EF4-FFF2-40B4-BE49-F238E27FC236}">
                <a16:creationId xmlns:a16="http://schemas.microsoft.com/office/drawing/2014/main" id="{F3E270F9-B1C1-DC43-7B20-F2B656FB6B0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a:extLst>
              <a:ext uri="{FF2B5EF4-FFF2-40B4-BE49-F238E27FC236}">
                <a16:creationId xmlns:a16="http://schemas.microsoft.com/office/drawing/2014/main" id="{AE75B8A2-467E-84DE-88AE-79AE7D73B003}"/>
              </a:ext>
            </a:extLst>
          </p:cNvPr>
          <p:cNvGraphicFramePr/>
          <p:nvPr>
            <p:extLst>
              <p:ext uri="{D42A27DB-BD31-4B8C-83A1-F6EECF244321}">
                <p14:modId xmlns:p14="http://schemas.microsoft.com/office/powerpoint/2010/main" val="2996318337"/>
              </p:ext>
            </p:extLst>
          </p:nvPr>
        </p:nvGraphicFramePr>
        <p:xfrm>
          <a:off x="5328200" y="970025"/>
          <a:ext cx="3690575" cy="798516"/>
        </p:xfrm>
        <a:graphic>
          <a:graphicData uri="http://schemas.openxmlformats.org/drawingml/2006/table">
            <a:tbl>
              <a:tblPr>
                <a:noFill/>
                <a:tableStyleId>{C11118CD-51ED-4F3A-AA6B-27D2FAB7BC68}</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Martes, 10/02/2026</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a:extLst>
              <a:ext uri="{FF2B5EF4-FFF2-40B4-BE49-F238E27FC236}">
                <a16:creationId xmlns:a16="http://schemas.microsoft.com/office/drawing/2014/main" id="{DEDBFDB1-2D07-90B9-8D7A-6EE00F2407CB}"/>
              </a:ext>
            </a:extLst>
          </p:cNvPr>
          <p:cNvSpPr txBox="1"/>
          <p:nvPr/>
        </p:nvSpPr>
        <p:spPr>
          <a:xfrm>
            <a:off x="3992650" y="2132750"/>
            <a:ext cx="5142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000000"/>
                </a:solidFill>
                <a:latin typeface="Arial"/>
                <a:ea typeface="Arial"/>
                <a:cs typeface="Arial"/>
                <a:sym typeface="Arial"/>
              </a:rPr>
              <a:t>SISTEMAS ORGANIZACIONALES Y GERENCIALES 2 Sección P</a:t>
            </a:r>
            <a:endParaRPr sz="2500" b="0" i="0" u="none" strike="noStrike" cap="none">
              <a:solidFill>
                <a:srgbClr val="000000"/>
              </a:solidFill>
              <a:latin typeface="Arial"/>
              <a:ea typeface="Arial"/>
              <a:cs typeface="Arial"/>
              <a:sym typeface="Arial"/>
            </a:endParaRPr>
          </a:p>
        </p:txBody>
      </p:sp>
      <p:sp>
        <p:nvSpPr>
          <p:cNvPr id="57" name="Google Shape;57;p1">
            <a:extLst>
              <a:ext uri="{FF2B5EF4-FFF2-40B4-BE49-F238E27FC236}">
                <a16:creationId xmlns:a16="http://schemas.microsoft.com/office/drawing/2014/main" id="{FAA02BE0-F264-3E49-8CDA-CA05D9FA4E01}"/>
              </a:ext>
            </a:extLst>
          </p:cNvPr>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 sz="2000" b="0" i="0" u="none" strike="noStrike" cap="none" dirty="0">
                <a:solidFill>
                  <a:srgbClr val="000000"/>
                </a:solidFill>
                <a:latin typeface="Arial"/>
                <a:ea typeface="Arial"/>
                <a:cs typeface="Arial"/>
                <a:sym typeface="Arial"/>
              </a:rPr>
              <a:t>Mynor Israel Miranda López</a:t>
            </a:r>
            <a:endParaRPr sz="20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19295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
          <p:cNvSpPr/>
          <p:nvPr/>
        </p:nvSpPr>
        <p:spPr>
          <a:xfrm>
            <a:off x="6270655" y="3010939"/>
            <a:ext cx="2080092" cy="2057400"/>
          </a:xfrm>
          <a:custGeom>
            <a:avLst/>
            <a:gdLst/>
            <a:ahLst/>
            <a:cxnLst/>
            <a:rect l="l" t="t" r="r" b="b"/>
            <a:pathLst>
              <a:path w="4160184" h="4114800" extrusionOk="0">
                <a:moveTo>
                  <a:pt x="0" y="0"/>
                </a:moveTo>
                <a:lnTo>
                  <a:pt x="4160184" y="0"/>
                </a:lnTo>
                <a:lnTo>
                  <a:pt x="4160184" y="4114800"/>
                </a:lnTo>
                <a:lnTo>
                  <a:pt x="0" y="4114800"/>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97" name="Google Shape;97;p1"/>
          <p:cNvSpPr txBox="1"/>
          <p:nvPr/>
        </p:nvSpPr>
        <p:spPr>
          <a:xfrm>
            <a:off x="445125" y="3777513"/>
            <a:ext cx="4263300" cy="538609"/>
          </a:xfrm>
          <a:prstGeom prst="rect">
            <a:avLst/>
          </a:prstGeom>
          <a:noFill/>
          <a:ln>
            <a:noFill/>
          </a:ln>
        </p:spPr>
        <p:txBody>
          <a:bodyPr spcFirstLastPara="1" wrap="square" lIns="0" tIns="0" rIns="0" bIns="0" anchor="t" anchorCtr="0">
            <a:spAutoFit/>
          </a:bodyPr>
          <a:lstStyle/>
          <a:p>
            <a:pPr algn="ctr">
              <a:lnSpc>
                <a:spcPct val="140000"/>
              </a:lnSpc>
              <a:buSzPts val="5000"/>
            </a:pPr>
            <a:r>
              <a:rPr lang="en-US" sz="2500" b="1">
                <a:solidFill>
                  <a:srgbClr val="131416"/>
                </a:solidFill>
                <a:latin typeface="Open Sans"/>
                <a:ea typeface="Open Sans"/>
                <a:cs typeface="Open Sans"/>
                <a:sym typeface="Open Sans"/>
              </a:rPr>
              <a:t>SOYG2</a:t>
            </a:r>
            <a:endParaRPr sz="2500" b="1">
              <a:solidFill>
                <a:srgbClr val="131416"/>
              </a:solidFill>
              <a:latin typeface="Open Sans"/>
              <a:ea typeface="Open Sans"/>
              <a:cs typeface="Open Sans"/>
              <a:sym typeface="Open Sans"/>
            </a:endParaRPr>
          </a:p>
        </p:txBody>
      </p:sp>
      <p:sp>
        <p:nvSpPr>
          <p:cNvPr id="98" name="Google Shape;98;p1"/>
          <p:cNvSpPr txBox="1"/>
          <p:nvPr/>
        </p:nvSpPr>
        <p:spPr>
          <a:xfrm>
            <a:off x="1295628" y="1083737"/>
            <a:ext cx="6187500" cy="2089803"/>
          </a:xfrm>
          <a:prstGeom prst="rect">
            <a:avLst/>
          </a:prstGeom>
          <a:noFill/>
          <a:ln>
            <a:noFill/>
          </a:ln>
        </p:spPr>
        <p:txBody>
          <a:bodyPr spcFirstLastPara="1" wrap="square" lIns="0" tIns="0" rIns="0" bIns="0" anchor="t" anchorCtr="0">
            <a:spAutoFit/>
          </a:bodyPr>
          <a:lstStyle/>
          <a:p>
            <a:pPr algn="ctr">
              <a:lnSpc>
                <a:spcPct val="140000"/>
              </a:lnSpc>
              <a:buSzPts val="9200"/>
            </a:pPr>
            <a:r>
              <a:rPr lang="en-US" sz="4600" b="1">
                <a:solidFill>
                  <a:srgbClr val="131416"/>
                </a:solidFill>
                <a:latin typeface="Open Sans"/>
                <a:ea typeface="Open Sans"/>
                <a:cs typeface="Open Sans"/>
                <a:sym typeface="Open Sans"/>
              </a:rPr>
              <a:t>UNIDAD 1</a:t>
            </a:r>
            <a:endParaRPr sz="700"/>
          </a:p>
          <a:p>
            <a:pPr algn="ctr">
              <a:lnSpc>
                <a:spcPct val="140000"/>
              </a:lnSpc>
            </a:pPr>
            <a:r>
              <a:rPr lang="en-US" sz="2200" b="1">
                <a:solidFill>
                  <a:srgbClr val="131416"/>
                </a:solidFill>
                <a:latin typeface="Open Sans"/>
                <a:ea typeface="Open Sans"/>
                <a:cs typeface="Open Sans"/>
                <a:sym typeface="Open Sans"/>
              </a:rPr>
              <a:t>Exploración del mundo de los ERP (Enterprise Resource Planning)</a:t>
            </a:r>
            <a:endParaRPr sz="2200" b="1">
              <a:solidFill>
                <a:srgbClr val="131416"/>
              </a:solidFill>
              <a:latin typeface="Open Sans"/>
              <a:ea typeface="Open Sans"/>
              <a:cs typeface="Open Sans"/>
              <a:sym typeface="Open Sans"/>
            </a:endParaRPr>
          </a:p>
          <a:p>
            <a:pPr algn="ctr">
              <a:lnSpc>
                <a:spcPct val="140000"/>
              </a:lnSpc>
              <a:buSzPts val="9200"/>
            </a:pPr>
            <a:endParaRPr sz="700"/>
          </a:p>
        </p:txBody>
      </p:sp>
      <p:sp>
        <p:nvSpPr>
          <p:cNvPr id="99" name="Google Shape;99;p1"/>
          <p:cNvSpPr txBox="1"/>
          <p:nvPr/>
        </p:nvSpPr>
        <p:spPr>
          <a:xfrm>
            <a:off x="531652" y="4372626"/>
            <a:ext cx="3490690" cy="538609"/>
          </a:xfrm>
          <a:prstGeom prst="rect">
            <a:avLst/>
          </a:prstGeom>
          <a:noFill/>
          <a:ln>
            <a:noFill/>
          </a:ln>
        </p:spPr>
        <p:txBody>
          <a:bodyPr spcFirstLastPara="1" wrap="square" lIns="0" tIns="0" rIns="0" bIns="0" anchor="t" anchorCtr="0">
            <a:spAutoFit/>
          </a:bodyPr>
          <a:lstStyle/>
          <a:p>
            <a:pPr algn="ctr">
              <a:lnSpc>
                <a:spcPct val="140016"/>
              </a:lnSpc>
              <a:buSzPts val="2499"/>
            </a:pPr>
            <a:r>
              <a:rPr lang="en-US" sz="1250" b="1">
                <a:solidFill>
                  <a:srgbClr val="131416"/>
                </a:solidFill>
                <a:latin typeface="Open Sans"/>
                <a:ea typeface="Open Sans"/>
                <a:cs typeface="Open Sans"/>
                <a:sym typeface="Open Sans"/>
              </a:rPr>
              <a:t>Escuela de Ingenieria de Ciencias Y Sistemas</a:t>
            </a:r>
            <a:endParaRPr sz="1250" b="1">
              <a:solidFill>
                <a:srgbClr val="131416"/>
              </a:solidFill>
              <a:latin typeface="Open Sans"/>
              <a:ea typeface="Open Sans"/>
              <a:cs typeface="Open Sans"/>
              <a:sym typeface="Open Sans"/>
            </a:endParaRPr>
          </a:p>
        </p:txBody>
      </p:sp>
      <p:sp>
        <p:nvSpPr>
          <p:cNvPr id="100" name="Google Shape;100;p1"/>
          <p:cNvSpPr txBox="1"/>
          <p:nvPr/>
        </p:nvSpPr>
        <p:spPr>
          <a:xfrm>
            <a:off x="514350" y="4605338"/>
            <a:ext cx="3333750" cy="269304"/>
          </a:xfrm>
          <a:prstGeom prst="rect">
            <a:avLst/>
          </a:prstGeom>
          <a:noFill/>
          <a:ln>
            <a:noFill/>
          </a:ln>
        </p:spPr>
        <p:txBody>
          <a:bodyPr spcFirstLastPara="1" wrap="square" lIns="0" tIns="0" rIns="0" bIns="0" anchor="t" anchorCtr="0">
            <a:spAutoFit/>
          </a:bodyPr>
          <a:lstStyle/>
          <a:p>
            <a:pPr>
              <a:lnSpc>
                <a:spcPct val="140016"/>
              </a:lnSpc>
              <a:buSzPts val="2499"/>
            </a:pPr>
            <a:r>
              <a:rPr lang="en-US" sz="1250" b="1">
                <a:solidFill>
                  <a:srgbClr val="131416"/>
                </a:solidFill>
                <a:latin typeface="Open Sans"/>
                <a:ea typeface="Open Sans"/>
                <a:cs typeface="Open Sans"/>
                <a:sym typeface="Open Sans"/>
              </a:rPr>
              <a:t>Facultad de Ingenieria</a:t>
            </a:r>
            <a:endParaRPr sz="1250" b="1">
              <a:solidFill>
                <a:srgbClr val="131416"/>
              </a:solidFill>
              <a:latin typeface="Open Sans"/>
              <a:ea typeface="Open Sans"/>
              <a:cs typeface="Open Sans"/>
              <a:sym typeface="Open Sans"/>
            </a:endParaRPr>
          </a:p>
        </p:txBody>
      </p:sp>
      <p:sp>
        <p:nvSpPr>
          <p:cNvPr id="101" name="Google Shape;101;p1"/>
          <p:cNvSpPr txBox="1"/>
          <p:nvPr/>
        </p:nvSpPr>
        <p:spPr>
          <a:xfrm>
            <a:off x="114300" y="4794127"/>
            <a:ext cx="4057650" cy="269304"/>
          </a:xfrm>
          <a:prstGeom prst="rect">
            <a:avLst/>
          </a:prstGeom>
          <a:noFill/>
          <a:ln>
            <a:noFill/>
          </a:ln>
        </p:spPr>
        <p:txBody>
          <a:bodyPr spcFirstLastPara="1" wrap="square" lIns="0" tIns="0" rIns="0" bIns="0" anchor="t" anchorCtr="0">
            <a:spAutoFit/>
          </a:bodyPr>
          <a:lstStyle/>
          <a:p>
            <a:pPr algn="ctr">
              <a:lnSpc>
                <a:spcPct val="140016"/>
              </a:lnSpc>
              <a:buSzPts val="2499"/>
            </a:pPr>
            <a:r>
              <a:rPr lang="en-US" sz="1250" b="1">
                <a:solidFill>
                  <a:srgbClr val="131416"/>
                </a:solidFill>
                <a:latin typeface="Open Sans"/>
                <a:ea typeface="Open Sans"/>
                <a:cs typeface="Open Sans"/>
                <a:sym typeface="Open Sans"/>
              </a:rPr>
              <a:t>Universidad de San Carlos de Guatemala</a:t>
            </a:r>
            <a:endParaRPr sz="700"/>
          </a:p>
        </p:txBody>
      </p:sp>
      <p:sp>
        <p:nvSpPr>
          <p:cNvPr id="102" name="Google Shape;102;p1"/>
          <p:cNvSpPr txBox="1"/>
          <p:nvPr/>
        </p:nvSpPr>
        <p:spPr>
          <a:xfrm>
            <a:off x="6489541" y="3713020"/>
            <a:ext cx="1642350" cy="1346522"/>
          </a:xfrm>
          <a:prstGeom prst="rect">
            <a:avLst/>
          </a:prstGeom>
          <a:noFill/>
          <a:ln>
            <a:noFill/>
          </a:ln>
        </p:spPr>
        <p:txBody>
          <a:bodyPr spcFirstLastPara="1" wrap="square" lIns="0" tIns="0" rIns="0" bIns="0" anchor="t" anchorCtr="0">
            <a:spAutoFit/>
          </a:bodyPr>
          <a:lstStyle/>
          <a:p>
            <a:pPr algn="ctr">
              <a:lnSpc>
                <a:spcPct val="140016"/>
              </a:lnSpc>
              <a:buSzPts val="2499"/>
            </a:pPr>
            <a:r>
              <a:rPr lang="en-US" sz="1250">
                <a:latin typeface="Open Sans"/>
                <a:ea typeface="Open Sans"/>
                <a:cs typeface="Open Sans"/>
                <a:sym typeface="Open Sans"/>
              </a:rPr>
              <a:t>Puedes usar el </a:t>
            </a:r>
            <a:endParaRPr sz="700"/>
          </a:p>
          <a:p>
            <a:pPr algn="ctr">
              <a:lnSpc>
                <a:spcPct val="140016"/>
              </a:lnSpc>
              <a:buSzPts val="2499"/>
            </a:pPr>
            <a:r>
              <a:rPr lang="en-US" sz="1250">
                <a:latin typeface="Open Sans"/>
                <a:ea typeface="Open Sans"/>
                <a:cs typeface="Open Sans"/>
                <a:sym typeface="Open Sans"/>
              </a:rPr>
              <a:t>diseño que desees</a:t>
            </a:r>
            <a:endParaRPr sz="700"/>
          </a:p>
          <a:p>
            <a:pPr algn="ctr">
              <a:lnSpc>
                <a:spcPct val="140016"/>
              </a:lnSpc>
              <a:buSzPts val="2499"/>
            </a:pPr>
            <a:r>
              <a:rPr lang="en-US" sz="1250">
                <a:latin typeface="Open Sans"/>
                <a:ea typeface="Open Sans"/>
                <a:cs typeface="Open Sans"/>
                <a:sym typeface="Open Sans"/>
              </a:rPr>
              <a:t>conserva la estructura</a:t>
            </a:r>
            <a:endParaRPr sz="700"/>
          </a:p>
          <a:p>
            <a:pPr algn="ctr">
              <a:lnSpc>
                <a:spcPct val="140016"/>
              </a:lnSpc>
              <a:buSzPts val="2499"/>
            </a:pPr>
            <a:r>
              <a:rPr lang="en-US" sz="1250">
                <a:latin typeface="Open Sans"/>
                <a:ea typeface="Open Sans"/>
                <a:cs typeface="Open Sans"/>
                <a:sym typeface="Open Sans"/>
              </a:rPr>
              <a:t>base</a:t>
            </a:r>
            <a:endParaRPr sz="700"/>
          </a:p>
        </p:txBody>
      </p:sp>
      <p:pic>
        <p:nvPicPr>
          <p:cNvPr id="103" name="Google Shape;103;p1"/>
          <p:cNvPicPr preferRelativeResize="0"/>
          <p:nvPr/>
        </p:nvPicPr>
        <p:blipFill rotWithShape="1">
          <a:blip r:embed="rId4">
            <a:alphaModFix/>
          </a:blip>
          <a:srcRect/>
          <a:stretch/>
        </p:blipFill>
        <p:spPr>
          <a:xfrm>
            <a:off x="4022338" y="0"/>
            <a:ext cx="5121663" cy="5335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pSp>
        <p:nvGrpSpPr>
          <p:cNvPr id="108" name="Google Shape;108;p2"/>
          <p:cNvGrpSpPr/>
          <p:nvPr/>
        </p:nvGrpSpPr>
        <p:grpSpPr>
          <a:xfrm>
            <a:off x="88310" y="2260242"/>
            <a:ext cx="6890007" cy="422693"/>
            <a:chOff x="0" y="-76200"/>
            <a:chExt cx="1964221" cy="359923"/>
          </a:xfrm>
        </p:grpSpPr>
        <p:sp>
          <p:nvSpPr>
            <p:cNvPr id="109" name="Google Shape;109;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spcFirstLastPara="1" wrap="square" lIns="45713" tIns="22850" rIns="45713" bIns="22850" anchor="t" anchorCtr="0">
              <a:noAutofit/>
            </a:bodyPr>
            <a:lstStyle/>
            <a:p>
              <a:endParaRPr sz="700"/>
            </a:p>
          </p:txBody>
        </p:sp>
        <p:sp>
          <p:nvSpPr>
            <p:cNvPr id="110" name="Google Shape;110;p2"/>
            <p:cNvSpPr txBox="1"/>
            <p:nvPr/>
          </p:nvSpPr>
          <p:spPr>
            <a:xfrm>
              <a:off x="0" y="-76200"/>
              <a:ext cx="1495455" cy="359923"/>
            </a:xfrm>
            <a:prstGeom prst="rect">
              <a:avLst/>
            </a:prstGeom>
            <a:noFill/>
            <a:ln>
              <a:noFill/>
            </a:ln>
          </p:spPr>
          <p:txBody>
            <a:bodyPr spcFirstLastPara="1" wrap="square" lIns="25400" tIns="25400" rIns="25400" bIns="25400" anchor="ctr" anchorCtr="0">
              <a:noAutofit/>
            </a:bodyPr>
            <a:lstStyle/>
            <a:p>
              <a:pPr algn="ctr">
                <a:lnSpc>
                  <a:spcPct val="148017"/>
                </a:lnSpc>
              </a:pPr>
              <a:r>
                <a:rPr lang="en-US" dirty="0"/>
                <a:t>TEMA 1: Sistemas </a:t>
              </a:r>
              <a:r>
                <a:rPr lang="en-US" dirty="0" err="1"/>
                <a:t>Empresariales</a:t>
              </a:r>
              <a:r>
                <a:rPr lang="en-US" dirty="0"/>
                <a:t> (ERP-CRM)</a:t>
              </a:r>
              <a:endParaRPr sz="700" dirty="0"/>
            </a:p>
          </p:txBody>
        </p:sp>
      </p:grpSp>
      <p:sp>
        <p:nvSpPr>
          <p:cNvPr id="111" name="Google Shape;111;p2"/>
          <p:cNvSpPr/>
          <p:nvPr/>
        </p:nvSpPr>
        <p:spPr>
          <a:xfrm>
            <a:off x="439327" y="2370221"/>
            <a:ext cx="226679" cy="275047"/>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112" name="Google Shape;112;p2"/>
          <p:cNvSpPr txBox="1"/>
          <p:nvPr/>
        </p:nvSpPr>
        <p:spPr>
          <a:xfrm>
            <a:off x="325875" y="245450"/>
            <a:ext cx="3855151" cy="1327286"/>
          </a:xfrm>
          <a:prstGeom prst="rect">
            <a:avLst/>
          </a:prstGeom>
          <a:noFill/>
          <a:ln>
            <a:noFill/>
          </a:ln>
        </p:spPr>
        <p:txBody>
          <a:bodyPr spcFirstLastPara="1" wrap="square" lIns="0" tIns="0" rIns="0" bIns="0" anchor="t" anchorCtr="0">
            <a:spAutoFit/>
          </a:bodyPr>
          <a:lstStyle/>
          <a:p>
            <a:pPr>
              <a:lnSpc>
                <a:spcPct val="115000"/>
              </a:lnSpc>
              <a:buSzPts val="15000"/>
            </a:pPr>
            <a:r>
              <a:rPr lang="en-US" sz="7500">
                <a:solidFill>
                  <a:srgbClr val="131416"/>
                </a:solidFill>
                <a:latin typeface="Pacifico"/>
                <a:ea typeface="Pacifico"/>
                <a:cs typeface="Pacifico"/>
                <a:sym typeface="Pacifico"/>
              </a:rPr>
              <a:t>Agenda</a:t>
            </a:r>
            <a:endParaRPr sz="700">
              <a:latin typeface="Pacifico"/>
              <a:ea typeface="Pacifico"/>
              <a:cs typeface="Pacifico"/>
              <a:sym typeface="Pacifico"/>
            </a:endParaRPr>
          </a:p>
        </p:txBody>
      </p:sp>
      <p:sp>
        <p:nvSpPr>
          <p:cNvPr id="113" name="Google Shape;113;p2"/>
          <p:cNvSpPr txBox="1"/>
          <p:nvPr/>
        </p:nvSpPr>
        <p:spPr>
          <a:xfrm>
            <a:off x="5052995" y="195384"/>
            <a:ext cx="4208400" cy="1327286"/>
          </a:xfrm>
          <a:prstGeom prst="rect">
            <a:avLst/>
          </a:prstGeom>
          <a:noFill/>
          <a:ln>
            <a:noFill/>
          </a:ln>
        </p:spPr>
        <p:txBody>
          <a:bodyPr spcFirstLastPara="1" wrap="square" lIns="0" tIns="0" rIns="0" bIns="0" anchor="t" anchorCtr="0">
            <a:spAutoFit/>
          </a:bodyPr>
          <a:lstStyle/>
          <a:p>
            <a:pPr>
              <a:lnSpc>
                <a:spcPct val="115000"/>
              </a:lnSpc>
              <a:buSzPts val="15000"/>
            </a:pPr>
            <a:r>
              <a:rPr lang="en-US" sz="7500">
                <a:solidFill>
                  <a:srgbClr val="131416"/>
                </a:solidFill>
                <a:latin typeface="Lobster"/>
                <a:ea typeface="Lobster"/>
                <a:cs typeface="Lobster"/>
                <a:sym typeface="Lobster"/>
              </a:rPr>
              <a:t>Recursos</a:t>
            </a:r>
            <a:endParaRPr sz="700">
              <a:latin typeface="Lobster"/>
              <a:ea typeface="Lobster"/>
              <a:cs typeface="Lobster"/>
              <a:sym typeface="Lobster"/>
            </a:endParaRPr>
          </a:p>
        </p:txBody>
      </p:sp>
      <p:sp>
        <p:nvSpPr>
          <p:cNvPr id="115" name="Google Shape;115;p2"/>
          <p:cNvSpPr/>
          <p:nvPr/>
        </p:nvSpPr>
        <p:spPr>
          <a:xfrm>
            <a:off x="5869903" y="1616309"/>
            <a:ext cx="2676823" cy="633581"/>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spcFirstLastPara="1" wrap="square" lIns="45713" tIns="22850" rIns="45713" bIns="22850" anchor="t" anchorCtr="0">
            <a:noAutofit/>
          </a:bodyPr>
          <a:lstStyle/>
          <a:p>
            <a:endParaRPr sz="700"/>
          </a:p>
        </p:txBody>
      </p:sp>
      <p:sp>
        <p:nvSpPr>
          <p:cNvPr id="118" name="Google Shape;118;p2"/>
          <p:cNvSpPr/>
          <p:nvPr/>
        </p:nvSpPr>
        <p:spPr>
          <a:xfrm>
            <a:off x="5869903" y="2516334"/>
            <a:ext cx="2676823" cy="633581"/>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spcFirstLastPara="1" wrap="square" lIns="45713" tIns="22850" rIns="45713" bIns="22850" anchor="t" anchorCtr="0">
            <a:noAutofit/>
          </a:bodyPr>
          <a:lstStyle/>
          <a:p>
            <a:endParaRPr sz="700"/>
          </a:p>
        </p:txBody>
      </p:sp>
      <p:grpSp>
        <p:nvGrpSpPr>
          <p:cNvPr id="120" name="Google Shape;120;p2"/>
          <p:cNvGrpSpPr/>
          <p:nvPr/>
        </p:nvGrpSpPr>
        <p:grpSpPr>
          <a:xfrm>
            <a:off x="88310" y="2722151"/>
            <a:ext cx="5466163" cy="422693"/>
            <a:chOff x="0" y="-76200"/>
            <a:chExt cx="1964221" cy="359923"/>
          </a:xfrm>
        </p:grpSpPr>
        <p:sp>
          <p:nvSpPr>
            <p:cNvPr id="121" name="Google Shape;121;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spcFirstLastPara="1" wrap="square" lIns="45713" tIns="22850" rIns="45713" bIns="22850" anchor="t" anchorCtr="0">
              <a:noAutofit/>
            </a:bodyPr>
            <a:lstStyle/>
            <a:p>
              <a:endParaRPr sz="700"/>
            </a:p>
          </p:txBody>
        </p:sp>
        <p:sp>
          <p:nvSpPr>
            <p:cNvPr id="122" name="Google Shape;122;p2"/>
            <p:cNvSpPr txBox="1"/>
            <p:nvPr/>
          </p:nvSpPr>
          <p:spPr>
            <a:xfrm>
              <a:off x="0" y="-76200"/>
              <a:ext cx="1508093" cy="359923"/>
            </a:xfrm>
            <a:prstGeom prst="rect">
              <a:avLst/>
            </a:prstGeom>
            <a:noFill/>
            <a:ln>
              <a:noFill/>
            </a:ln>
          </p:spPr>
          <p:txBody>
            <a:bodyPr spcFirstLastPara="1" wrap="square" lIns="25400" tIns="25400" rIns="25400" bIns="25400" anchor="ctr" anchorCtr="0">
              <a:noAutofit/>
            </a:bodyPr>
            <a:lstStyle/>
            <a:p>
              <a:pPr algn="ctr">
                <a:lnSpc>
                  <a:spcPct val="148017"/>
                </a:lnSpc>
              </a:pPr>
              <a:r>
                <a:rPr lang="en-US" dirty="0"/>
                <a:t>TEMA 2: </a:t>
              </a:r>
              <a:r>
                <a:rPr lang="en-US" dirty="0" err="1"/>
                <a:t>Integración</a:t>
              </a:r>
              <a:r>
                <a:rPr lang="en-US" dirty="0"/>
                <a:t> ERP + CRM</a:t>
              </a:r>
              <a:endParaRPr sz="700" dirty="0"/>
            </a:p>
          </p:txBody>
        </p:sp>
      </p:grpSp>
      <p:grpSp>
        <p:nvGrpSpPr>
          <p:cNvPr id="123" name="Google Shape;123;p2"/>
          <p:cNvGrpSpPr/>
          <p:nvPr/>
        </p:nvGrpSpPr>
        <p:grpSpPr>
          <a:xfrm>
            <a:off x="88310" y="3212938"/>
            <a:ext cx="7146208" cy="422693"/>
            <a:chOff x="0" y="-76200"/>
            <a:chExt cx="3289508" cy="359923"/>
          </a:xfrm>
        </p:grpSpPr>
        <p:sp>
          <p:nvSpPr>
            <p:cNvPr id="124" name="Google Shape;124;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spcFirstLastPara="1" wrap="square" lIns="45713" tIns="22850" rIns="45713" bIns="22850" anchor="t" anchorCtr="0">
              <a:noAutofit/>
            </a:bodyPr>
            <a:lstStyle/>
            <a:p>
              <a:endParaRPr sz="700"/>
            </a:p>
          </p:txBody>
        </p:sp>
        <p:sp>
          <p:nvSpPr>
            <p:cNvPr id="125" name="Google Shape;125;p2"/>
            <p:cNvSpPr txBox="1"/>
            <p:nvPr/>
          </p:nvSpPr>
          <p:spPr>
            <a:xfrm>
              <a:off x="0" y="-76200"/>
              <a:ext cx="3289508" cy="359923"/>
            </a:xfrm>
            <a:prstGeom prst="rect">
              <a:avLst/>
            </a:prstGeom>
            <a:noFill/>
            <a:ln>
              <a:noFill/>
            </a:ln>
          </p:spPr>
          <p:txBody>
            <a:bodyPr spcFirstLastPara="1" wrap="square" lIns="25400" tIns="25400" rIns="25400" bIns="25400" anchor="ctr" anchorCtr="0">
              <a:noAutofit/>
            </a:bodyPr>
            <a:lstStyle/>
            <a:p>
              <a:pPr algn="ctr">
                <a:lnSpc>
                  <a:spcPct val="148017"/>
                </a:lnSpc>
              </a:pPr>
              <a:r>
                <a:rPr lang="en-US" dirty="0"/>
                <a:t>TEMA 3: </a:t>
              </a:r>
              <a:r>
                <a:rPr lang="es-MX" dirty="0"/>
                <a:t>Aplicaciones del Análisis Predictivo en la Toma de Decisiones</a:t>
              </a:r>
              <a:endParaRPr sz="700" dirty="0"/>
            </a:p>
          </p:txBody>
        </p:sp>
      </p:grpSp>
      <p:grpSp>
        <p:nvGrpSpPr>
          <p:cNvPr id="126" name="Google Shape;126;p2"/>
          <p:cNvGrpSpPr/>
          <p:nvPr/>
        </p:nvGrpSpPr>
        <p:grpSpPr>
          <a:xfrm>
            <a:off x="88310" y="3674729"/>
            <a:ext cx="6962196" cy="422693"/>
            <a:chOff x="0" y="-76200"/>
            <a:chExt cx="1964221" cy="359923"/>
          </a:xfrm>
        </p:grpSpPr>
        <p:sp>
          <p:nvSpPr>
            <p:cNvPr id="127" name="Google Shape;12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spcFirstLastPara="1" wrap="square" lIns="45713" tIns="22850" rIns="45713" bIns="22850" anchor="t" anchorCtr="0">
              <a:noAutofit/>
            </a:bodyPr>
            <a:lstStyle/>
            <a:p>
              <a:endParaRPr sz="700"/>
            </a:p>
          </p:txBody>
        </p:sp>
        <p:sp>
          <p:nvSpPr>
            <p:cNvPr id="128" name="Google Shape;128;p2"/>
            <p:cNvSpPr txBox="1"/>
            <p:nvPr/>
          </p:nvSpPr>
          <p:spPr>
            <a:xfrm>
              <a:off x="0" y="-76200"/>
              <a:ext cx="1839093" cy="359923"/>
            </a:xfrm>
            <a:prstGeom prst="rect">
              <a:avLst/>
            </a:prstGeom>
            <a:noFill/>
            <a:ln>
              <a:noFill/>
            </a:ln>
          </p:spPr>
          <p:txBody>
            <a:bodyPr spcFirstLastPara="1" wrap="square" lIns="25400" tIns="25400" rIns="25400" bIns="25400" anchor="ctr" anchorCtr="0">
              <a:noAutofit/>
            </a:bodyPr>
            <a:lstStyle/>
            <a:p>
              <a:pPr algn="ctr">
                <a:lnSpc>
                  <a:spcPct val="148017"/>
                </a:lnSpc>
              </a:pPr>
              <a:r>
                <a:rPr lang="en-US" dirty="0"/>
                <a:t>TEMA 4: </a:t>
              </a:r>
              <a:r>
                <a:rPr lang="es-MX" dirty="0"/>
                <a:t>Herramientas para el análisis y Modelados Predictivo</a:t>
              </a:r>
              <a:endParaRPr sz="700" dirty="0"/>
            </a:p>
          </p:txBody>
        </p:sp>
      </p:grpSp>
      <p:grpSp>
        <p:nvGrpSpPr>
          <p:cNvPr id="129" name="Google Shape;129;p2"/>
          <p:cNvGrpSpPr/>
          <p:nvPr/>
        </p:nvGrpSpPr>
        <p:grpSpPr>
          <a:xfrm>
            <a:off x="88310" y="4206458"/>
            <a:ext cx="5245691" cy="422693"/>
            <a:chOff x="0" y="-76200"/>
            <a:chExt cx="1964221" cy="359923"/>
          </a:xfrm>
        </p:grpSpPr>
        <p:sp>
          <p:nvSpPr>
            <p:cNvPr id="130" name="Google Shape;130;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spcFirstLastPara="1" wrap="square" lIns="45713" tIns="22850" rIns="45713" bIns="22850" anchor="t" anchorCtr="0">
              <a:noAutofit/>
            </a:bodyPr>
            <a:lstStyle/>
            <a:p>
              <a:endParaRPr sz="700"/>
            </a:p>
          </p:txBody>
        </p:sp>
        <p:sp>
          <p:nvSpPr>
            <p:cNvPr id="131" name="Google Shape;131;p2"/>
            <p:cNvSpPr txBox="1"/>
            <p:nvPr/>
          </p:nvSpPr>
          <p:spPr>
            <a:xfrm>
              <a:off x="0" y="-76200"/>
              <a:ext cx="1597801" cy="359923"/>
            </a:xfrm>
            <a:prstGeom prst="rect">
              <a:avLst/>
            </a:prstGeom>
            <a:noFill/>
            <a:ln>
              <a:noFill/>
            </a:ln>
          </p:spPr>
          <p:txBody>
            <a:bodyPr spcFirstLastPara="1" wrap="square" lIns="25400" tIns="25400" rIns="25400" bIns="25400" anchor="ctr" anchorCtr="0">
              <a:noAutofit/>
            </a:bodyPr>
            <a:lstStyle/>
            <a:p>
              <a:pPr algn="ctr">
                <a:lnSpc>
                  <a:spcPct val="148017"/>
                </a:lnSpc>
              </a:pPr>
              <a:r>
                <a:rPr lang="en-US" dirty="0"/>
                <a:t>TEMA 5: </a:t>
              </a:r>
              <a:r>
                <a:rPr lang="en-US" dirty="0" err="1"/>
                <a:t>Automatización</a:t>
              </a:r>
              <a:r>
                <a:rPr lang="en-US" dirty="0"/>
                <a:t> </a:t>
              </a:r>
              <a:r>
                <a:rPr lang="en-US" dirty="0" err="1"/>
                <a:t>en</a:t>
              </a:r>
              <a:r>
                <a:rPr lang="en-US" dirty="0"/>
                <a:t> CRM</a:t>
              </a:r>
              <a:endParaRPr sz="700" dirty="0"/>
            </a:p>
          </p:txBody>
        </p:sp>
      </p:grpSp>
      <p:sp>
        <p:nvSpPr>
          <p:cNvPr id="132" name="Google Shape;132;p2"/>
          <p:cNvSpPr/>
          <p:nvPr/>
        </p:nvSpPr>
        <p:spPr>
          <a:xfrm>
            <a:off x="439327" y="2811640"/>
            <a:ext cx="226679" cy="275047"/>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133" name="Google Shape;133;p2"/>
          <p:cNvSpPr/>
          <p:nvPr/>
        </p:nvSpPr>
        <p:spPr>
          <a:xfrm>
            <a:off x="439327" y="3302427"/>
            <a:ext cx="226679" cy="275047"/>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134" name="Google Shape;134;p2"/>
          <p:cNvSpPr/>
          <p:nvPr/>
        </p:nvSpPr>
        <p:spPr>
          <a:xfrm>
            <a:off x="439327" y="3802318"/>
            <a:ext cx="226679" cy="275047"/>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135" name="Google Shape;135;p2"/>
          <p:cNvSpPr/>
          <p:nvPr/>
        </p:nvSpPr>
        <p:spPr>
          <a:xfrm>
            <a:off x="439327" y="4302770"/>
            <a:ext cx="226679" cy="275047"/>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6" name="Google Shape;146;p3" title="Gemini_Generated_Image_sfb0qdsfb0qdsfb0.png"/>
          <p:cNvPicPr preferRelativeResize="0"/>
          <p:nvPr/>
        </p:nvPicPr>
        <p:blipFill rotWithShape="1">
          <a:blip r:embed="rId3">
            <a:alphaModFix/>
          </a:blip>
          <a:srcRect/>
          <a:stretch/>
        </p:blipFill>
        <p:spPr>
          <a:xfrm>
            <a:off x="0" y="1556995"/>
            <a:ext cx="2617180" cy="3586506"/>
          </a:xfrm>
          <a:prstGeom prst="rect">
            <a:avLst/>
          </a:prstGeom>
          <a:noFill/>
          <a:ln>
            <a:noFill/>
          </a:ln>
        </p:spPr>
      </p:pic>
      <p:sp>
        <p:nvSpPr>
          <p:cNvPr id="142" name="Google Shape;142;p3"/>
          <p:cNvSpPr txBox="1"/>
          <p:nvPr/>
        </p:nvSpPr>
        <p:spPr>
          <a:xfrm>
            <a:off x="687445" y="327182"/>
            <a:ext cx="6995550" cy="530210"/>
          </a:xfrm>
          <a:prstGeom prst="rect">
            <a:avLst/>
          </a:prstGeom>
          <a:noFill/>
          <a:ln>
            <a:noFill/>
          </a:ln>
        </p:spPr>
        <p:txBody>
          <a:bodyPr spcFirstLastPara="1" wrap="square" lIns="0" tIns="0" rIns="0" bIns="0" anchor="t" anchorCtr="0">
            <a:spAutoFit/>
          </a:bodyPr>
          <a:lstStyle/>
          <a:p>
            <a:pPr algn="just">
              <a:lnSpc>
                <a:spcPct val="112987"/>
              </a:lnSpc>
              <a:buSzPts val="6098"/>
            </a:pPr>
            <a:r>
              <a:rPr lang="en-US" sz="3049">
                <a:solidFill>
                  <a:srgbClr val="131416"/>
                </a:solidFill>
                <a:latin typeface="Impact"/>
                <a:ea typeface="Impact"/>
                <a:cs typeface="Impact"/>
                <a:sym typeface="Impact"/>
              </a:rPr>
              <a:t>COMPETENCIA(S) QUE DESARROLLAREMOS</a:t>
            </a:r>
            <a:endParaRPr sz="700">
              <a:latin typeface="Impact"/>
              <a:ea typeface="Impact"/>
              <a:cs typeface="Impact"/>
              <a:sym typeface="Impact"/>
            </a:endParaRPr>
          </a:p>
        </p:txBody>
      </p:sp>
      <p:sp>
        <p:nvSpPr>
          <p:cNvPr id="143" name="Google Shape;143;p3"/>
          <p:cNvSpPr txBox="1"/>
          <p:nvPr/>
        </p:nvSpPr>
        <p:spPr>
          <a:xfrm>
            <a:off x="2005263" y="1195195"/>
            <a:ext cx="4620127" cy="2326791"/>
          </a:xfrm>
          <a:prstGeom prst="rect">
            <a:avLst/>
          </a:prstGeom>
          <a:noFill/>
          <a:ln>
            <a:noFill/>
          </a:ln>
        </p:spPr>
        <p:txBody>
          <a:bodyPr spcFirstLastPara="1" wrap="square" lIns="0" tIns="0" rIns="0" bIns="0" anchor="t" anchorCtr="0">
            <a:spAutoFit/>
          </a:bodyPr>
          <a:lstStyle/>
          <a:p>
            <a:pPr algn="just">
              <a:lnSpc>
                <a:spcPct val="140007"/>
              </a:lnSpc>
            </a:pPr>
            <a:r>
              <a:rPr lang="en-US" sz="1800" dirty="0" err="1"/>
              <a:t>Comprende</a:t>
            </a:r>
            <a:r>
              <a:rPr lang="en-US" sz="1800" dirty="0"/>
              <a:t> la </a:t>
            </a:r>
            <a:r>
              <a:rPr lang="en-US" sz="1800" dirty="0" err="1"/>
              <a:t>diferencia</a:t>
            </a:r>
            <a:r>
              <a:rPr lang="en-US" sz="1800" dirty="0"/>
              <a:t> entre ERP y CRM</a:t>
            </a:r>
          </a:p>
          <a:p>
            <a:pPr algn="just">
              <a:lnSpc>
                <a:spcPct val="140007"/>
              </a:lnSpc>
            </a:pPr>
            <a:r>
              <a:rPr lang="en-US" sz="1800" dirty="0"/>
              <a:t>Pero </a:t>
            </a:r>
            <a:r>
              <a:rPr lang="en-US" sz="1800" dirty="0" err="1"/>
              <a:t>reconoce</a:t>
            </a:r>
            <a:r>
              <a:rPr lang="en-US" sz="1800" dirty="0"/>
              <a:t> la </a:t>
            </a:r>
            <a:r>
              <a:rPr lang="en-US" sz="1800" dirty="0" err="1"/>
              <a:t>funcionalidad</a:t>
            </a:r>
            <a:r>
              <a:rPr lang="en-US" sz="1800" dirty="0"/>
              <a:t> </a:t>
            </a:r>
            <a:r>
              <a:rPr lang="en-US" sz="1800" dirty="0" err="1"/>
              <a:t>conjunta</a:t>
            </a:r>
            <a:endParaRPr lang="en-US" sz="1800" dirty="0"/>
          </a:p>
          <a:p>
            <a:pPr algn="just">
              <a:lnSpc>
                <a:spcPct val="140007"/>
              </a:lnSpc>
            </a:pPr>
            <a:endParaRPr lang="en-US" sz="1800" dirty="0"/>
          </a:p>
          <a:p>
            <a:pPr algn="just">
              <a:lnSpc>
                <a:spcPct val="140007"/>
              </a:lnSpc>
            </a:pPr>
            <a:r>
              <a:rPr lang="en-US" sz="1800" dirty="0" err="1"/>
              <a:t>Aprovecha</a:t>
            </a:r>
            <a:r>
              <a:rPr lang="en-US" sz="1800" dirty="0"/>
              <a:t> las dos </a:t>
            </a:r>
            <a:r>
              <a:rPr lang="en-US" sz="1800" dirty="0" err="1"/>
              <a:t>tecnologia</a:t>
            </a:r>
            <a:r>
              <a:rPr lang="en-US" sz="1800" dirty="0"/>
              <a:t> y las </a:t>
            </a:r>
            <a:r>
              <a:rPr lang="en-US" sz="1800" dirty="0" err="1"/>
              <a:t>ventajas</a:t>
            </a:r>
            <a:r>
              <a:rPr lang="en-US" sz="1800" dirty="0"/>
              <a:t> </a:t>
            </a:r>
            <a:r>
              <a:rPr lang="en-US" sz="1800" dirty="0" err="1"/>
              <a:t>que</a:t>
            </a:r>
            <a:r>
              <a:rPr lang="en-US" sz="1800" dirty="0"/>
              <a:t> </a:t>
            </a:r>
            <a:r>
              <a:rPr lang="en-US" sz="1800" dirty="0" err="1"/>
              <a:t>otorgan</a:t>
            </a:r>
            <a:r>
              <a:rPr lang="en-US" sz="1800" dirty="0"/>
              <a:t> al </a:t>
            </a:r>
            <a:r>
              <a:rPr lang="en-US" sz="1800" dirty="0" err="1"/>
              <a:t>unificarlas</a:t>
            </a:r>
            <a:r>
              <a:rPr lang="en-US" sz="1800" dirty="0"/>
              <a:t> </a:t>
            </a:r>
            <a:r>
              <a:rPr lang="en-US" sz="1800" dirty="0" err="1"/>
              <a:t>en</a:t>
            </a:r>
            <a:r>
              <a:rPr lang="en-US" sz="1800" dirty="0"/>
              <a:t> </a:t>
            </a:r>
            <a:r>
              <a:rPr lang="en-US" sz="1800" dirty="0" err="1"/>
              <a:t>una</a:t>
            </a:r>
            <a:r>
              <a:rPr lang="en-US" sz="1800" dirty="0"/>
              <a:t> sola </a:t>
            </a:r>
            <a:r>
              <a:rPr lang="en-US" sz="1800" dirty="0" err="1"/>
              <a:t>solucion</a:t>
            </a:r>
            <a:r>
              <a:rPr lang="en-US" sz="1800" dirty="0"/>
              <a:t> </a:t>
            </a:r>
            <a:r>
              <a:rPr lang="en-US" sz="1800" dirty="0" err="1"/>
              <a:t>eficiente</a:t>
            </a:r>
            <a:endParaRPr sz="1800" dirty="0"/>
          </a:p>
        </p:txBody>
      </p:sp>
      <p:sp>
        <p:nvSpPr>
          <p:cNvPr id="144" name="Google Shape;144;p3"/>
          <p:cNvSpPr/>
          <p:nvPr/>
        </p:nvSpPr>
        <p:spPr>
          <a:xfrm>
            <a:off x="6723598" y="2667011"/>
            <a:ext cx="2313234" cy="2287999"/>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4">
              <a:alphaModFix/>
            </a:blip>
            <a:stretch>
              <a:fillRect/>
            </a:stretch>
          </a:blipFill>
          <a:ln>
            <a:noFill/>
          </a:ln>
        </p:spPr>
        <p:txBody>
          <a:bodyPr spcFirstLastPara="1" wrap="square" lIns="45713" tIns="22850" rIns="45713" bIns="22850" anchor="t" anchorCtr="0">
            <a:noAutofit/>
          </a:bodyPr>
          <a:lstStyle/>
          <a:p>
            <a:endParaRPr sz="700"/>
          </a:p>
        </p:txBody>
      </p:sp>
      <p:sp>
        <p:nvSpPr>
          <p:cNvPr id="145" name="Google Shape;145;p3"/>
          <p:cNvSpPr txBox="1"/>
          <p:nvPr/>
        </p:nvSpPr>
        <p:spPr>
          <a:xfrm>
            <a:off x="7023106" y="3264091"/>
            <a:ext cx="1714218" cy="1292662"/>
          </a:xfrm>
          <a:prstGeom prst="rect">
            <a:avLst/>
          </a:prstGeom>
          <a:noFill/>
          <a:ln>
            <a:noFill/>
          </a:ln>
        </p:spPr>
        <p:txBody>
          <a:bodyPr spcFirstLastPara="1" wrap="square" lIns="0" tIns="0" rIns="0" bIns="0" anchor="t" anchorCtr="0">
            <a:spAutoFit/>
          </a:bodyPr>
          <a:lstStyle/>
          <a:p>
            <a:pPr algn="ctr">
              <a:lnSpc>
                <a:spcPct val="139982"/>
              </a:lnSpc>
              <a:buSzPts val="2241"/>
            </a:pPr>
            <a:r>
              <a:rPr lang="en-US" sz="1000">
                <a:solidFill>
                  <a:srgbClr val="131416"/>
                </a:solidFill>
                <a:latin typeface="Open Sans"/>
                <a:ea typeface="Open Sans"/>
                <a:cs typeface="Open Sans"/>
                <a:sym typeface="Open Sans"/>
              </a:rPr>
              <a:t>En el programa del curso encontraras la competencia o competencias que debe cumplir el curso que estas impartiendo.</a:t>
            </a:r>
            <a:endParaRPr sz="1000"/>
          </a:p>
          <a:p>
            <a:pPr algn="ctr">
              <a:lnSpc>
                <a:spcPct val="139982"/>
              </a:lnSpc>
              <a:buSzPts val="2241"/>
            </a:pPr>
            <a:r>
              <a:rPr lang="en-US" sz="1000">
                <a:solidFill>
                  <a:srgbClr val="131416"/>
                </a:solidFill>
                <a:latin typeface="Open Sans"/>
                <a:ea typeface="Open Sans"/>
                <a:cs typeface="Open Sans"/>
                <a:sym typeface="Open Sans"/>
              </a:rPr>
              <a:t>Colocala(s) en este apartado </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2d853e9ab94_0_2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2d853e9ab94_0_26"/>
          <p:cNvSpPr txBox="1"/>
          <p:nvPr/>
        </p:nvSpPr>
        <p:spPr>
          <a:xfrm>
            <a:off x="2307575" y="240850"/>
            <a:ext cx="3931500" cy="41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dirty="0">
                <a:solidFill>
                  <a:schemeClr val="dk1"/>
                </a:solidFill>
              </a:rPr>
              <a:t>Sistemas Empresariales (ERP-CRM)</a:t>
            </a:r>
            <a:endParaRPr sz="1800" dirty="0">
              <a:solidFill>
                <a:schemeClr val="dk1"/>
              </a:solidFill>
            </a:endParaRPr>
          </a:p>
        </p:txBody>
      </p:sp>
      <p:sp>
        <p:nvSpPr>
          <p:cNvPr id="64" name="Google Shape;64;g2d853e9ab94_0_26"/>
          <p:cNvSpPr txBox="1"/>
          <p:nvPr/>
        </p:nvSpPr>
        <p:spPr>
          <a:xfrm>
            <a:off x="23300" y="854650"/>
            <a:ext cx="9120600" cy="8469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Los </a:t>
            </a:r>
            <a:r>
              <a:rPr lang="es" sz="1800" b="1">
                <a:solidFill>
                  <a:schemeClr val="dk1"/>
                </a:solidFill>
              </a:rPr>
              <a:t>sistemas empresariales</a:t>
            </a:r>
            <a:r>
              <a:rPr lang="es" sz="1800">
                <a:solidFill>
                  <a:schemeClr val="dk1"/>
                </a:solidFill>
              </a:rPr>
              <a:t> como el </a:t>
            </a:r>
            <a:r>
              <a:rPr lang="es" sz="1800" b="1">
                <a:solidFill>
                  <a:schemeClr val="dk1"/>
                </a:solidFill>
              </a:rPr>
              <a:t>ERP (Enterprise Resource Planning)</a:t>
            </a:r>
            <a:r>
              <a:rPr lang="es" sz="1800">
                <a:solidFill>
                  <a:schemeClr val="dk1"/>
                </a:solidFill>
              </a:rPr>
              <a:t> y el </a:t>
            </a:r>
            <a:r>
              <a:rPr lang="es" sz="1800" b="1">
                <a:solidFill>
                  <a:schemeClr val="dk1"/>
                </a:solidFill>
              </a:rPr>
              <a:t>CRM (Customer Relationship Management)</a:t>
            </a:r>
            <a:r>
              <a:rPr lang="es" sz="1800">
                <a:solidFill>
                  <a:schemeClr val="dk1"/>
                </a:solidFill>
              </a:rPr>
              <a:t> son herramientas clave para la gestión eficiente de una empresa.</a:t>
            </a:r>
            <a:endParaRPr sz="1800">
              <a:solidFill>
                <a:schemeClr val="dk2"/>
              </a:solidFill>
            </a:endParaRPr>
          </a:p>
        </p:txBody>
      </p:sp>
      <p:sp>
        <p:nvSpPr>
          <p:cNvPr id="65" name="Google Shape;65;g2d853e9ab94_0_26"/>
          <p:cNvSpPr txBox="1"/>
          <p:nvPr/>
        </p:nvSpPr>
        <p:spPr>
          <a:xfrm>
            <a:off x="0" y="2462975"/>
            <a:ext cx="9104400" cy="15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s" sz="1800" b="1">
                <a:solidFill>
                  <a:schemeClr val="dk1"/>
                </a:solidFill>
              </a:rPr>
              <a:t>ERP (Enterprise Resource Planning) – Planificación de Recursos Empresariales</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Un ERP es un software que integra y automatiza los procesos centrales de una empresa, como finanzas, producción, inventario y recursos humanos.</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70" name="Google Shape;70;g2d853e9ab94_0_3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1" name="Google Shape;71;g2d853e9ab94_0_31"/>
          <p:cNvSpPr txBox="1"/>
          <p:nvPr/>
        </p:nvSpPr>
        <p:spPr>
          <a:xfrm>
            <a:off x="38850" y="823575"/>
            <a:ext cx="9105300" cy="427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Principales módulos de un ERP:</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 </a:t>
            </a:r>
            <a:r>
              <a:rPr lang="es" sz="1800" b="1">
                <a:solidFill>
                  <a:schemeClr val="dk1"/>
                </a:solidFill>
              </a:rPr>
              <a:t>Finanzas y contabilidad</a:t>
            </a:r>
            <a:r>
              <a:rPr lang="es" sz="1800">
                <a:solidFill>
                  <a:schemeClr val="dk1"/>
                </a:solidFill>
              </a:rPr>
              <a:t> – Control de gastos, ingresos y presupuestos.</a:t>
            </a:r>
            <a:br>
              <a:rPr lang="es" sz="1800">
                <a:solidFill>
                  <a:schemeClr val="dk1"/>
                </a:solidFill>
              </a:rPr>
            </a:br>
            <a:r>
              <a:rPr lang="es" sz="1800">
                <a:solidFill>
                  <a:schemeClr val="dk1"/>
                </a:solidFill>
              </a:rPr>
              <a:t>✔ </a:t>
            </a:r>
            <a:r>
              <a:rPr lang="es" sz="1800" b="1">
                <a:solidFill>
                  <a:schemeClr val="dk1"/>
                </a:solidFill>
              </a:rPr>
              <a:t>Gestión de inventarios y compras</a:t>
            </a:r>
            <a:r>
              <a:rPr lang="es" sz="1800">
                <a:solidFill>
                  <a:schemeClr val="dk1"/>
                </a:solidFill>
              </a:rPr>
              <a:t> – Seguimiento de stock y proveedores.</a:t>
            </a:r>
            <a:br>
              <a:rPr lang="es" sz="1800">
                <a:solidFill>
                  <a:schemeClr val="dk1"/>
                </a:solidFill>
              </a:rPr>
            </a:br>
            <a:r>
              <a:rPr lang="es" sz="1800">
                <a:solidFill>
                  <a:schemeClr val="dk1"/>
                </a:solidFill>
              </a:rPr>
              <a:t>✔ </a:t>
            </a:r>
            <a:r>
              <a:rPr lang="es" sz="1800" b="1">
                <a:solidFill>
                  <a:schemeClr val="dk1"/>
                </a:solidFill>
              </a:rPr>
              <a:t>Recursos humanos</a:t>
            </a:r>
            <a:r>
              <a:rPr lang="es" sz="1800">
                <a:solidFill>
                  <a:schemeClr val="dk1"/>
                </a:solidFill>
              </a:rPr>
              <a:t> – Nómina, gestión de empleados y reclutamiento.</a:t>
            </a:r>
            <a:br>
              <a:rPr lang="es" sz="1800">
                <a:solidFill>
                  <a:schemeClr val="dk1"/>
                </a:solidFill>
              </a:rPr>
            </a:br>
            <a:r>
              <a:rPr lang="es" sz="1800">
                <a:solidFill>
                  <a:schemeClr val="dk1"/>
                </a:solidFill>
              </a:rPr>
              <a:t>✔ </a:t>
            </a:r>
            <a:r>
              <a:rPr lang="es" sz="1800" b="1">
                <a:solidFill>
                  <a:schemeClr val="dk1"/>
                </a:solidFill>
              </a:rPr>
              <a:t>Producción</a:t>
            </a:r>
            <a:r>
              <a:rPr lang="es" sz="1800">
                <a:solidFill>
                  <a:schemeClr val="dk1"/>
                </a:solidFill>
              </a:rPr>
              <a:t> – Planificación y control de la manufactura.</a:t>
            </a:r>
            <a:br>
              <a:rPr lang="es" sz="1800">
                <a:solidFill>
                  <a:schemeClr val="dk1"/>
                </a:solidFill>
              </a:rPr>
            </a:br>
            <a:r>
              <a:rPr lang="es" sz="1800">
                <a:solidFill>
                  <a:schemeClr val="dk1"/>
                </a:solidFill>
              </a:rPr>
              <a:t>✔ </a:t>
            </a:r>
            <a:r>
              <a:rPr lang="es" sz="1800" b="1">
                <a:solidFill>
                  <a:schemeClr val="dk1"/>
                </a:solidFill>
              </a:rPr>
              <a:t>Logística</a:t>
            </a:r>
            <a:r>
              <a:rPr lang="es" sz="1800">
                <a:solidFill>
                  <a:schemeClr val="dk1"/>
                </a:solidFill>
              </a:rPr>
              <a:t> – Control de envíos y distribución.</a:t>
            </a:r>
            <a:endParaRPr sz="18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Beneficios de un ERP:</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Automatización y optimización de procesos.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Mejora la eficiencia y reduce costos operativos.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Centraliza la información en un solo sistema.</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g2d853e9ab94_0_4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7" name="Google Shape;77;g2d853e9ab94_0_41"/>
          <p:cNvSpPr txBox="1"/>
          <p:nvPr/>
        </p:nvSpPr>
        <p:spPr>
          <a:xfrm>
            <a:off x="31075" y="792500"/>
            <a:ext cx="9075000" cy="55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CRM (Customer Relationship Management) – Gestión de Relaciones con Clientes</a:t>
            </a:r>
            <a:endParaRPr sz="1800" b="1">
              <a:solidFill>
                <a:schemeClr val="dk1"/>
              </a:solidFill>
            </a:endParaRPr>
          </a:p>
        </p:txBody>
      </p:sp>
      <p:sp>
        <p:nvSpPr>
          <p:cNvPr id="78" name="Google Shape;78;g2d853e9ab94_0_41"/>
          <p:cNvSpPr txBox="1"/>
          <p:nvPr/>
        </p:nvSpPr>
        <p:spPr>
          <a:xfrm>
            <a:off x="46675" y="1569500"/>
            <a:ext cx="9043800" cy="292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Funciones principales de un CRM:</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 </a:t>
            </a:r>
            <a:r>
              <a:rPr lang="es" sz="1800" b="1">
                <a:solidFill>
                  <a:schemeClr val="dk1"/>
                </a:solidFill>
              </a:rPr>
              <a:t>Gestión de contactos</a:t>
            </a:r>
            <a:r>
              <a:rPr lang="es" sz="1800">
                <a:solidFill>
                  <a:schemeClr val="dk1"/>
                </a:solidFill>
              </a:rPr>
              <a:t> – Base de datos de clientes y prospectos.</a:t>
            </a:r>
            <a:br>
              <a:rPr lang="es" sz="1800">
                <a:solidFill>
                  <a:schemeClr val="dk1"/>
                </a:solidFill>
              </a:rPr>
            </a:br>
            <a:r>
              <a:rPr lang="es" sz="1800">
                <a:solidFill>
                  <a:schemeClr val="dk1"/>
                </a:solidFill>
              </a:rPr>
              <a:t>✔ </a:t>
            </a:r>
            <a:r>
              <a:rPr lang="es" sz="1800" b="1">
                <a:solidFill>
                  <a:schemeClr val="dk1"/>
                </a:solidFill>
              </a:rPr>
              <a:t>Automatización de ventas</a:t>
            </a:r>
            <a:r>
              <a:rPr lang="es" sz="1800">
                <a:solidFill>
                  <a:schemeClr val="dk1"/>
                </a:solidFill>
              </a:rPr>
              <a:t> – Seguimiento de oportunidades y embudo de ventas.</a:t>
            </a:r>
            <a:br>
              <a:rPr lang="es" sz="1800">
                <a:solidFill>
                  <a:schemeClr val="dk1"/>
                </a:solidFill>
              </a:rPr>
            </a:br>
            <a:r>
              <a:rPr lang="es" sz="1800">
                <a:solidFill>
                  <a:schemeClr val="dk1"/>
                </a:solidFill>
              </a:rPr>
              <a:t>✔ </a:t>
            </a:r>
            <a:r>
              <a:rPr lang="es" sz="1800" b="1">
                <a:solidFill>
                  <a:schemeClr val="dk1"/>
                </a:solidFill>
              </a:rPr>
              <a:t>Atención al cliente</a:t>
            </a:r>
            <a:r>
              <a:rPr lang="es" sz="1800">
                <a:solidFill>
                  <a:schemeClr val="dk1"/>
                </a:solidFill>
              </a:rPr>
              <a:t> – Gestión de tickets, soporte y satisfacción.</a:t>
            </a:r>
            <a:br>
              <a:rPr lang="es" sz="1800">
                <a:solidFill>
                  <a:schemeClr val="dk1"/>
                </a:solidFill>
              </a:rPr>
            </a:br>
            <a:r>
              <a:rPr lang="es" sz="1800">
                <a:solidFill>
                  <a:schemeClr val="dk1"/>
                </a:solidFill>
              </a:rPr>
              <a:t>✔ </a:t>
            </a:r>
            <a:r>
              <a:rPr lang="es" sz="1800" b="1">
                <a:solidFill>
                  <a:schemeClr val="dk1"/>
                </a:solidFill>
              </a:rPr>
              <a:t>Marketing</a:t>
            </a:r>
            <a:r>
              <a:rPr lang="es" sz="1800">
                <a:solidFill>
                  <a:schemeClr val="dk1"/>
                </a:solidFill>
              </a:rPr>
              <a:t> – Campañas personalizadas y análisis de comportamiento.</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g2d8fa948c4e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4" name="Google Shape;84;g2d8fa948c4e_0_0"/>
          <p:cNvSpPr txBox="1"/>
          <p:nvPr/>
        </p:nvSpPr>
        <p:spPr>
          <a:xfrm>
            <a:off x="54375" y="877975"/>
            <a:ext cx="9036000" cy="388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Beneficios de un CRM:</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Mejora la retención y satisfacción del cliente.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Aumenta la eficiencia en ventas y marketing.</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Proporciona datos para tomar decisiones estratégicas.</a:t>
            </a:r>
            <a:endParaRPr sz="1800">
              <a:solidFill>
                <a:schemeClr val="dk1"/>
              </a:solidFill>
            </a:endParaRPr>
          </a:p>
          <a:p>
            <a:pPr marL="0" lvl="0" indent="0" algn="l" rtl="0">
              <a:spcBef>
                <a:spcPts val="1200"/>
              </a:spcBef>
              <a:spcAft>
                <a:spcPts val="0"/>
              </a:spcAft>
              <a:buNone/>
            </a:pPr>
            <a:endParaRPr sz="1800">
              <a:solidFill>
                <a:schemeClr val="dk2"/>
              </a:solidFill>
            </a:endParaRPr>
          </a:p>
          <a:p>
            <a:pPr marL="0" lvl="0" indent="0" algn="l" rtl="0">
              <a:spcBef>
                <a:spcPts val="0"/>
              </a:spcBef>
              <a:spcAft>
                <a:spcPts val="0"/>
              </a:spcAft>
              <a:buNone/>
            </a:pPr>
            <a:r>
              <a:rPr lang="es" sz="1800">
                <a:solidFill>
                  <a:schemeClr val="dk1"/>
                </a:solidFill>
              </a:rPr>
              <a:t>Un CRM está enfocado en la gestión de clientes y ventas, ayudando a las empresas a mejorar la experiencia del cliente y aumentar la fidelización</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2d8fa948c4e_0_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0" name="Google Shape;90;g2d8fa948c4e_0_9"/>
          <p:cNvSpPr txBox="1"/>
          <p:nvPr/>
        </p:nvSpPr>
        <p:spPr>
          <a:xfrm>
            <a:off x="31075" y="940125"/>
            <a:ext cx="9051600" cy="400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pic>
        <p:nvPicPr>
          <p:cNvPr id="91" name="Google Shape;91;g2d8fa948c4e_0_9"/>
          <p:cNvPicPr preferRelativeResize="0"/>
          <p:nvPr/>
        </p:nvPicPr>
        <p:blipFill>
          <a:blip r:embed="rId4">
            <a:alphaModFix/>
          </a:blip>
          <a:stretch>
            <a:fillRect/>
          </a:stretch>
        </p:blipFill>
        <p:spPr>
          <a:xfrm>
            <a:off x="31075" y="885750"/>
            <a:ext cx="9104475" cy="4009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g2d8fa948c4e_0_1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7" name="Google Shape;97;g2d8fa948c4e_0_13"/>
          <p:cNvSpPr txBox="1"/>
          <p:nvPr/>
        </p:nvSpPr>
        <p:spPr>
          <a:xfrm>
            <a:off x="38400" y="893500"/>
            <a:ext cx="9067200" cy="352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None/>
            </a:pPr>
            <a:r>
              <a:rPr lang="es" sz="1800" b="1" dirty="0">
                <a:solidFill>
                  <a:schemeClr val="dk1"/>
                </a:solidFill>
              </a:rPr>
              <a:t>Integración ERP + CRM</a:t>
            </a:r>
            <a:endParaRPr sz="1800" b="1" dirty="0">
              <a:solidFill>
                <a:schemeClr val="dk1"/>
              </a:solidFill>
            </a:endParaRPr>
          </a:p>
          <a:p>
            <a:pPr marL="0" lvl="0" indent="0" algn="ctr" rtl="0">
              <a:lnSpc>
                <a:spcPct val="115000"/>
              </a:lnSpc>
              <a:spcBef>
                <a:spcPts val="1800"/>
              </a:spcBef>
              <a:spcAft>
                <a:spcPts val="0"/>
              </a:spcAft>
              <a:buClr>
                <a:schemeClr val="dk1"/>
              </a:buClr>
              <a:buSzPts val="1100"/>
              <a:buFont typeface="Arial"/>
              <a:buNone/>
            </a:pPr>
            <a:endParaRPr sz="1800" b="1" dirty="0">
              <a:solidFill>
                <a:schemeClr val="dk1"/>
              </a:solidFill>
            </a:endParaRPr>
          </a:p>
          <a:p>
            <a:pPr marL="0" lvl="0" indent="0" algn="l" rtl="0">
              <a:lnSpc>
                <a:spcPct val="115000"/>
              </a:lnSpc>
              <a:spcBef>
                <a:spcPts val="1200"/>
              </a:spcBef>
              <a:spcAft>
                <a:spcPts val="0"/>
              </a:spcAft>
              <a:buNone/>
            </a:pPr>
            <a:r>
              <a:rPr lang="es" sz="1800" dirty="0">
                <a:solidFill>
                  <a:schemeClr val="dk1"/>
                </a:solidFill>
              </a:rPr>
              <a:t>Muchas empresas integran </a:t>
            </a:r>
            <a:r>
              <a:rPr lang="es" sz="1800" b="1" dirty="0">
                <a:solidFill>
                  <a:schemeClr val="dk1"/>
                </a:solidFill>
              </a:rPr>
              <a:t>ERP y CRM</a:t>
            </a:r>
            <a:r>
              <a:rPr lang="es" sz="1800" dirty="0">
                <a:solidFill>
                  <a:schemeClr val="dk1"/>
                </a:solidFill>
              </a:rPr>
              <a:t> para un mejor control del negocio, permitiendo:</a:t>
            </a:r>
            <a:endParaRPr sz="1800"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dirty="0">
                <a:solidFill>
                  <a:schemeClr val="dk1"/>
                </a:solidFill>
              </a:rPr>
              <a:t>Tener </a:t>
            </a:r>
            <a:r>
              <a:rPr lang="es" sz="1800" b="1" dirty="0">
                <a:solidFill>
                  <a:schemeClr val="dk1"/>
                </a:solidFill>
              </a:rPr>
              <a:t>información unificada</a:t>
            </a:r>
            <a:r>
              <a:rPr lang="es" sz="1800" dirty="0">
                <a:solidFill>
                  <a:schemeClr val="dk1"/>
                </a:solidFill>
              </a:rPr>
              <a:t> de clientes y operaciones.</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Mejorar la </a:t>
            </a:r>
            <a:r>
              <a:rPr lang="es" sz="1800" b="1" dirty="0">
                <a:solidFill>
                  <a:schemeClr val="dk1"/>
                </a:solidFill>
              </a:rPr>
              <a:t>toma de decisiones</a:t>
            </a:r>
            <a:r>
              <a:rPr lang="es" sz="1800" dirty="0">
                <a:solidFill>
                  <a:schemeClr val="dk1"/>
                </a:solidFill>
              </a:rPr>
              <a:t> con datos precisos.</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Automatizar todo el proceso, desde la venta hasta la entrega del producto o servicio.</a:t>
            </a:r>
            <a:endParaRPr sz="1800" dirty="0">
              <a:solidFill>
                <a:schemeClr val="dk1"/>
              </a:solidFill>
            </a:endParaRPr>
          </a:p>
          <a:p>
            <a:pPr marL="0" lvl="0" indent="0" algn="l" rtl="0">
              <a:lnSpc>
                <a:spcPct val="115000"/>
              </a:lnSpc>
              <a:spcBef>
                <a:spcPts val="1200"/>
              </a:spcBef>
              <a:spcAft>
                <a:spcPts val="1200"/>
              </a:spcAft>
              <a:buNone/>
            </a:pPr>
            <a:endParaRPr sz="1800"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g2d8fa948c4e_0_2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3" name="Google Shape;103;g2d8fa948c4e_0_21"/>
          <p:cNvSpPr txBox="1"/>
          <p:nvPr/>
        </p:nvSpPr>
        <p:spPr>
          <a:xfrm>
            <a:off x="1274225" y="854650"/>
            <a:ext cx="63168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Análisis Predictivo y Toma de Decisiones en Empresas</a:t>
            </a:r>
            <a:endParaRPr sz="1800" b="1">
              <a:solidFill>
                <a:schemeClr val="dk1"/>
              </a:solidFill>
            </a:endParaRPr>
          </a:p>
        </p:txBody>
      </p:sp>
      <p:sp>
        <p:nvSpPr>
          <p:cNvPr id="104" name="Google Shape;104;g2d8fa948c4e_0_21"/>
          <p:cNvSpPr txBox="1"/>
          <p:nvPr/>
        </p:nvSpPr>
        <p:spPr>
          <a:xfrm>
            <a:off x="54375" y="1724850"/>
            <a:ext cx="8943000" cy="1810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El </a:t>
            </a:r>
            <a:r>
              <a:rPr lang="es" sz="1800" b="1">
                <a:solidFill>
                  <a:schemeClr val="dk1"/>
                </a:solidFill>
              </a:rPr>
              <a:t>análisis predictivo</a:t>
            </a:r>
            <a:r>
              <a:rPr lang="es" sz="1800">
                <a:solidFill>
                  <a:schemeClr val="dk1"/>
                </a:solidFill>
              </a:rPr>
              <a:t> es una técnica basada en </a:t>
            </a:r>
            <a:r>
              <a:rPr lang="es" sz="1800" b="1">
                <a:solidFill>
                  <a:schemeClr val="dk1"/>
                </a:solidFill>
              </a:rPr>
              <a:t>inteligencia artificial (IA), machine learning (ML) y big data</a:t>
            </a:r>
            <a:r>
              <a:rPr lang="es" sz="1800">
                <a:solidFill>
                  <a:schemeClr val="dk1"/>
                </a:solidFill>
              </a:rPr>
              <a:t> que permite a las empresas prever tendencias, comportamientos y posibles escenarios futuros. Su principal objetivo es mejorar la </a:t>
            </a:r>
            <a:r>
              <a:rPr lang="es" sz="1800" b="1">
                <a:solidFill>
                  <a:schemeClr val="dk1"/>
                </a:solidFill>
              </a:rPr>
              <a:t>toma de decisiones</a:t>
            </a:r>
            <a:r>
              <a:rPr lang="es" sz="1800">
                <a:solidFill>
                  <a:schemeClr val="dk1"/>
                </a:solidFill>
              </a:rPr>
              <a:t> estratégicas y operativas.</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g2d8fa948c4e_0_2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0" name="Google Shape;110;g2d8fa948c4e_0_25"/>
          <p:cNvSpPr txBox="1"/>
          <p:nvPr/>
        </p:nvSpPr>
        <p:spPr>
          <a:xfrm>
            <a:off x="0" y="854650"/>
            <a:ext cx="9051600" cy="3931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s" sz="1800">
                <a:solidFill>
                  <a:schemeClr val="dk1"/>
                </a:solidFill>
              </a:rPr>
              <a:t>Es un proceso que utiliza </a:t>
            </a:r>
            <a:r>
              <a:rPr lang="es" sz="1800" b="1">
                <a:solidFill>
                  <a:schemeClr val="dk1"/>
                </a:solidFill>
              </a:rPr>
              <a:t>datos históricos</a:t>
            </a:r>
            <a:r>
              <a:rPr lang="es" sz="1800">
                <a:solidFill>
                  <a:schemeClr val="dk1"/>
                </a:solidFill>
              </a:rPr>
              <a:t> para identificar patrones y realizar </a:t>
            </a:r>
            <a:r>
              <a:rPr lang="es" sz="1800" b="1">
                <a:solidFill>
                  <a:schemeClr val="dk1"/>
                </a:solidFill>
              </a:rPr>
              <a:t>predicciones</a:t>
            </a:r>
            <a:r>
              <a:rPr lang="es" sz="1800">
                <a:solidFill>
                  <a:schemeClr val="dk1"/>
                </a:solidFill>
              </a:rPr>
              <a:t> sobre eventos futuros.</a:t>
            </a:r>
            <a:endParaRPr sz="1800">
              <a:solidFill>
                <a:schemeClr val="dk1"/>
              </a:solidFill>
            </a:endParaRPr>
          </a:p>
          <a:p>
            <a:pPr marL="0" lvl="0" indent="0" algn="l" rtl="0">
              <a:lnSpc>
                <a:spcPct val="115000"/>
              </a:lnSpc>
              <a:spcBef>
                <a:spcPts val="1200"/>
              </a:spcBef>
              <a:spcAft>
                <a:spcPts val="0"/>
              </a:spcAft>
              <a:buNone/>
            </a:pPr>
            <a:endParaRPr sz="1800" b="1">
              <a:solidFill>
                <a:schemeClr val="dk1"/>
              </a:solidFill>
            </a:endParaRPr>
          </a:p>
          <a:p>
            <a:pPr marL="0" lvl="0" indent="0" algn="l" rtl="0">
              <a:lnSpc>
                <a:spcPct val="115000"/>
              </a:lnSpc>
              <a:spcBef>
                <a:spcPts val="1200"/>
              </a:spcBef>
              <a:spcAft>
                <a:spcPts val="0"/>
              </a:spcAft>
              <a:buNone/>
            </a:pPr>
            <a:r>
              <a:rPr lang="es" sz="1800" b="1">
                <a:solidFill>
                  <a:schemeClr val="dk1"/>
                </a:solidFill>
              </a:rPr>
              <a:t> Tecnologías clave en el análisis predictivo:</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b="1">
                <a:solidFill>
                  <a:schemeClr val="dk1"/>
                </a:solidFill>
              </a:rPr>
              <a:t>Machine Learning (ML):</a:t>
            </a:r>
            <a:r>
              <a:rPr lang="es" sz="1800">
                <a:solidFill>
                  <a:schemeClr val="dk1"/>
                </a:solidFill>
              </a:rPr>
              <a:t> Modelos que aprenden automáticamente de los datos.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Big Data:</a:t>
            </a:r>
            <a:r>
              <a:rPr lang="es" sz="1800">
                <a:solidFill>
                  <a:schemeClr val="dk1"/>
                </a:solidFill>
              </a:rPr>
              <a:t> Manejo de grandes volúmenes de información en tiempo real.</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Minería de datos (Data Mining):</a:t>
            </a:r>
            <a:r>
              <a:rPr lang="es" sz="1800">
                <a:solidFill>
                  <a:schemeClr val="dk1"/>
                </a:solidFill>
              </a:rPr>
              <a:t> Descubrimiento de patrones ocultos en bases de datos.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Estadística Avanzada:</a:t>
            </a:r>
            <a:r>
              <a:rPr lang="es" sz="1800">
                <a:solidFill>
                  <a:schemeClr val="dk1"/>
                </a:solidFill>
              </a:rPr>
              <a:t> Modelos de regresión, análisis de correlación y simulaciones.</a:t>
            </a:r>
            <a:endParaRPr sz="1800">
              <a:solidFill>
                <a:schemeClr val="dk1"/>
              </a:solidFill>
            </a:endParaRPr>
          </a:p>
        </p:txBody>
      </p:sp>
      <p:sp>
        <p:nvSpPr>
          <p:cNvPr id="111" name="Google Shape;111;g2d8fa948c4e_0_25"/>
          <p:cNvSpPr txBox="1"/>
          <p:nvPr/>
        </p:nvSpPr>
        <p:spPr>
          <a:xfrm>
            <a:off x="2323125" y="334100"/>
            <a:ext cx="3597600" cy="41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400"/>
              </a:spcAft>
              <a:buClr>
                <a:schemeClr val="dk1"/>
              </a:buClr>
              <a:buSzPts val="1100"/>
              <a:buFont typeface="Arial"/>
              <a:buNone/>
            </a:pPr>
            <a:r>
              <a:rPr lang="es" sz="1800" b="1">
                <a:solidFill>
                  <a:schemeClr val="dk1"/>
                </a:solidFill>
              </a:rPr>
              <a:t>¿Qué es el Análisis Predictivo?</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g2d8fa948c4e_0_2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7" name="Google Shape;117;g2d8fa948c4e_0_29"/>
          <p:cNvSpPr txBox="1"/>
          <p:nvPr/>
        </p:nvSpPr>
        <p:spPr>
          <a:xfrm>
            <a:off x="15550" y="792500"/>
            <a:ext cx="9075000" cy="428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Clr>
                <a:schemeClr val="dk1"/>
              </a:buClr>
              <a:buSzPts val="1100"/>
              <a:buFont typeface="Arial"/>
              <a:buNone/>
            </a:pPr>
            <a:r>
              <a:rPr lang="es" sz="1800" b="1" dirty="0">
                <a:solidFill>
                  <a:schemeClr val="dk1"/>
                </a:solidFill>
              </a:rPr>
              <a:t>Aplicaciones del Análisis Predictivo en la Toma de Decisiones</a:t>
            </a:r>
            <a:endParaRPr sz="1800" b="1" dirty="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800" b="1" dirty="0">
                <a:solidFill>
                  <a:schemeClr val="dk1"/>
                </a:solidFill>
              </a:rPr>
              <a:t>En Finanzas y Gestión Empresarial </a:t>
            </a:r>
            <a:endParaRPr sz="18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dirty="0">
                <a:solidFill>
                  <a:schemeClr val="dk1"/>
                </a:solidFill>
              </a:rPr>
              <a:t>Predicción de ingresos y gastos.</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Identificación de riesgos financieros.</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Optimización de presupuestos y reducción de costos.</a:t>
            </a:r>
            <a:endParaRPr sz="1800" dirty="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800" b="1" dirty="0">
                <a:solidFill>
                  <a:schemeClr val="dk1"/>
                </a:solidFill>
              </a:rPr>
              <a:t>En Ventas y Marketing </a:t>
            </a:r>
            <a:endParaRPr sz="18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dirty="0">
                <a:solidFill>
                  <a:schemeClr val="dk1"/>
                </a:solidFill>
              </a:rPr>
              <a:t>Predicción de tendencias de compra y comportamiento del cliente.</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Segmentación de clientes para personalizar estrategias de marketing.</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dirty="0">
                <a:solidFill>
                  <a:schemeClr val="dk1"/>
                </a:solidFill>
              </a:rPr>
              <a:t>Optimización de campañas publicitarias según la respuesta del mercado.</a:t>
            </a:r>
            <a:endParaRPr sz="1800" dirty="0">
              <a:solidFill>
                <a:schemeClr val="dk1"/>
              </a:solidFill>
            </a:endParaRPr>
          </a:p>
          <a:p>
            <a:pPr marL="0" lvl="0" indent="0" algn="l" rtl="0">
              <a:spcBef>
                <a:spcPts val="1200"/>
              </a:spcBef>
              <a:spcAft>
                <a:spcPts val="0"/>
              </a:spcAft>
              <a:buNone/>
            </a:pPr>
            <a:endParaRPr sz="1800" dirty="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g2d8fa948c4e_0_1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3" name="Google Shape;123;g2d8fa948c4e_0_17"/>
          <p:cNvSpPr txBox="1"/>
          <p:nvPr/>
        </p:nvSpPr>
        <p:spPr>
          <a:xfrm>
            <a:off x="15550" y="893500"/>
            <a:ext cx="9090600" cy="4164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En Gestión de Recursos Humanos</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Análisis de rotación y retención de empleados.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Predicción de necesidades de contratación.</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Evaluación del desempeño y planificación de ascensos.</a:t>
            </a:r>
            <a:endParaRPr sz="18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En Logística y Cadena de Suministro</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Predicción de demanda de productos para optimizar inventarios.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Optimización de rutas de distribución para reducir costos.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Detección de fallas en maquinaria con mantenimiento predictivo.</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g2d8fa948c4e_0_3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9" name="Google Shape;129;g2d8fa948c4e_0_33"/>
          <p:cNvSpPr txBox="1"/>
          <p:nvPr/>
        </p:nvSpPr>
        <p:spPr>
          <a:xfrm>
            <a:off x="38850" y="831350"/>
            <a:ext cx="9036000" cy="422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endParaRPr sz="1800" b="1">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s" sz="1800" b="1">
                <a:solidFill>
                  <a:schemeClr val="dk1"/>
                </a:solidFill>
              </a:rPr>
              <a:t>Beneficios del Análisis Predictivo en la Toma de Decisiones</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b="1">
                <a:solidFill>
                  <a:schemeClr val="dk1"/>
                </a:solidFill>
              </a:rPr>
              <a:t>Mayor precisión:</a:t>
            </a:r>
            <a:r>
              <a:rPr lang="es" sz="1800">
                <a:solidFill>
                  <a:schemeClr val="dk1"/>
                </a:solidFill>
              </a:rPr>
              <a:t> Reducción de incertidumbre en decisiones estratégicas.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Optimización de recursos:</a:t>
            </a:r>
            <a:r>
              <a:rPr lang="es" sz="1800">
                <a:solidFill>
                  <a:schemeClr val="dk1"/>
                </a:solidFill>
              </a:rPr>
              <a:t> Uso eficiente del tiempo, dinero y personal.</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Automatización inteligente:</a:t>
            </a:r>
            <a:r>
              <a:rPr lang="es" sz="1800">
                <a:solidFill>
                  <a:schemeClr val="dk1"/>
                </a:solidFill>
              </a:rPr>
              <a:t> Procesos más rápidos y eficientes.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Mejor experiencia del cliente:</a:t>
            </a:r>
            <a:r>
              <a:rPr lang="es" sz="1800">
                <a:solidFill>
                  <a:schemeClr val="dk1"/>
                </a:solidFill>
              </a:rPr>
              <a:t> Personalización de productos y servicios.</a:t>
            </a:r>
            <a:endParaRPr sz="1800">
              <a:solidFill>
                <a:schemeClr val="dk1"/>
              </a:solidFill>
            </a:endParaRPr>
          </a:p>
          <a:p>
            <a:pPr marL="0" lvl="0" indent="0" algn="l" rtl="0">
              <a:lnSpc>
                <a:spcPct val="115000"/>
              </a:lnSpc>
              <a:spcBef>
                <a:spcPts val="1200"/>
              </a:spcBef>
              <a:spcAft>
                <a:spcPts val="0"/>
              </a:spcAft>
              <a:buNone/>
            </a:pP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g2dcf99f76a9_0_3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5" name="Google Shape;135;g2dcf99f76a9_0_39"/>
          <p:cNvSpPr txBox="1"/>
          <p:nvPr/>
        </p:nvSpPr>
        <p:spPr>
          <a:xfrm>
            <a:off x="38850" y="831350"/>
            <a:ext cx="9036000" cy="4226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400"/>
              </a:spcBef>
              <a:spcAft>
                <a:spcPts val="0"/>
              </a:spcAft>
              <a:buClr>
                <a:schemeClr val="dk1"/>
              </a:buClr>
              <a:buSzPts val="1100"/>
              <a:buFont typeface="Arial"/>
              <a:buNone/>
            </a:pPr>
            <a:r>
              <a:rPr lang="es" sz="1800" b="1" dirty="0">
                <a:solidFill>
                  <a:schemeClr val="dk1"/>
                </a:solidFill>
              </a:rPr>
              <a:t>Herramientas para el análisis y Modelados Predictivo</a:t>
            </a:r>
            <a:endParaRPr sz="18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dirty="0">
                <a:solidFill>
                  <a:schemeClr val="dk1"/>
                </a:solidFill>
              </a:rPr>
              <a:t>Se usa </a:t>
            </a:r>
            <a:r>
              <a:rPr lang="es" sz="1800" b="1" dirty="0">
                <a:solidFill>
                  <a:schemeClr val="dk1"/>
                </a:solidFill>
              </a:rPr>
              <a:t>Machine Learning</a:t>
            </a:r>
            <a:r>
              <a:rPr lang="es" sz="1800" dirty="0">
                <a:solidFill>
                  <a:schemeClr val="dk1"/>
                </a:solidFill>
              </a:rPr>
              <a:t> para entrenar un modelo que prediga la demanda futura de cada producto.</a:t>
            </a:r>
            <a:endParaRPr sz="18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b="1" dirty="0">
                <a:solidFill>
                  <a:schemeClr val="dk1"/>
                </a:solidFill>
              </a:rPr>
              <a:t>Herramientas recomendadas:</a:t>
            </a:r>
            <a:br>
              <a:rPr lang="es" sz="1800" b="1" dirty="0">
                <a:solidFill>
                  <a:schemeClr val="dk1"/>
                </a:solidFill>
              </a:rPr>
            </a:br>
            <a:r>
              <a:rPr lang="es" sz="1800" dirty="0">
                <a:solidFill>
                  <a:schemeClr val="dk1"/>
                </a:solidFill>
              </a:rPr>
              <a:t>✔ </a:t>
            </a:r>
            <a:r>
              <a:rPr lang="es" sz="1800" b="1" dirty="0">
                <a:solidFill>
                  <a:schemeClr val="dk1"/>
                </a:solidFill>
              </a:rPr>
              <a:t>Python + Pandas + Scikit-Learn</a:t>
            </a:r>
            <a:r>
              <a:rPr lang="es" sz="1800" dirty="0">
                <a:solidFill>
                  <a:schemeClr val="dk1"/>
                </a:solidFill>
              </a:rPr>
              <a:t> → Para análisis de datos y modelado.</a:t>
            </a:r>
            <a:br>
              <a:rPr lang="es" sz="1800" dirty="0">
                <a:solidFill>
                  <a:schemeClr val="dk1"/>
                </a:solidFill>
              </a:rPr>
            </a:br>
            <a:r>
              <a:rPr lang="es" sz="1800" dirty="0">
                <a:solidFill>
                  <a:schemeClr val="dk1"/>
                </a:solidFill>
              </a:rPr>
              <a:t>✔ </a:t>
            </a:r>
            <a:r>
              <a:rPr lang="es" sz="1800" b="1" dirty="0">
                <a:solidFill>
                  <a:schemeClr val="dk1"/>
                </a:solidFill>
              </a:rPr>
              <a:t>Power BI o Tableau</a:t>
            </a:r>
            <a:r>
              <a:rPr lang="es" sz="1800" dirty="0">
                <a:solidFill>
                  <a:schemeClr val="dk1"/>
                </a:solidFill>
              </a:rPr>
              <a:t> → Para visualizar tendencias y predicciones.</a:t>
            </a:r>
            <a:br>
              <a:rPr lang="es" sz="1800" dirty="0">
                <a:solidFill>
                  <a:schemeClr val="dk1"/>
                </a:solidFill>
              </a:rPr>
            </a:br>
            <a:r>
              <a:rPr lang="es" sz="1800" dirty="0">
                <a:solidFill>
                  <a:schemeClr val="dk1"/>
                </a:solidFill>
              </a:rPr>
              <a:t>✔ </a:t>
            </a:r>
            <a:r>
              <a:rPr lang="es" sz="1800" b="1" dirty="0">
                <a:solidFill>
                  <a:schemeClr val="dk1"/>
                </a:solidFill>
              </a:rPr>
              <a:t>Google BigQuery</a:t>
            </a:r>
            <a:r>
              <a:rPr lang="es" sz="1800" dirty="0">
                <a:solidFill>
                  <a:schemeClr val="dk1"/>
                </a:solidFill>
              </a:rPr>
              <a:t> → Para procesar grandes volúmenes de datos.</a:t>
            </a:r>
            <a:endParaRPr sz="1800" dirty="0">
              <a:solidFill>
                <a:schemeClr val="dk1"/>
              </a:solidFill>
            </a:endParaRPr>
          </a:p>
          <a:p>
            <a:pPr marL="0" lvl="0" indent="0" algn="l" rtl="0">
              <a:spcBef>
                <a:spcPts val="1200"/>
              </a:spcBef>
              <a:spcAft>
                <a:spcPts val="0"/>
              </a:spcAft>
              <a:buNone/>
            </a:pPr>
            <a:endParaRPr sz="1800" b="1" dirty="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g2d8fa948c4e_0_4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1" name="Google Shape;141;g2d8fa948c4e_0_41"/>
          <p:cNvSpPr txBox="1"/>
          <p:nvPr/>
        </p:nvSpPr>
        <p:spPr>
          <a:xfrm>
            <a:off x="15550" y="730350"/>
            <a:ext cx="9043800" cy="4366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20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142" name="Google Shape;142;g2d8fa948c4e_0_41"/>
          <p:cNvSpPr txBox="1"/>
          <p:nvPr/>
        </p:nvSpPr>
        <p:spPr>
          <a:xfrm>
            <a:off x="31075" y="815800"/>
            <a:ext cx="9112800" cy="4009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None/>
            </a:pPr>
            <a:r>
              <a:rPr lang="es" sz="1800" b="1">
                <a:solidFill>
                  <a:schemeClr val="dk1"/>
                </a:solidFill>
              </a:rPr>
              <a:t>Integración del Análisis Predictivo en un ERP o CRM</a:t>
            </a:r>
            <a:endParaRPr sz="18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b="1">
                <a:solidFill>
                  <a:schemeClr val="dk1"/>
                </a:solidFill>
              </a:rPr>
              <a:t>ERP:</a:t>
            </a:r>
            <a:r>
              <a:rPr lang="es" sz="1800">
                <a:solidFill>
                  <a:schemeClr val="dk1"/>
                </a:solidFill>
              </a:rPr>
              <a:t> Predicción de demanda, optimización de costos y gestión de inventarios.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b="1">
                <a:solidFill>
                  <a:schemeClr val="dk1"/>
                </a:solidFill>
              </a:rPr>
              <a:t>CRM:</a:t>
            </a:r>
            <a:r>
              <a:rPr lang="es" sz="1800">
                <a:solidFill>
                  <a:schemeClr val="dk1"/>
                </a:solidFill>
              </a:rPr>
              <a:t> Análisis de comportamiento del cliente y personalización de ofertas.</a:t>
            </a:r>
            <a:endParaRPr sz="18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El análisis predictivo transforma los datos en </a:t>
            </a:r>
            <a:r>
              <a:rPr lang="es" sz="1800" b="1">
                <a:solidFill>
                  <a:schemeClr val="dk1"/>
                </a:solidFill>
              </a:rPr>
              <a:t>conocimiento útil</a:t>
            </a:r>
            <a:r>
              <a:rPr lang="es" sz="1800">
                <a:solidFill>
                  <a:schemeClr val="dk1"/>
                </a:solidFill>
              </a:rPr>
              <a:t>, permitiendo que las empresas sean más competitivas.</a:t>
            </a:r>
            <a:endParaRPr sz="1800">
              <a:solidFill>
                <a:schemeClr val="dk1"/>
              </a:solidFill>
            </a:endParaRPr>
          </a:p>
          <a:p>
            <a:pPr marL="0" lvl="0" indent="0" algn="l" rtl="0">
              <a:spcBef>
                <a:spcPts val="1200"/>
              </a:spcBef>
              <a:spcAft>
                <a:spcPts val="0"/>
              </a:spcAft>
              <a:buNone/>
            </a:pPr>
            <a:r>
              <a:rPr lang="es" sz="1800">
                <a:solidFill>
                  <a:schemeClr val="dk1"/>
                </a:solidFill>
              </a:rPr>
              <a:t>ERP (Ejemplo: SAP, Odoo, Oracle ERP): Para integrar la predicción con la gestión de inventarios y compras.</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r>
              <a:rPr lang="es" sz="1800">
                <a:solidFill>
                  <a:schemeClr val="dk1"/>
                </a:solidFill>
              </a:rPr>
              <a:t>CRM (Ejemplo: Salesforce, HubSpot, Zoho CRM): Para personalizar recomendaciones según el comportamiento del cliente.</a:t>
            </a:r>
            <a:endParaRPr sz="1800">
              <a:solidFill>
                <a:schemeClr val="dk1"/>
              </a:solidFill>
            </a:endParaRPr>
          </a:p>
          <a:p>
            <a:pPr marL="0" lvl="0" indent="0" algn="l" rtl="0">
              <a:spcBef>
                <a:spcPts val="0"/>
              </a:spcBef>
              <a:spcAft>
                <a:spcPts val="0"/>
              </a:spcAft>
              <a:buNone/>
            </a:pP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2d8fa948c4e_0_3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8" name="Google Shape;148;g2d8fa948c4e_0_37"/>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9" name="Google Shape;149;g2d8fa948c4e_0_37"/>
          <p:cNvSpPr txBox="1"/>
          <p:nvPr/>
        </p:nvSpPr>
        <p:spPr>
          <a:xfrm>
            <a:off x="1437375" y="652650"/>
            <a:ext cx="5974800" cy="567300"/>
          </a:xfrm>
          <a:prstGeom prst="rect">
            <a:avLst/>
          </a:prstGeom>
          <a:noFill/>
          <a:ln>
            <a:noFill/>
          </a:ln>
        </p:spPr>
        <p:txBody>
          <a:bodyPr spcFirstLastPara="1" wrap="square" lIns="91425" tIns="91425" rIns="91425" bIns="91425" anchor="t" anchorCtr="0">
            <a:noAutofit/>
          </a:bodyPr>
          <a:lstStyle/>
          <a:p>
            <a:pPr marL="0" lvl="0" indent="-228600" algn="ctr" rtl="0">
              <a:lnSpc>
                <a:spcPct val="115000"/>
              </a:lnSpc>
              <a:spcBef>
                <a:spcPts val="1200"/>
              </a:spcBef>
              <a:spcAft>
                <a:spcPts val="1200"/>
              </a:spcAft>
              <a:buNone/>
            </a:pPr>
            <a:r>
              <a:rPr lang="es" sz="1800" b="1">
                <a:solidFill>
                  <a:schemeClr val="dk1"/>
                </a:solidFill>
              </a:rPr>
              <a:t>Personalización y Automatización en sistemas CRM</a:t>
            </a:r>
            <a:endParaRPr sz="1800" b="1">
              <a:solidFill>
                <a:schemeClr val="dk2"/>
              </a:solidFill>
            </a:endParaRPr>
          </a:p>
        </p:txBody>
      </p:sp>
      <p:sp>
        <p:nvSpPr>
          <p:cNvPr id="150" name="Google Shape;150;g2d8fa948c4e_0_37"/>
          <p:cNvSpPr txBox="1"/>
          <p:nvPr/>
        </p:nvSpPr>
        <p:spPr>
          <a:xfrm>
            <a:off x="81300" y="1219950"/>
            <a:ext cx="8981400" cy="37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La personalización en un CRM permite adaptar la comunicación, productos y servicios a las necesidades específicas de cada cliente.</a:t>
            </a:r>
            <a:endParaRPr sz="18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Estrategias de Personalización</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 </a:t>
            </a:r>
            <a:r>
              <a:rPr lang="es" sz="1800" b="1">
                <a:solidFill>
                  <a:schemeClr val="dk1"/>
                </a:solidFill>
              </a:rPr>
              <a:t>Segmentación de clientes:</a:t>
            </a:r>
            <a:r>
              <a:rPr lang="es" sz="1800">
                <a:solidFill>
                  <a:schemeClr val="dk1"/>
                </a:solidFill>
              </a:rPr>
              <a:t> Agrupar clientes según su comportamiento, intereses o historial de compras.</a:t>
            </a:r>
            <a:br>
              <a:rPr lang="es" sz="1800">
                <a:solidFill>
                  <a:schemeClr val="dk1"/>
                </a:solidFill>
              </a:rPr>
            </a:br>
            <a:r>
              <a:rPr lang="es" sz="1800">
                <a:solidFill>
                  <a:schemeClr val="dk1"/>
                </a:solidFill>
              </a:rPr>
              <a:t>✔ </a:t>
            </a:r>
            <a:r>
              <a:rPr lang="es" sz="1800" b="1">
                <a:solidFill>
                  <a:schemeClr val="dk1"/>
                </a:solidFill>
              </a:rPr>
              <a:t>Recomendaciones personalizadas:</a:t>
            </a:r>
            <a:r>
              <a:rPr lang="es" sz="1800">
                <a:solidFill>
                  <a:schemeClr val="dk1"/>
                </a:solidFill>
              </a:rPr>
              <a:t> Ofrecer productos o servicios según las preferencias del cliente (ej. Amazon, Netflix).</a:t>
            </a:r>
            <a:br>
              <a:rPr lang="es" sz="1800">
                <a:solidFill>
                  <a:schemeClr val="dk1"/>
                </a:solidFill>
              </a:rPr>
            </a:br>
            <a:r>
              <a:rPr lang="es" sz="1800">
                <a:solidFill>
                  <a:schemeClr val="dk1"/>
                </a:solidFill>
              </a:rPr>
              <a:t>✔ </a:t>
            </a:r>
            <a:r>
              <a:rPr lang="es" sz="1800" b="1">
                <a:solidFill>
                  <a:schemeClr val="dk1"/>
                </a:solidFill>
              </a:rPr>
              <a:t>Automatización de emails personalizados:</a:t>
            </a:r>
            <a:r>
              <a:rPr lang="es" sz="1800">
                <a:solidFill>
                  <a:schemeClr val="dk1"/>
                </a:solidFill>
              </a:rPr>
              <a:t> Correos con el nombre del cliente, recomendaciones específicas y ofertas basadas en su historial.</a:t>
            </a:r>
            <a:br>
              <a:rPr lang="es" sz="1800">
                <a:solidFill>
                  <a:schemeClr val="dk1"/>
                </a:solidFill>
              </a:rPr>
            </a:br>
            <a:r>
              <a:rPr lang="es" sz="1800">
                <a:solidFill>
                  <a:schemeClr val="dk1"/>
                </a:solidFill>
              </a:rPr>
              <a:t>✔ </a:t>
            </a:r>
            <a:r>
              <a:rPr lang="es" sz="1800" b="1">
                <a:solidFill>
                  <a:schemeClr val="dk1"/>
                </a:solidFill>
              </a:rPr>
              <a:t>Interacción omnicanal:</a:t>
            </a:r>
            <a:r>
              <a:rPr lang="es" sz="1800">
                <a:solidFill>
                  <a:schemeClr val="dk1"/>
                </a:solidFill>
              </a:rPr>
              <a:t> Personalizar la experiencia en todos los puntos de contacto (email, redes sociales, chatbots, llamadas).</a:t>
            </a:r>
            <a:endParaRPr sz="1800">
              <a:solidFill>
                <a:schemeClr val="dk1"/>
              </a:solidFill>
            </a:endParaRPr>
          </a:p>
          <a:p>
            <a:pPr marL="0" lvl="0" indent="0" algn="l" rtl="0">
              <a:spcBef>
                <a:spcPts val="1200"/>
              </a:spcBef>
              <a:spcAft>
                <a:spcPts val="0"/>
              </a:spcAft>
              <a:buNone/>
            </a:pP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g339a09cea51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6" name="Google Shape;156;g339a09cea51_0_0"/>
          <p:cNvSpPr txBox="1"/>
          <p:nvPr/>
        </p:nvSpPr>
        <p:spPr>
          <a:xfrm>
            <a:off x="38850" y="776975"/>
            <a:ext cx="9105300" cy="70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La automatización en un CRM permite gestionar tareas repetitivas sin intervención humana, optimizando procesos y mejorando la productividad.</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
        <p:nvSpPr>
          <p:cNvPr id="157" name="Google Shape;157;g339a09cea51_0_0"/>
          <p:cNvSpPr txBox="1"/>
          <p:nvPr/>
        </p:nvSpPr>
        <p:spPr>
          <a:xfrm>
            <a:off x="2525125" y="147625"/>
            <a:ext cx="3411000" cy="52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400"/>
              </a:spcAft>
              <a:buClr>
                <a:schemeClr val="dk1"/>
              </a:buClr>
              <a:buSzPts val="1100"/>
              <a:buFont typeface="Arial"/>
              <a:buNone/>
            </a:pPr>
            <a:r>
              <a:rPr lang="es" sz="1800" b="1" dirty="0">
                <a:solidFill>
                  <a:schemeClr val="dk1"/>
                </a:solidFill>
              </a:rPr>
              <a:t>Automatización en CRM</a:t>
            </a:r>
            <a:endParaRPr sz="1800" dirty="0">
              <a:solidFill>
                <a:schemeClr val="dk2"/>
              </a:solidFill>
            </a:endParaRPr>
          </a:p>
        </p:txBody>
      </p:sp>
      <p:sp>
        <p:nvSpPr>
          <p:cNvPr id="158" name="Google Shape;158;g339a09cea51_0_0"/>
          <p:cNvSpPr txBox="1"/>
          <p:nvPr/>
        </p:nvSpPr>
        <p:spPr>
          <a:xfrm>
            <a:off x="57900" y="1484075"/>
            <a:ext cx="9028200" cy="341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Funciones Clave de Automatización en CRM</a:t>
            </a:r>
            <a:endParaRPr sz="18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1800">
                <a:solidFill>
                  <a:schemeClr val="dk1"/>
                </a:solidFill>
              </a:rPr>
              <a:t>✔ </a:t>
            </a:r>
            <a:r>
              <a:rPr lang="es" sz="1800" b="1">
                <a:solidFill>
                  <a:schemeClr val="dk1"/>
                </a:solidFill>
              </a:rPr>
              <a:t>Automatización de ventas:</a:t>
            </a:r>
            <a:r>
              <a:rPr lang="es" sz="1800">
                <a:solidFill>
                  <a:schemeClr val="dk1"/>
                </a:solidFill>
              </a:rPr>
              <a:t> Seguimiento de clientes potenciales, recordatorios de reuniones y propuestas automáticas.</a:t>
            </a:r>
            <a:br>
              <a:rPr lang="es" sz="1800">
                <a:solidFill>
                  <a:schemeClr val="dk1"/>
                </a:solidFill>
              </a:rPr>
            </a:br>
            <a:r>
              <a:rPr lang="es" sz="1800">
                <a:solidFill>
                  <a:schemeClr val="dk1"/>
                </a:solidFill>
              </a:rPr>
              <a:t>✔ </a:t>
            </a:r>
            <a:r>
              <a:rPr lang="es" sz="1800" b="1">
                <a:solidFill>
                  <a:schemeClr val="dk1"/>
                </a:solidFill>
              </a:rPr>
              <a:t>Flujos de trabajo automatizados:</a:t>
            </a:r>
            <a:r>
              <a:rPr lang="es" sz="1800">
                <a:solidFill>
                  <a:schemeClr val="dk1"/>
                </a:solidFill>
              </a:rPr>
              <a:t> Asignación de tareas a vendedores según la etapa del cliente en el embudo de ventas.</a:t>
            </a:r>
            <a:br>
              <a:rPr lang="es" sz="1800">
                <a:solidFill>
                  <a:schemeClr val="dk1"/>
                </a:solidFill>
              </a:rPr>
            </a:br>
            <a:r>
              <a:rPr lang="es" sz="1800">
                <a:solidFill>
                  <a:schemeClr val="dk1"/>
                </a:solidFill>
              </a:rPr>
              <a:t>✔ </a:t>
            </a:r>
            <a:r>
              <a:rPr lang="es" sz="1800" b="1">
                <a:solidFill>
                  <a:schemeClr val="dk1"/>
                </a:solidFill>
              </a:rPr>
              <a:t>Chatbots y asistencia virtual:</a:t>
            </a:r>
            <a:r>
              <a:rPr lang="es" sz="1800">
                <a:solidFill>
                  <a:schemeClr val="dk1"/>
                </a:solidFill>
              </a:rPr>
              <a:t> Respuestas automáticas a preguntas frecuentes y soporte 24/7.</a:t>
            </a:r>
            <a:br>
              <a:rPr lang="es" sz="1800">
                <a:solidFill>
                  <a:schemeClr val="dk1"/>
                </a:solidFill>
              </a:rPr>
            </a:br>
            <a:r>
              <a:rPr lang="es" sz="1800">
                <a:solidFill>
                  <a:schemeClr val="dk1"/>
                </a:solidFill>
              </a:rPr>
              <a:t>✔ </a:t>
            </a:r>
            <a:r>
              <a:rPr lang="es" sz="1800" b="1">
                <a:solidFill>
                  <a:schemeClr val="dk1"/>
                </a:solidFill>
              </a:rPr>
              <a:t>Automatización de marketing:</a:t>
            </a:r>
            <a:r>
              <a:rPr lang="es" sz="1800">
                <a:solidFill>
                  <a:schemeClr val="dk1"/>
                </a:solidFill>
              </a:rPr>
              <a:t> Programación de campañas de email, segmentación de anuncios y gestión de redes sociales.</a:t>
            </a:r>
            <a:br>
              <a:rPr lang="es" sz="1800">
                <a:solidFill>
                  <a:schemeClr val="dk1"/>
                </a:solidFill>
              </a:rPr>
            </a:br>
            <a:r>
              <a:rPr lang="es" sz="1800">
                <a:solidFill>
                  <a:schemeClr val="dk1"/>
                </a:solidFill>
              </a:rPr>
              <a:t>✔ </a:t>
            </a:r>
            <a:r>
              <a:rPr lang="es" sz="1800" b="1">
                <a:solidFill>
                  <a:schemeClr val="dk1"/>
                </a:solidFill>
              </a:rPr>
              <a:t>Reportes y análisis en tiempo real:</a:t>
            </a:r>
            <a:r>
              <a:rPr lang="es" sz="1800">
                <a:solidFill>
                  <a:schemeClr val="dk1"/>
                </a:solidFill>
              </a:rPr>
              <a:t> Generación de informes automáticos sobre clientes, ventas y tendencias.</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g339a09cea51_0_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64" name="Google Shape;164;g339a09cea51_0_5"/>
          <p:cNvSpPr txBox="1"/>
          <p:nvPr/>
        </p:nvSpPr>
        <p:spPr>
          <a:xfrm>
            <a:off x="15550" y="784725"/>
            <a:ext cx="9128400" cy="2602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 sz="1800" b="1">
                <a:solidFill>
                  <a:schemeClr val="dk1"/>
                </a:solidFill>
              </a:rPr>
              <a:t>Ejemplo.</a:t>
            </a:r>
            <a:endParaRPr sz="1800" b="1">
              <a:solidFill>
                <a:schemeClr val="dk1"/>
              </a:solidFill>
            </a:endParaRPr>
          </a:p>
          <a:p>
            <a:pPr marL="0" lvl="0" indent="0" algn="l" rtl="0">
              <a:lnSpc>
                <a:spcPct val="115000"/>
              </a:lnSpc>
              <a:spcBef>
                <a:spcPts val="1200"/>
              </a:spcBef>
              <a:spcAft>
                <a:spcPts val="0"/>
              </a:spcAft>
              <a:buNone/>
            </a:pPr>
            <a:r>
              <a:rPr lang="es" sz="1800">
                <a:solidFill>
                  <a:schemeClr val="dk1"/>
                </a:solidFill>
              </a:rPr>
              <a:t>Una empresa de software usa un </a:t>
            </a:r>
            <a:r>
              <a:rPr lang="es" sz="1800" b="1">
                <a:solidFill>
                  <a:schemeClr val="dk1"/>
                </a:solidFill>
              </a:rPr>
              <a:t>CRM con automatización</a:t>
            </a:r>
            <a:r>
              <a:rPr lang="es" sz="1800">
                <a:solidFill>
                  <a:schemeClr val="dk1"/>
                </a:solidFill>
              </a:rPr>
              <a:t> para:</a:t>
            </a:r>
            <a:endParaRPr sz="1800">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Capturar leads desde su página web y asignarlos automáticamente a un vendedor.</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Enviar correos automáticos con información del producto según el interés del usuario.</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Notificar al equipo de ventas cuando un cliente potencial interactúa con los correos o la web.</a:t>
            </a:r>
            <a:endParaRPr sz="1800">
              <a:solidFill>
                <a:schemeClr val="dk1"/>
              </a:solidFill>
            </a:endParaRPr>
          </a:p>
          <a:p>
            <a:pPr marL="0" lvl="0" indent="0" algn="l" rtl="0">
              <a:lnSpc>
                <a:spcPct val="115000"/>
              </a:lnSpc>
              <a:spcBef>
                <a:spcPts val="1200"/>
              </a:spcBef>
              <a:spcAft>
                <a:spcPts val="0"/>
              </a:spcAft>
              <a:buNone/>
            </a:pPr>
            <a:endParaRPr sz="1800">
              <a:solidFill>
                <a:schemeClr val="dk1"/>
              </a:solidFill>
            </a:endParaRPr>
          </a:p>
          <a:p>
            <a:pPr marL="0" lvl="0" indent="0" algn="l" rtl="0">
              <a:lnSpc>
                <a:spcPct val="115000"/>
              </a:lnSpc>
              <a:spcBef>
                <a:spcPts val="1200"/>
              </a:spcBef>
              <a:spcAft>
                <a:spcPts val="0"/>
              </a:spcAft>
              <a:buNone/>
            </a:pP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g339a09cea51_0_1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70" name="Google Shape;170;g339a09cea51_0_10"/>
          <p:cNvSpPr txBox="1"/>
          <p:nvPr/>
        </p:nvSpPr>
        <p:spPr>
          <a:xfrm>
            <a:off x="8450" y="893500"/>
            <a:ext cx="9058500" cy="4125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1" name="Google Shape;171;g339a09cea51_0_10"/>
          <p:cNvSpPr txBox="1"/>
          <p:nvPr/>
        </p:nvSpPr>
        <p:spPr>
          <a:xfrm>
            <a:off x="23300" y="800275"/>
            <a:ext cx="9051600" cy="410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s" sz="1700" b="1">
                <a:solidFill>
                  <a:schemeClr val="dk1"/>
                </a:solidFill>
              </a:rPr>
              <a:t>Beneficios de la Personalización y Automatización en CRM</a:t>
            </a:r>
            <a:endParaRPr sz="17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1800">
                <a:solidFill>
                  <a:schemeClr val="dk1"/>
                </a:solidFill>
              </a:rPr>
              <a:t>Ahorro de tiempo: Reducción de tareas manuales y repetitivas.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Mejor experiencia del cliente: Comunicación más relevante y adaptada a sus necesidades.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Mayor eficiencia en ventas y marketing: Seguimiento automatizado y segmentación inteligente.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s" sz="1800">
                <a:solidFill>
                  <a:schemeClr val="dk1"/>
                </a:solidFill>
              </a:rPr>
              <a:t>Toma de decisiones basada en datos: Análisis predictivo para entender el comportamiento del cliente.</a:t>
            </a:r>
            <a:endParaRPr sz="1800">
              <a:solidFill>
                <a:schemeClr val="dk1"/>
              </a:solidFill>
            </a:endParaRPr>
          </a:p>
          <a:p>
            <a:pPr marL="0" lvl="0" indent="0" algn="l" rtl="0">
              <a:lnSpc>
                <a:spcPct val="115000"/>
              </a:lnSpc>
              <a:spcBef>
                <a:spcPts val="1200"/>
              </a:spcBef>
              <a:spcAft>
                <a:spcPts val="0"/>
              </a:spcAft>
              <a:buNone/>
            </a:pPr>
            <a:endParaRPr sz="1100" b="1">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b="1">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
          <p:cNvSpPr txBox="1"/>
          <p:nvPr/>
        </p:nvSpPr>
        <p:spPr>
          <a:xfrm>
            <a:off x="1253695" y="500063"/>
            <a:ext cx="6751650" cy="599908"/>
          </a:xfrm>
          <a:prstGeom prst="rect">
            <a:avLst/>
          </a:prstGeom>
          <a:noFill/>
          <a:ln>
            <a:noFill/>
          </a:ln>
        </p:spPr>
        <p:txBody>
          <a:bodyPr spcFirstLastPara="1" wrap="square" lIns="0" tIns="0" rIns="0" bIns="0" anchor="t" anchorCtr="0">
            <a:spAutoFit/>
          </a:bodyPr>
          <a:lstStyle/>
          <a:p>
            <a:pPr algn="ctr">
              <a:lnSpc>
                <a:spcPct val="113000"/>
              </a:lnSpc>
              <a:buSzPts val="6900"/>
            </a:pPr>
            <a:r>
              <a:rPr lang="en-US" sz="3450">
                <a:solidFill>
                  <a:srgbClr val="131416"/>
                </a:solidFill>
                <a:latin typeface="Impact"/>
                <a:ea typeface="Impact"/>
                <a:cs typeface="Impact"/>
                <a:sym typeface="Impact"/>
              </a:rPr>
              <a:t>CONCEPTOS CLAVE APRENDIDOS </a:t>
            </a:r>
            <a:endParaRPr sz="700">
              <a:latin typeface="Impact"/>
              <a:ea typeface="Impact"/>
              <a:cs typeface="Impact"/>
              <a:sym typeface="Impact"/>
            </a:endParaRPr>
          </a:p>
        </p:txBody>
      </p:sp>
      <p:sp>
        <p:nvSpPr>
          <p:cNvPr id="375" name="Google Shape;375;p6"/>
          <p:cNvSpPr txBox="1"/>
          <p:nvPr/>
        </p:nvSpPr>
        <p:spPr>
          <a:xfrm>
            <a:off x="3106219" y="1930417"/>
            <a:ext cx="3455666" cy="1018549"/>
          </a:xfrm>
          <a:prstGeom prst="rect">
            <a:avLst/>
          </a:prstGeom>
          <a:noFill/>
          <a:ln>
            <a:noFill/>
          </a:ln>
        </p:spPr>
        <p:txBody>
          <a:bodyPr spcFirstLastPara="1" wrap="square" lIns="0" tIns="0" rIns="0" bIns="0" anchor="t" anchorCtr="0">
            <a:spAutoFit/>
          </a:bodyPr>
          <a:lstStyle/>
          <a:p>
            <a:pPr algn="ctr">
              <a:lnSpc>
                <a:spcPct val="140019"/>
              </a:lnSpc>
              <a:buSzPts val="3151"/>
            </a:pPr>
            <a:r>
              <a:rPr lang="en-US" sz="1576" dirty="0" err="1">
                <a:solidFill>
                  <a:srgbClr val="131416"/>
                </a:solidFill>
              </a:rPr>
              <a:t>Diferencias</a:t>
            </a:r>
            <a:r>
              <a:rPr lang="en-US" sz="1576" dirty="0">
                <a:solidFill>
                  <a:srgbClr val="131416"/>
                </a:solidFill>
              </a:rPr>
              <a:t> entre ERP y CRM</a:t>
            </a:r>
            <a:br>
              <a:rPr lang="en-US" sz="1576" dirty="0">
                <a:solidFill>
                  <a:srgbClr val="131416"/>
                </a:solidFill>
              </a:rPr>
            </a:br>
            <a:r>
              <a:rPr lang="en-US" sz="1576" dirty="0" err="1">
                <a:solidFill>
                  <a:srgbClr val="131416"/>
                </a:solidFill>
              </a:rPr>
              <a:t>Integracion</a:t>
            </a:r>
            <a:r>
              <a:rPr lang="en-US" sz="1576" dirty="0">
                <a:solidFill>
                  <a:srgbClr val="131416"/>
                </a:solidFill>
              </a:rPr>
              <a:t> de ERP y CRM</a:t>
            </a:r>
          </a:p>
          <a:p>
            <a:pPr algn="ctr">
              <a:lnSpc>
                <a:spcPct val="140019"/>
              </a:lnSpc>
              <a:buSzPts val="3151"/>
            </a:pPr>
            <a:r>
              <a:rPr lang="en-US" sz="1576" dirty="0" err="1">
                <a:solidFill>
                  <a:srgbClr val="131416"/>
                </a:solidFill>
              </a:rPr>
              <a:t>Personalizar</a:t>
            </a:r>
            <a:r>
              <a:rPr lang="en-US" sz="1576" dirty="0">
                <a:solidFill>
                  <a:srgbClr val="131416"/>
                </a:solidFill>
              </a:rPr>
              <a:t> y </a:t>
            </a:r>
            <a:r>
              <a:rPr lang="en-US" sz="1576" dirty="0" err="1">
                <a:solidFill>
                  <a:srgbClr val="131416"/>
                </a:solidFill>
              </a:rPr>
              <a:t>Automatizar</a:t>
            </a:r>
            <a:r>
              <a:rPr lang="en-US" sz="1576" dirty="0">
                <a:solidFill>
                  <a:srgbClr val="131416"/>
                </a:solidFill>
              </a:rPr>
              <a:t> </a:t>
            </a:r>
            <a:r>
              <a:rPr lang="en-US" sz="1576" dirty="0" err="1">
                <a:solidFill>
                  <a:srgbClr val="131416"/>
                </a:solidFill>
              </a:rPr>
              <a:t>funciones</a:t>
            </a:r>
            <a:endParaRPr sz="700" dirty="0"/>
          </a:p>
        </p:txBody>
      </p:sp>
      <p:sp>
        <p:nvSpPr>
          <p:cNvPr id="376" name="Google Shape;376;p6"/>
          <p:cNvSpPr/>
          <p:nvPr/>
        </p:nvSpPr>
        <p:spPr>
          <a:xfrm>
            <a:off x="6723598" y="2667011"/>
            <a:ext cx="2313234" cy="2287999"/>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377" name="Google Shape;377;p6"/>
          <p:cNvSpPr txBox="1"/>
          <p:nvPr/>
        </p:nvSpPr>
        <p:spPr>
          <a:xfrm>
            <a:off x="7070656" y="3157530"/>
            <a:ext cx="1619118" cy="1952842"/>
          </a:xfrm>
          <a:prstGeom prst="rect">
            <a:avLst/>
          </a:prstGeom>
          <a:noFill/>
          <a:ln>
            <a:noFill/>
          </a:ln>
        </p:spPr>
        <p:txBody>
          <a:bodyPr spcFirstLastPara="1" wrap="square" lIns="0" tIns="0" rIns="0" bIns="0" anchor="t" anchorCtr="0">
            <a:spAutoFit/>
          </a:bodyPr>
          <a:lstStyle/>
          <a:p>
            <a:pPr>
              <a:lnSpc>
                <a:spcPct val="140019"/>
              </a:lnSpc>
              <a:buSzPts val="2014"/>
            </a:pPr>
            <a:r>
              <a:rPr lang="en-US" sz="1007">
                <a:solidFill>
                  <a:srgbClr val="131416"/>
                </a:solidFill>
                <a:latin typeface="Open Sans"/>
                <a:ea typeface="Open Sans"/>
                <a:cs typeface="Open Sans"/>
                <a:sym typeface="Open Sans"/>
              </a:rPr>
              <a:t>Coloca puntos clave de tu presentación, que consideres serán de ayuda para tus estudiantes. Enfocados a retener de mejor manera la información que les deseas transmitir (cortos pero certeros</a:t>
            </a:r>
            <a:endParaRPr sz="7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7"/>
          <p:cNvSpPr txBox="1"/>
          <p:nvPr/>
        </p:nvSpPr>
        <p:spPr>
          <a:xfrm>
            <a:off x="1253695" y="500063"/>
            <a:ext cx="4232705" cy="521681"/>
          </a:xfrm>
          <a:prstGeom prst="rect">
            <a:avLst/>
          </a:prstGeom>
          <a:noFill/>
          <a:ln>
            <a:noFill/>
          </a:ln>
        </p:spPr>
        <p:txBody>
          <a:bodyPr spcFirstLastPara="1" wrap="square" lIns="0" tIns="0" rIns="0" bIns="0" anchor="t" anchorCtr="0">
            <a:spAutoFit/>
          </a:bodyPr>
          <a:lstStyle/>
          <a:p>
            <a:pPr algn="ctr">
              <a:lnSpc>
                <a:spcPct val="113000"/>
              </a:lnSpc>
            </a:pPr>
            <a:r>
              <a:rPr lang="en-US" sz="3000" b="1"/>
              <a:t>Compromiso</a:t>
            </a:r>
            <a:endParaRPr sz="3000">
              <a:latin typeface="Impact"/>
              <a:ea typeface="Impact"/>
              <a:cs typeface="Impact"/>
              <a:sym typeface="Impact"/>
            </a:endParaRPr>
          </a:p>
        </p:txBody>
      </p:sp>
      <p:sp>
        <p:nvSpPr>
          <p:cNvPr id="383" name="Google Shape;383;p7"/>
          <p:cNvSpPr txBox="1"/>
          <p:nvPr/>
        </p:nvSpPr>
        <p:spPr>
          <a:xfrm>
            <a:off x="493997" y="1560384"/>
            <a:ext cx="6051183" cy="3016210"/>
          </a:xfrm>
          <a:prstGeom prst="rect">
            <a:avLst/>
          </a:prstGeom>
          <a:noFill/>
          <a:ln>
            <a:noFill/>
          </a:ln>
        </p:spPr>
        <p:txBody>
          <a:bodyPr spcFirstLastPara="1" wrap="square" lIns="0" tIns="0" rIns="0" bIns="0" anchor="t" anchorCtr="0">
            <a:spAutoFit/>
          </a:bodyPr>
          <a:lstStyle/>
          <a:p>
            <a:pPr algn="ctr">
              <a:lnSpc>
                <a:spcPct val="140019"/>
              </a:lnSpc>
            </a:pPr>
            <a:r>
              <a:rPr lang="en-US"/>
              <a:t>Al iniciar el curso de laboratorio, cada estudiante debe comprender que su compromiso con el aprendizaje de los temas impartidos será fundamental para su futuro desempeño profesional. Asimismo, es importante que cumpla con todos los requisitos del curso para alcanzar un resultado satisfactorio al finalizar el semestre.</a:t>
            </a:r>
            <a:endParaRPr sz="700"/>
          </a:p>
          <a:p>
            <a:pPr algn="ctr">
              <a:lnSpc>
                <a:spcPct val="140019"/>
              </a:lnSpc>
            </a:pPr>
            <a:endParaRPr/>
          </a:p>
          <a:p>
            <a:pPr algn="ctr">
              <a:lnSpc>
                <a:spcPct val="140019"/>
              </a:lnSpc>
            </a:pPr>
            <a:r>
              <a:rPr lang="en-US"/>
              <a:t>Analiza los fundamentos, componentes y funciones de los sistemas ERP, valorando su impacto en la integración y optimización de los procesos empresariales, así como su relevancia frente a las tendencias tecnológicas actuales.</a:t>
            </a:r>
            <a:endParaRPr/>
          </a:p>
        </p:txBody>
      </p:sp>
      <p:sp>
        <p:nvSpPr>
          <p:cNvPr id="384" name="Google Shape;384;p7"/>
          <p:cNvSpPr/>
          <p:nvPr/>
        </p:nvSpPr>
        <p:spPr>
          <a:xfrm>
            <a:off x="6723598" y="2667011"/>
            <a:ext cx="2313234" cy="2287999"/>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385" name="Google Shape;385;p7"/>
          <p:cNvSpPr txBox="1"/>
          <p:nvPr/>
        </p:nvSpPr>
        <p:spPr>
          <a:xfrm>
            <a:off x="7126391" y="3286756"/>
            <a:ext cx="1619118" cy="1518877"/>
          </a:xfrm>
          <a:prstGeom prst="rect">
            <a:avLst/>
          </a:prstGeom>
          <a:noFill/>
          <a:ln>
            <a:noFill/>
          </a:ln>
        </p:spPr>
        <p:txBody>
          <a:bodyPr spcFirstLastPara="1" wrap="square" lIns="0" tIns="0" rIns="0" bIns="0" anchor="t" anchorCtr="0">
            <a:spAutoFit/>
          </a:bodyPr>
          <a:lstStyle/>
          <a:p>
            <a:pPr>
              <a:lnSpc>
                <a:spcPct val="140019"/>
              </a:lnSpc>
              <a:buSzPts val="2014"/>
            </a:pPr>
            <a:r>
              <a:rPr lang="en-US" sz="1007">
                <a:solidFill>
                  <a:srgbClr val="131416"/>
                </a:solidFill>
                <a:latin typeface="Open Sans"/>
                <a:ea typeface="Open Sans"/>
                <a:cs typeface="Open Sans"/>
                <a:sym typeface="Open Sans"/>
              </a:rPr>
              <a:t>Nuestra casa de estudios cuenta con valores como Excelencia, Compromiso </a:t>
            </a:r>
            <a:endParaRPr sz="700"/>
          </a:p>
          <a:p>
            <a:pPr>
              <a:lnSpc>
                <a:spcPct val="140019"/>
              </a:lnSpc>
              <a:buSzPts val="2014"/>
            </a:pPr>
            <a:r>
              <a:rPr lang="en-US" sz="1007">
                <a:solidFill>
                  <a:srgbClr val="131416"/>
                </a:solidFill>
                <a:latin typeface="Open Sans"/>
                <a:ea typeface="Open Sans"/>
                <a:cs typeface="Open Sans"/>
                <a:sym typeface="Open Sans"/>
              </a:rPr>
              <a:t>Responsabilidad, Ética </a:t>
            </a:r>
            <a:endParaRPr sz="700"/>
          </a:p>
          <a:p>
            <a:pPr>
              <a:lnSpc>
                <a:spcPct val="140019"/>
              </a:lnSpc>
              <a:buSzPts val="2014"/>
            </a:pPr>
            <a:r>
              <a:rPr lang="en-US" sz="1007">
                <a:solidFill>
                  <a:srgbClr val="131416"/>
                </a:solidFill>
                <a:latin typeface="Open Sans"/>
                <a:ea typeface="Open Sans"/>
                <a:cs typeface="Open Sans"/>
                <a:sym typeface="Open Sans"/>
              </a:rPr>
              <a:t>Integridad, trata de relacionarlos a los temas que estas impartiendo </a:t>
            </a:r>
            <a:endParaRPr sz="7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g364afea4f63_0_141"/>
          <p:cNvSpPr txBox="1"/>
          <p:nvPr/>
        </p:nvSpPr>
        <p:spPr>
          <a:xfrm>
            <a:off x="2895745" y="3398477"/>
            <a:ext cx="3352500" cy="569387"/>
          </a:xfrm>
          <a:prstGeom prst="rect">
            <a:avLst/>
          </a:prstGeom>
          <a:noFill/>
          <a:ln>
            <a:noFill/>
          </a:ln>
        </p:spPr>
        <p:txBody>
          <a:bodyPr spcFirstLastPara="1" wrap="square" lIns="0" tIns="0" rIns="0" bIns="0" anchor="t" anchorCtr="0">
            <a:spAutoFit/>
          </a:bodyPr>
          <a:lstStyle/>
          <a:p>
            <a:pPr algn="ctr">
              <a:lnSpc>
                <a:spcPct val="148000"/>
              </a:lnSpc>
              <a:buSzPts val="5000"/>
            </a:pPr>
            <a:r>
              <a:rPr lang="en-US" sz="2500">
                <a:solidFill>
                  <a:srgbClr val="131416"/>
                </a:solidFill>
              </a:rPr>
              <a:t>DUDAS ¿?</a:t>
            </a:r>
            <a:endParaRPr sz="700"/>
          </a:p>
        </p:txBody>
      </p:sp>
      <p:pic>
        <p:nvPicPr>
          <p:cNvPr id="400" name="Google Shape;400;g364afea4f63_0_141" title="Gemini_Generated_Image_1od44x1od44x1od4.png"/>
          <p:cNvPicPr preferRelativeResize="0"/>
          <p:nvPr/>
        </p:nvPicPr>
        <p:blipFill rotWithShape="1">
          <a:blip r:embed="rId3">
            <a:alphaModFix/>
          </a:blip>
          <a:srcRect/>
          <a:stretch/>
        </p:blipFill>
        <p:spPr>
          <a:xfrm>
            <a:off x="2288144" y="349988"/>
            <a:ext cx="4567712" cy="28459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9"/>
          <p:cNvSpPr txBox="1"/>
          <p:nvPr/>
        </p:nvSpPr>
        <p:spPr>
          <a:xfrm>
            <a:off x="2285998" y="2588027"/>
            <a:ext cx="4329450" cy="1464440"/>
          </a:xfrm>
          <a:prstGeom prst="rect">
            <a:avLst/>
          </a:prstGeom>
          <a:noFill/>
          <a:ln>
            <a:noFill/>
          </a:ln>
        </p:spPr>
        <p:txBody>
          <a:bodyPr spcFirstLastPara="1" wrap="square" lIns="0" tIns="0" rIns="0" bIns="0" anchor="t" anchorCtr="0">
            <a:spAutoFit/>
          </a:bodyPr>
          <a:lstStyle/>
          <a:p>
            <a:pPr algn="ctr">
              <a:lnSpc>
                <a:spcPct val="104000"/>
              </a:lnSpc>
              <a:buSzPts val="6099"/>
            </a:pPr>
            <a:r>
              <a:rPr lang="en-US" sz="3050" dirty="0">
                <a:solidFill>
                  <a:srgbClr val="131416"/>
                </a:solidFill>
                <a:latin typeface="Impact"/>
                <a:ea typeface="Impact"/>
                <a:cs typeface="Impact"/>
                <a:sym typeface="Impact"/>
              </a:rPr>
              <a:t>¡GRACIAS POR SU  ATENCIÓN!</a:t>
            </a:r>
            <a:endParaRPr sz="700" dirty="0">
              <a:latin typeface="Impact"/>
              <a:ea typeface="Impact"/>
              <a:cs typeface="Impact"/>
              <a:sym typeface="Impact"/>
            </a:endParaRPr>
          </a:p>
          <a:p>
            <a:pPr algn="just">
              <a:lnSpc>
                <a:spcPct val="104000"/>
              </a:lnSpc>
              <a:buSzPts val="6099"/>
            </a:pPr>
            <a:endParaRPr sz="3050" dirty="0">
              <a:solidFill>
                <a:srgbClr val="131416"/>
              </a:solidFill>
              <a:latin typeface="Impact"/>
              <a:ea typeface="Impact"/>
              <a:cs typeface="Impact"/>
              <a:sym typeface="Impact"/>
            </a:endParaRPr>
          </a:p>
        </p:txBody>
      </p:sp>
      <p:sp>
        <p:nvSpPr>
          <p:cNvPr id="406" name="Google Shape;406;p9"/>
          <p:cNvSpPr/>
          <p:nvPr/>
        </p:nvSpPr>
        <p:spPr>
          <a:xfrm>
            <a:off x="3761406" y="298300"/>
            <a:ext cx="1378634" cy="1885485"/>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spcFirstLastPara="1" wrap="square" lIns="45713" tIns="22850" rIns="45713" bIns="22850" anchor="t" anchorCtr="0">
            <a:noAutofit/>
          </a:bodyPr>
          <a:lstStyle/>
          <a:p>
            <a:endParaRPr sz="700"/>
          </a:p>
        </p:txBody>
      </p:sp>
      <p:sp>
        <p:nvSpPr>
          <p:cNvPr id="407" name="Google Shape;407;p9"/>
          <p:cNvSpPr txBox="1"/>
          <p:nvPr/>
        </p:nvSpPr>
        <p:spPr>
          <a:xfrm>
            <a:off x="1205549" y="3949868"/>
            <a:ext cx="6732902" cy="455509"/>
          </a:xfrm>
          <a:prstGeom prst="rect">
            <a:avLst/>
          </a:prstGeom>
          <a:noFill/>
          <a:ln>
            <a:noFill/>
          </a:ln>
        </p:spPr>
        <p:txBody>
          <a:bodyPr spcFirstLastPara="1" wrap="square" lIns="0" tIns="0" rIns="0" bIns="0" anchor="t" anchorCtr="0">
            <a:spAutoFit/>
          </a:bodyPr>
          <a:lstStyle/>
          <a:p>
            <a:pPr algn="ctr">
              <a:lnSpc>
                <a:spcPct val="148000"/>
              </a:lnSpc>
              <a:buSzPts val="2000"/>
            </a:pPr>
            <a:r>
              <a:rPr lang="en-US" sz="1000">
                <a:solidFill>
                  <a:srgbClr val="131416"/>
                </a:solidFill>
              </a:rPr>
              <a:t>RECUERDA QUE TENEMOS NUESTRO FORO SEMANAL DONDE PUEDES CONSULTAR CUALQUIER DUDA QUE TE SURJA EN LA SEMANA</a:t>
            </a:r>
            <a:endParaRPr sz="7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TotalTime>
  <Words>1541</Words>
  <Application>Microsoft Office PowerPoint</Application>
  <PresentationFormat>Presentación en pantalla (16:9)</PresentationFormat>
  <Paragraphs>132</Paragraphs>
  <Slides>25</Slides>
  <Notes>25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Arial</vt:lpstr>
      <vt:lpstr>Impact</vt:lpstr>
      <vt:lpstr>Lobster</vt:lpstr>
      <vt:lpstr>Open Sans</vt:lpstr>
      <vt:lpstr>Pacifico</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mynor israel miranda lopez</cp:lastModifiedBy>
  <cp:revision>3</cp:revision>
  <dcterms:modified xsi:type="dcterms:W3CDTF">2026-02-10T20:54:59Z</dcterms:modified>
</cp:coreProperties>
</file>