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10287000" cx="18288000"/>
  <p:notesSz cx="6858000" cy="9144000"/>
  <p:embeddedFontLst>
    <p:embeddedFont>
      <p:font typeface="Lobster"/>
      <p:regular r:id="rId51"/>
    </p:embeddedFont>
    <p:embeddedFont>
      <p:font typeface="Pacifico"/>
      <p:regular r:id="rId52"/>
    </p:embeddedFont>
    <p:embeddedFont>
      <p:font typeface="Open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7" roundtripDataSignature="AMtx7mh/g1hDZQC+WUDG65HeTFTJhSP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64B70D-5EE7-43CE-AA7E-9508098B3BC7}">
  <a:tblStyle styleId="{FA64B70D-5EE7-43CE-AA7E-9508098B3BC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Lobster-regular.fntdata"/><Relationship Id="rId50" Type="http://schemas.openxmlformats.org/officeDocument/2006/relationships/slide" Target="slides/slide44.xml"/><Relationship Id="rId53" Type="http://schemas.openxmlformats.org/officeDocument/2006/relationships/font" Target="fonts/OpenSans-regular.fntdata"/><Relationship Id="rId52" Type="http://schemas.openxmlformats.org/officeDocument/2006/relationships/font" Target="fonts/Pacifico-regular.fntdata"/><Relationship Id="rId11" Type="http://schemas.openxmlformats.org/officeDocument/2006/relationships/slide" Target="slides/slide5.xml"/><Relationship Id="rId55" Type="http://schemas.openxmlformats.org/officeDocument/2006/relationships/font" Target="fonts/OpenSans-italic.fntdata"/><Relationship Id="rId10" Type="http://schemas.openxmlformats.org/officeDocument/2006/relationships/slide" Target="slides/slide4.xml"/><Relationship Id="rId54" Type="http://schemas.openxmlformats.org/officeDocument/2006/relationships/font" Target="fonts/OpenSans-bold.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OpenSans-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4afea4f63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g364afea4f6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2" name="Google Shape;37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0" name="Google Shape;38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8" name="Google Shape;38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64afea4f63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g364afea4f63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3" name="Google Shape;40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g385e2d797db_0_67"/>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7" name="Google Shape;17;g385e2d797db_0_67"/>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8" name="Google Shape;18;g385e2d797db_0_67"/>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p:nvPr>
            <p:ph idx="2" type="pic"/>
          </p:nvPr>
        </p:nvSpPr>
        <p:spPr>
          <a:xfrm>
            <a:off x="1792288" y="612775"/>
            <a:ext cx="5486400" cy="4114800"/>
          </a:xfrm>
          <a:prstGeom prst="rect">
            <a:avLst/>
          </a:prstGeom>
          <a:noFill/>
          <a:ln>
            <a:noFill/>
          </a:ln>
        </p:spPr>
      </p:sp>
      <p:sp>
        <p:nvSpPr>
          <p:cNvPr id="68" name="Google Shape;68;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hyperlink" Target="https://www.youtube.com/watch?v=6Mncbrp80To" TargetMode="External"/><Relationship Id="rId5"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9.png"/><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64afea4f63_0_0"/>
          <p:cNvPicPr preferRelativeResize="0"/>
          <p:nvPr/>
        </p:nvPicPr>
        <p:blipFill rotWithShape="1">
          <a:blip r:embed="rId3">
            <a:alphaModFix amt="62000"/>
          </a:blip>
          <a:srcRect b="0" l="0" r="0" t="0"/>
          <a:stretch/>
        </p:blipFill>
        <p:spPr>
          <a:xfrm>
            <a:off x="1" y="0"/>
            <a:ext cx="18288000" cy="10287000"/>
          </a:xfrm>
          <a:prstGeom prst="rect">
            <a:avLst/>
          </a:prstGeom>
          <a:noFill/>
          <a:ln>
            <a:noFill/>
          </a:ln>
        </p:spPr>
      </p:pic>
      <p:graphicFrame>
        <p:nvGraphicFramePr>
          <p:cNvPr id="89" name="Google Shape;89;g364afea4f63_0_0"/>
          <p:cNvGraphicFramePr/>
          <p:nvPr/>
        </p:nvGraphicFramePr>
        <p:xfrm>
          <a:off x="11229474" y="1756089"/>
          <a:ext cx="3000000" cy="3000000"/>
        </p:xfrm>
        <a:graphic>
          <a:graphicData uri="http://schemas.openxmlformats.org/drawingml/2006/table">
            <a:tbl>
              <a:tblPr>
                <a:noFill/>
                <a:tableStyleId>{FA64B70D-5EE7-43CE-AA7E-9508098B3BC7}</a:tableStyleId>
              </a:tblPr>
              <a:tblGrid>
                <a:gridCol w="2951750"/>
                <a:gridCol w="3657600"/>
              </a:tblGrid>
              <a:tr h="718150">
                <a:tc>
                  <a:txBody>
                    <a:bodyPr/>
                    <a:lstStyle/>
                    <a:p>
                      <a:pPr indent="0" lvl="0" marL="0" marR="0" rtl="0" algn="l">
                        <a:lnSpc>
                          <a:spcPct val="100000"/>
                        </a:lnSpc>
                        <a:spcBef>
                          <a:spcPts val="0"/>
                        </a:spcBef>
                        <a:spcAft>
                          <a:spcPts val="0"/>
                        </a:spcAft>
                        <a:buClr>
                          <a:srgbClr val="000000"/>
                        </a:buClr>
                        <a:buSzPts val="142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2800" u="none" cap="none" strike="noStrike"/>
                        <a:t>Martes, 15/07/2026</a:t>
                      </a:r>
                      <a:endParaRPr sz="2800" u="none" cap="none" strike="noStrike"/>
                    </a:p>
                  </a:txBody>
                  <a:tcPr marT="91425" marB="91425" marR="91425" marL="91425"/>
                </a:tc>
              </a:tr>
              <a:tr h="718150">
                <a:tc>
                  <a:txBody>
                    <a:bodyPr/>
                    <a:lstStyle/>
                    <a:p>
                      <a:pPr indent="0" lvl="0" marL="0" marR="0" rtl="0" algn="l">
                        <a:lnSpc>
                          <a:spcPct val="100000"/>
                        </a:lnSpc>
                        <a:spcBef>
                          <a:spcPts val="0"/>
                        </a:spcBef>
                        <a:spcAft>
                          <a:spcPts val="0"/>
                        </a:spcAft>
                        <a:buClr>
                          <a:srgbClr val="000000"/>
                        </a:buClr>
                        <a:buSzPts val="142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2800" u="none" cap="none" strike="noStrike"/>
                        <a:t>17:20</a:t>
                      </a:r>
                      <a:endParaRPr sz="2800" u="none" cap="none" strike="noStrike"/>
                    </a:p>
                  </a:txBody>
                  <a:tcPr marT="91425" marB="91425" marR="91425" marL="91425"/>
                </a:tc>
              </a:tr>
            </a:tbl>
          </a:graphicData>
        </a:graphic>
      </p:graphicFrame>
      <p:sp>
        <p:nvSpPr>
          <p:cNvPr id="90" name="Google Shape;90;g364afea4f63_0_0"/>
          <p:cNvSpPr txBox="1"/>
          <p:nvPr/>
        </p:nvSpPr>
        <p:spPr>
          <a:xfrm>
            <a:off x="251478" y="9183291"/>
            <a:ext cx="7304353" cy="86174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4400" u="none" cap="none" strike="noStrike">
                <a:solidFill>
                  <a:srgbClr val="000000"/>
                </a:solidFill>
                <a:latin typeface="Arial"/>
                <a:ea typeface="Arial"/>
                <a:cs typeface="Arial"/>
                <a:sym typeface="Arial"/>
              </a:rPr>
              <a:t>Mynor Israel Miranda López</a:t>
            </a:r>
            <a:endParaRPr b="0" i="0" sz="4400" u="none" cap="none" strike="noStrike">
              <a:solidFill>
                <a:srgbClr val="000000"/>
              </a:solidFill>
              <a:latin typeface="Arial"/>
              <a:ea typeface="Arial"/>
              <a:cs typeface="Arial"/>
              <a:sym typeface="Arial"/>
            </a:endParaRPr>
          </a:p>
        </p:txBody>
      </p:sp>
      <p:sp>
        <p:nvSpPr>
          <p:cNvPr id="91" name="Google Shape;91;g364afea4f63_0_0"/>
          <p:cNvSpPr txBox="1"/>
          <p:nvPr/>
        </p:nvSpPr>
        <p:spPr>
          <a:xfrm>
            <a:off x="2381335" y="4068679"/>
            <a:ext cx="14527044" cy="32316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6600" u="none" cap="none" strike="noStrike">
                <a:solidFill>
                  <a:srgbClr val="000000"/>
                </a:solidFill>
                <a:latin typeface="Arial"/>
                <a:ea typeface="Arial"/>
                <a:cs typeface="Arial"/>
                <a:sym typeface="Arial"/>
              </a:rPr>
              <a:t>SISTEMAS ORGANIZACIONALES Y GERENCIALES 2 </a:t>
            </a:r>
            <a:endParaRPr/>
          </a:p>
          <a:p>
            <a:pPr indent="0" lvl="0" marL="0" marR="0" rtl="0" algn="l">
              <a:lnSpc>
                <a:spcPct val="100000"/>
              </a:lnSpc>
              <a:spcBef>
                <a:spcPts val="0"/>
              </a:spcBef>
              <a:spcAft>
                <a:spcPts val="0"/>
              </a:spcAft>
              <a:buClr>
                <a:srgbClr val="000000"/>
              </a:buClr>
              <a:buSzPts val="2500"/>
              <a:buFont typeface="Arial"/>
              <a:buNone/>
            </a:pPr>
            <a:r>
              <a:rPr b="0" i="0" lang="en-US" sz="6600" u="none" cap="none" strike="noStrike">
                <a:solidFill>
                  <a:srgbClr val="000000"/>
                </a:solidFill>
                <a:latin typeface="Arial"/>
                <a:ea typeface="Arial"/>
                <a:cs typeface="Arial"/>
                <a:sym typeface="Arial"/>
              </a:rPr>
              <a:t>Sección P</a:t>
            </a:r>
            <a:endParaRPr b="0" i="0" sz="66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p:nvPr/>
        </p:nvSpPr>
        <p:spPr>
          <a:xfrm>
            <a:off x="12541309" y="6021878"/>
            <a:ext cx="4160184" cy="411480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 name="Google Shape;97;p1"/>
          <p:cNvSpPr txBox="1"/>
          <p:nvPr/>
        </p:nvSpPr>
        <p:spPr>
          <a:xfrm>
            <a:off x="890249" y="7555025"/>
            <a:ext cx="8526600"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SOYG2</a:t>
            </a:r>
            <a:endParaRPr b="1" i="0" sz="5000" u="none" cap="none" strike="noStrike">
              <a:solidFill>
                <a:srgbClr val="131416"/>
              </a:solidFill>
              <a:latin typeface="Open Sans"/>
              <a:ea typeface="Open Sans"/>
              <a:cs typeface="Open Sans"/>
              <a:sym typeface="Open Sans"/>
            </a:endParaRPr>
          </a:p>
        </p:txBody>
      </p:sp>
      <p:sp>
        <p:nvSpPr>
          <p:cNvPr id="98" name="Google Shape;98;p1"/>
          <p:cNvSpPr txBox="1"/>
          <p:nvPr/>
        </p:nvSpPr>
        <p:spPr>
          <a:xfrm>
            <a:off x="2591255" y="2167474"/>
            <a:ext cx="12375000" cy="417960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UNIDAD 1</a:t>
            </a:r>
            <a:endParaRPr/>
          </a:p>
          <a:p>
            <a:pPr indent="0" lvl="0" marL="0" marR="0" rtl="0" algn="ctr">
              <a:lnSpc>
                <a:spcPct val="140000"/>
              </a:lnSpc>
              <a:spcBef>
                <a:spcPts val="0"/>
              </a:spcBef>
              <a:spcAft>
                <a:spcPts val="0"/>
              </a:spcAft>
              <a:buNone/>
            </a:pPr>
            <a:r>
              <a:rPr b="1" i="0" lang="en-US" sz="4400" u="none" cap="none" strike="noStrike">
                <a:solidFill>
                  <a:srgbClr val="131416"/>
                </a:solidFill>
                <a:latin typeface="Open Sans"/>
                <a:ea typeface="Open Sans"/>
                <a:cs typeface="Open Sans"/>
                <a:sym typeface="Open Sans"/>
              </a:rPr>
              <a:t>Exploración del mundo de los ERP (Enterprise Resource Planning)</a:t>
            </a:r>
            <a:endParaRPr b="1" i="0" sz="4400" u="none" cap="none" strike="noStrike">
              <a:solidFill>
                <a:srgbClr val="131416"/>
              </a:solidFill>
              <a:latin typeface="Open Sans"/>
              <a:ea typeface="Open Sans"/>
              <a:cs typeface="Open Sans"/>
              <a:sym typeface="Open Sans"/>
            </a:endParaRPr>
          </a:p>
          <a:p>
            <a:pPr indent="0" lvl="0" marL="0" marR="0" rtl="0" algn="ctr">
              <a:lnSpc>
                <a:spcPct val="140000"/>
              </a:lnSpc>
              <a:spcBef>
                <a:spcPts val="0"/>
              </a:spcBef>
              <a:spcAft>
                <a:spcPts val="0"/>
              </a:spcAft>
              <a:buClr>
                <a:srgbClr val="000000"/>
              </a:buClr>
              <a:buSzPts val="92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100" name="Google Shape;100;p1"/>
          <p:cNvSpPr txBox="1"/>
          <p:nvPr/>
        </p:nvSpPr>
        <p:spPr>
          <a:xfrm>
            <a:off x="1028700" y="9210675"/>
            <a:ext cx="666750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101" name="Google Shape;101;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2" name="Google Shape;102;p1"/>
          <p:cNvSpPr txBox="1"/>
          <p:nvPr/>
        </p:nvSpPr>
        <p:spPr>
          <a:xfrm>
            <a:off x="12979082" y="7426039"/>
            <a:ext cx="3284700" cy="17367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000000"/>
                </a:solidFill>
                <a:latin typeface="Open Sans"/>
                <a:ea typeface="Open Sans"/>
                <a:cs typeface="Open Sans"/>
                <a:sym typeface="Open Sans"/>
              </a:rPr>
              <a:t>Puedes usar el </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000000"/>
                </a:solidFill>
                <a:latin typeface="Open Sans"/>
                <a:ea typeface="Open Sans"/>
                <a:cs typeface="Open Sans"/>
                <a:sym typeface="Open Sans"/>
              </a:rPr>
              <a:t>diseño que desees</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000000"/>
                </a:solidFill>
                <a:latin typeface="Open Sans"/>
                <a:ea typeface="Open Sans"/>
                <a:cs typeface="Open Sans"/>
                <a:sym typeface="Open Sans"/>
              </a:rPr>
              <a:t>conserva la estructura</a:t>
            </a:r>
            <a:endParaRPr b="0" i="0" sz="1400" u="none" cap="none" strike="noStrike">
              <a:solidFill>
                <a:srgbClr val="000000"/>
              </a:solidFill>
              <a:latin typeface="Arial"/>
              <a:ea typeface="Arial"/>
              <a:cs typeface="Arial"/>
              <a:sym typeface="Arial"/>
            </a:endParaRPr>
          </a:p>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000000"/>
                </a:solidFill>
                <a:latin typeface="Open Sans"/>
                <a:ea typeface="Open Sans"/>
                <a:cs typeface="Open Sans"/>
                <a:sym typeface="Open Sans"/>
              </a:rPr>
              <a:t>base</a:t>
            </a:r>
            <a:endParaRPr b="0" i="0" sz="1400" u="none" cap="none" strike="noStrike">
              <a:solidFill>
                <a:srgbClr val="000000"/>
              </a:solidFill>
              <a:latin typeface="Arial"/>
              <a:ea typeface="Arial"/>
              <a:cs typeface="Arial"/>
              <a:sym typeface="Arial"/>
            </a:endParaRPr>
          </a:p>
        </p:txBody>
      </p:sp>
      <p:pic>
        <p:nvPicPr>
          <p:cNvPr id="103" name="Google Shape;103;p1"/>
          <p:cNvPicPr preferRelativeResize="0"/>
          <p:nvPr/>
        </p:nvPicPr>
        <p:blipFill rotWithShape="1">
          <a:blip r:embed="rId4">
            <a:alphaModFix/>
          </a:blip>
          <a:srcRect b="0" l="0" r="0" t="0"/>
          <a:stretch/>
        </p:blipFill>
        <p:spPr>
          <a:xfrm>
            <a:off x="8044675" y="0"/>
            <a:ext cx="10243325" cy="10670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grpSp>
        <p:nvGrpSpPr>
          <p:cNvPr id="108" name="Google Shape;108;p2"/>
          <p:cNvGrpSpPr/>
          <p:nvPr/>
        </p:nvGrpSpPr>
        <p:grpSpPr>
          <a:xfrm>
            <a:off x="176619" y="4520484"/>
            <a:ext cx="13780013" cy="845385"/>
            <a:chOff x="0" y="-76200"/>
            <a:chExt cx="1964221" cy="359923"/>
          </a:xfrm>
        </p:grpSpPr>
        <p:sp>
          <p:nvSpPr>
            <p:cNvPr id="109" name="Google Shape;10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 name="Google Shape;110;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TEMA 1: Conceptos básicos de planeación, control y dirección </a:t>
              </a:r>
              <a:endParaRPr b="0" i="0" sz="1400" u="none" cap="none" strike="noStrike">
                <a:solidFill>
                  <a:srgbClr val="000000"/>
                </a:solidFill>
                <a:latin typeface="Arial"/>
                <a:ea typeface="Arial"/>
                <a:cs typeface="Arial"/>
                <a:sym typeface="Arial"/>
              </a:endParaRPr>
            </a:p>
          </p:txBody>
        </p:sp>
      </p:grpSp>
      <p:sp>
        <p:nvSpPr>
          <p:cNvPr id="111" name="Google Shape;111;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2"/>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13" name="Google Shape;113;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14" name="Google Shape;114;p2"/>
          <p:cNvGrpSpPr/>
          <p:nvPr/>
        </p:nvGrpSpPr>
        <p:grpSpPr>
          <a:xfrm>
            <a:off x="11739805" y="2798634"/>
            <a:ext cx="5353646" cy="1701145"/>
            <a:chOff x="0" y="-114300"/>
            <a:chExt cx="1410014" cy="448038"/>
          </a:xfrm>
        </p:grpSpPr>
        <p:sp>
          <p:nvSpPr>
            <p:cNvPr id="115" name="Google Shape;115;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 name="Google Shape;116;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a:t>
              </a:r>
              <a:endParaRPr b="0" i="0" sz="1400" u="none" cap="none" strike="noStrike">
                <a:solidFill>
                  <a:srgbClr val="000000"/>
                </a:solidFill>
                <a:latin typeface="Arial"/>
                <a:ea typeface="Arial"/>
                <a:cs typeface="Arial"/>
                <a:sym typeface="Arial"/>
              </a:endParaRPr>
            </a:p>
          </p:txBody>
        </p:sp>
      </p:grpSp>
      <p:grpSp>
        <p:nvGrpSpPr>
          <p:cNvPr id="117" name="Google Shape;117;p2"/>
          <p:cNvGrpSpPr/>
          <p:nvPr/>
        </p:nvGrpSpPr>
        <p:grpSpPr>
          <a:xfrm>
            <a:off x="11739805" y="4598683"/>
            <a:ext cx="5353646" cy="1701145"/>
            <a:chOff x="0" y="-114300"/>
            <a:chExt cx="1410014" cy="448038"/>
          </a:xfrm>
        </p:grpSpPr>
        <p:sp>
          <p:nvSpPr>
            <p:cNvPr id="118" name="Google Shape;118;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 name="Google Shape;119;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a:t>
              </a:r>
              <a:endParaRPr b="0" i="0" sz="1400" u="none" cap="none" strike="noStrike">
                <a:solidFill>
                  <a:srgbClr val="000000"/>
                </a:solidFill>
                <a:latin typeface="Arial"/>
                <a:ea typeface="Arial"/>
                <a:cs typeface="Arial"/>
                <a:sym typeface="Arial"/>
              </a:endParaRPr>
            </a:p>
          </p:txBody>
        </p:sp>
      </p:grpSp>
      <p:grpSp>
        <p:nvGrpSpPr>
          <p:cNvPr id="120" name="Google Shape;120;p2"/>
          <p:cNvGrpSpPr/>
          <p:nvPr/>
        </p:nvGrpSpPr>
        <p:grpSpPr>
          <a:xfrm>
            <a:off x="176620" y="5444302"/>
            <a:ext cx="10932326" cy="845385"/>
            <a:chOff x="0" y="-76200"/>
            <a:chExt cx="1964221" cy="359923"/>
          </a:xfrm>
        </p:grpSpPr>
        <p:sp>
          <p:nvSpPr>
            <p:cNvPr id="121" name="Google Shape;12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2" name="Google Shape;122;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TEMA 2: Componentes generales de un ERP </a:t>
              </a:r>
              <a:endParaRPr b="0" i="0" sz="1400" u="none" cap="none" strike="noStrike">
                <a:solidFill>
                  <a:srgbClr val="000000"/>
                </a:solidFill>
                <a:latin typeface="Arial"/>
                <a:ea typeface="Arial"/>
                <a:cs typeface="Arial"/>
                <a:sym typeface="Arial"/>
              </a:endParaRPr>
            </a:p>
          </p:txBody>
        </p:sp>
      </p:grpSp>
      <p:grpSp>
        <p:nvGrpSpPr>
          <p:cNvPr id="123" name="Google Shape;123;p2"/>
          <p:cNvGrpSpPr/>
          <p:nvPr/>
        </p:nvGrpSpPr>
        <p:grpSpPr>
          <a:xfrm>
            <a:off x="176619" y="6425875"/>
            <a:ext cx="8534244" cy="845385"/>
            <a:chOff x="0" y="-76200"/>
            <a:chExt cx="1964221" cy="359923"/>
          </a:xfrm>
        </p:grpSpPr>
        <p:sp>
          <p:nvSpPr>
            <p:cNvPr id="124" name="Google Shape;124;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 name="Google Shape;125;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TEMA 3: Funciones de un ERP </a:t>
              </a:r>
              <a:endParaRPr b="0" i="0" sz="1400" u="none" cap="none" strike="noStrike">
                <a:solidFill>
                  <a:srgbClr val="000000"/>
                </a:solidFill>
                <a:latin typeface="Arial"/>
                <a:ea typeface="Arial"/>
                <a:cs typeface="Arial"/>
                <a:sym typeface="Arial"/>
              </a:endParaRPr>
            </a:p>
          </p:txBody>
        </p:sp>
      </p:grpSp>
      <p:grpSp>
        <p:nvGrpSpPr>
          <p:cNvPr id="126" name="Google Shape;126;p2"/>
          <p:cNvGrpSpPr/>
          <p:nvPr/>
        </p:nvGrpSpPr>
        <p:grpSpPr>
          <a:xfrm>
            <a:off x="176619" y="7349457"/>
            <a:ext cx="13924392" cy="845385"/>
            <a:chOff x="0" y="-76200"/>
            <a:chExt cx="1964221" cy="359923"/>
          </a:xfrm>
        </p:grpSpPr>
        <p:sp>
          <p:nvSpPr>
            <p:cNvPr id="127" name="Google Shape;12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8" name="Google Shape;128;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TEMA 4: Beneficios de la Integración a procesos empresariales</a:t>
              </a:r>
              <a:endParaRPr b="0" i="0" sz="1400" u="none" cap="none" strike="noStrike">
                <a:solidFill>
                  <a:srgbClr val="000000"/>
                </a:solidFill>
                <a:latin typeface="Arial"/>
                <a:ea typeface="Arial"/>
                <a:cs typeface="Arial"/>
                <a:sym typeface="Arial"/>
              </a:endParaRPr>
            </a:p>
          </p:txBody>
        </p:sp>
      </p:grpSp>
      <p:grpSp>
        <p:nvGrpSpPr>
          <p:cNvPr id="129" name="Google Shape;129;p2"/>
          <p:cNvGrpSpPr/>
          <p:nvPr/>
        </p:nvGrpSpPr>
        <p:grpSpPr>
          <a:xfrm>
            <a:off x="176619" y="8412915"/>
            <a:ext cx="10491381" cy="845385"/>
            <a:chOff x="0" y="-76200"/>
            <a:chExt cx="1964221" cy="359923"/>
          </a:xfrm>
        </p:grpSpPr>
        <p:sp>
          <p:nvSpPr>
            <p:cNvPr id="130" name="Google Shape;130;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1" name="Google Shape;131;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TEMA 5: Tendencias actuales en sistemas </a:t>
              </a:r>
              <a:endParaRPr b="0" i="0" sz="1400" u="none" cap="none" strike="noStrike">
                <a:solidFill>
                  <a:srgbClr val="000000"/>
                </a:solidFill>
                <a:latin typeface="Arial"/>
                <a:ea typeface="Arial"/>
                <a:cs typeface="Arial"/>
                <a:sym typeface="Arial"/>
              </a:endParaRPr>
            </a:p>
          </p:txBody>
        </p:sp>
      </p:grpSp>
      <p:sp>
        <p:nvSpPr>
          <p:cNvPr id="132" name="Google Shape;132;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3" name="Google Shape;133;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 name="Google Shape;134;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 name="Google Shape;135;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 name="Google Shape;136;p2"/>
          <p:cNvSpPr/>
          <p:nvPr/>
        </p:nvSpPr>
        <p:spPr>
          <a:xfrm>
            <a:off x="12103394" y="5573639"/>
            <a:ext cx="4626468" cy="4575998"/>
          </a:xfrm>
          <a:custGeom>
            <a:rect b="b" l="l" r="r" t="t"/>
            <a:pathLst>
              <a:path extrusionOk="0" h="4575998" w="4626468">
                <a:moveTo>
                  <a:pt x="0" y="0"/>
                </a:moveTo>
                <a:lnTo>
                  <a:pt x="4626468" y="0"/>
                </a:lnTo>
                <a:lnTo>
                  <a:pt x="4626468" y="4575997"/>
                </a:lnTo>
                <a:lnTo>
                  <a:pt x="0" y="457599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 name="Google Shape;137;p2"/>
          <p:cNvSpPr txBox="1"/>
          <p:nvPr/>
        </p:nvSpPr>
        <p:spPr>
          <a:xfrm>
            <a:off x="12600172" y="6105489"/>
            <a:ext cx="3428436" cy="2730118"/>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Colocaras todos los recordatorios como lo sean, cortos, entregas, horarios de calificación. Colocaras, link de video y link o codigo de quizziz si lo amerita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143" name="Google Shape;143;p3"/>
          <p:cNvSpPr txBox="1"/>
          <p:nvPr/>
        </p:nvSpPr>
        <p:spPr>
          <a:xfrm>
            <a:off x="4010526" y="2390390"/>
            <a:ext cx="9240253" cy="4653582"/>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None/>
            </a:pPr>
            <a:r>
              <a:rPr b="0" i="0" lang="en-US" sz="3600" u="none" cap="none" strike="noStrike">
                <a:solidFill>
                  <a:srgbClr val="000000"/>
                </a:solidFill>
                <a:latin typeface="Arial"/>
                <a:ea typeface="Arial"/>
                <a:cs typeface="Arial"/>
                <a:sym typeface="Arial"/>
              </a:rPr>
              <a:t>Analiza los fundamentos, componentes y funciones de los sistemas ERP, valorando su impacto en la integración y optimización de los procesos empresariales, así como su relevancia frente a las tendencias tecnológicas actuales.</a:t>
            </a:r>
            <a:endParaRPr b="0" i="0" sz="3600" u="none" cap="none" strike="noStrike">
              <a:solidFill>
                <a:srgbClr val="000000"/>
              </a:solidFill>
              <a:latin typeface="Arial"/>
              <a:ea typeface="Arial"/>
              <a:cs typeface="Arial"/>
              <a:sym typeface="Arial"/>
            </a:endParaRPr>
          </a:p>
        </p:txBody>
      </p:sp>
      <p:sp>
        <p:nvSpPr>
          <p:cNvPr id="144" name="Google Shape;144;p3"/>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5" name="Google Shape;145;p3"/>
          <p:cNvSpPr txBox="1"/>
          <p:nvPr/>
        </p:nvSpPr>
        <p:spPr>
          <a:xfrm>
            <a:off x="14046211" y="6528182"/>
            <a:ext cx="3428436" cy="2585323"/>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000" u="none" cap="none" strike="noStrike">
                <a:solidFill>
                  <a:srgbClr val="131416"/>
                </a:solidFill>
                <a:latin typeface="Open Sans"/>
                <a:ea typeface="Open Sans"/>
                <a:cs typeface="Open Sans"/>
                <a:sym typeface="Open Sans"/>
              </a:rPr>
              <a:t>En el programa del curso encontraras la competencia o competencias que debe cumplir el curso que estas impartiendo.</a:t>
            </a:r>
            <a:endParaRPr b="0" i="0" sz="20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000" u="none" cap="none" strike="noStrike">
                <a:solidFill>
                  <a:srgbClr val="131416"/>
                </a:solidFill>
                <a:latin typeface="Open Sans"/>
                <a:ea typeface="Open Sans"/>
                <a:cs typeface="Open Sans"/>
                <a:sym typeface="Open Sans"/>
              </a:rPr>
              <a:t>Colocala(s) en este apartado </a:t>
            </a:r>
            <a:endParaRPr b="0" i="0" sz="2000" u="none" cap="none" strike="noStrike">
              <a:solidFill>
                <a:srgbClr val="000000"/>
              </a:solidFill>
              <a:latin typeface="Arial"/>
              <a:ea typeface="Arial"/>
              <a:cs typeface="Arial"/>
              <a:sym typeface="Arial"/>
            </a:endParaRPr>
          </a:p>
        </p:txBody>
      </p:sp>
      <p:pic>
        <p:nvPicPr>
          <p:cNvPr id="146" name="Google Shape;146;p3" title="Gemini_Generated_Image_sfb0qdsfb0qdsfb0.png"/>
          <p:cNvPicPr preferRelativeResize="0"/>
          <p:nvPr/>
        </p:nvPicPr>
        <p:blipFill rotWithShape="1">
          <a:blip r:embed="rId4">
            <a:alphaModFix/>
          </a:blip>
          <a:srcRect b="0" l="0" r="0" t="0"/>
          <a:stretch/>
        </p:blipFill>
        <p:spPr>
          <a:xfrm>
            <a:off x="0" y="3113989"/>
            <a:ext cx="5234360" cy="71730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5"/>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152" name="Google Shape;152;p5"/>
          <p:cNvSpPr txBox="1"/>
          <p:nvPr/>
        </p:nvSpPr>
        <p:spPr>
          <a:xfrm>
            <a:off x="7179100" y="776950"/>
            <a:ext cx="2952600" cy="10098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Arial"/>
                <a:ea typeface="Arial"/>
                <a:cs typeface="Arial"/>
                <a:sym typeface="Arial"/>
              </a:rPr>
              <a:t>Planeación</a:t>
            </a:r>
            <a:endParaRPr b="1" i="0" sz="3600" u="none" cap="none" strike="noStrike">
              <a:solidFill>
                <a:schemeClr val="dk1"/>
              </a:solidFill>
              <a:latin typeface="Arial"/>
              <a:ea typeface="Arial"/>
              <a:cs typeface="Arial"/>
              <a:sym typeface="Arial"/>
            </a:endParaRPr>
          </a:p>
        </p:txBody>
      </p:sp>
      <p:sp>
        <p:nvSpPr>
          <p:cNvPr id="153" name="Google Shape;153;p5"/>
          <p:cNvSpPr txBox="1"/>
          <p:nvPr/>
        </p:nvSpPr>
        <p:spPr>
          <a:xfrm>
            <a:off x="170950" y="2159950"/>
            <a:ext cx="17310600" cy="2035800"/>
          </a:xfrm>
          <a:prstGeom prst="rect">
            <a:avLst/>
          </a:prstGeom>
          <a:noFill/>
          <a:ln>
            <a:noFill/>
          </a:ln>
        </p:spPr>
        <p:txBody>
          <a:bodyPr anchorCtr="0" anchor="t" bIns="182850" lIns="182850" spcFirstLastPara="1" rIns="182850" wrap="square" tIns="182850">
            <a:noAutofit/>
          </a:bodyPr>
          <a:lstStyle/>
          <a:p>
            <a:pPr indent="0" lvl="0" marL="0" marR="0" rtl="0" algn="just">
              <a:lnSpc>
                <a:spcPct val="100000"/>
              </a:lnSpc>
              <a:spcBef>
                <a:spcPts val="0"/>
              </a:spcBef>
              <a:spcAft>
                <a:spcPts val="0"/>
              </a:spcAft>
              <a:buNone/>
            </a:pPr>
            <a:r>
              <a:rPr b="0" i="0" lang="en-US" sz="3600" u="none" cap="none" strike="noStrike">
                <a:solidFill>
                  <a:schemeClr val="dk1"/>
                </a:solidFill>
                <a:latin typeface="Arial"/>
                <a:ea typeface="Arial"/>
                <a:cs typeface="Arial"/>
                <a:sym typeface="Arial"/>
              </a:rPr>
              <a:t>La </a:t>
            </a:r>
            <a:r>
              <a:rPr b="1" i="0" lang="en-US" sz="3600" u="none" cap="none" strike="noStrike">
                <a:solidFill>
                  <a:schemeClr val="dk1"/>
                </a:solidFill>
                <a:latin typeface="Arial"/>
                <a:ea typeface="Arial"/>
                <a:cs typeface="Arial"/>
                <a:sym typeface="Arial"/>
              </a:rPr>
              <a:t>planeación</a:t>
            </a:r>
            <a:r>
              <a:rPr b="0" i="0" lang="en-US" sz="3600" u="none" cap="none" strike="noStrike">
                <a:solidFill>
                  <a:schemeClr val="dk1"/>
                </a:solidFill>
                <a:latin typeface="Arial"/>
                <a:ea typeface="Arial"/>
                <a:cs typeface="Arial"/>
                <a:sym typeface="Arial"/>
              </a:rPr>
              <a:t> es un proceso fundamental dentro de la administración y la toma de decisiones, que se utiliza para determinar las metas y objetivos de una organización, definir estrategias y establecer un plan para alcanzarlos.</a:t>
            </a:r>
            <a:endParaRPr b="0" i="0" sz="3600" u="none" cap="none" strike="noStrike">
              <a:solidFill>
                <a:schemeClr val="dk2"/>
              </a:solidFill>
              <a:latin typeface="Arial"/>
              <a:ea typeface="Arial"/>
              <a:cs typeface="Arial"/>
              <a:sym typeface="Arial"/>
            </a:endParaRPr>
          </a:p>
        </p:txBody>
      </p:sp>
      <p:sp>
        <p:nvSpPr>
          <p:cNvPr id="154" name="Google Shape;154;p5"/>
          <p:cNvSpPr txBox="1"/>
          <p:nvPr/>
        </p:nvSpPr>
        <p:spPr>
          <a:xfrm>
            <a:off x="310800" y="4475300"/>
            <a:ext cx="17170800" cy="24864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Definición de planeación: </a:t>
            </a:r>
            <a:r>
              <a:rPr b="0" i="0" lang="en-US" sz="3600" u="none" cap="none" strike="noStrike">
                <a:solidFill>
                  <a:schemeClr val="dk1"/>
                </a:solidFill>
                <a:latin typeface="Arial"/>
                <a:ea typeface="Arial"/>
                <a:cs typeface="Arial"/>
                <a:sym typeface="Arial"/>
              </a:rPr>
              <a:t>La planeación es un proceso que implica </a:t>
            </a:r>
            <a:r>
              <a:rPr b="1" i="0" lang="en-US" sz="3600" u="none" cap="none" strike="noStrike">
                <a:solidFill>
                  <a:schemeClr val="dk1"/>
                </a:solidFill>
                <a:latin typeface="Arial"/>
                <a:ea typeface="Arial"/>
                <a:cs typeface="Arial"/>
                <a:sym typeface="Arial"/>
              </a:rPr>
              <a:t>establecer objetivos</a:t>
            </a:r>
            <a:r>
              <a:rPr b="0" i="0" lang="en-US" sz="3600" u="none" cap="none" strike="noStrike">
                <a:solidFill>
                  <a:schemeClr val="dk1"/>
                </a:solidFill>
                <a:latin typeface="Arial"/>
                <a:ea typeface="Arial"/>
                <a:cs typeface="Arial"/>
                <a:sym typeface="Arial"/>
              </a:rPr>
              <a:t>, determinar los recursos necesarios y diseñar las estrategias, políticas y acciones que se llevarán a cabo para lograrlos dentro de un período definido.</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2"/>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160" name="Google Shape;160;p22"/>
          <p:cNvSpPr txBox="1"/>
          <p:nvPr/>
        </p:nvSpPr>
        <p:spPr>
          <a:xfrm>
            <a:off x="248650" y="2051200"/>
            <a:ext cx="17217600" cy="74898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Características principales</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Orientada al futuro</a:t>
            </a:r>
            <a:r>
              <a:rPr b="0" i="0" lang="en-US" sz="3600" u="none" cap="none" strike="noStrike">
                <a:solidFill>
                  <a:schemeClr val="dk1"/>
                </a:solidFill>
                <a:latin typeface="Arial"/>
                <a:ea typeface="Arial"/>
                <a:cs typeface="Arial"/>
                <a:sym typeface="Arial"/>
              </a:rPr>
              <a:t>: Se centra en anticipar necesidades, oportunidades y problemas.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Proceso sistemático</a:t>
            </a:r>
            <a:r>
              <a:rPr b="0" i="0" lang="en-US" sz="3600" u="none" cap="none" strike="noStrike">
                <a:solidFill>
                  <a:schemeClr val="dk1"/>
                </a:solidFill>
                <a:latin typeface="Arial"/>
                <a:ea typeface="Arial"/>
                <a:cs typeface="Arial"/>
                <a:sym typeface="Arial"/>
              </a:rPr>
              <a:t>: Implica seguir un orden lógico y estructurado.</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Flexibilidad</a:t>
            </a:r>
            <a:r>
              <a:rPr b="0" i="0" lang="en-US" sz="3600" u="none" cap="none" strike="noStrike">
                <a:solidFill>
                  <a:schemeClr val="dk1"/>
                </a:solidFill>
                <a:latin typeface="Arial"/>
                <a:ea typeface="Arial"/>
                <a:cs typeface="Arial"/>
                <a:sym typeface="Arial"/>
              </a:rPr>
              <a:t>: Debe adaptarse a los cambios del entorno.</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Toma de decisiones</a:t>
            </a:r>
            <a:r>
              <a:rPr b="0" i="0" lang="en-US" sz="3600" u="none" cap="none" strike="noStrike">
                <a:solidFill>
                  <a:schemeClr val="dk1"/>
                </a:solidFill>
                <a:latin typeface="Arial"/>
                <a:ea typeface="Arial"/>
                <a:cs typeface="Arial"/>
                <a:sym typeface="Arial"/>
              </a:rPr>
              <a:t>: Requiere elegir entre varias alternativas disponibles.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Continuidad</a:t>
            </a:r>
            <a:r>
              <a:rPr b="0" i="0" lang="en-US" sz="3600" u="none" cap="none" strike="noStrike">
                <a:solidFill>
                  <a:schemeClr val="dk1"/>
                </a:solidFill>
                <a:latin typeface="Arial"/>
                <a:ea typeface="Arial"/>
                <a:cs typeface="Arial"/>
                <a:sym typeface="Arial"/>
              </a:rPr>
              <a:t>: Es un proceso continuo y no un evento único.</a:t>
            </a:r>
            <a:endParaRPr b="0" i="0" sz="3600" u="none" cap="none" strike="noStrike">
              <a:solidFill>
                <a:schemeClr val="dk1"/>
              </a:solidFill>
              <a:latin typeface="Arial"/>
              <a:ea typeface="Arial"/>
              <a:cs typeface="Arial"/>
              <a:sym typeface="Arial"/>
            </a:endParaRPr>
          </a:p>
          <a:p>
            <a:pPr indent="0" lvl="0" marL="0" marR="0" rtl="0" algn="just">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3"/>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166" name="Google Shape;166;p23"/>
          <p:cNvSpPr txBox="1"/>
          <p:nvPr/>
        </p:nvSpPr>
        <p:spPr>
          <a:xfrm>
            <a:off x="155400" y="1755950"/>
            <a:ext cx="17590200" cy="79098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Elementos clave de la planeación</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Objetivos</a:t>
            </a:r>
            <a:r>
              <a:rPr b="0" i="0" lang="en-US" sz="3600" u="none" cap="none" strike="noStrike">
                <a:solidFill>
                  <a:schemeClr val="dk1"/>
                </a:solidFill>
                <a:latin typeface="Arial"/>
                <a:ea typeface="Arial"/>
                <a:cs typeface="Arial"/>
                <a:sym typeface="Arial"/>
              </a:rPr>
              <a:t>: Lo que se desea lograr en un tiempo determinado. Deben ser específicos, medibles, alcanzables, relevantes y temporales (SMART).</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Estrategias</a:t>
            </a:r>
            <a:r>
              <a:rPr b="0" i="0" lang="en-US" sz="3600" u="none" cap="none" strike="noStrike">
                <a:solidFill>
                  <a:schemeClr val="dk1"/>
                </a:solidFill>
                <a:latin typeface="Arial"/>
                <a:ea typeface="Arial"/>
                <a:cs typeface="Arial"/>
                <a:sym typeface="Arial"/>
              </a:rPr>
              <a:t>: Acciones generales que indican cómo se alcanzarán los objetivos.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Tácticas</a:t>
            </a:r>
            <a:r>
              <a:rPr b="0" i="0" lang="en-US" sz="3600" u="none" cap="none" strike="noStrike">
                <a:solidFill>
                  <a:schemeClr val="dk1"/>
                </a:solidFill>
                <a:latin typeface="Arial"/>
                <a:ea typeface="Arial"/>
                <a:cs typeface="Arial"/>
                <a:sym typeface="Arial"/>
              </a:rPr>
              <a:t>: Planes más detallados y específicos que apoyan a las estrategias.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Recursos</a:t>
            </a:r>
            <a:r>
              <a:rPr b="0" i="0" lang="en-US" sz="3600" u="none" cap="none" strike="noStrike">
                <a:solidFill>
                  <a:schemeClr val="dk1"/>
                </a:solidFill>
                <a:latin typeface="Arial"/>
                <a:ea typeface="Arial"/>
                <a:cs typeface="Arial"/>
                <a:sym typeface="Arial"/>
              </a:rPr>
              <a:t>: Elementos disponibles (humanos, financieros, materiales, tecnológicos) para implementar los planes.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Control y evaluación</a:t>
            </a:r>
            <a:r>
              <a:rPr b="0" i="0" lang="en-US" sz="3600" u="none" cap="none" strike="noStrike">
                <a:solidFill>
                  <a:schemeClr val="dk1"/>
                </a:solidFill>
                <a:latin typeface="Arial"/>
                <a:ea typeface="Arial"/>
                <a:cs typeface="Arial"/>
                <a:sym typeface="Arial"/>
              </a:rPr>
              <a:t>: Seguimiento constante para verificar que las acciones se alinean con los objetivos.</a:t>
            </a:r>
            <a:endParaRPr b="0" i="0" sz="3600" u="none" cap="none" strike="noStrike">
              <a:solidFill>
                <a:schemeClr val="dk1"/>
              </a:solidFill>
              <a:latin typeface="Arial"/>
              <a:ea typeface="Arial"/>
              <a:cs typeface="Arial"/>
              <a:sym typeface="Arial"/>
            </a:endParaRPr>
          </a:p>
          <a:p>
            <a:pPr indent="0" lvl="0" marL="0" marR="0" rtl="0" algn="just">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4"/>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172" name="Google Shape;172;p24"/>
          <p:cNvSpPr txBox="1"/>
          <p:nvPr/>
        </p:nvSpPr>
        <p:spPr>
          <a:xfrm>
            <a:off x="185700" y="1274250"/>
            <a:ext cx="17916600" cy="37758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Tipos de planeación</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Estratégica</a:t>
            </a:r>
            <a:r>
              <a:rPr b="0" i="0" lang="en-US" sz="3600" u="none" cap="none" strike="noStrike">
                <a:solidFill>
                  <a:schemeClr val="dk1"/>
                </a:solidFill>
                <a:latin typeface="Arial"/>
                <a:ea typeface="Arial"/>
                <a:cs typeface="Arial"/>
                <a:sym typeface="Arial"/>
              </a:rPr>
              <a:t>: A largo plazo, centrada en metas globales y en la misión de la organización.</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Táctica</a:t>
            </a:r>
            <a:r>
              <a:rPr b="0" i="0" lang="en-US" sz="3600" u="none" cap="none" strike="noStrike">
                <a:solidFill>
                  <a:schemeClr val="dk1"/>
                </a:solidFill>
                <a:latin typeface="Arial"/>
                <a:ea typeface="Arial"/>
                <a:cs typeface="Arial"/>
                <a:sym typeface="Arial"/>
              </a:rPr>
              <a:t>: A mediano plazo, enfocada en áreas específicas o departamentos.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Operativa</a:t>
            </a:r>
            <a:r>
              <a:rPr b="0" i="0" lang="en-US" sz="3600" u="none" cap="none" strike="noStrike">
                <a:solidFill>
                  <a:schemeClr val="dk1"/>
                </a:solidFill>
                <a:latin typeface="Arial"/>
                <a:ea typeface="Arial"/>
                <a:cs typeface="Arial"/>
                <a:sym typeface="Arial"/>
              </a:rPr>
              <a:t>: A corto plazo, detallada y orientada a las actividades diarias.</a:t>
            </a:r>
            <a:endParaRPr b="0" i="0" sz="3600" u="none" cap="none" strike="noStrike">
              <a:solidFill>
                <a:schemeClr val="dk1"/>
              </a:solidFill>
              <a:latin typeface="Arial"/>
              <a:ea typeface="Arial"/>
              <a:cs typeface="Arial"/>
              <a:sym typeface="Arial"/>
            </a:endParaRPr>
          </a:p>
          <a:p>
            <a:pPr indent="0" lvl="0" marL="0" marR="0" rtl="0" algn="just">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25"/>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178" name="Google Shape;178;p25"/>
          <p:cNvSpPr txBox="1"/>
          <p:nvPr/>
        </p:nvSpPr>
        <p:spPr>
          <a:xfrm>
            <a:off x="155400" y="1802550"/>
            <a:ext cx="17434800" cy="80184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Importancia de la planeación</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Define un rumbo claro</a:t>
            </a:r>
            <a:r>
              <a:rPr b="0" i="0" lang="en-US" sz="3600" u="none" cap="none" strike="noStrike">
                <a:solidFill>
                  <a:schemeClr val="dk1"/>
                </a:solidFill>
                <a:latin typeface="Arial"/>
                <a:ea typeface="Arial"/>
                <a:cs typeface="Arial"/>
                <a:sym typeface="Arial"/>
              </a:rPr>
              <a:t> para las acciones organizacionales.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Optimiza el uso de recursos</a:t>
            </a:r>
            <a:r>
              <a:rPr b="0" i="0" lang="en-US" sz="3600" u="none" cap="none" strike="noStrike">
                <a:solidFill>
                  <a:schemeClr val="dk1"/>
                </a:solidFill>
                <a:latin typeface="Arial"/>
                <a:ea typeface="Arial"/>
                <a:cs typeface="Arial"/>
                <a:sym typeface="Arial"/>
              </a:rPr>
              <a:t>.</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Reduce incertidumbre</a:t>
            </a:r>
            <a:r>
              <a:rPr b="0" i="0" lang="en-US" sz="3600" u="none" cap="none" strike="noStrike">
                <a:solidFill>
                  <a:schemeClr val="dk1"/>
                </a:solidFill>
                <a:latin typeface="Arial"/>
                <a:ea typeface="Arial"/>
                <a:cs typeface="Arial"/>
                <a:sym typeface="Arial"/>
              </a:rPr>
              <a:t> al anticipar problemas y preparar soluciones.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Facilita la coordinación</a:t>
            </a:r>
            <a:r>
              <a:rPr b="0" i="0" lang="en-US" sz="3600" u="none" cap="none" strike="noStrike">
                <a:solidFill>
                  <a:schemeClr val="dk1"/>
                </a:solidFill>
                <a:latin typeface="Arial"/>
                <a:ea typeface="Arial"/>
                <a:cs typeface="Arial"/>
                <a:sym typeface="Arial"/>
              </a:rPr>
              <a:t> entre las diferentes áreas de la organización.</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Incrementa la efectividad</a:t>
            </a:r>
            <a:r>
              <a:rPr b="0" i="0" lang="en-US" sz="3600" u="none" cap="none" strike="noStrike">
                <a:solidFill>
                  <a:schemeClr val="dk1"/>
                </a:solidFill>
                <a:latin typeface="Arial"/>
                <a:ea typeface="Arial"/>
                <a:cs typeface="Arial"/>
                <a:sym typeface="Arial"/>
              </a:rPr>
              <a:t> en la consecución de metas.</a:t>
            </a:r>
            <a:endParaRPr b="0" i="0" sz="3600" u="none" cap="none" strike="noStrike">
              <a:solidFill>
                <a:schemeClr val="dk1"/>
              </a:solidFill>
              <a:latin typeface="Arial"/>
              <a:ea typeface="Arial"/>
              <a:cs typeface="Arial"/>
              <a:sym typeface="Arial"/>
            </a:endParaRPr>
          </a:p>
          <a:p>
            <a:pPr indent="0" lvl="0" marL="0" marR="0" rtl="0" algn="just">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6"/>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184" name="Google Shape;184;p26"/>
          <p:cNvSpPr txBox="1"/>
          <p:nvPr/>
        </p:nvSpPr>
        <p:spPr>
          <a:xfrm>
            <a:off x="124300" y="1600550"/>
            <a:ext cx="17792400" cy="82668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Proceso de planeación</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AutoNum type="arabicPeriod"/>
            </a:pPr>
            <a:r>
              <a:rPr b="1" i="0" lang="en-US" sz="3600" u="none" cap="none" strike="noStrike">
                <a:solidFill>
                  <a:schemeClr val="dk1"/>
                </a:solidFill>
                <a:latin typeface="Arial"/>
                <a:ea typeface="Arial"/>
                <a:cs typeface="Arial"/>
                <a:sym typeface="Arial"/>
              </a:rPr>
              <a:t>Definición de metas y objetivos</a:t>
            </a:r>
            <a:r>
              <a:rPr b="0" i="0" lang="en-US" sz="3600" u="none" cap="none" strike="noStrike">
                <a:solidFill>
                  <a:schemeClr val="dk1"/>
                </a:solidFill>
                <a:latin typeface="Arial"/>
                <a:ea typeface="Arial"/>
                <a:cs typeface="Arial"/>
                <a:sym typeface="Arial"/>
              </a:rPr>
              <a:t>.</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AutoNum type="arabicPeriod"/>
            </a:pPr>
            <a:r>
              <a:rPr b="1" i="0" lang="en-US" sz="3600" u="none" cap="none" strike="noStrike">
                <a:solidFill>
                  <a:schemeClr val="dk1"/>
                </a:solidFill>
                <a:latin typeface="Arial"/>
                <a:ea typeface="Arial"/>
                <a:cs typeface="Arial"/>
                <a:sym typeface="Arial"/>
              </a:rPr>
              <a:t>Análisis de la situación actual</a:t>
            </a:r>
            <a:r>
              <a:rPr b="0" i="0" lang="en-US" sz="3600" u="none" cap="none" strike="noStrike">
                <a:solidFill>
                  <a:schemeClr val="dk1"/>
                </a:solidFill>
                <a:latin typeface="Arial"/>
                <a:ea typeface="Arial"/>
                <a:cs typeface="Arial"/>
                <a:sym typeface="Arial"/>
              </a:rPr>
              <a:t> (evaluación interna y externa).</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AutoNum type="arabicPeriod"/>
            </a:pPr>
            <a:r>
              <a:rPr b="1" i="0" lang="en-US" sz="3600" u="none" cap="none" strike="noStrike">
                <a:solidFill>
                  <a:schemeClr val="dk1"/>
                </a:solidFill>
                <a:latin typeface="Arial"/>
                <a:ea typeface="Arial"/>
                <a:cs typeface="Arial"/>
                <a:sym typeface="Arial"/>
              </a:rPr>
              <a:t>Identificación de alternativas y estrategias posibles</a:t>
            </a:r>
            <a:r>
              <a:rPr b="0" i="0" lang="en-US" sz="3600" u="none" cap="none" strike="noStrike">
                <a:solidFill>
                  <a:schemeClr val="dk1"/>
                </a:solidFill>
                <a:latin typeface="Arial"/>
                <a:ea typeface="Arial"/>
                <a:cs typeface="Arial"/>
                <a:sym typeface="Arial"/>
              </a:rPr>
              <a:t>.</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AutoNum type="arabicPeriod"/>
            </a:pPr>
            <a:r>
              <a:rPr b="1" i="0" lang="en-US" sz="3600" u="none" cap="none" strike="noStrike">
                <a:solidFill>
                  <a:schemeClr val="dk1"/>
                </a:solidFill>
                <a:latin typeface="Arial"/>
                <a:ea typeface="Arial"/>
                <a:cs typeface="Arial"/>
                <a:sym typeface="Arial"/>
              </a:rPr>
              <a:t>Evaluación y selección de estrategias</a:t>
            </a:r>
            <a:r>
              <a:rPr b="0" i="0" lang="en-US" sz="3600" u="none" cap="none" strike="noStrike">
                <a:solidFill>
                  <a:schemeClr val="dk1"/>
                </a:solidFill>
                <a:latin typeface="Arial"/>
                <a:ea typeface="Arial"/>
                <a:cs typeface="Arial"/>
                <a:sym typeface="Arial"/>
              </a:rPr>
              <a:t>.</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AutoNum type="arabicPeriod"/>
            </a:pPr>
            <a:r>
              <a:rPr b="1" i="0" lang="en-US" sz="3600" u="none" cap="none" strike="noStrike">
                <a:solidFill>
                  <a:schemeClr val="dk1"/>
                </a:solidFill>
                <a:latin typeface="Arial"/>
                <a:ea typeface="Arial"/>
                <a:cs typeface="Arial"/>
                <a:sym typeface="Arial"/>
              </a:rPr>
              <a:t>Elaboración del plan detallado</a:t>
            </a:r>
            <a:r>
              <a:rPr b="0" i="0" lang="en-US" sz="3600" u="none" cap="none" strike="noStrike">
                <a:solidFill>
                  <a:schemeClr val="dk1"/>
                </a:solidFill>
                <a:latin typeface="Arial"/>
                <a:ea typeface="Arial"/>
                <a:cs typeface="Arial"/>
                <a:sym typeface="Arial"/>
              </a:rPr>
              <a:t>.</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AutoNum type="arabicPeriod"/>
            </a:pPr>
            <a:r>
              <a:rPr b="1" i="0" lang="en-US" sz="3600" u="none" cap="none" strike="noStrike">
                <a:solidFill>
                  <a:schemeClr val="dk1"/>
                </a:solidFill>
                <a:latin typeface="Arial"/>
                <a:ea typeface="Arial"/>
                <a:cs typeface="Arial"/>
                <a:sym typeface="Arial"/>
              </a:rPr>
              <a:t>Implementación</a:t>
            </a:r>
            <a:r>
              <a:rPr b="0" i="0" lang="en-US" sz="3600" u="none" cap="none" strike="noStrike">
                <a:solidFill>
                  <a:schemeClr val="dk1"/>
                </a:solidFill>
                <a:latin typeface="Arial"/>
                <a:ea typeface="Arial"/>
                <a:cs typeface="Arial"/>
                <a:sym typeface="Arial"/>
              </a:rPr>
              <a:t>.</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AutoNum type="arabicPeriod"/>
            </a:pPr>
            <a:r>
              <a:rPr b="1" i="0" lang="en-US" sz="3600" u="none" cap="none" strike="noStrike">
                <a:solidFill>
                  <a:schemeClr val="dk1"/>
                </a:solidFill>
                <a:latin typeface="Arial"/>
                <a:ea typeface="Arial"/>
                <a:cs typeface="Arial"/>
                <a:sym typeface="Arial"/>
              </a:rPr>
              <a:t>Control y retroalimentación</a:t>
            </a:r>
            <a:r>
              <a:rPr b="0" i="0" lang="en-US" sz="3600" u="none" cap="none" strike="noStrike">
                <a:solidFill>
                  <a:schemeClr val="dk1"/>
                </a:solidFill>
                <a:latin typeface="Arial"/>
                <a:ea typeface="Arial"/>
                <a:cs typeface="Arial"/>
                <a:sym typeface="Arial"/>
              </a:rPr>
              <a:t> para ajustes futuros.</a:t>
            </a:r>
            <a:endParaRPr b="0" i="0" sz="3600" u="none" cap="none" strike="noStrike">
              <a:solidFill>
                <a:schemeClr val="dk1"/>
              </a:solidFill>
              <a:latin typeface="Arial"/>
              <a:ea typeface="Arial"/>
              <a:cs typeface="Arial"/>
              <a:sym typeface="Arial"/>
            </a:endParaRPr>
          </a:p>
          <a:p>
            <a:pPr indent="0" lvl="0" marL="0" marR="0" rtl="0" algn="just">
              <a:lnSpc>
                <a:spcPct val="115000"/>
              </a:lnSpc>
              <a:spcBef>
                <a:spcPts val="2400"/>
              </a:spcBef>
              <a:spcAft>
                <a:spcPts val="2400"/>
              </a:spcAft>
              <a:buNone/>
            </a:pPr>
            <a:r>
              <a:rPr b="0" i="0" lang="en-US" sz="3600" u="none" cap="none" strike="noStrike">
                <a:solidFill>
                  <a:schemeClr val="dk1"/>
                </a:solidFill>
                <a:latin typeface="Arial"/>
                <a:ea typeface="Arial"/>
                <a:cs typeface="Arial"/>
                <a:sym typeface="Arial"/>
              </a:rPr>
              <a:t>La planeación es un pilar fundamental para el éxito en cualquier ámbito, desde proyectos individuales hasta grandes organizaciones.</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7"/>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190" name="Google Shape;190;p27"/>
          <p:cNvSpPr txBox="1"/>
          <p:nvPr/>
        </p:nvSpPr>
        <p:spPr>
          <a:xfrm>
            <a:off x="7085900" y="450600"/>
            <a:ext cx="2439600" cy="8082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Arial"/>
                <a:ea typeface="Arial"/>
                <a:cs typeface="Arial"/>
                <a:sym typeface="Arial"/>
              </a:rPr>
              <a:t>Control</a:t>
            </a:r>
            <a:endParaRPr b="1" i="0" sz="3600" u="none" cap="none" strike="noStrike">
              <a:solidFill>
                <a:schemeClr val="dk1"/>
              </a:solidFill>
              <a:latin typeface="Arial"/>
              <a:ea typeface="Arial"/>
              <a:cs typeface="Arial"/>
              <a:sym typeface="Arial"/>
            </a:endParaRPr>
          </a:p>
        </p:txBody>
      </p:sp>
      <p:sp>
        <p:nvSpPr>
          <p:cNvPr id="191" name="Google Shape;191;p27"/>
          <p:cNvSpPr txBox="1"/>
          <p:nvPr/>
        </p:nvSpPr>
        <p:spPr>
          <a:xfrm>
            <a:off x="47400" y="1460700"/>
            <a:ext cx="18193200" cy="84378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400"/>
              </a:spcBef>
              <a:spcAft>
                <a:spcPts val="0"/>
              </a:spcAft>
              <a:buNone/>
            </a:pPr>
            <a:r>
              <a:rPr b="0" i="0" lang="en-US" sz="3600" u="none" cap="none" strike="noStrike">
                <a:solidFill>
                  <a:schemeClr val="dk1"/>
                </a:solidFill>
                <a:latin typeface="Arial"/>
                <a:ea typeface="Arial"/>
                <a:cs typeface="Arial"/>
                <a:sym typeface="Arial"/>
              </a:rPr>
              <a:t>El control es el </a:t>
            </a:r>
            <a:r>
              <a:rPr b="1" i="0" lang="en-US" sz="3600" u="none" cap="none" strike="noStrike">
                <a:solidFill>
                  <a:schemeClr val="dk1"/>
                </a:solidFill>
                <a:latin typeface="Arial"/>
                <a:ea typeface="Arial"/>
                <a:cs typeface="Arial"/>
                <a:sym typeface="Arial"/>
              </a:rPr>
              <a:t>proceso de supervisión y evaluación</a:t>
            </a:r>
            <a:r>
              <a:rPr b="0" i="0" lang="en-US" sz="3600" u="none" cap="none" strike="noStrike">
                <a:solidFill>
                  <a:schemeClr val="dk1"/>
                </a:solidFill>
                <a:latin typeface="Arial"/>
                <a:ea typeface="Arial"/>
                <a:cs typeface="Arial"/>
                <a:sym typeface="Arial"/>
              </a:rPr>
              <a:t> que asegura que las actividades planeadas se ejecuten conforme a lo establecido. Ayuda a identificar y corregir desviaciones.</a:t>
            </a:r>
            <a:endParaRPr b="0" i="0" sz="3600" u="none" cap="none" strike="noStrike">
              <a:solidFill>
                <a:schemeClr val="dk1"/>
              </a:solidFill>
              <a:latin typeface="Arial"/>
              <a:ea typeface="Arial"/>
              <a:cs typeface="Arial"/>
              <a:sym typeface="Arial"/>
            </a:endParaRPr>
          </a:p>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Características del control:</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Comparación de resultados:</a:t>
            </a:r>
            <a:r>
              <a:rPr b="0" i="0" lang="en-US" sz="3600" u="none" cap="none" strike="noStrike">
                <a:solidFill>
                  <a:schemeClr val="dk1"/>
                </a:solidFill>
                <a:latin typeface="Arial"/>
                <a:ea typeface="Arial"/>
                <a:cs typeface="Arial"/>
                <a:sym typeface="Arial"/>
              </a:rPr>
              <a:t> Evalúa las metas planificadas contra los resultados obtenidos.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Identificación de desviaciones:</a:t>
            </a:r>
            <a:r>
              <a:rPr b="0" i="0" lang="en-US" sz="3600" u="none" cap="none" strike="noStrike">
                <a:solidFill>
                  <a:schemeClr val="dk1"/>
                </a:solidFill>
                <a:latin typeface="Arial"/>
                <a:ea typeface="Arial"/>
                <a:cs typeface="Arial"/>
                <a:sym typeface="Arial"/>
              </a:rPr>
              <a:t> Detecta problemas o áreas en las que el desempeño no cumple con lo esperado.</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Acción correctiva:</a:t>
            </a:r>
            <a:r>
              <a:rPr b="0" i="0" lang="en-US" sz="3600" u="none" cap="none" strike="noStrike">
                <a:solidFill>
                  <a:schemeClr val="dk1"/>
                </a:solidFill>
                <a:latin typeface="Arial"/>
                <a:ea typeface="Arial"/>
                <a:cs typeface="Arial"/>
                <a:sym typeface="Arial"/>
              </a:rPr>
              <a:t> Propone ajustes o medidas para corregir errores.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Proceso continuo:</a:t>
            </a:r>
            <a:r>
              <a:rPr b="0" i="0" lang="en-US" sz="3600" u="none" cap="none" strike="noStrike">
                <a:solidFill>
                  <a:schemeClr val="dk1"/>
                </a:solidFill>
                <a:latin typeface="Arial"/>
                <a:ea typeface="Arial"/>
                <a:cs typeface="Arial"/>
                <a:sym typeface="Arial"/>
              </a:rPr>
              <a:t> El control se lleva a cabo a lo largo de toda la ejecución de las actividades.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Indicadores clave:</a:t>
            </a:r>
            <a:r>
              <a:rPr b="0" i="0" lang="en-US" sz="3600" u="none" cap="none" strike="noStrike">
                <a:solidFill>
                  <a:schemeClr val="dk1"/>
                </a:solidFill>
                <a:latin typeface="Arial"/>
                <a:ea typeface="Arial"/>
                <a:cs typeface="Arial"/>
                <a:sym typeface="Arial"/>
              </a:rPr>
              <a:t> Utiliza métricas específicas para medir el desempeño.</a:t>
            </a:r>
            <a:endParaRPr b="0" i="0" sz="3600" u="none" cap="none" strike="noStrike">
              <a:solidFill>
                <a:schemeClr val="dk1"/>
              </a:solidFill>
              <a:latin typeface="Arial"/>
              <a:ea typeface="Arial"/>
              <a:cs typeface="Arial"/>
              <a:sym typeface="Arial"/>
            </a:endParaRPr>
          </a:p>
          <a:p>
            <a:pPr indent="0" lvl="0" marL="0" marR="0" rtl="0" algn="just">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8"/>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197" name="Google Shape;197;p28"/>
          <p:cNvSpPr txBox="1"/>
          <p:nvPr/>
        </p:nvSpPr>
        <p:spPr>
          <a:xfrm>
            <a:off x="31100" y="1693800"/>
            <a:ext cx="18010200" cy="83910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Pasos en el proceso de control:</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AutoNum type="arabicPeriod"/>
            </a:pPr>
            <a:r>
              <a:rPr b="0" i="0" lang="en-US" sz="3600" u="none" cap="none" strike="noStrike">
                <a:solidFill>
                  <a:schemeClr val="dk1"/>
                </a:solidFill>
                <a:latin typeface="Arial"/>
                <a:ea typeface="Arial"/>
                <a:cs typeface="Arial"/>
                <a:sym typeface="Arial"/>
              </a:rPr>
              <a:t>Establecer estándares de desempeño.</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AutoNum type="arabicPeriod"/>
            </a:pPr>
            <a:r>
              <a:rPr b="0" i="0" lang="en-US" sz="3600" u="none" cap="none" strike="noStrike">
                <a:solidFill>
                  <a:schemeClr val="dk1"/>
                </a:solidFill>
                <a:latin typeface="Arial"/>
                <a:ea typeface="Arial"/>
                <a:cs typeface="Arial"/>
                <a:sym typeface="Arial"/>
              </a:rPr>
              <a:t>Medir resultados reales.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AutoNum type="arabicPeriod"/>
            </a:pPr>
            <a:r>
              <a:rPr b="0" i="0" lang="en-US" sz="3600" u="none" cap="none" strike="noStrike">
                <a:solidFill>
                  <a:schemeClr val="dk1"/>
                </a:solidFill>
                <a:latin typeface="Arial"/>
                <a:ea typeface="Arial"/>
                <a:cs typeface="Arial"/>
                <a:sym typeface="Arial"/>
              </a:rPr>
              <a:t>Comparar los resultados con los estándares establecidos.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AutoNum type="arabicPeriod"/>
            </a:pPr>
            <a:r>
              <a:rPr b="0" i="0" lang="en-US" sz="3600" u="none" cap="none" strike="noStrike">
                <a:solidFill>
                  <a:schemeClr val="dk1"/>
                </a:solidFill>
                <a:latin typeface="Arial"/>
                <a:ea typeface="Arial"/>
                <a:cs typeface="Arial"/>
                <a:sym typeface="Arial"/>
              </a:rPr>
              <a:t>Tomar acciones correctivas si es necesario.</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9"/>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03" name="Google Shape;203;p29"/>
          <p:cNvSpPr txBox="1"/>
          <p:nvPr/>
        </p:nvSpPr>
        <p:spPr>
          <a:xfrm>
            <a:off x="6821700" y="357400"/>
            <a:ext cx="2517600" cy="7458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Arial"/>
                <a:ea typeface="Arial"/>
                <a:cs typeface="Arial"/>
                <a:sym typeface="Arial"/>
              </a:rPr>
              <a:t>Dirección</a:t>
            </a:r>
            <a:endParaRPr b="1" i="0" sz="3600" u="none" cap="none" strike="noStrike">
              <a:solidFill>
                <a:schemeClr val="dk1"/>
              </a:solidFill>
              <a:latin typeface="Arial"/>
              <a:ea typeface="Arial"/>
              <a:cs typeface="Arial"/>
              <a:sym typeface="Arial"/>
            </a:endParaRPr>
          </a:p>
        </p:txBody>
      </p:sp>
      <p:sp>
        <p:nvSpPr>
          <p:cNvPr id="204" name="Google Shape;204;p29"/>
          <p:cNvSpPr txBox="1"/>
          <p:nvPr/>
        </p:nvSpPr>
        <p:spPr>
          <a:xfrm>
            <a:off x="146700" y="1398500"/>
            <a:ext cx="17994600" cy="82824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400"/>
              </a:spcBef>
              <a:spcAft>
                <a:spcPts val="0"/>
              </a:spcAft>
              <a:buNone/>
            </a:pPr>
            <a:r>
              <a:rPr b="0" i="0" lang="en-US" sz="3600" u="none" cap="none" strike="noStrike">
                <a:solidFill>
                  <a:schemeClr val="dk1"/>
                </a:solidFill>
                <a:latin typeface="Arial"/>
                <a:ea typeface="Arial"/>
                <a:cs typeface="Arial"/>
                <a:sym typeface="Arial"/>
              </a:rPr>
              <a:t>La dirección es el proceso de </a:t>
            </a:r>
            <a:r>
              <a:rPr b="1" i="0" lang="en-US" sz="3600" u="none" cap="none" strike="noStrike">
                <a:solidFill>
                  <a:schemeClr val="dk1"/>
                </a:solidFill>
                <a:latin typeface="Arial"/>
                <a:ea typeface="Arial"/>
                <a:cs typeface="Arial"/>
                <a:sym typeface="Arial"/>
              </a:rPr>
              <a:t>liderar, motivar y coordinar</a:t>
            </a:r>
            <a:r>
              <a:rPr b="0" i="0" lang="en-US" sz="3600" u="none" cap="none" strike="noStrike">
                <a:solidFill>
                  <a:schemeClr val="dk1"/>
                </a:solidFill>
                <a:latin typeface="Arial"/>
                <a:ea typeface="Arial"/>
                <a:cs typeface="Arial"/>
                <a:sym typeface="Arial"/>
              </a:rPr>
              <a:t> a las personas dentro de una organización para lograr los objetivos establecidos. Se centra en guiar al personal hacia el cumplimiento de las metas planeadas.</a:t>
            </a:r>
            <a:endParaRPr b="0" i="0" sz="3600" u="none" cap="none" strike="noStrike">
              <a:solidFill>
                <a:schemeClr val="dk1"/>
              </a:solidFill>
              <a:latin typeface="Arial"/>
              <a:ea typeface="Arial"/>
              <a:cs typeface="Arial"/>
              <a:sym typeface="Arial"/>
            </a:endParaRPr>
          </a:p>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Características de la dirección:</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Liderazgo:</a:t>
            </a:r>
            <a:r>
              <a:rPr b="0" i="0" lang="en-US" sz="3600" u="none" cap="none" strike="noStrike">
                <a:solidFill>
                  <a:schemeClr val="dk1"/>
                </a:solidFill>
                <a:latin typeface="Arial"/>
                <a:ea typeface="Arial"/>
                <a:cs typeface="Arial"/>
                <a:sym typeface="Arial"/>
              </a:rPr>
              <a:t> Es fundamental para influir en las personas y orientarlas hacia los objetivos.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Comunicación:</a:t>
            </a:r>
            <a:r>
              <a:rPr b="0" i="0" lang="en-US" sz="3600" u="none" cap="none" strike="noStrike">
                <a:solidFill>
                  <a:schemeClr val="dk1"/>
                </a:solidFill>
                <a:latin typeface="Arial"/>
                <a:ea typeface="Arial"/>
                <a:cs typeface="Arial"/>
                <a:sym typeface="Arial"/>
              </a:rPr>
              <a:t> La transmisión efectiva de información y directrices es clave.</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Motivación:</a:t>
            </a:r>
            <a:r>
              <a:rPr b="0" i="0" lang="en-US" sz="3600" u="none" cap="none" strike="noStrike">
                <a:solidFill>
                  <a:schemeClr val="dk1"/>
                </a:solidFill>
                <a:latin typeface="Arial"/>
                <a:ea typeface="Arial"/>
                <a:cs typeface="Arial"/>
                <a:sym typeface="Arial"/>
              </a:rPr>
              <a:t> Fomenta la participación activa y el compromiso del equipo de trabajo.</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Toma de decisiones:</a:t>
            </a:r>
            <a:r>
              <a:rPr b="0" i="0" lang="en-US" sz="3600" u="none" cap="none" strike="noStrike">
                <a:solidFill>
                  <a:schemeClr val="dk1"/>
                </a:solidFill>
                <a:latin typeface="Arial"/>
                <a:ea typeface="Arial"/>
                <a:cs typeface="Arial"/>
                <a:sym typeface="Arial"/>
              </a:rPr>
              <a:t> Implica elegir la mejor alternativa en diferentes situaciones.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1" i="0" lang="en-US" sz="3600" u="none" cap="none" strike="noStrike">
                <a:solidFill>
                  <a:schemeClr val="dk1"/>
                </a:solidFill>
                <a:latin typeface="Arial"/>
                <a:ea typeface="Arial"/>
                <a:cs typeface="Arial"/>
                <a:sym typeface="Arial"/>
              </a:rPr>
              <a:t>Coordinación:</a:t>
            </a:r>
            <a:r>
              <a:rPr b="0" i="0" lang="en-US" sz="3600" u="none" cap="none" strike="noStrike">
                <a:solidFill>
                  <a:schemeClr val="dk1"/>
                </a:solidFill>
                <a:latin typeface="Arial"/>
                <a:ea typeface="Arial"/>
                <a:cs typeface="Arial"/>
                <a:sym typeface="Arial"/>
              </a:rPr>
              <a:t> Integra las acciones de las personas y áreas para garantizar coherencia en el cumplimiento de metas.</a:t>
            </a:r>
            <a:endParaRPr b="0" i="0" sz="3600" u="none" cap="none" strike="noStrike">
              <a:solidFill>
                <a:schemeClr val="dk1"/>
              </a:solidFill>
              <a:latin typeface="Arial"/>
              <a:ea typeface="Arial"/>
              <a:cs typeface="Arial"/>
              <a:sym typeface="Arial"/>
            </a:endParaRPr>
          </a:p>
          <a:p>
            <a:pPr indent="0" lvl="0" marL="0" marR="0" rtl="0" algn="just">
              <a:lnSpc>
                <a:spcPct val="100000"/>
              </a:lnSpc>
              <a:spcBef>
                <a:spcPts val="2400"/>
              </a:spcBef>
              <a:spcAft>
                <a:spcPts val="0"/>
              </a:spcAft>
              <a:buNone/>
            </a:pPr>
            <a:r>
              <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30"/>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10" name="Google Shape;210;p30"/>
          <p:cNvSpPr txBox="1"/>
          <p:nvPr/>
        </p:nvSpPr>
        <p:spPr>
          <a:xfrm>
            <a:off x="31100" y="1693800"/>
            <a:ext cx="18010200" cy="83910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Relación entre planeación, control y dirección:</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La </a:t>
            </a:r>
            <a:r>
              <a:rPr b="1" i="0" lang="en-US" sz="3600" u="none" cap="none" strike="noStrike">
                <a:solidFill>
                  <a:schemeClr val="dk1"/>
                </a:solidFill>
                <a:latin typeface="Arial"/>
                <a:ea typeface="Arial"/>
                <a:cs typeface="Arial"/>
                <a:sym typeface="Arial"/>
              </a:rPr>
              <a:t>planeación</a:t>
            </a:r>
            <a:r>
              <a:rPr b="0" i="0" lang="en-US" sz="3600" u="none" cap="none" strike="noStrike">
                <a:solidFill>
                  <a:schemeClr val="dk1"/>
                </a:solidFill>
                <a:latin typeface="Arial"/>
                <a:ea typeface="Arial"/>
                <a:cs typeface="Arial"/>
                <a:sym typeface="Arial"/>
              </a:rPr>
              <a:t> establece el "qué" y el "cómo" de las acciones a realizar.</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La </a:t>
            </a:r>
            <a:r>
              <a:rPr b="1" i="0" lang="en-US" sz="3600" u="none" cap="none" strike="noStrike">
                <a:solidFill>
                  <a:schemeClr val="dk1"/>
                </a:solidFill>
                <a:latin typeface="Arial"/>
                <a:ea typeface="Arial"/>
                <a:cs typeface="Arial"/>
                <a:sym typeface="Arial"/>
              </a:rPr>
              <a:t>dirección</a:t>
            </a:r>
            <a:r>
              <a:rPr b="0" i="0" lang="en-US" sz="3600" u="none" cap="none" strike="noStrike">
                <a:solidFill>
                  <a:schemeClr val="dk1"/>
                </a:solidFill>
                <a:latin typeface="Arial"/>
                <a:ea typeface="Arial"/>
                <a:cs typeface="Arial"/>
                <a:sym typeface="Arial"/>
              </a:rPr>
              <a:t> convierte esas acciones en realidad al coordinar y motivar a las personas.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El </a:t>
            </a:r>
            <a:r>
              <a:rPr b="1" i="0" lang="en-US" sz="3600" u="none" cap="none" strike="noStrike">
                <a:solidFill>
                  <a:schemeClr val="dk1"/>
                </a:solidFill>
                <a:latin typeface="Arial"/>
                <a:ea typeface="Arial"/>
                <a:cs typeface="Arial"/>
                <a:sym typeface="Arial"/>
              </a:rPr>
              <a:t>control</a:t>
            </a:r>
            <a:r>
              <a:rPr b="0" i="0" lang="en-US" sz="3600" u="none" cap="none" strike="noStrike">
                <a:solidFill>
                  <a:schemeClr val="dk1"/>
                </a:solidFill>
                <a:latin typeface="Arial"/>
                <a:ea typeface="Arial"/>
                <a:cs typeface="Arial"/>
                <a:sym typeface="Arial"/>
              </a:rPr>
              <a:t> supervisa que se estén cumpliendo los objetivos planificados, proponiendo ajustes cuando sea necesario.</a:t>
            </a:r>
            <a:endParaRPr b="0" i="0" sz="3600" u="none" cap="none" strike="noStrike">
              <a:solidFill>
                <a:schemeClr val="dk1"/>
              </a:solidFill>
              <a:latin typeface="Arial"/>
              <a:ea typeface="Arial"/>
              <a:cs typeface="Arial"/>
              <a:sym typeface="Arial"/>
            </a:endParaRPr>
          </a:p>
          <a:p>
            <a:pPr indent="0" lvl="0" marL="0" marR="0" rtl="0" algn="just">
              <a:lnSpc>
                <a:spcPct val="115000"/>
              </a:lnSpc>
              <a:spcBef>
                <a:spcPts val="2400"/>
              </a:spcBef>
              <a:spcAft>
                <a:spcPts val="2400"/>
              </a:spcAft>
              <a:buNone/>
            </a:pPr>
            <a:r>
              <a:rPr b="0" i="0" lang="en-US" sz="3600" u="none" cap="none" strike="noStrike">
                <a:solidFill>
                  <a:schemeClr val="dk1"/>
                </a:solidFill>
                <a:latin typeface="Arial"/>
                <a:ea typeface="Arial"/>
                <a:cs typeface="Arial"/>
                <a:sym typeface="Arial"/>
              </a:rPr>
              <a:t>Estos conceptos no solo son secuenciales sino también cíclicos: las lecciones aprendidas en el proceso de control retroalimentan la planeación y la dirección. Esto crea un ciclo de mejora continua.</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1"/>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pic>
        <p:nvPicPr>
          <p:cNvPr id="216" name="Google Shape;216;p31"/>
          <p:cNvPicPr preferRelativeResize="0"/>
          <p:nvPr/>
        </p:nvPicPr>
        <p:blipFill rotWithShape="1">
          <a:blip r:embed="rId4">
            <a:alphaModFix/>
          </a:blip>
          <a:srcRect b="0" l="0" r="0" t="0"/>
          <a:stretch/>
        </p:blipFill>
        <p:spPr>
          <a:xfrm>
            <a:off x="1118851" y="1507300"/>
            <a:ext cx="14777850" cy="8655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2"/>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22" name="Google Shape;222;p32"/>
          <p:cNvSpPr txBox="1"/>
          <p:nvPr/>
        </p:nvSpPr>
        <p:spPr>
          <a:xfrm>
            <a:off x="4568550" y="1243150"/>
            <a:ext cx="7769400" cy="9168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3600" u="none" cap="none" strike="noStrike">
                <a:solidFill>
                  <a:schemeClr val="dk1"/>
                </a:solidFill>
                <a:latin typeface="Arial"/>
                <a:ea typeface="Arial"/>
                <a:cs typeface="Arial"/>
                <a:sym typeface="Arial"/>
              </a:rPr>
              <a:t>Componentes generales de un ERP</a:t>
            </a:r>
            <a:endParaRPr b="0" i="0" sz="3600" u="none" cap="none" strike="noStrike">
              <a:solidFill>
                <a:schemeClr val="dk1"/>
              </a:solidFill>
              <a:latin typeface="Arial"/>
              <a:ea typeface="Arial"/>
              <a:cs typeface="Arial"/>
              <a:sym typeface="Arial"/>
            </a:endParaRPr>
          </a:p>
        </p:txBody>
      </p:sp>
      <p:sp>
        <p:nvSpPr>
          <p:cNvPr id="223" name="Google Shape;223;p32"/>
          <p:cNvSpPr txBox="1"/>
          <p:nvPr/>
        </p:nvSpPr>
        <p:spPr>
          <a:xfrm>
            <a:off x="108750" y="2595050"/>
            <a:ext cx="17994600" cy="75678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400"/>
              </a:spcBef>
              <a:spcAft>
                <a:spcPts val="0"/>
              </a:spcAft>
              <a:buNone/>
            </a:pPr>
            <a:r>
              <a:rPr b="0" i="0" lang="en-US" sz="3600" u="none" cap="none" strike="noStrike">
                <a:solidFill>
                  <a:schemeClr val="dk1"/>
                </a:solidFill>
                <a:latin typeface="Arial"/>
                <a:ea typeface="Arial"/>
                <a:cs typeface="Arial"/>
                <a:sym typeface="Arial"/>
              </a:rPr>
              <a:t>Un </a:t>
            </a:r>
            <a:r>
              <a:rPr b="1" i="0" lang="en-US" sz="3600" u="none" cap="none" strike="noStrike">
                <a:solidFill>
                  <a:schemeClr val="dk1"/>
                </a:solidFill>
                <a:latin typeface="Arial"/>
                <a:ea typeface="Arial"/>
                <a:cs typeface="Arial"/>
                <a:sym typeface="Arial"/>
              </a:rPr>
              <a:t>ERP (Enterprise Resource Planning)</a:t>
            </a:r>
            <a:r>
              <a:rPr b="0" i="0" lang="en-US" sz="3600" u="none" cap="none" strike="noStrike">
                <a:solidFill>
                  <a:schemeClr val="dk1"/>
                </a:solidFill>
                <a:latin typeface="Arial"/>
                <a:ea typeface="Arial"/>
                <a:cs typeface="Arial"/>
                <a:sym typeface="Arial"/>
              </a:rPr>
              <a:t> es un sistema de planificación de recursos empresariales que integra diversas funciones dentro de una organización en una única plataforma. Sus componentes generales incluyen:</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AutoNum type="arabicPeriod"/>
            </a:pPr>
            <a:r>
              <a:rPr b="1" i="0" lang="en-US" sz="3600" u="none" cap="none" strike="noStrike">
                <a:solidFill>
                  <a:schemeClr val="dk1"/>
                </a:solidFill>
                <a:latin typeface="Arial"/>
                <a:ea typeface="Arial"/>
                <a:cs typeface="Arial"/>
                <a:sym typeface="Arial"/>
              </a:rPr>
              <a:t>Gestión Financiera y Contabilidad</a:t>
            </a:r>
            <a:endParaRPr b="1" i="0" sz="3600" u="none" cap="none" strike="noStrike">
              <a:solidFill>
                <a:schemeClr val="dk1"/>
              </a:solidFill>
              <a:latin typeface="Arial"/>
              <a:ea typeface="Arial"/>
              <a:cs typeface="Arial"/>
              <a:sym typeface="Arial"/>
            </a:endParaRPr>
          </a:p>
          <a:p>
            <a:pPr indent="-685800" lvl="1" marL="1828800" marR="0" rtl="0" algn="just">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Contabilidad general</a:t>
            </a:r>
            <a:endParaRPr b="0" i="0" sz="3600" u="none" cap="none" strike="noStrike">
              <a:solidFill>
                <a:schemeClr val="dk1"/>
              </a:solidFill>
              <a:latin typeface="Arial"/>
              <a:ea typeface="Arial"/>
              <a:cs typeface="Arial"/>
              <a:sym typeface="Arial"/>
            </a:endParaRPr>
          </a:p>
          <a:p>
            <a:pPr indent="-685800" lvl="1" marL="1828800" marR="0" rtl="0" algn="just">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Cuentas por pagar y por cobrar</a:t>
            </a:r>
            <a:endParaRPr b="0" i="0" sz="3600" u="none" cap="none" strike="noStrike">
              <a:solidFill>
                <a:schemeClr val="dk1"/>
              </a:solidFill>
              <a:latin typeface="Arial"/>
              <a:ea typeface="Arial"/>
              <a:cs typeface="Arial"/>
              <a:sym typeface="Arial"/>
            </a:endParaRPr>
          </a:p>
          <a:p>
            <a:pPr indent="-685800" lvl="1" marL="1828800" marR="0" rtl="0" algn="just">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Gestión de activos fijos</a:t>
            </a:r>
            <a:endParaRPr b="0" i="0" sz="3600" u="none" cap="none" strike="noStrike">
              <a:solidFill>
                <a:schemeClr val="dk1"/>
              </a:solidFill>
              <a:latin typeface="Arial"/>
              <a:ea typeface="Arial"/>
              <a:cs typeface="Arial"/>
              <a:sym typeface="Arial"/>
            </a:endParaRPr>
          </a:p>
          <a:p>
            <a:pPr indent="-685800" lvl="1" marL="1828800" marR="0" rtl="0" algn="just">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Presupuestos y análisis financiero</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33"/>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29" name="Google Shape;229;p33"/>
          <p:cNvSpPr txBox="1"/>
          <p:nvPr/>
        </p:nvSpPr>
        <p:spPr>
          <a:xfrm>
            <a:off x="31100" y="1616100"/>
            <a:ext cx="18165600" cy="85932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Arial"/>
                <a:ea typeface="Arial"/>
                <a:cs typeface="Arial"/>
                <a:sym typeface="Arial"/>
              </a:rPr>
              <a:t>Gestión de Recursos Humanos (RRHH)</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Nómina y compensaciones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Reclutamiento y selección</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Evaluación del desempeño</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Gestión de tiempos y asistencia</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0"/>
              </a:spcAft>
              <a:buNone/>
            </a:pPr>
            <a:r>
              <a:rPr b="1" i="0" lang="en-US" sz="3600" u="none" cap="none" strike="noStrike">
                <a:solidFill>
                  <a:schemeClr val="dk1"/>
                </a:solidFill>
                <a:latin typeface="Arial"/>
                <a:ea typeface="Arial"/>
                <a:cs typeface="Arial"/>
                <a:sym typeface="Arial"/>
              </a:rPr>
              <a:t>Gestión de Producción y Manufactura</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Planificación de producción</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Control de calidad</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Gestión de inventarios y materiales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Mantenimiento de equipos</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2400"/>
              </a:spcBef>
              <a:spcAft>
                <a:spcPts val="0"/>
              </a:spcAft>
              <a:buNone/>
            </a:pPr>
            <a:r>
              <a:t/>
            </a:r>
            <a:endParaRPr b="1" i="0" sz="22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34"/>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35" name="Google Shape;235;p34"/>
          <p:cNvSpPr txBox="1"/>
          <p:nvPr/>
        </p:nvSpPr>
        <p:spPr>
          <a:xfrm>
            <a:off x="31100" y="1538400"/>
            <a:ext cx="18256800" cy="86400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Arial"/>
                <a:ea typeface="Arial"/>
                <a:cs typeface="Arial"/>
                <a:sym typeface="Arial"/>
              </a:rPr>
              <a:t>Gestión de la Cadena de Suministro (SCM)</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Compras y adquisiciones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Gestión de proveedores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Logística y distribución</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Control de inventarios</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0"/>
              </a:spcAft>
              <a:buNone/>
            </a:pPr>
            <a:r>
              <a:rPr b="1" i="0" lang="en-US" sz="3600" u="none" cap="none" strike="noStrike">
                <a:solidFill>
                  <a:schemeClr val="dk1"/>
                </a:solidFill>
                <a:latin typeface="Arial"/>
                <a:ea typeface="Arial"/>
                <a:cs typeface="Arial"/>
                <a:sym typeface="Arial"/>
              </a:rPr>
              <a:t>Gestión de Ventas y CRM (Customer Relationship Management)</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Procesamiento de pedidos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Gestión de clientes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Estrategias de marketing</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Servicio postventa</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35"/>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41" name="Google Shape;241;p35"/>
          <p:cNvSpPr txBox="1"/>
          <p:nvPr/>
        </p:nvSpPr>
        <p:spPr>
          <a:xfrm>
            <a:off x="46600" y="1569450"/>
            <a:ext cx="18241200" cy="86400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Arial"/>
                <a:ea typeface="Arial"/>
                <a:cs typeface="Arial"/>
                <a:sym typeface="Arial"/>
              </a:rPr>
              <a:t>Gestión de Proyectos</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Planificación de tareas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Asignación de recursos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Seguimiento y control de costos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Informes de desempeño</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0"/>
              </a:spcAft>
              <a:buNone/>
            </a:pPr>
            <a:r>
              <a:rPr b="1" i="0" lang="en-US" sz="3600" u="none" cap="none" strike="noStrike">
                <a:solidFill>
                  <a:schemeClr val="dk1"/>
                </a:solidFill>
                <a:latin typeface="Arial"/>
                <a:ea typeface="Arial"/>
                <a:cs typeface="Arial"/>
                <a:sym typeface="Arial"/>
              </a:rPr>
              <a:t>Gestión de Business Intelligence (BI) y Analítica</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Reportes y dashboards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Análisis de datos en tiempo real</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Modelos predictivos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Toma de decisiones basada en datos</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36"/>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47" name="Google Shape;247;p36"/>
          <p:cNvSpPr txBox="1"/>
          <p:nvPr/>
        </p:nvSpPr>
        <p:spPr>
          <a:xfrm>
            <a:off x="46600" y="1507300"/>
            <a:ext cx="18224400" cy="86712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Arial"/>
                <a:ea typeface="Arial"/>
                <a:cs typeface="Arial"/>
                <a:sym typeface="Arial"/>
              </a:rPr>
              <a:t>Gestión de Inventarios y Almacenes (WMS - Warehouse Management System)</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Control de stock</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Movimientos de mercancías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Optimización de espacios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Gestión de devoluciones</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0"/>
              </a:spcAft>
              <a:buNone/>
            </a:pPr>
            <a:r>
              <a:rPr b="1" i="0" lang="en-US" sz="3600" u="none" cap="none" strike="noStrike">
                <a:solidFill>
                  <a:schemeClr val="dk1"/>
                </a:solidFill>
                <a:latin typeface="Arial"/>
                <a:ea typeface="Arial"/>
                <a:cs typeface="Arial"/>
                <a:sym typeface="Arial"/>
              </a:rPr>
              <a:t>Gestión de Comercio Electrónico e Integraciones</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Conexión con plataformas de e-commerce</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Facturación electrónica</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Integración con otros sistemas externos</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37"/>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53" name="Google Shape;253;p37"/>
          <p:cNvSpPr txBox="1"/>
          <p:nvPr/>
        </p:nvSpPr>
        <p:spPr>
          <a:xfrm>
            <a:off x="6184600" y="606000"/>
            <a:ext cx="4817400" cy="6372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3600" u="none" cap="none" strike="noStrike">
                <a:solidFill>
                  <a:schemeClr val="dk1"/>
                </a:solidFill>
                <a:latin typeface="Arial"/>
                <a:ea typeface="Arial"/>
                <a:cs typeface="Arial"/>
                <a:sym typeface="Arial"/>
              </a:rPr>
              <a:t>Funciones de un ERP</a:t>
            </a:r>
            <a:endParaRPr b="0" i="0" sz="3600" u="none" cap="none" strike="noStrike">
              <a:solidFill>
                <a:schemeClr val="dk2"/>
              </a:solidFill>
              <a:latin typeface="Arial"/>
              <a:ea typeface="Arial"/>
              <a:cs typeface="Arial"/>
              <a:sym typeface="Arial"/>
            </a:endParaRPr>
          </a:p>
        </p:txBody>
      </p:sp>
      <p:sp>
        <p:nvSpPr>
          <p:cNvPr id="254" name="Google Shape;254;p37"/>
          <p:cNvSpPr txBox="1"/>
          <p:nvPr/>
        </p:nvSpPr>
        <p:spPr>
          <a:xfrm>
            <a:off x="108750" y="1989050"/>
            <a:ext cx="17793000" cy="1957800"/>
          </a:xfrm>
          <a:prstGeom prst="rect">
            <a:avLst/>
          </a:prstGeom>
          <a:noFill/>
          <a:ln>
            <a:noFill/>
          </a:ln>
        </p:spPr>
        <p:txBody>
          <a:bodyPr anchorCtr="0" anchor="t" bIns="182850" lIns="182850" spcFirstLastPara="1" rIns="182850" wrap="square" tIns="182850">
            <a:noAutofit/>
          </a:bodyPr>
          <a:lstStyle/>
          <a:p>
            <a:pPr indent="0" lvl="0" marL="0" marR="0" rtl="0" algn="just">
              <a:lnSpc>
                <a:spcPct val="100000"/>
              </a:lnSpc>
              <a:spcBef>
                <a:spcPts val="0"/>
              </a:spcBef>
              <a:spcAft>
                <a:spcPts val="0"/>
              </a:spcAft>
              <a:buNone/>
            </a:pPr>
            <a:r>
              <a:rPr b="0" i="0" lang="en-US" sz="3600" u="none" cap="none" strike="noStrike">
                <a:solidFill>
                  <a:schemeClr val="dk1"/>
                </a:solidFill>
                <a:latin typeface="Arial"/>
                <a:ea typeface="Arial"/>
                <a:cs typeface="Arial"/>
                <a:sym typeface="Arial"/>
              </a:rPr>
              <a:t>Las funciones principales de un </a:t>
            </a:r>
            <a:r>
              <a:rPr b="1" i="0" lang="en-US" sz="3600" u="none" cap="none" strike="noStrike">
                <a:solidFill>
                  <a:schemeClr val="dk1"/>
                </a:solidFill>
                <a:latin typeface="Arial"/>
                <a:ea typeface="Arial"/>
                <a:cs typeface="Arial"/>
                <a:sym typeface="Arial"/>
              </a:rPr>
              <a:t>ERP (Enterprise Resource Planning)</a:t>
            </a:r>
            <a:r>
              <a:rPr b="0" i="0" lang="en-US" sz="3600" u="none" cap="none" strike="noStrike">
                <a:solidFill>
                  <a:schemeClr val="dk1"/>
                </a:solidFill>
                <a:latin typeface="Arial"/>
                <a:ea typeface="Arial"/>
                <a:cs typeface="Arial"/>
                <a:sym typeface="Arial"/>
              </a:rPr>
              <a:t> están diseñadas para optimizar y automatizar procesos dentro de una empresa, integrando todas sus áreas en un solo sistema. Algunas de sus funciones clave son</a:t>
            </a:r>
            <a:endParaRPr b="0" i="0" sz="3600" u="none" cap="none" strike="noStrike">
              <a:solidFill>
                <a:schemeClr val="dk2"/>
              </a:solidFill>
              <a:latin typeface="Arial"/>
              <a:ea typeface="Arial"/>
              <a:cs typeface="Arial"/>
              <a:sym typeface="Arial"/>
            </a:endParaRPr>
          </a:p>
        </p:txBody>
      </p:sp>
      <p:sp>
        <p:nvSpPr>
          <p:cNvPr id="255" name="Google Shape;255;p37"/>
          <p:cNvSpPr txBox="1"/>
          <p:nvPr/>
        </p:nvSpPr>
        <p:spPr>
          <a:xfrm>
            <a:off x="621550" y="4366550"/>
            <a:ext cx="17170800" cy="56094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Automatización de Procesos Empresariales</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Reduce tareas manuales y repetitivas.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Facilita la estandarización de procesos en todas las áreas.</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38"/>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61" name="Google Shape;261;p38"/>
          <p:cNvSpPr txBox="1"/>
          <p:nvPr/>
        </p:nvSpPr>
        <p:spPr>
          <a:xfrm>
            <a:off x="46600" y="1585000"/>
            <a:ext cx="18288000" cy="87018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Integración de Información</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Centraliza los datos en una única plataforma.</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Evita la duplicación de información y mejora la precisión.</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Gestión Financiera y Contabilidad</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Control de ingresos, egresos y flujo de caja.</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Generación de reportes financieros y cumplimiento fiscal.</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39"/>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67" name="Google Shape;267;p39"/>
          <p:cNvSpPr txBox="1"/>
          <p:nvPr/>
        </p:nvSpPr>
        <p:spPr>
          <a:xfrm>
            <a:off x="31100" y="1647150"/>
            <a:ext cx="18072000" cy="83448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Gestión de Recursos Humanos</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Administración de nómina, beneficios y cumplimiento legal.</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Seguimiento del desempeño y gestión de talento.</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Optimización de la Cadena de Suministro</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Control de inventarios y gestión de proveedores.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Planificación y optimización de compras y logística.</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40"/>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73" name="Google Shape;273;p40"/>
          <p:cNvSpPr txBox="1"/>
          <p:nvPr/>
        </p:nvSpPr>
        <p:spPr>
          <a:xfrm>
            <a:off x="31100" y="1460700"/>
            <a:ext cx="18087600" cy="87330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Mejora en la Toma de Decisiones</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Proporciona reportes y análisis en tiempo real.</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Usa inteligencia de negocios para estrategias empresariales.</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Gestión de Producción y Manufactura</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Planificación de la producción y control de calidad.</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Optimización del uso de recursos y reducción de desperdicios.</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41"/>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79" name="Google Shape;279;p41"/>
          <p:cNvSpPr txBox="1"/>
          <p:nvPr/>
        </p:nvSpPr>
        <p:spPr>
          <a:xfrm>
            <a:off x="16900" y="1787000"/>
            <a:ext cx="18117000" cy="82512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Atención al Cliente y CRM</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Gestión de ventas, seguimiento de clientes y servicio postventa.</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Automatización de campañas de marketing y fidelización.</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Cumplimiento Normativo y Seguridad de Datos</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Garantiza el cumplimiento de regulaciones fiscales y laborales.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Protege la información con controles de acceso y cifrado.</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p42"/>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85" name="Google Shape;285;p42"/>
          <p:cNvSpPr txBox="1"/>
          <p:nvPr/>
        </p:nvSpPr>
        <p:spPr>
          <a:xfrm>
            <a:off x="15550" y="1631600"/>
            <a:ext cx="18254400" cy="85620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Escalabilidad y Adaptabilidad</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Se ajusta al crecimiento de la empresa y a nuevos requerimientos.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Permite integración con otras plataformas digitales.</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0"/>
              </a:spcAft>
              <a:buNone/>
            </a:pPr>
            <a:r>
              <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2400"/>
              </a:spcAft>
              <a:buNone/>
            </a:pPr>
            <a:r>
              <a:rPr b="0" i="0" lang="en-US" sz="3600" u="none" cap="none" strike="noStrike">
                <a:solidFill>
                  <a:schemeClr val="dk1"/>
                </a:solidFill>
                <a:latin typeface="Arial"/>
                <a:ea typeface="Arial"/>
                <a:cs typeface="Arial"/>
                <a:sym typeface="Arial"/>
              </a:rPr>
              <a:t>Un ERP eficiente mejora la productividad, reduce costos operativos y facilita la toma de decisiones estratégicas. </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43"/>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91" name="Google Shape;291;p43"/>
          <p:cNvSpPr txBox="1"/>
          <p:nvPr/>
        </p:nvSpPr>
        <p:spPr>
          <a:xfrm>
            <a:off x="3139000" y="1383000"/>
            <a:ext cx="11592600" cy="7458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3600" u="none" cap="none" strike="noStrike">
                <a:solidFill>
                  <a:schemeClr val="dk1"/>
                </a:solidFill>
                <a:latin typeface="Arial"/>
                <a:ea typeface="Arial"/>
                <a:cs typeface="Arial"/>
                <a:sym typeface="Arial"/>
              </a:rPr>
              <a:t>Beneficios de la Integración a procesos empresariales</a:t>
            </a:r>
            <a:endParaRPr b="1" i="0" sz="3600" u="none" cap="none" strike="noStrike">
              <a:solidFill>
                <a:schemeClr val="dk1"/>
              </a:solidFill>
              <a:latin typeface="Arial"/>
              <a:ea typeface="Arial"/>
              <a:cs typeface="Arial"/>
              <a:sym typeface="Arial"/>
            </a:endParaRPr>
          </a:p>
        </p:txBody>
      </p:sp>
      <p:sp>
        <p:nvSpPr>
          <p:cNvPr id="292" name="Google Shape;292;p43"/>
          <p:cNvSpPr txBox="1"/>
          <p:nvPr/>
        </p:nvSpPr>
        <p:spPr>
          <a:xfrm>
            <a:off x="16900" y="2268750"/>
            <a:ext cx="17994600" cy="7956000"/>
          </a:xfrm>
          <a:prstGeom prst="rect">
            <a:avLst/>
          </a:prstGeom>
          <a:noFill/>
          <a:ln>
            <a:noFill/>
          </a:ln>
        </p:spPr>
        <p:txBody>
          <a:bodyPr anchorCtr="0" anchor="t" bIns="182850" lIns="182850" spcFirstLastPara="1" rIns="182850" wrap="square" tIns="182850">
            <a:noAutofit/>
          </a:bodyPr>
          <a:lstStyle/>
          <a:p>
            <a:pPr indent="0" lvl="0" marL="0" marR="0" rtl="0" algn="just">
              <a:lnSpc>
                <a:spcPct val="100000"/>
              </a:lnSpc>
              <a:spcBef>
                <a:spcPts val="2400"/>
              </a:spcBef>
              <a:spcAft>
                <a:spcPts val="0"/>
              </a:spcAft>
              <a:buNone/>
            </a:pPr>
            <a:r>
              <a:rPr b="0" i="0" lang="en-US" sz="3600" u="none" cap="none" strike="noStrike">
                <a:solidFill>
                  <a:schemeClr val="dk1"/>
                </a:solidFill>
                <a:latin typeface="Arial"/>
                <a:ea typeface="Arial"/>
                <a:cs typeface="Arial"/>
                <a:sym typeface="Arial"/>
              </a:rPr>
              <a:t>La </a:t>
            </a:r>
            <a:r>
              <a:rPr b="1" i="0" lang="en-US" sz="3600" u="none" cap="none" strike="noStrike">
                <a:solidFill>
                  <a:schemeClr val="dk1"/>
                </a:solidFill>
                <a:latin typeface="Arial"/>
                <a:ea typeface="Arial"/>
                <a:cs typeface="Arial"/>
                <a:sym typeface="Arial"/>
              </a:rPr>
              <a:t>integración de procesos empresariales</a:t>
            </a:r>
            <a:r>
              <a:rPr b="0" i="0" lang="en-US" sz="3600" u="none" cap="none" strike="noStrike">
                <a:solidFill>
                  <a:schemeClr val="dk1"/>
                </a:solidFill>
                <a:latin typeface="Arial"/>
                <a:ea typeface="Arial"/>
                <a:cs typeface="Arial"/>
                <a:sym typeface="Arial"/>
              </a:rPr>
              <a:t> a través de un </a:t>
            </a:r>
            <a:r>
              <a:rPr b="1" i="0" lang="en-US" sz="3600" u="none" cap="none" strike="noStrike">
                <a:solidFill>
                  <a:schemeClr val="dk1"/>
                </a:solidFill>
                <a:latin typeface="Arial"/>
                <a:ea typeface="Arial"/>
                <a:cs typeface="Arial"/>
                <a:sym typeface="Arial"/>
              </a:rPr>
              <a:t>ERP</a:t>
            </a:r>
            <a:r>
              <a:rPr b="0" i="0" lang="en-US" sz="3600" u="none" cap="none" strike="noStrike">
                <a:solidFill>
                  <a:schemeClr val="dk1"/>
                </a:solidFill>
                <a:latin typeface="Arial"/>
                <a:ea typeface="Arial"/>
                <a:cs typeface="Arial"/>
                <a:sym typeface="Arial"/>
              </a:rPr>
              <a:t> ofrece múltiples beneficios, optimizando la eficiencia operativa y mejorando la competitividad de una empresa. Algunos de los principales beneficios son:</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t/>
            </a:r>
            <a:endParaRPr b="1"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Mayor eficiencia operativa</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Automatiza tareas repetitivas y reduce el tiempo de ejecución.</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Minimiza errores humanos al evitar la entrada manual de datos.</a:t>
            </a:r>
            <a:endParaRPr b="0" i="0" sz="3600" u="none" cap="none" strike="noStrike">
              <a:solidFill>
                <a:schemeClr val="dk1"/>
              </a:solidFill>
              <a:latin typeface="Arial"/>
              <a:ea typeface="Arial"/>
              <a:cs typeface="Arial"/>
              <a:sym typeface="Arial"/>
            </a:endParaRPr>
          </a:p>
          <a:p>
            <a:pPr indent="0" lvl="0" marL="0" marR="0" rtl="0" algn="just">
              <a:lnSpc>
                <a:spcPct val="100000"/>
              </a:lnSpc>
              <a:spcBef>
                <a:spcPts val="2400"/>
              </a:spcBef>
              <a:spcAft>
                <a:spcPts val="0"/>
              </a:spcAft>
              <a:buNone/>
            </a:pPr>
            <a:r>
              <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44"/>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298" name="Google Shape;298;p44"/>
          <p:cNvSpPr txBox="1"/>
          <p:nvPr/>
        </p:nvSpPr>
        <p:spPr>
          <a:xfrm>
            <a:off x="31100" y="1693800"/>
            <a:ext cx="18010200" cy="85932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Centralización y acceso a la información</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Todos los departamentos trabajan con la misma base de datos en tiempo real.</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Mejora la comunicación y colaboración entre equipos.</a:t>
            </a:r>
            <a:endParaRPr b="0" i="0" sz="3600" u="none" cap="none" strike="noStrike">
              <a:solidFill>
                <a:schemeClr val="dk1"/>
              </a:solidFill>
              <a:latin typeface="Arial"/>
              <a:ea typeface="Arial"/>
              <a:cs typeface="Arial"/>
              <a:sym typeface="Arial"/>
            </a:endParaRPr>
          </a:p>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Reducción de costos</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Optimiza el uso de recursos y reduce desperdicios.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Disminuye costos de administración y gestión manual.</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Toma de decisiones basada en datos</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Proporciona reportes y análisis en tiempo real.</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Facilita la identificación de oportunidades y riesgos.</a:t>
            </a:r>
            <a:endParaRPr b="0" i="0" sz="3600" u="none" cap="none" strike="noStrike">
              <a:solidFill>
                <a:schemeClr val="dk1"/>
              </a:solidFill>
              <a:latin typeface="Arial"/>
              <a:ea typeface="Arial"/>
              <a:cs typeface="Arial"/>
              <a:sym typeface="Arial"/>
            </a:endParaRPr>
          </a:p>
          <a:p>
            <a:pPr indent="0" lvl="0" marL="0" marR="0" rtl="0" algn="just">
              <a:lnSpc>
                <a:spcPct val="115000"/>
              </a:lnSpc>
              <a:spcBef>
                <a:spcPts val="2400"/>
              </a:spcBef>
              <a:spcAft>
                <a:spcPts val="2400"/>
              </a:spcAft>
              <a:buNone/>
            </a:pPr>
            <a:r>
              <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45"/>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304" name="Google Shape;304;p45"/>
          <p:cNvSpPr txBox="1"/>
          <p:nvPr/>
        </p:nvSpPr>
        <p:spPr>
          <a:xfrm>
            <a:off x="46600" y="1445150"/>
            <a:ext cx="18165600" cy="87180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Mejora en la atención al cliente</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Permite un mejor seguimiento de clientes y personalización del servicio.</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Reduce tiempos de respuesta en ventas, soporte y postventa.</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Optimización de la cadena de suministro</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Mejora la planificación de compras e inventarios.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Asegura un mejor control de proveedores y tiempos de entrega.</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Cumplimiento normativo y seguridad</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Garantiza el cumplimiento de regulaciones fiscales y laborales.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Protege los datos con sistemas de acceso y cifrado.</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46"/>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310" name="Google Shape;310;p46"/>
          <p:cNvSpPr txBox="1"/>
          <p:nvPr/>
        </p:nvSpPr>
        <p:spPr>
          <a:xfrm>
            <a:off x="108750" y="1755950"/>
            <a:ext cx="17994600" cy="84072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Flexibilidad y escalabilidad</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Se adapta al crecimiento de la empresa y nuevos requerimientos.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Facilita la integración con otras plataformas digitales.</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2400"/>
              </a:spcAft>
              <a:buNone/>
            </a:pPr>
            <a:r>
              <a:rPr b="0" i="0" lang="en-US" sz="3600" u="none" cap="none" strike="noStrike">
                <a:solidFill>
                  <a:schemeClr val="dk1"/>
                </a:solidFill>
                <a:latin typeface="Arial"/>
                <a:ea typeface="Arial"/>
                <a:cs typeface="Arial"/>
                <a:sym typeface="Arial"/>
              </a:rPr>
              <a:t>En general, la integración de procesos permite a las empresas operar de manera más ágil, reducir errores y mejorar su rentabilidad.</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p47"/>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316" name="Google Shape;316;p47"/>
          <p:cNvSpPr txBox="1"/>
          <p:nvPr/>
        </p:nvSpPr>
        <p:spPr>
          <a:xfrm>
            <a:off x="31100" y="2377500"/>
            <a:ext cx="18165600" cy="78318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2400"/>
              </a:spcBef>
              <a:spcAft>
                <a:spcPts val="0"/>
              </a:spcAft>
              <a:buNone/>
            </a:pPr>
            <a:r>
              <a:rPr b="0" i="0" lang="en-US" sz="3600" u="none" cap="none" strike="noStrike">
                <a:solidFill>
                  <a:schemeClr val="dk1"/>
                </a:solidFill>
                <a:latin typeface="Arial"/>
                <a:ea typeface="Arial"/>
                <a:cs typeface="Arial"/>
                <a:sym typeface="Arial"/>
              </a:rPr>
              <a:t>Los sistemas </a:t>
            </a:r>
            <a:r>
              <a:rPr b="1" i="0" lang="en-US" sz="3600" u="none" cap="none" strike="noStrike">
                <a:solidFill>
                  <a:schemeClr val="dk1"/>
                </a:solidFill>
                <a:latin typeface="Arial"/>
                <a:ea typeface="Arial"/>
                <a:cs typeface="Arial"/>
                <a:sym typeface="Arial"/>
              </a:rPr>
              <a:t>ERP</a:t>
            </a:r>
            <a:r>
              <a:rPr b="0" i="0" lang="en-US" sz="3600" u="none" cap="none" strike="noStrike">
                <a:solidFill>
                  <a:schemeClr val="dk1"/>
                </a:solidFill>
                <a:latin typeface="Arial"/>
                <a:ea typeface="Arial"/>
                <a:cs typeface="Arial"/>
                <a:sym typeface="Arial"/>
              </a:rPr>
              <a:t> están evolucionando rápidamente para adaptarse a las nuevas tecnologías y necesidades empresariales.</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ERP en la Nube (Cloud ERP)</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Permite acceso desde cualquier lugar y dispositivo.</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Reduce costos de infraestructura y mantenimiento.</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Facilita actualizaciones automáticas y mayor seguridad.</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2400"/>
              </a:spcBef>
              <a:spcAft>
                <a:spcPts val="0"/>
              </a:spcAft>
              <a:buNone/>
            </a:pPr>
            <a:r>
              <a:t/>
            </a:r>
            <a:endParaRPr b="0" i="0" sz="3600" u="none" cap="none" strike="noStrike">
              <a:solidFill>
                <a:schemeClr val="dk1"/>
              </a:solidFill>
              <a:latin typeface="Arial"/>
              <a:ea typeface="Arial"/>
              <a:cs typeface="Arial"/>
              <a:sym typeface="Arial"/>
            </a:endParaRPr>
          </a:p>
        </p:txBody>
      </p:sp>
      <p:sp>
        <p:nvSpPr>
          <p:cNvPr id="317" name="Google Shape;317;p47"/>
          <p:cNvSpPr txBox="1"/>
          <p:nvPr/>
        </p:nvSpPr>
        <p:spPr>
          <a:xfrm>
            <a:off x="4879350" y="450650"/>
            <a:ext cx="7241400" cy="5592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3600" u="none" cap="none" strike="noStrike">
                <a:solidFill>
                  <a:schemeClr val="dk1"/>
                </a:solidFill>
                <a:latin typeface="Arial"/>
                <a:ea typeface="Arial"/>
                <a:cs typeface="Arial"/>
                <a:sym typeface="Arial"/>
              </a:rPr>
              <a:t>Tendencias actuales en sistemas</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48"/>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323" name="Google Shape;323;p48"/>
          <p:cNvSpPr txBox="1"/>
          <p:nvPr/>
        </p:nvSpPr>
        <p:spPr>
          <a:xfrm>
            <a:off x="31100" y="1538400"/>
            <a:ext cx="18256800" cy="86400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Inteligencia Artificial (IA) y Automatización</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Uso de IA para análisis predictivo y toma de decisiones.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Automatización de procesos como contabilidad, compras y atención al cliente.</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t/>
            </a:r>
            <a:endParaRPr b="1"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ERP Móvil</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Aplicaciones móviles para acceso a datos en tiempo real.</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Facilita la gestión desde cualquier ubicación.</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2400"/>
              </a:spcAft>
              <a:buNone/>
            </a:pPr>
            <a:r>
              <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49"/>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329" name="Google Shape;329;p49"/>
          <p:cNvSpPr txBox="1"/>
          <p:nvPr/>
        </p:nvSpPr>
        <p:spPr>
          <a:xfrm>
            <a:off x="46600" y="1569450"/>
            <a:ext cx="18241200" cy="86400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Integración con Internet de las Cosas (IoT)</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Sensores conectados para monitoreo en tiempo real.</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Optimización en la gestión de inventarios y mantenimiento preventivo.</a:t>
            </a:r>
            <a:endParaRPr b="0" i="0" sz="3600" u="none" cap="none" strike="noStrike">
              <a:solidFill>
                <a:schemeClr val="dk1"/>
              </a:solidFill>
              <a:latin typeface="Arial"/>
              <a:ea typeface="Arial"/>
              <a:cs typeface="Arial"/>
              <a:sym typeface="Arial"/>
            </a:endParaRPr>
          </a:p>
          <a:p>
            <a:pPr indent="0" lvl="0" marL="0" marR="0" rtl="0" algn="just">
              <a:lnSpc>
                <a:spcPct val="115000"/>
              </a:lnSpc>
              <a:spcBef>
                <a:spcPts val="2400"/>
              </a:spcBef>
              <a:spcAft>
                <a:spcPts val="0"/>
              </a:spcAft>
              <a:buNone/>
            </a:pPr>
            <a:r>
              <a:t/>
            </a:r>
            <a:endParaRPr b="0" i="0" sz="3600" u="none" cap="none" strike="noStrike">
              <a:solidFill>
                <a:schemeClr val="dk1"/>
              </a:solidFill>
              <a:latin typeface="Arial"/>
              <a:ea typeface="Arial"/>
              <a:cs typeface="Arial"/>
              <a:sym typeface="Arial"/>
            </a:endParaRPr>
          </a:p>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Análisis de Datos y Business Intelligence (BI)</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Reportes avanzados con datos en tiempo real.</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Dashboards interactivos para mejorar la toma de decisiones.</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p50"/>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335" name="Google Shape;335;p50"/>
          <p:cNvSpPr txBox="1"/>
          <p:nvPr/>
        </p:nvSpPr>
        <p:spPr>
          <a:xfrm>
            <a:off x="46600" y="1507300"/>
            <a:ext cx="18224400" cy="86712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Personalización y Modularidad</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ERP flexibles que permiten elegir solo los módulos necesarios.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Adaptación a industrias y empresas de diferentes tamaños.</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t/>
            </a:r>
            <a:endParaRPr b="1"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Mayor Enfoque en la Ciberseguridad</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Protección de datos con cifrado y autenticación avanzada.</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Cumplimiento de normativas como GDPR o ISO 27001.</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0"/>
              </a:spcAft>
              <a:buNone/>
            </a:pPr>
            <a:r>
              <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51"/>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341" name="Google Shape;341;p51"/>
          <p:cNvSpPr txBox="1"/>
          <p:nvPr/>
        </p:nvSpPr>
        <p:spPr>
          <a:xfrm>
            <a:off x="108750" y="1989050"/>
            <a:ext cx="17793000" cy="78318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 Integración con Blockchain</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Mejora la trazabilidad en la cadena de suministro.</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Mayor seguridad en transacciones y contratos inteligentes.</a:t>
            </a:r>
            <a:endParaRPr b="0" i="0" sz="3600" u="none" cap="none" strike="noStrike">
              <a:solidFill>
                <a:schemeClr val="dk1"/>
              </a:solidFill>
              <a:latin typeface="Arial"/>
              <a:ea typeface="Arial"/>
              <a:cs typeface="Arial"/>
              <a:sym typeface="Arial"/>
            </a:endParaRPr>
          </a:p>
          <a:p>
            <a:pPr indent="0" lvl="0" marL="0" marR="0" rtl="0" algn="l">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ERP con experiencia de usuario mejorada (UX/UI)</a:t>
            </a:r>
            <a:endParaRPr b="1" i="0" sz="3600" u="none" cap="none" strike="noStrike">
              <a:solidFill>
                <a:schemeClr val="dk1"/>
              </a:solidFill>
              <a:latin typeface="Arial"/>
              <a:ea typeface="Arial"/>
              <a:cs typeface="Arial"/>
              <a:sym typeface="Arial"/>
            </a:endParaRPr>
          </a:p>
          <a:p>
            <a:pPr indent="-685800" lvl="0" marL="914400" marR="0" rtl="0" algn="l">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Interfaces más intuitivas y personalizadas.</a:t>
            </a:r>
            <a:endParaRPr b="0" i="0" sz="3600" u="none" cap="none" strike="noStrike">
              <a:solidFill>
                <a:schemeClr val="dk1"/>
              </a:solidFill>
              <a:latin typeface="Arial"/>
              <a:ea typeface="Arial"/>
              <a:cs typeface="Arial"/>
              <a:sym typeface="Arial"/>
            </a:endParaRPr>
          </a:p>
          <a:p>
            <a:pPr indent="-685800" lvl="0" marL="914400" marR="0" rtl="0" algn="l">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Reducción de la curva de aprendizaje para los empleados.</a:t>
            </a:r>
            <a:endParaRPr b="0" i="0" sz="3600" u="none" cap="none" strike="noStrike">
              <a:solidFill>
                <a:schemeClr val="dk1"/>
              </a:solidFill>
              <a:latin typeface="Arial"/>
              <a:ea typeface="Arial"/>
              <a:cs typeface="Arial"/>
              <a:sym typeface="Arial"/>
            </a:endParaRPr>
          </a:p>
          <a:p>
            <a:pPr indent="0" lvl="0" marL="0" marR="0" rtl="0" algn="just">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52"/>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347" name="Google Shape;347;p52"/>
          <p:cNvSpPr txBox="1"/>
          <p:nvPr/>
        </p:nvSpPr>
        <p:spPr>
          <a:xfrm>
            <a:off x="46600" y="1585000"/>
            <a:ext cx="18288000" cy="8701800"/>
          </a:xfrm>
          <a:prstGeom prst="rect">
            <a:avLst/>
          </a:prstGeom>
          <a:noFill/>
          <a:ln>
            <a:noFill/>
          </a:ln>
        </p:spPr>
        <p:txBody>
          <a:bodyPr anchorCtr="0" anchor="t" bIns="182850" lIns="182850" spcFirstLastPara="1" rIns="182850" wrap="square" tIns="182850">
            <a:noAutofit/>
          </a:bodyPr>
          <a:lstStyle/>
          <a:p>
            <a:pPr indent="0" lvl="0" marL="0" marR="0" rtl="0" algn="just">
              <a:lnSpc>
                <a:spcPct val="115000"/>
              </a:lnSpc>
              <a:spcBef>
                <a:spcPts val="2800"/>
              </a:spcBef>
              <a:spcAft>
                <a:spcPts val="0"/>
              </a:spcAft>
              <a:buNone/>
            </a:pPr>
            <a:r>
              <a:rPr b="1" i="0" lang="en-US" sz="3600" u="none" cap="none" strike="noStrike">
                <a:solidFill>
                  <a:schemeClr val="dk1"/>
                </a:solidFill>
                <a:latin typeface="Arial"/>
                <a:ea typeface="Arial"/>
                <a:cs typeface="Arial"/>
                <a:sym typeface="Arial"/>
              </a:rPr>
              <a:t>ERP con enfoque en la Sostenibilidad</a:t>
            </a:r>
            <a:endParaRPr b="1" i="0" sz="3600" u="none" cap="none" strike="noStrike">
              <a:solidFill>
                <a:schemeClr val="dk1"/>
              </a:solidFill>
              <a:latin typeface="Arial"/>
              <a:ea typeface="Arial"/>
              <a:cs typeface="Arial"/>
              <a:sym typeface="Arial"/>
            </a:endParaRPr>
          </a:p>
          <a:p>
            <a:pPr indent="-685800" lvl="0" marL="914400" marR="0" rtl="0" algn="just">
              <a:lnSpc>
                <a:spcPct val="115000"/>
              </a:lnSpc>
              <a:spcBef>
                <a:spcPts val="240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Monitoreo del consumo energético y reducción de desperdicios.</a:t>
            </a:r>
            <a:endParaRPr b="0" i="0" sz="3600" u="none" cap="none" strike="noStrike">
              <a:solidFill>
                <a:schemeClr val="dk1"/>
              </a:solidFill>
              <a:latin typeface="Arial"/>
              <a:ea typeface="Arial"/>
              <a:cs typeface="Arial"/>
              <a:sym typeface="Arial"/>
            </a:endParaRPr>
          </a:p>
          <a:p>
            <a:pPr indent="-685800" lvl="0" marL="914400" marR="0" rtl="0" algn="just">
              <a:lnSpc>
                <a:spcPct val="115000"/>
              </a:lnSpc>
              <a:spcBef>
                <a:spcPts val="0"/>
              </a:spcBef>
              <a:spcAft>
                <a:spcPts val="0"/>
              </a:spcAft>
              <a:buClr>
                <a:schemeClr val="dk1"/>
              </a:buClr>
              <a:buSzPts val="1800"/>
              <a:buFont typeface="Arial"/>
              <a:buChar char="●"/>
            </a:pPr>
            <a:r>
              <a:rPr b="0" i="0" lang="en-US" sz="3600" u="none" cap="none" strike="noStrike">
                <a:solidFill>
                  <a:schemeClr val="dk1"/>
                </a:solidFill>
                <a:latin typeface="Arial"/>
                <a:ea typeface="Arial"/>
                <a:cs typeface="Arial"/>
                <a:sym typeface="Arial"/>
              </a:rPr>
              <a:t>Reportes de impacto ambiental y cumplimiento de normativas ecológicas.</a:t>
            </a:r>
            <a:endParaRPr b="0" i="0" sz="3600" u="none" cap="none" strike="noStrike">
              <a:solidFill>
                <a:schemeClr val="dk1"/>
              </a:solidFill>
              <a:latin typeface="Arial"/>
              <a:ea typeface="Arial"/>
              <a:cs typeface="Arial"/>
              <a:sym typeface="Arial"/>
            </a:endParaRPr>
          </a:p>
          <a:p>
            <a:pPr indent="0" lvl="0" marL="0" marR="0" rtl="0" algn="just">
              <a:lnSpc>
                <a:spcPct val="115000"/>
              </a:lnSpc>
              <a:spcBef>
                <a:spcPts val="2400"/>
              </a:spcBef>
              <a:spcAft>
                <a:spcPts val="0"/>
              </a:spcAft>
              <a:buNone/>
            </a:pPr>
            <a:r>
              <a:t/>
            </a:r>
            <a:endParaRPr b="0" i="0" sz="3600" u="none" cap="none" strike="noStrike">
              <a:solidFill>
                <a:schemeClr val="dk1"/>
              </a:solidFill>
              <a:latin typeface="Arial"/>
              <a:ea typeface="Arial"/>
              <a:cs typeface="Arial"/>
              <a:sym typeface="Arial"/>
            </a:endParaRPr>
          </a:p>
          <a:p>
            <a:pPr indent="0" lvl="0" marL="0" marR="0" rtl="0" algn="just">
              <a:lnSpc>
                <a:spcPct val="115000"/>
              </a:lnSpc>
              <a:spcBef>
                <a:spcPts val="2400"/>
              </a:spcBef>
              <a:spcAft>
                <a:spcPts val="2400"/>
              </a:spcAft>
              <a:buNone/>
            </a:pPr>
            <a:r>
              <a:rPr b="0" i="0" lang="en-US" sz="3600" u="none" cap="none" strike="noStrike">
                <a:solidFill>
                  <a:schemeClr val="dk1"/>
                </a:solidFill>
                <a:latin typeface="Arial"/>
                <a:ea typeface="Arial"/>
                <a:cs typeface="Arial"/>
                <a:sym typeface="Arial"/>
              </a:rPr>
              <a:t>Estas tendencias están transformando los </a:t>
            </a:r>
            <a:r>
              <a:rPr b="1" i="0" lang="en-US" sz="3600" u="none" cap="none" strike="noStrike">
                <a:solidFill>
                  <a:schemeClr val="dk1"/>
                </a:solidFill>
                <a:latin typeface="Arial"/>
                <a:ea typeface="Arial"/>
                <a:cs typeface="Arial"/>
                <a:sym typeface="Arial"/>
              </a:rPr>
              <a:t>ERP</a:t>
            </a:r>
            <a:r>
              <a:rPr b="0" i="0" lang="en-US" sz="3600" u="none" cap="none" strike="noStrike">
                <a:solidFill>
                  <a:schemeClr val="dk1"/>
                </a:solidFill>
                <a:latin typeface="Arial"/>
                <a:ea typeface="Arial"/>
                <a:cs typeface="Arial"/>
                <a:sym typeface="Arial"/>
              </a:rPr>
              <a:t> en herramientas más accesibles, inteligentes y seguras, impulsando la eficiencia en las empresas</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pic>
        <p:nvPicPr>
          <p:cNvPr id="352" name="Google Shape;352;p53"/>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353" name="Google Shape;353;p53"/>
          <p:cNvSpPr txBox="1"/>
          <p:nvPr/>
        </p:nvSpPr>
        <p:spPr>
          <a:xfrm>
            <a:off x="0" y="9183700"/>
            <a:ext cx="18072000" cy="9792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2400"/>
              </a:spcBef>
              <a:spcAft>
                <a:spcPts val="0"/>
              </a:spcAft>
              <a:buNone/>
            </a:pPr>
            <a:r>
              <a:rPr b="0" i="0" lang="en-US" sz="3600" u="sng" cap="none" strike="noStrike">
                <a:solidFill>
                  <a:schemeClr val="hlink"/>
                </a:solidFill>
                <a:latin typeface="Arial"/>
                <a:ea typeface="Arial"/>
                <a:cs typeface="Arial"/>
                <a:sym typeface="Arial"/>
                <a:hlinkClick r:id="rId4"/>
              </a:rPr>
              <a:t>https://www.youtube.com/watch?v=6Mncbrp80To</a:t>
            </a:r>
            <a:endParaRPr b="0" i="0" sz="3600" u="none" cap="none" strike="noStrike">
              <a:solidFill>
                <a:schemeClr val="dk2"/>
              </a:solidFill>
              <a:latin typeface="Arial"/>
              <a:ea typeface="Arial"/>
              <a:cs typeface="Arial"/>
              <a:sym typeface="Arial"/>
            </a:endParaRPr>
          </a:p>
          <a:p>
            <a:pPr indent="0" lvl="0" marL="0" marR="0" rtl="0" algn="l">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sp>
        <p:nvSpPr>
          <p:cNvPr id="354" name="Google Shape;354;p53"/>
          <p:cNvSpPr txBox="1"/>
          <p:nvPr/>
        </p:nvSpPr>
        <p:spPr>
          <a:xfrm>
            <a:off x="46600" y="1616100"/>
            <a:ext cx="18150000" cy="74742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3600" u="none" cap="none" strike="noStrike">
                <a:solidFill>
                  <a:schemeClr val="dk1"/>
                </a:solidFill>
                <a:latin typeface="Arial"/>
                <a:ea typeface="Arial"/>
                <a:cs typeface="Arial"/>
                <a:sym typeface="Arial"/>
              </a:rPr>
              <a:t>En 2025, las empresas cuentan con una variedad de sistemas ERP destacados que se adaptan a diferentes necesidades y sectores. A continuación, se presentan algunos de los más reconocidos:</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3600" u="none" cap="none" strike="noStrike">
              <a:solidFill>
                <a:schemeClr val="dk1"/>
              </a:solidFill>
              <a:latin typeface="Arial"/>
              <a:ea typeface="Arial"/>
              <a:cs typeface="Arial"/>
              <a:sym typeface="Arial"/>
            </a:endParaRPr>
          </a:p>
        </p:txBody>
      </p:sp>
      <p:pic>
        <p:nvPicPr>
          <p:cNvPr id="355" name="Google Shape;355;p53"/>
          <p:cNvPicPr preferRelativeResize="0"/>
          <p:nvPr/>
        </p:nvPicPr>
        <p:blipFill rotWithShape="1">
          <a:blip r:embed="rId5">
            <a:alphaModFix/>
          </a:blip>
          <a:srcRect b="0" l="0" r="0" t="0"/>
          <a:stretch/>
        </p:blipFill>
        <p:spPr>
          <a:xfrm>
            <a:off x="295250" y="4105301"/>
            <a:ext cx="17776752" cy="20764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54"/>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361" name="Google Shape;361;p54"/>
          <p:cNvSpPr txBox="1"/>
          <p:nvPr/>
        </p:nvSpPr>
        <p:spPr>
          <a:xfrm>
            <a:off x="31100" y="1460700"/>
            <a:ext cx="18087600" cy="87330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2400"/>
              </a:spcBef>
              <a:spcAft>
                <a:spcPts val="0"/>
              </a:spcAft>
              <a:buNone/>
            </a:pPr>
            <a:r>
              <a:t/>
            </a:r>
            <a:endParaRPr b="0" i="0" sz="3600" u="none" cap="none" strike="noStrike">
              <a:solidFill>
                <a:schemeClr val="dk2"/>
              </a:solidFill>
              <a:latin typeface="Arial"/>
              <a:ea typeface="Arial"/>
              <a:cs typeface="Arial"/>
              <a:sym typeface="Arial"/>
            </a:endParaRPr>
          </a:p>
        </p:txBody>
      </p:sp>
      <p:pic>
        <p:nvPicPr>
          <p:cNvPr id="362" name="Google Shape;362;p54"/>
          <p:cNvPicPr preferRelativeResize="0"/>
          <p:nvPr/>
        </p:nvPicPr>
        <p:blipFill rotWithShape="1">
          <a:blip r:embed="rId4">
            <a:alphaModFix/>
          </a:blip>
          <a:srcRect b="0" l="0" r="0" t="0"/>
          <a:stretch/>
        </p:blipFill>
        <p:spPr>
          <a:xfrm>
            <a:off x="202001" y="1771500"/>
            <a:ext cx="17823550" cy="71325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55"/>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sp>
        <p:nvSpPr>
          <p:cNvPr id="368" name="Google Shape;368;p55"/>
          <p:cNvSpPr txBox="1"/>
          <p:nvPr/>
        </p:nvSpPr>
        <p:spPr>
          <a:xfrm>
            <a:off x="16900" y="1787000"/>
            <a:ext cx="18117000" cy="82512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0"/>
              </a:spcBef>
              <a:spcAft>
                <a:spcPts val="0"/>
              </a:spcAft>
              <a:buNone/>
            </a:pPr>
            <a:r>
              <a:t/>
            </a:r>
            <a:endParaRPr b="0" i="0" sz="3600" u="none" cap="none" strike="noStrike">
              <a:solidFill>
                <a:schemeClr val="dk1"/>
              </a:solidFill>
              <a:latin typeface="Arial"/>
              <a:ea typeface="Arial"/>
              <a:cs typeface="Arial"/>
              <a:sym typeface="Arial"/>
            </a:endParaRPr>
          </a:p>
        </p:txBody>
      </p:sp>
      <p:pic>
        <p:nvPicPr>
          <p:cNvPr id="369" name="Google Shape;369;p55"/>
          <p:cNvPicPr preferRelativeResize="0"/>
          <p:nvPr/>
        </p:nvPicPr>
        <p:blipFill rotWithShape="1">
          <a:blip r:embed="rId4">
            <a:alphaModFix/>
          </a:blip>
          <a:srcRect b="0" l="0" r="0" t="0"/>
          <a:stretch/>
        </p:blipFill>
        <p:spPr>
          <a:xfrm>
            <a:off x="170950" y="1989051"/>
            <a:ext cx="17497200" cy="73034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375" name="Google Shape;375;p6"/>
          <p:cNvSpPr txBox="1"/>
          <p:nvPr/>
        </p:nvSpPr>
        <p:spPr>
          <a:xfrm>
            <a:off x="6212437" y="3860833"/>
            <a:ext cx="6911332" cy="1659117"/>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3151"/>
              <a:buFont typeface="Arial"/>
              <a:buNone/>
            </a:pPr>
            <a:r>
              <a:rPr b="0" i="0" lang="en-US" sz="3151" u="none" cap="none" strike="noStrike">
                <a:solidFill>
                  <a:srgbClr val="131416"/>
                </a:solidFill>
                <a:latin typeface="Arial"/>
                <a:ea typeface="Arial"/>
                <a:cs typeface="Arial"/>
                <a:sym typeface="Arial"/>
              </a:rPr>
              <a:t>Aca se colocaran conceptos cortos  pero fundamentales para el tema visto.  (analisis y sintesis)</a:t>
            </a:r>
            <a:endParaRPr b="0" i="0" sz="1400" u="none" cap="none" strike="noStrike">
              <a:solidFill>
                <a:srgbClr val="000000"/>
              </a:solidFill>
              <a:latin typeface="Arial"/>
              <a:ea typeface="Arial"/>
              <a:cs typeface="Arial"/>
              <a:sym typeface="Arial"/>
            </a:endParaRPr>
          </a:p>
        </p:txBody>
      </p:sp>
      <p:sp>
        <p:nvSpPr>
          <p:cNvPr id="376" name="Google Shape;376;p6"/>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6"/>
          <p:cNvSpPr txBox="1"/>
          <p:nvPr/>
        </p:nvSpPr>
        <p:spPr>
          <a:xfrm>
            <a:off x="14141311" y="6315059"/>
            <a:ext cx="3238236" cy="3168272"/>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Coloca puntos clave de tu presentación, que consideres serán de ayuda para tus estudiantes. Enfocados a retener de mejor manera la información que les deseas transmitir (cortos pero certeros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7"/>
          <p:cNvSpPr txBox="1"/>
          <p:nvPr/>
        </p:nvSpPr>
        <p:spPr>
          <a:xfrm>
            <a:off x="2507390" y="1000125"/>
            <a:ext cx="8465410" cy="1043363"/>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i="0" lang="en-US" sz="6000" u="none" cap="none" strike="noStrike">
                <a:solidFill>
                  <a:srgbClr val="000000"/>
                </a:solidFill>
                <a:latin typeface="Arial"/>
                <a:ea typeface="Arial"/>
                <a:cs typeface="Arial"/>
                <a:sym typeface="Arial"/>
              </a:rPr>
              <a:t>Compromiso</a:t>
            </a:r>
            <a:endParaRPr b="0" i="0" sz="6000" u="none" cap="none" strike="noStrike">
              <a:solidFill>
                <a:srgbClr val="000000"/>
              </a:solidFill>
              <a:latin typeface="Impact"/>
              <a:ea typeface="Impact"/>
              <a:cs typeface="Impact"/>
              <a:sym typeface="Impact"/>
            </a:endParaRPr>
          </a:p>
        </p:txBody>
      </p:sp>
      <p:sp>
        <p:nvSpPr>
          <p:cNvPr id="383" name="Google Shape;383;p7"/>
          <p:cNvSpPr txBox="1"/>
          <p:nvPr/>
        </p:nvSpPr>
        <p:spPr>
          <a:xfrm>
            <a:off x="987993" y="3120768"/>
            <a:ext cx="12102365" cy="6032421"/>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b="0" i="0" lang="en-US" sz="2800" u="none" cap="none" strike="noStrike">
                <a:solidFill>
                  <a:srgbClr val="000000"/>
                </a:solidFill>
                <a:latin typeface="Arial"/>
                <a:ea typeface="Arial"/>
                <a:cs typeface="Arial"/>
                <a:sym typeface="Arial"/>
              </a:rPr>
              <a:t>Al iniciar el curso de laboratorio, cada estudiante debe comprender que su compromiso con el aprendizaje de los temas impartidos será fundamental para su futuro desempeño profesional. Asimismo, es importante que cumpla con todos los requisitos del curso para alcanzar un resultado satisfactorio al finalizar el semestre.</a:t>
            </a:r>
            <a:endParaRPr/>
          </a:p>
          <a:p>
            <a:pPr indent="0" lvl="0" marL="0" marR="0" rtl="0" algn="ctr">
              <a:lnSpc>
                <a:spcPct val="140019"/>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ctr">
              <a:lnSpc>
                <a:spcPct val="140019"/>
              </a:lnSpc>
              <a:spcBef>
                <a:spcPts val="0"/>
              </a:spcBef>
              <a:spcAft>
                <a:spcPts val="0"/>
              </a:spcAft>
              <a:buNone/>
            </a:pPr>
            <a:r>
              <a:rPr b="0" i="0" lang="en-US" sz="2800" u="none" cap="none" strike="noStrike">
                <a:solidFill>
                  <a:srgbClr val="000000"/>
                </a:solidFill>
                <a:latin typeface="Arial"/>
                <a:ea typeface="Arial"/>
                <a:cs typeface="Arial"/>
                <a:sym typeface="Arial"/>
              </a:rPr>
              <a:t>Analiza los fundamentos, componentes y funciones de los sistemas ERP, valorando su impacto en la integración y optimización de los procesos empresariales, así como su relevancia frente a las tendencias tecnológicas actuales.</a:t>
            </a:r>
            <a:endParaRPr b="0" i="0" sz="2800" u="none" cap="none" strike="noStrike">
              <a:solidFill>
                <a:srgbClr val="000000"/>
              </a:solidFill>
              <a:latin typeface="Arial"/>
              <a:ea typeface="Arial"/>
              <a:cs typeface="Arial"/>
              <a:sym typeface="Arial"/>
            </a:endParaRPr>
          </a:p>
        </p:txBody>
      </p:sp>
      <p:sp>
        <p:nvSpPr>
          <p:cNvPr id="384" name="Google Shape;384;p7"/>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7"/>
          <p:cNvSpPr txBox="1"/>
          <p:nvPr/>
        </p:nvSpPr>
        <p:spPr>
          <a:xfrm>
            <a:off x="14252781" y="6573512"/>
            <a:ext cx="3238236" cy="2463422"/>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Nuestra casa de estudios cuenta con valores como Excelencia, Compromiso </a:t>
            </a:r>
            <a:endParaRPr b="0" i="0" sz="1400" u="none" cap="none" strike="noStrike">
              <a:solidFill>
                <a:srgbClr val="000000"/>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Responsabilidad, Ética </a:t>
            </a:r>
            <a:endParaRPr b="0" i="0" sz="1400" u="none" cap="none" strike="noStrike">
              <a:solidFill>
                <a:srgbClr val="000000"/>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Integridad, trata de relacionarlos a los temas que estas impartiendo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8"/>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Impact"/>
              <a:ea typeface="Impact"/>
              <a:cs typeface="Impact"/>
              <a:sym typeface="Impact"/>
            </a:endParaRPr>
          </a:p>
        </p:txBody>
      </p:sp>
      <p:sp>
        <p:nvSpPr>
          <p:cNvPr id="391" name="Google Shape;391;p8"/>
          <p:cNvSpPr txBox="1"/>
          <p:nvPr/>
        </p:nvSpPr>
        <p:spPr>
          <a:xfrm>
            <a:off x="11667950" y="218925"/>
            <a:ext cx="6204000" cy="25224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3151"/>
              <a:buFont typeface="Arial"/>
              <a:buNone/>
            </a:pPr>
            <a:r>
              <a:rPr b="0" i="0" lang="en-US" sz="3151" u="none" cap="none" strike="noStrike">
                <a:solidFill>
                  <a:srgbClr val="131416"/>
                </a:solidFill>
                <a:latin typeface="Arial"/>
                <a:ea typeface="Arial"/>
                <a:cs typeface="Arial"/>
                <a:sym typeface="Arial"/>
              </a:rPr>
              <a:t>Recuerda que hay que dar crédito a las personas de las cuales te has basado para generar tu presentación  </a:t>
            </a:r>
            <a:endParaRPr b="0" i="0" sz="1400" u="none" cap="none" strike="noStrike">
              <a:solidFill>
                <a:srgbClr val="000000"/>
              </a:solidFill>
              <a:latin typeface="Arial"/>
              <a:ea typeface="Arial"/>
              <a:cs typeface="Arial"/>
              <a:sym typeface="Arial"/>
            </a:endParaRPr>
          </a:p>
        </p:txBody>
      </p:sp>
      <p:sp>
        <p:nvSpPr>
          <p:cNvPr id="392" name="Google Shape;392;p8"/>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8"/>
          <p:cNvSpPr txBox="1"/>
          <p:nvPr/>
        </p:nvSpPr>
        <p:spPr>
          <a:xfrm>
            <a:off x="14236857" y="6780527"/>
            <a:ext cx="3238236" cy="2110997"/>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Colocaras la referencias que apliquen de aquel materia, bibliográfico o paginas de internet del cual te has basado para generar tu presentación </a:t>
            </a:r>
            <a:endParaRPr b="0" i="0" sz="1400" u="none" cap="none" strike="noStrike">
              <a:solidFill>
                <a:srgbClr val="000000"/>
              </a:solidFill>
              <a:latin typeface="Arial"/>
              <a:ea typeface="Arial"/>
              <a:cs typeface="Arial"/>
              <a:sym typeface="Arial"/>
            </a:endParaRPr>
          </a:p>
        </p:txBody>
      </p:sp>
      <p:pic>
        <p:nvPicPr>
          <p:cNvPr id="394" name="Google Shape;394;p8" title="Gemini_Generated_Image_k3gbyrk3gbyrk3gb.png"/>
          <p:cNvPicPr preferRelativeResize="0"/>
          <p:nvPr/>
        </p:nvPicPr>
        <p:blipFill rotWithShape="1">
          <a:blip r:embed="rId4">
            <a:alphaModFix/>
          </a:blip>
          <a:srcRect b="0" l="0" r="0" t="0"/>
          <a:stretch/>
        </p:blipFill>
        <p:spPr>
          <a:xfrm>
            <a:off x="0" y="0"/>
            <a:ext cx="7000174" cy="436144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g364afea4f63_0_141"/>
          <p:cNvSpPr txBox="1"/>
          <p:nvPr/>
        </p:nvSpPr>
        <p:spPr>
          <a:xfrm>
            <a:off x="5791489" y="6796953"/>
            <a:ext cx="6705000" cy="769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 ¿?</a:t>
            </a:r>
            <a:endParaRPr b="0" i="0" sz="1400" u="none" cap="none" strike="noStrike">
              <a:solidFill>
                <a:srgbClr val="000000"/>
              </a:solidFill>
              <a:latin typeface="Arial"/>
              <a:ea typeface="Arial"/>
              <a:cs typeface="Arial"/>
              <a:sym typeface="Arial"/>
            </a:endParaRPr>
          </a:p>
        </p:txBody>
      </p:sp>
      <p:pic>
        <p:nvPicPr>
          <p:cNvPr id="400" name="Google Shape;400;g364afea4f63_0_141" title="Gemini_Generated_Image_1od44x1od44x1od4.png"/>
          <p:cNvPicPr preferRelativeResize="0"/>
          <p:nvPr/>
        </p:nvPicPr>
        <p:blipFill rotWithShape="1">
          <a:blip r:embed="rId3">
            <a:alphaModFix/>
          </a:blip>
          <a:srcRect b="0" l="0" r="0" t="0"/>
          <a:stretch/>
        </p:blipFill>
        <p:spPr>
          <a:xfrm>
            <a:off x="4576287" y="699975"/>
            <a:ext cx="9135424" cy="56918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9"/>
          <p:cNvSpPr txBox="1"/>
          <p:nvPr/>
        </p:nvSpPr>
        <p:spPr>
          <a:xfrm>
            <a:off x="4571995" y="517605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406" name="Google Shape;406;p9"/>
          <p:cNvSpPr/>
          <p:nvPr/>
        </p:nvSpPr>
        <p:spPr>
          <a:xfrm>
            <a:off x="7765363" y="5966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mynor israel miranda lopez</dc:creator>
</cp:coreProperties>
</file>